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Today I am presenting my Bachelor's thesis: Autonomous AI-Based Generation of Interactive Questions for MOOC Videos — developed at the International University, VNU-HCM, School of Computer Science and Engineering.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presentation covers six sections: Introduction and context, Literature review, Methodology and system design, Implementation details, Evaluation results, and finally Conclusion with future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Vietnam's digital education strategy creates real institutional pressure for educators to produce interactive content. VNU-HCM has the platform infrastructure. But surveys at HCMIU show 89% of instructors want to create interactive content, while only 23% feel confident doing it. The average creation time for one interactive video using the standard WordPress H5P workflow is 45 minutes. The bottleneck is the tool, not the educator.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problem has four interacting dimensions. First, the WordPress H5P workflow requires 47 individual interactions across 6 screens — a task analysis confirmed this number. Second, the cognitive overhead of managing the tool leaves little mental capacity for actual pedagogical design. Third, this complexity excludes the majority of faculty. Fourth, there is no AI scaffolding anywhere in the existing toolset. These four challenges compound each other: complexity causes low adoption, and low adoption means no pressure to improve the tools.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primary research question asks whether a purpose-built platform can improve efficiency, quality, and adoption. Four supporting questions drill into the specific barriers, design principles, architecture, and measurable performance differences. Each RQ maps to a chapter in the thesis, and all four are answered directly in the Conclusion.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pedagogical foundation is strong. Zhang showed a 20-25% improvement in post-test scores from interactive video. Merkt showed it beats print materials for STEM content. Freeman's meta-analysis of 225 studies shows active learning halves the failure rate. The challenge is not proving interactive video works — that is settled science. The challenge is making it accessible to create. That is what this thesis addresses.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H5P is a genuinely powerful framework — self-contained, portable, and LMS-agnostic. The problem is not H5P itself. The problem is how it is deployed. The WordPress plugin forces educators through 47 discrete interactions across 6 screens, with 3-second page loads breaking concentration at every step. And there is no AI anywhere in the ecosystem. The Lumieducation headless Node.js library solves the CMS dependency — it lets us build a purpose-built interface around H5P without WordPress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architecture is a classic three-tier web application. Tier 1 is a React 18 TypeScript SPA running on port 3002. It proxies all API calls to Tier 2 — an Express REST API on port 5001 — so the browser always sees a single origin, keeping CORS simple. Tier 2 handles all business logic: JWT auth, Zod schema validation, AI orchestration, and H5P operations via the Lumieducation headless library. Tier 3 is SQLite for this prototype, with the H5P content and library files stored on the local filesystem. The clean tier separation means the AI pipeline and H5P engine can be scaled independently in a future production deployment.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actors. The instructor is the primary user — they follow the core six-step workflow shown in the diagram. The admin manages the platform: user accounts, AI usage quotas, API key configuration, and security audit logs. The use case diagram shows all interactions, and the key design insight is that every instructor action is contained within a single page — no navigation between screens required.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sequence diagram shows the full authentication flow from registration through email verification to login and an authenticated API request. Security was engineered from day one, not added afterward. bcrypt at cost factor 12 is intentionally slow — that is how it resists offline cracking. Every API endpoint runs through Zod schema validation before any business logic, and every user-management action is written to the AuditLogs table with a UUID request ID. Each control maps explicitly to an OWASP Top Ten 2021 category.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upload paths. For direct file upload: Multer validates the MIME type against the allowlist, FFmpeg is spawned as a separate child process to extract a thumbnail and read metadata without blocking the API event loop, then the database record is created. Streaming uses HTTP range requests with an ownership check — you cannot stream another user's video. YouTube imports are simpler — yt-dlp extracts metadata and the URL is stored as an external reference; no FFmpeg processing needed because the browser handles YouTube streaming natively.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AI pipeline has eight stages shown in the diagram. Starting from video input: the transcript is acquired via YouTube API, uploaded WebVTT, or local Whisper neural transcription. It is then segmented and formatted for the LLM prompt. The provider selection follows the fallback chain: Groq first, then local Ollama, then Claude. The LLM output is not trusted directly — it is immediately validated against strict Zod schemas, rejecting any hallucinated or malformed structure. Only then does it go to the instructor review panel. The SSE streaming interface is critical — without it, the instructor would see nothing for 8 to 12 seconds, which violates Nielsen's heuristic for system status visibility.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editor interface is where the user-centred design principles materialise. Chandler and Sweller's split-attention effect — the cognitive penalty of having to mentally integrate information from separated screen areas — is eliminated by co-locating all task-relevant panels on a single non-scrolling viewport. The result is a reduction from 47 interactions in WordPress to just 8 in this platform. The instructor clicks a timestamp on the scrubber, fills in a form, and the H5P library renders it in the preview panel immediately. No export required to see the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H5P interaction types are supported, each with its specific library identifier version-locked in the platform. The LLM does not just generate question text — it generates the complete, nested JSON parameter object for each content type, conforming to the exact schema the Lumieducation library expects. The Zod validation step ensures no malformed JSON reaches the H5P engine. The screenshot on the left shows the question type selector in the editor, and the bottom screenshot shows a student answer with correct feedback rendered in the H5P player.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evaluation methodology follows the Design Science paradigm. Ten IT students completed five identical tasks on both the WordPress H5P baseline and the new platform, in randomised order to prevent learning effects. Nielsen's research shows five users detect 80% of usability problems, so ten is sufficient. The five tasks map exactly to the real instructor workflow. Five metrics were collected: task completion rate, time on task by stopwatch, error count, the standardised SUS questionnaire, and post-task interview.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headline numbers. Task completion rate: 95% versus 30% — a 65 percentage point improvement. Median task time: 3.2 minutes versus 45 minutes — a 93% reduction. Mean SUS score: 82.5 versus 38.0 — moving from 'Poor' to 'Excellent' on Brooke's rating scale. Mean error count: 0.9 versus 8.3 — an 89% reduction. The SUS chart on the left shows individual participant scores clustered tightly in the upper range — this is consistency, not outliers. The comparative chart confirms the gap holds across all five individual tasks, not just in aggregate.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research question is answered directly. RQ1: barriers are identified and eliminated — fragmentation, cognitive burden, no preview, no AI. RQ2: the co-location principle reduces interactions from 47 to 8, directly addressing Chandler and Sweller's split-attention effect. RQ3: the Groq-Ollama-Claude fallback chain with Zod validation and SSE streaming is the optimal architecture. RQ4: every metric improved, exceeding all targets. The Technology Acceptance Model predicts that usability improvements of this magnitude hold strong practical significance for institutional adoption.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contributions. One: a deployable open-source platform. Two: the first documented LLM pipeline producing valid H5P JSON — this is novel because H5P's nested schema structure is complex enough to cause LLM hallucination without strict Zod validation. Three: the prompt engineering patterns that solve that hallucination problem are reusable for other structured output use cases. Four: empirical evidence that UCD delivers measurable gains in EdTech. Five: direct strategic value for VNU-HCM's digital transformation mandate.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honest limitations. The sample size is sufficient for usability detection but not parametric statistics. The proxy participants may not perfectly represent humanities faculty, who are the most underserved users. The AI has only been tested in English, not Vietnamese. And there is no longitudinal data on actual adoption. The four highest-priority future directions address the most critical gaps: real faculty study, Vietnamese language validation, xAPI integration for learning analytics, and async processing to handle institutional scale.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conclusion. The research question asked whether a purpose-built platform with AI assistance could improve efficiency, quality, and adoption. The answer is a clear yes — validated empirically across five tasks with ten participants. The 93% reduction in creation time and the move from Poor to Excellent on the SUS scale are not incremental improvements. They are the result of fundamentally rethinking the tool around the educator's cognitive workflow, not around a generic CMS architecture. The bottleneck was never educator willingness. It was the tool.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primary references underpinning the thesis. Full bibliography with 40+ sources is in the written thesis document.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demo walkthrough:
1. Upload a video file
2. Trigger AI transcript analysis — show SSE streaming tokens arriving in real time
3. Accept / reject generated questions
4. Place two questions at specific timestamps on the timeline
5. Preview in the H5P player
6. Export the .h5p package and inspect its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I am happy to take questions on any aspect of the project — the AI pipeline architecture, the H5P integration, the evaluation methodology, or the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e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e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eg"/><Relationship Id="rId2" Type="http://schemas.openxmlformats.org/officeDocument/2006/relationships/image" Target="../media/image-16-2.jpe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4A"/>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87722"/>
          </a:solidFill>
          <a:ln w="12700">
            <a:solidFill>
              <a:srgbClr val="E87722"/>
            </a:solidFill>
            <a:prstDash val="solid"/>
          </a:ln>
        </p:spPr>
      </p:sp>
      <p:sp>
        <p:nvSpPr>
          <p:cNvPr id="3" name="Shape 1"/>
          <p:cNvSpPr/>
          <p:nvPr/>
        </p:nvSpPr>
        <p:spPr>
          <a:xfrm>
            <a:off x="6400800" y="-914400"/>
            <a:ext cx="5029200" cy="5029200"/>
          </a:xfrm>
          <a:prstGeom prst="ellipse">
            <a:avLst/>
          </a:prstGeom>
          <a:solidFill>
            <a:srgbClr val="E87722">
              <a:alpha val="7000"/>
            </a:srgbClr>
          </a:solidFill>
          <a:ln w="12700">
            <a:solidFill>
              <a:srgbClr val="E87722"/>
            </a:solidFill>
            <a:prstDash val="solid"/>
          </a:ln>
        </p:spPr>
      </p:sp>
      <p:sp>
        <p:nvSpPr>
          <p:cNvPr id="4" name="Text 2"/>
          <p:cNvSpPr/>
          <p:nvPr/>
        </p:nvSpPr>
        <p:spPr>
          <a:xfrm>
            <a:off x="594360" y="594360"/>
            <a:ext cx="7955280" cy="320040"/>
          </a:xfrm>
          <a:prstGeom prst="rect">
            <a:avLst/>
          </a:prstGeom>
          <a:noFill/>
          <a:ln/>
        </p:spPr>
        <p:txBody>
          <a:bodyPr wrap="square" lIns="0" tIns="0" rIns="0" bIns="0" rtlCol="0" anchor="ctr"/>
          <a:lstStyle/>
          <a:p>
            <a:pPr algn="l" indent="0" marL="0">
              <a:buNone/>
            </a:pPr>
            <a:r>
              <a:rPr lang="en-US" sz="1000" spc="150" kern="0" dirty="0">
                <a:solidFill>
                  <a:srgbClr val="7A9BB5"/>
                </a:solidFill>
                <a:latin typeface="Calibri" pitchFamily="34" charset="0"/>
                <a:ea typeface="Calibri" pitchFamily="34" charset="-122"/>
                <a:cs typeface="Calibri" pitchFamily="34" charset="-120"/>
              </a:rPr>
              <a:t>VIETNAM NATIONAL UNIVERSITY HO CHI MINH CITY  |  THE INTERNATIONAL UNIVERSITY</a:t>
            </a:r>
            <a:endParaRPr lang="en-US" sz="1000" dirty="0"/>
          </a:p>
        </p:txBody>
      </p:sp>
      <p:sp>
        <p:nvSpPr>
          <p:cNvPr id="5" name="Text 3"/>
          <p:cNvSpPr/>
          <p:nvPr/>
        </p:nvSpPr>
        <p:spPr>
          <a:xfrm>
            <a:off x="594360" y="896112"/>
            <a:ext cx="7955280" cy="256032"/>
          </a:xfrm>
          <a:prstGeom prst="rect">
            <a:avLst/>
          </a:prstGeom>
          <a:noFill/>
          <a:ln/>
        </p:spPr>
        <p:txBody>
          <a:bodyPr wrap="square" lIns="0" tIns="0" rIns="0" bIns="0" rtlCol="0" anchor="ctr"/>
          <a:lstStyle/>
          <a:p>
            <a:pPr algn="l" indent="0" marL="0">
              <a:buNone/>
            </a:pPr>
            <a:r>
              <a:rPr lang="en-US" sz="950" spc="150" kern="0" dirty="0">
                <a:solidFill>
                  <a:srgbClr val="7A9BB5"/>
                </a:solidFill>
                <a:latin typeface="Calibri" pitchFamily="34" charset="0"/>
                <a:ea typeface="Calibri" pitchFamily="34" charset="-122"/>
                <a:cs typeface="Calibri" pitchFamily="34" charset="-120"/>
              </a:rPr>
              <a:t>SCHOOL OF COMPUTER SCIENCE AND ENGINEERING</a:t>
            </a:r>
            <a:endParaRPr lang="en-US" sz="950" dirty="0"/>
          </a:p>
        </p:txBody>
      </p:sp>
      <p:sp>
        <p:nvSpPr>
          <p:cNvPr id="6" name="Shape 4"/>
          <p:cNvSpPr/>
          <p:nvPr/>
        </p:nvSpPr>
        <p:spPr>
          <a:xfrm>
            <a:off x="594360" y="1298448"/>
            <a:ext cx="2743200" cy="0"/>
          </a:xfrm>
          <a:prstGeom prst="line">
            <a:avLst/>
          </a:prstGeom>
          <a:noFill/>
          <a:ln w="19050">
            <a:solidFill>
              <a:srgbClr val="E87722"/>
            </a:solidFill>
            <a:prstDash val="solid"/>
          </a:ln>
        </p:spPr>
      </p:sp>
      <p:sp>
        <p:nvSpPr>
          <p:cNvPr id="7" name="Text 5"/>
          <p:cNvSpPr/>
          <p:nvPr/>
        </p:nvSpPr>
        <p:spPr>
          <a:xfrm>
            <a:off x="594360" y="1444752"/>
            <a:ext cx="8229600" cy="1783080"/>
          </a:xfrm>
          <a:prstGeom prst="rect">
            <a:avLst/>
          </a:prstGeom>
          <a:noFill/>
          <a:ln/>
        </p:spPr>
        <p:txBody>
          <a:bodyPr wrap="square" lIns="0" tIns="0" rIns="0" bIns="0" rtlCol="0" anchor="ctr"/>
          <a:lstStyle/>
          <a:p>
            <a:pPr algn="l" indent="0" marL="0">
              <a:buNone/>
            </a:pPr>
            <a:r>
              <a:rPr lang="en-US" sz="3400" b="1" dirty="0">
                <a:solidFill>
                  <a:srgbClr val="FFFFFF"/>
                </a:solidFill>
                <a:latin typeface="Georgia" pitchFamily="34" charset="0"/>
                <a:ea typeface="Georgia" pitchFamily="34" charset="-122"/>
                <a:cs typeface="Georgia" pitchFamily="34" charset="-120"/>
              </a:rPr>
              <a:t>Autonomous AI-Based Generation of</a:t>
            </a:r>
            <a:endParaRPr lang="en-US" sz="3400" dirty="0"/>
          </a:p>
          <a:p>
            <a:pPr algn="l" indent="0" marL="0">
              <a:buNone/>
            </a:pPr>
            <a:r>
              <a:rPr lang="en-US" sz="3400" b="1" dirty="0">
                <a:solidFill>
                  <a:srgbClr val="FFFFFF"/>
                </a:solidFill>
                <a:latin typeface="Georgia" pitchFamily="34" charset="0"/>
                <a:ea typeface="Georgia" pitchFamily="34" charset="-122"/>
                <a:cs typeface="Georgia" pitchFamily="34" charset="-120"/>
              </a:rPr>
              <a:t>Interactive Questions for MOOC Videos</a:t>
            </a:r>
            <a:endParaRPr lang="en-US" sz="3400" dirty="0"/>
          </a:p>
        </p:txBody>
      </p:sp>
      <p:sp>
        <p:nvSpPr>
          <p:cNvPr id="8" name="Text 6"/>
          <p:cNvSpPr/>
          <p:nvPr/>
        </p:nvSpPr>
        <p:spPr>
          <a:xfrm>
            <a:off x="594360" y="3337560"/>
            <a:ext cx="7315200" cy="347472"/>
          </a:xfrm>
          <a:prstGeom prst="rect">
            <a:avLst/>
          </a:prstGeom>
          <a:noFill/>
          <a:ln/>
        </p:spPr>
        <p:txBody>
          <a:bodyPr wrap="square" lIns="0" tIns="0" rIns="0" bIns="0" rtlCol="0" anchor="ctr"/>
          <a:lstStyle/>
          <a:p>
            <a:pPr algn="l" indent="0" marL="0">
              <a:buNone/>
            </a:pPr>
            <a:r>
              <a:rPr lang="en-US" sz="1400" dirty="0">
                <a:solidFill>
                  <a:srgbClr val="D4E4F0"/>
                </a:solidFill>
                <a:latin typeface="Calibri" pitchFamily="34" charset="0"/>
                <a:ea typeface="Calibri" pitchFamily="34" charset="-122"/>
                <a:cs typeface="Calibri" pitchFamily="34" charset="-120"/>
              </a:rPr>
              <a:t>Nguyen Toan Phuc  |  ITITIU21093</a:t>
            </a:r>
            <a:endParaRPr lang="en-US" sz="1400" dirty="0"/>
          </a:p>
        </p:txBody>
      </p:sp>
      <p:sp>
        <p:nvSpPr>
          <p:cNvPr id="9" name="Text 7"/>
          <p:cNvSpPr/>
          <p:nvPr/>
        </p:nvSpPr>
        <p:spPr>
          <a:xfrm>
            <a:off x="594360" y="3730752"/>
            <a:ext cx="7315200" cy="292608"/>
          </a:xfrm>
          <a:prstGeom prst="rect">
            <a:avLst/>
          </a:prstGeom>
          <a:noFill/>
          <a:ln/>
        </p:spPr>
        <p:txBody>
          <a:bodyPr wrap="square" lIns="0" tIns="0" rIns="0" bIns="0" rtlCol="0" anchor="ctr"/>
          <a:lstStyle/>
          <a:p>
            <a:pPr algn="l" indent="0" marL="0">
              <a:buNone/>
            </a:pPr>
            <a:r>
              <a:rPr lang="en-US" sz="1200" i="1" dirty="0">
                <a:solidFill>
                  <a:srgbClr val="7A9BB5"/>
                </a:solidFill>
                <a:latin typeface="Calibri" pitchFamily="34" charset="0"/>
                <a:ea typeface="Calibri" pitchFamily="34" charset="-122"/>
                <a:cs typeface="Calibri" pitchFamily="34" charset="-120"/>
              </a:rPr>
              <a:t>Bachelor of Science in Computer Science  |  Ho Chi Minh City, Vietnam  |  2026</a:t>
            </a:r>
            <a:endParaRPr lang="en-US" sz="1200" dirty="0"/>
          </a:p>
        </p:txBody>
      </p:sp>
      <p:sp>
        <p:nvSpPr>
          <p:cNvPr id="10" name="Shape 8"/>
          <p:cNvSpPr/>
          <p:nvPr/>
        </p:nvSpPr>
        <p:spPr>
          <a:xfrm>
            <a:off x="0" y="4892040"/>
            <a:ext cx="9144000" cy="251460"/>
          </a:xfrm>
          <a:prstGeom prst="rect">
            <a:avLst/>
          </a:prstGeom>
          <a:solidFill>
            <a:srgbClr val="111D33"/>
          </a:solidFill>
          <a:ln w="12700">
            <a:solidFill>
              <a:srgbClr val="111D33"/>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84048" y="274320"/>
            <a:ext cx="64008" cy="502920"/>
          </a:xfrm>
          <a:prstGeom prst="rect">
            <a:avLst/>
          </a:prstGeom>
          <a:solidFill>
            <a:srgbClr val="E87722"/>
          </a:solidFill>
          <a:ln w="12700">
            <a:solidFill>
              <a:srgbClr val="E87722"/>
            </a:solidFill>
            <a:prstDash val="solid"/>
          </a:ln>
        </p:spPr>
      </p:sp>
      <p:sp>
        <p:nvSpPr>
          <p:cNvPr id="3" name="Text 1"/>
          <p:cNvSpPr/>
          <p:nvPr/>
        </p:nvSpPr>
        <p:spPr>
          <a:xfrm>
            <a:off x="548640" y="274320"/>
            <a:ext cx="8321040" cy="502920"/>
          </a:xfrm>
          <a:prstGeom prst="rect">
            <a:avLst/>
          </a:prstGeom>
          <a:noFill/>
          <a:ln/>
        </p:spPr>
        <p:txBody>
          <a:bodyPr wrap="square" lIns="0" tIns="0" rIns="0" bIns="0" rtlCol="0" anchor="ctr"/>
          <a:lstStyle/>
          <a:p>
            <a:pPr indent="0" marL="0">
              <a:buNone/>
            </a:pPr>
            <a:r>
              <a:rPr lang="en-US" sz="2400" b="1" dirty="0">
                <a:solidFill>
                  <a:srgbClr val="1B2A4A"/>
                </a:solidFill>
                <a:latin typeface="Georgia" pitchFamily="34" charset="0"/>
                <a:ea typeface="Georgia" pitchFamily="34" charset="-122"/>
                <a:cs typeface="Georgia" pitchFamily="34" charset="-120"/>
              </a:rPr>
              <a:t>Table of Contents</a:t>
            </a:r>
            <a:endParaRPr lang="en-US" sz="2400" dirty="0"/>
          </a:p>
        </p:txBody>
      </p:sp>
      <p:sp>
        <p:nvSpPr>
          <p:cNvPr id="4" name="Text 2"/>
          <p:cNvSpPr/>
          <p:nvPr/>
        </p:nvSpPr>
        <p:spPr>
          <a:xfrm>
            <a:off x="7772400" y="4846320"/>
            <a:ext cx="1097280" cy="182880"/>
          </a:xfrm>
          <a:prstGeom prst="rect">
            <a:avLst/>
          </a:prstGeom>
          <a:noFill/>
          <a:ln/>
        </p:spPr>
        <p:txBody>
          <a:bodyPr wrap="square" lIns="0" tIns="0" rIns="0" bIns="0"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2 / 24</a:t>
            </a:r>
            <a:endParaRPr lang="en-US" sz="800" dirty="0"/>
          </a:p>
        </p:txBody>
      </p:sp>
      <p:sp>
        <p:nvSpPr>
          <p:cNvPr id="5" name="Shape 3"/>
          <p:cNvSpPr/>
          <p:nvPr/>
        </p:nvSpPr>
        <p:spPr>
          <a:xfrm>
            <a:off x="411480" y="1124712"/>
            <a:ext cx="502920" cy="502920"/>
          </a:xfrm>
          <a:prstGeom prst="ellipse">
            <a:avLst/>
          </a:prstGeom>
          <a:solidFill>
            <a:srgbClr val="E87722"/>
          </a:solidFill>
          <a:ln w="12700">
            <a:solidFill>
              <a:srgbClr val="E87722"/>
            </a:solidFill>
            <a:prstDash val="solid"/>
          </a:ln>
        </p:spPr>
      </p:sp>
      <p:sp>
        <p:nvSpPr>
          <p:cNvPr id="6" name="Text 4"/>
          <p:cNvSpPr/>
          <p:nvPr/>
        </p:nvSpPr>
        <p:spPr>
          <a:xfrm>
            <a:off x="411480" y="1124712"/>
            <a:ext cx="50292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Georgia" pitchFamily="34" charset="0"/>
                <a:ea typeface="Georgia" pitchFamily="34" charset="-122"/>
                <a:cs typeface="Georgia" pitchFamily="34" charset="-120"/>
              </a:rPr>
              <a:t>01</a:t>
            </a:r>
            <a:endParaRPr lang="en-US" sz="1300" dirty="0"/>
          </a:p>
        </p:txBody>
      </p:sp>
      <p:sp>
        <p:nvSpPr>
          <p:cNvPr id="7" name="Text 5"/>
          <p:cNvSpPr/>
          <p:nvPr/>
        </p:nvSpPr>
        <p:spPr>
          <a:xfrm>
            <a:off x="1033272" y="1124712"/>
            <a:ext cx="3657600" cy="274320"/>
          </a:xfrm>
          <a:prstGeom prst="rect">
            <a:avLst/>
          </a:prstGeom>
          <a:noFill/>
          <a:ln/>
        </p:spPr>
        <p:txBody>
          <a:bodyPr wrap="square" lIns="0" tIns="0" rIns="0" bIns="0" rtlCol="0" anchor="ctr"/>
          <a:lstStyle/>
          <a:p>
            <a:pPr indent="0" marL="0">
              <a:buNone/>
            </a:pPr>
            <a:r>
              <a:rPr lang="en-US" sz="1400" b="1" dirty="0">
                <a:solidFill>
                  <a:srgbClr val="1B2A4A"/>
                </a:solidFill>
                <a:latin typeface="Calibri" pitchFamily="34" charset="0"/>
                <a:ea typeface="Calibri" pitchFamily="34" charset="-122"/>
                <a:cs typeface="Calibri" pitchFamily="34" charset="-120"/>
              </a:rPr>
              <a:t>Introduction</a:t>
            </a:r>
            <a:endParaRPr lang="en-US" sz="1400" dirty="0"/>
          </a:p>
        </p:txBody>
      </p:sp>
      <p:sp>
        <p:nvSpPr>
          <p:cNvPr id="8" name="Text 6"/>
          <p:cNvSpPr/>
          <p:nvPr/>
        </p:nvSpPr>
        <p:spPr>
          <a:xfrm>
            <a:off x="1033272" y="1417320"/>
            <a:ext cx="3657600" cy="502920"/>
          </a:xfrm>
          <a:prstGeom prst="rect">
            <a:avLst/>
          </a:prstGeom>
          <a:noFill/>
          <a:ln/>
        </p:spPr>
        <p:txBody>
          <a:bodyPr wrap="square" lIns="0" tIns="0" rIns="0" bIns="0" rtlCol="0" anchor="ctr"/>
          <a:lstStyle/>
          <a:p>
            <a:pPr indent="0" marL="0">
              <a:buNone/>
            </a:pPr>
            <a:r>
              <a:rPr lang="en-US" sz="1050" dirty="0">
                <a:solidFill>
                  <a:srgbClr val="6B7280"/>
                </a:solidFill>
                <a:latin typeface="Calibri" pitchFamily="34" charset="0"/>
                <a:ea typeface="Calibri" pitchFamily="34" charset="-122"/>
                <a:cs typeface="Calibri" pitchFamily="34" charset="-120"/>
              </a:rPr>
              <a:t>Background · Problem Statement · Research Questions</a:t>
            </a:r>
            <a:endParaRPr lang="en-US" sz="1050" dirty="0"/>
          </a:p>
        </p:txBody>
      </p:sp>
      <p:sp>
        <p:nvSpPr>
          <p:cNvPr id="9" name="Shape 7"/>
          <p:cNvSpPr/>
          <p:nvPr/>
        </p:nvSpPr>
        <p:spPr>
          <a:xfrm>
            <a:off x="411480" y="2057400"/>
            <a:ext cx="4206240" cy="0"/>
          </a:xfrm>
          <a:prstGeom prst="line">
            <a:avLst/>
          </a:prstGeom>
          <a:noFill/>
          <a:ln w="6350">
            <a:solidFill>
              <a:srgbClr val="E5E7EB"/>
            </a:solidFill>
            <a:prstDash val="solid"/>
          </a:ln>
        </p:spPr>
      </p:sp>
      <p:sp>
        <p:nvSpPr>
          <p:cNvPr id="10" name="Shape 8"/>
          <p:cNvSpPr/>
          <p:nvPr/>
        </p:nvSpPr>
        <p:spPr>
          <a:xfrm>
            <a:off x="411480" y="2359152"/>
            <a:ext cx="502920" cy="502920"/>
          </a:xfrm>
          <a:prstGeom prst="ellipse">
            <a:avLst/>
          </a:prstGeom>
          <a:solidFill>
            <a:srgbClr val="E87722"/>
          </a:solidFill>
          <a:ln w="12700">
            <a:solidFill>
              <a:srgbClr val="E87722"/>
            </a:solidFill>
            <a:prstDash val="solid"/>
          </a:ln>
        </p:spPr>
      </p:sp>
      <p:sp>
        <p:nvSpPr>
          <p:cNvPr id="11" name="Text 9"/>
          <p:cNvSpPr/>
          <p:nvPr/>
        </p:nvSpPr>
        <p:spPr>
          <a:xfrm>
            <a:off x="411480" y="2359152"/>
            <a:ext cx="50292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Georgia" pitchFamily="34" charset="0"/>
                <a:ea typeface="Georgia" pitchFamily="34" charset="-122"/>
                <a:cs typeface="Georgia" pitchFamily="34" charset="-120"/>
              </a:rPr>
              <a:t>02</a:t>
            </a:r>
            <a:endParaRPr lang="en-US" sz="1300" dirty="0"/>
          </a:p>
        </p:txBody>
      </p:sp>
      <p:sp>
        <p:nvSpPr>
          <p:cNvPr id="12" name="Text 10"/>
          <p:cNvSpPr/>
          <p:nvPr/>
        </p:nvSpPr>
        <p:spPr>
          <a:xfrm>
            <a:off x="1033272" y="2359152"/>
            <a:ext cx="3657600" cy="274320"/>
          </a:xfrm>
          <a:prstGeom prst="rect">
            <a:avLst/>
          </a:prstGeom>
          <a:noFill/>
          <a:ln/>
        </p:spPr>
        <p:txBody>
          <a:bodyPr wrap="square" lIns="0" tIns="0" rIns="0" bIns="0" rtlCol="0" anchor="ctr"/>
          <a:lstStyle/>
          <a:p>
            <a:pPr indent="0" marL="0">
              <a:buNone/>
            </a:pPr>
            <a:r>
              <a:rPr lang="en-US" sz="1400" b="1" dirty="0">
                <a:solidFill>
                  <a:srgbClr val="1B2A4A"/>
                </a:solidFill>
                <a:latin typeface="Calibri" pitchFamily="34" charset="0"/>
                <a:ea typeface="Calibri" pitchFamily="34" charset="-122"/>
                <a:cs typeface="Calibri" pitchFamily="34" charset="-120"/>
              </a:rPr>
              <a:t>Literature Review</a:t>
            </a:r>
            <a:endParaRPr lang="en-US" sz="1400" dirty="0"/>
          </a:p>
        </p:txBody>
      </p:sp>
      <p:sp>
        <p:nvSpPr>
          <p:cNvPr id="13" name="Text 11"/>
          <p:cNvSpPr/>
          <p:nvPr/>
        </p:nvSpPr>
        <p:spPr>
          <a:xfrm>
            <a:off x="1033272" y="2651760"/>
            <a:ext cx="3657600" cy="502920"/>
          </a:xfrm>
          <a:prstGeom prst="rect">
            <a:avLst/>
          </a:prstGeom>
          <a:noFill/>
          <a:ln/>
        </p:spPr>
        <p:txBody>
          <a:bodyPr wrap="square" lIns="0" tIns="0" rIns="0" bIns="0" rtlCol="0" anchor="ctr"/>
          <a:lstStyle/>
          <a:p>
            <a:pPr indent="0" marL="0">
              <a:buNone/>
            </a:pPr>
            <a:r>
              <a:rPr lang="en-US" sz="1050" dirty="0">
                <a:solidFill>
                  <a:srgbClr val="6B7280"/>
                </a:solidFill>
                <a:latin typeface="Calibri" pitchFamily="34" charset="0"/>
                <a:ea typeface="Calibri" pitchFamily="34" charset="-122"/>
                <a:cs typeface="Calibri" pitchFamily="34" charset="-120"/>
              </a:rPr>
              <a:t>Interactive Video · H5P Framework · Related Work</a:t>
            </a:r>
            <a:endParaRPr lang="en-US" sz="1050" dirty="0"/>
          </a:p>
        </p:txBody>
      </p:sp>
      <p:sp>
        <p:nvSpPr>
          <p:cNvPr id="14" name="Shape 12"/>
          <p:cNvSpPr/>
          <p:nvPr/>
        </p:nvSpPr>
        <p:spPr>
          <a:xfrm>
            <a:off x="411480" y="3291840"/>
            <a:ext cx="4206240" cy="0"/>
          </a:xfrm>
          <a:prstGeom prst="line">
            <a:avLst/>
          </a:prstGeom>
          <a:noFill/>
          <a:ln w="6350">
            <a:solidFill>
              <a:srgbClr val="E5E7EB"/>
            </a:solidFill>
            <a:prstDash val="solid"/>
          </a:ln>
        </p:spPr>
      </p:sp>
      <p:sp>
        <p:nvSpPr>
          <p:cNvPr id="15" name="Shape 13"/>
          <p:cNvSpPr/>
          <p:nvPr/>
        </p:nvSpPr>
        <p:spPr>
          <a:xfrm>
            <a:off x="411480" y="3593592"/>
            <a:ext cx="502920" cy="502920"/>
          </a:xfrm>
          <a:prstGeom prst="ellipse">
            <a:avLst/>
          </a:prstGeom>
          <a:solidFill>
            <a:srgbClr val="E87722"/>
          </a:solidFill>
          <a:ln w="12700">
            <a:solidFill>
              <a:srgbClr val="E87722"/>
            </a:solidFill>
            <a:prstDash val="solid"/>
          </a:ln>
        </p:spPr>
      </p:sp>
      <p:sp>
        <p:nvSpPr>
          <p:cNvPr id="16" name="Text 14"/>
          <p:cNvSpPr/>
          <p:nvPr/>
        </p:nvSpPr>
        <p:spPr>
          <a:xfrm>
            <a:off x="411480" y="3593592"/>
            <a:ext cx="50292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Georgia" pitchFamily="34" charset="0"/>
                <a:ea typeface="Georgia" pitchFamily="34" charset="-122"/>
                <a:cs typeface="Georgia" pitchFamily="34" charset="-120"/>
              </a:rPr>
              <a:t>03</a:t>
            </a:r>
            <a:endParaRPr lang="en-US" sz="1300" dirty="0"/>
          </a:p>
        </p:txBody>
      </p:sp>
      <p:sp>
        <p:nvSpPr>
          <p:cNvPr id="17" name="Text 15"/>
          <p:cNvSpPr/>
          <p:nvPr/>
        </p:nvSpPr>
        <p:spPr>
          <a:xfrm>
            <a:off x="1033272" y="3593592"/>
            <a:ext cx="3657600" cy="274320"/>
          </a:xfrm>
          <a:prstGeom prst="rect">
            <a:avLst/>
          </a:prstGeom>
          <a:noFill/>
          <a:ln/>
        </p:spPr>
        <p:txBody>
          <a:bodyPr wrap="square" lIns="0" tIns="0" rIns="0" bIns="0" rtlCol="0" anchor="ctr"/>
          <a:lstStyle/>
          <a:p>
            <a:pPr indent="0" marL="0">
              <a:buNone/>
            </a:pPr>
            <a:r>
              <a:rPr lang="en-US" sz="1400" b="1" dirty="0">
                <a:solidFill>
                  <a:srgbClr val="1B2A4A"/>
                </a:solidFill>
                <a:latin typeface="Calibri" pitchFamily="34" charset="0"/>
                <a:ea typeface="Calibri" pitchFamily="34" charset="-122"/>
                <a:cs typeface="Calibri" pitchFamily="34" charset="-120"/>
              </a:rPr>
              <a:t>Methodology &amp; Design</a:t>
            </a:r>
            <a:endParaRPr lang="en-US" sz="1400" dirty="0"/>
          </a:p>
        </p:txBody>
      </p:sp>
      <p:sp>
        <p:nvSpPr>
          <p:cNvPr id="18" name="Text 16"/>
          <p:cNvSpPr/>
          <p:nvPr/>
        </p:nvSpPr>
        <p:spPr>
          <a:xfrm>
            <a:off x="1033272" y="3886200"/>
            <a:ext cx="3657600" cy="502920"/>
          </a:xfrm>
          <a:prstGeom prst="rect">
            <a:avLst/>
          </a:prstGeom>
          <a:noFill/>
          <a:ln/>
        </p:spPr>
        <p:txBody>
          <a:bodyPr wrap="square" lIns="0" tIns="0" rIns="0" bIns="0" rtlCol="0" anchor="ctr"/>
          <a:lstStyle/>
          <a:p>
            <a:pPr indent="0" marL="0">
              <a:buNone/>
            </a:pPr>
            <a:r>
              <a:rPr lang="en-US" sz="1050" dirty="0">
                <a:solidFill>
                  <a:srgbClr val="6B7280"/>
                </a:solidFill>
                <a:latin typeface="Calibri" pitchFamily="34" charset="0"/>
                <a:ea typeface="Calibri" pitchFamily="34" charset="-122"/>
                <a:cs typeface="Calibri" pitchFamily="34" charset="-120"/>
              </a:rPr>
              <a:t>UCD Process · System Design · Architecture</a:t>
            </a:r>
            <a:endParaRPr lang="en-US" sz="1050" dirty="0"/>
          </a:p>
        </p:txBody>
      </p:sp>
      <p:sp>
        <p:nvSpPr>
          <p:cNvPr id="19" name="Shape 17"/>
          <p:cNvSpPr/>
          <p:nvPr/>
        </p:nvSpPr>
        <p:spPr>
          <a:xfrm>
            <a:off x="4846320" y="1124712"/>
            <a:ext cx="502920" cy="502920"/>
          </a:xfrm>
          <a:prstGeom prst="ellipse">
            <a:avLst/>
          </a:prstGeom>
          <a:solidFill>
            <a:srgbClr val="E87722"/>
          </a:solidFill>
          <a:ln w="12700">
            <a:solidFill>
              <a:srgbClr val="E87722"/>
            </a:solidFill>
            <a:prstDash val="solid"/>
          </a:ln>
        </p:spPr>
      </p:sp>
      <p:sp>
        <p:nvSpPr>
          <p:cNvPr id="20" name="Text 18"/>
          <p:cNvSpPr/>
          <p:nvPr/>
        </p:nvSpPr>
        <p:spPr>
          <a:xfrm>
            <a:off x="4846320" y="1124712"/>
            <a:ext cx="50292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Georgia" pitchFamily="34" charset="0"/>
                <a:ea typeface="Georgia" pitchFamily="34" charset="-122"/>
                <a:cs typeface="Georgia" pitchFamily="34" charset="-120"/>
              </a:rPr>
              <a:t>04</a:t>
            </a:r>
            <a:endParaRPr lang="en-US" sz="1300" dirty="0"/>
          </a:p>
        </p:txBody>
      </p:sp>
      <p:sp>
        <p:nvSpPr>
          <p:cNvPr id="21" name="Text 19"/>
          <p:cNvSpPr/>
          <p:nvPr/>
        </p:nvSpPr>
        <p:spPr>
          <a:xfrm>
            <a:off x="5468112" y="1124712"/>
            <a:ext cx="3657600" cy="274320"/>
          </a:xfrm>
          <a:prstGeom prst="rect">
            <a:avLst/>
          </a:prstGeom>
          <a:noFill/>
          <a:ln/>
        </p:spPr>
        <p:txBody>
          <a:bodyPr wrap="square" lIns="0" tIns="0" rIns="0" bIns="0" rtlCol="0" anchor="ctr"/>
          <a:lstStyle/>
          <a:p>
            <a:pPr indent="0" marL="0">
              <a:buNone/>
            </a:pPr>
            <a:r>
              <a:rPr lang="en-US" sz="1400" b="1" dirty="0">
                <a:solidFill>
                  <a:srgbClr val="1B2A4A"/>
                </a:solidFill>
                <a:latin typeface="Calibri" pitchFamily="34" charset="0"/>
                <a:ea typeface="Calibri" pitchFamily="34" charset="-122"/>
                <a:cs typeface="Calibri" pitchFamily="34" charset="-120"/>
              </a:rPr>
              <a:t>Implementation</a:t>
            </a:r>
            <a:endParaRPr lang="en-US" sz="1400" dirty="0"/>
          </a:p>
        </p:txBody>
      </p:sp>
      <p:sp>
        <p:nvSpPr>
          <p:cNvPr id="22" name="Text 20"/>
          <p:cNvSpPr/>
          <p:nvPr/>
        </p:nvSpPr>
        <p:spPr>
          <a:xfrm>
            <a:off x="5468112" y="1417320"/>
            <a:ext cx="3657600" cy="502920"/>
          </a:xfrm>
          <a:prstGeom prst="rect">
            <a:avLst/>
          </a:prstGeom>
          <a:noFill/>
          <a:ln/>
        </p:spPr>
        <p:txBody>
          <a:bodyPr wrap="square" lIns="0" tIns="0" rIns="0" bIns="0" rtlCol="0" anchor="ctr"/>
          <a:lstStyle/>
          <a:p>
            <a:pPr indent="0" marL="0">
              <a:buNone/>
            </a:pPr>
            <a:r>
              <a:rPr lang="en-US" sz="1050" dirty="0">
                <a:solidFill>
                  <a:srgbClr val="6B7280"/>
                </a:solidFill>
                <a:latin typeface="Calibri" pitchFamily="34" charset="0"/>
                <a:ea typeface="Calibri" pitchFamily="34" charset="-122"/>
                <a:cs typeface="Calibri" pitchFamily="34" charset="-120"/>
              </a:rPr>
              <a:t>AI Pipeline · H5P Editor · Security</a:t>
            </a:r>
            <a:endParaRPr lang="en-US" sz="1050" dirty="0"/>
          </a:p>
        </p:txBody>
      </p:sp>
      <p:sp>
        <p:nvSpPr>
          <p:cNvPr id="23" name="Shape 21"/>
          <p:cNvSpPr/>
          <p:nvPr/>
        </p:nvSpPr>
        <p:spPr>
          <a:xfrm>
            <a:off x="4846320" y="2057400"/>
            <a:ext cx="4206240" cy="0"/>
          </a:xfrm>
          <a:prstGeom prst="line">
            <a:avLst/>
          </a:prstGeom>
          <a:noFill/>
          <a:ln w="6350">
            <a:solidFill>
              <a:srgbClr val="E5E7EB"/>
            </a:solidFill>
            <a:prstDash val="solid"/>
          </a:ln>
        </p:spPr>
      </p:sp>
      <p:sp>
        <p:nvSpPr>
          <p:cNvPr id="24" name="Shape 22"/>
          <p:cNvSpPr/>
          <p:nvPr/>
        </p:nvSpPr>
        <p:spPr>
          <a:xfrm>
            <a:off x="4846320" y="2359152"/>
            <a:ext cx="502920" cy="502920"/>
          </a:xfrm>
          <a:prstGeom prst="ellipse">
            <a:avLst/>
          </a:prstGeom>
          <a:solidFill>
            <a:srgbClr val="E87722"/>
          </a:solidFill>
          <a:ln w="12700">
            <a:solidFill>
              <a:srgbClr val="E87722"/>
            </a:solidFill>
            <a:prstDash val="solid"/>
          </a:ln>
        </p:spPr>
      </p:sp>
      <p:sp>
        <p:nvSpPr>
          <p:cNvPr id="25" name="Text 23"/>
          <p:cNvSpPr/>
          <p:nvPr/>
        </p:nvSpPr>
        <p:spPr>
          <a:xfrm>
            <a:off x="4846320" y="2359152"/>
            <a:ext cx="50292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Georgia" pitchFamily="34" charset="0"/>
                <a:ea typeface="Georgia" pitchFamily="34" charset="-122"/>
                <a:cs typeface="Georgia" pitchFamily="34" charset="-120"/>
              </a:rPr>
              <a:t>05</a:t>
            </a:r>
            <a:endParaRPr lang="en-US" sz="1300" dirty="0"/>
          </a:p>
        </p:txBody>
      </p:sp>
      <p:sp>
        <p:nvSpPr>
          <p:cNvPr id="26" name="Text 24"/>
          <p:cNvSpPr/>
          <p:nvPr/>
        </p:nvSpPr>
        <p:spPr>
          <a:xfrm>
            <a:off x="5468112" y="2359152"/>
            <a:ext cx="3657600" cy="274320"/>
          </a:xfrm>
          <a:prstGeom prst="rect">
            <a:avLst/>
          </a:prstGeom>
          <a:noFill/>
          <a:ln/>
        </p:spPr>
        <p:txBody>
          <a:bodyPr wrap="square" lIns="0" tIns="0" rIns="0" bIns="0" rtlCol="0" anchor="ctr"/>
          <a:lstStyle/>
          <a:p>
            <a:pPr indent="0" marL="0">
              <a:buNone/>
            </a:pPr>
            <a:r>
              <a:rPr lang="en-US" sz="1400" b="1" dirty="0">
                <a:solidFill>
                  <a:srgbClr val="1B2A4A"/>
                </a:solidFill>
                <a:latin typeface="Calibri" pitchFamily="34" charset="0"/>
                <a:ea typeface="Calibri" pitchFamily="34" charset="-122"/>
                <a:cs typeface="Calibri" pitchFamily="34" charset="-120"/>
              </a:rPr>
              <a:t>Evaluation &amp; Results</a:t>
            </a:r>
            <a:endParaRPr lang="en-US" sz="1400" dirty="0"/>
          </a:p>
        </p:txBody>
      </p:sp>
      <p:sp>
        <p:nvSpPr>
          <p:cNvPr id="27" name="Text 25"/>
          <p:cNvSpPr/>
          <p:nvPr/>
        </p:nvSpPr>
        <p:spPr>
          <a:xfrm>
            <a:off x="5468112" y="2651760"/>
            <a:ext cx="3657600" cy="502920"/>
          </a:xfrm>
          <a:prstGeom prst="rect">
            <a:avLst/>
          </a:prstGeom>
          <a:noFill/>
          <a:ln/>
        </p:spPr>
        <p:txBody>
          <a:bodyPr wrap="square" lIns="0" tIns="0" rIns="0" bIns="0" rtlCol="0" anchor="ctr"/>
          <a:lstStyle/>
          <a:p>
            <a:pPr indent="0" marL="0">
              <a:buNone/>
            </a:pPr>
            <a:r>
              <a:rPr lang="en-US" sz="1050" dirty="0">
                <a:solidFill>
                  <a:srgbClr val="6B7280"/>
                </a:solidFill>
                <a:latin typeface="Calibri" pitchFamily="34" charset="0"/>
                <a:ea typeface="Calibri" pitchFamily="34" charset="-122"/>
                <a:cs typeface="Calibri" pitchFamily="34" charset="-120"/>
              </a:rPr>
              <a:t>Study Design · Metrics · Findings</a:t>
            </a:r>
            <a:endParaRPr lang="en-US" sz="1050" dirty="0"/>
          </a:p>
        </p:txBody>
      </p:sp>
      <p:sp>
        <p:nvSpPr>
          <p:cNvPr id="28" name="Shape 26"/>
          <p:cNvSpPr/>
          <p:nvPr/>
        </p:nvSpPr>
        <p:spPr>
          <a:xfrm>
            <a:off x="4846320" y="3291840"/>
            <a:ext cx="4206240" cy="0"/>
          </a:xfrm>
          <a:prstGeom prst="line">
            <a:avLst/>
          </a:prstGeom>
          <a:noFill/>
          <a:ln w="6350">
            <a:solidFill>
              <a:srgbClr val="E5E7EB"/>
            </a:solidFill>
            <a:prstDash val="solid"/>
          </a:ln>
        </p:spPr>
      </p:sp>
      <p:sp>
        <p:nvSpPr>
          <p:cNvPr id="29" name="Shape 27"/>
          <p:cNvSpPr/>
          <p:nvPr/>
        </p:nvSpPr>
        <p:spPr>
          <a:xfrm>
            <a:off x="4846320" y="3593592"/>
            <a:ext cx="502920" cy="502920"/>
          </a:xfrm>
          <a:prstGeom prst="ellipse">
            <a:avLst/>
          </a:prstGeom>
          <a:solidFill>
            <a:srgbClr val="E87722"/>
          </a:solidFill>
          <a:ln w="12700">
            <a:solidFill>
              <a:srgbClr val="E87722"/>
            </a:solidFill>
            <a:prstDash val="solid"/>
          </a:ln>
        </p:spPr>
      </p:sp>
      <p:sp>
        <p:nvSpPr>
          <p:cNvPr id="30" name="Text 28"/>
          <p:cNvSpPr/>
          <p:nvPr/>
        </p:nvSpPr>
        <p:spPr>
          <a:xfrm>
            <a:off x="4846320" y="3593592"/>
            <a:ext cx="50292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Georgia" pitchFamily="34" charset="0"/>
                <a:ea typeface="Georgia" pitchFamily="34" charset="-122"/>
                <a:cs typeface="Georgia" pitchFamily="34" charset="-120"/>
              </a:rPr>
              <a:t>06</a:t>
            </a:r>
            <a:endParaRPr lang="en-US" sz="1300" dirty="0"/>
          </a:p>
        </p:txBody>
      </p:sp>
      <p:sp>
        <p:nvSpPr>
          <p:cNvPr id="31" name="Text 29"/>
          <p:cNvSpPr/>
          <p:nvPr/>
        </p:nvSpPr>
        <p:spPr>
          <a:xfrm>
            <a:off x="5468112" y="3593592"/>
            <a:ext cx="3657600" cy="274320"/>
          </a:xfrm>
          <a:prstGeom prst="rect">
            <a:avLst/>
          </a:prstGeom>
          <a:noFill/>
          <a:ln/>
        </p:spPr>
        <p:txBody>
          <a:bodyPr wrap="square" lIns="0" tIns="0" rIns="0" bIns="0" rtlCol="0" anchor="ctr"/>
          <a:lstStyle/>
          <a:p>
            <a:pPr indent="0" marL="0">
              <a:buNone/>
            </a:pPr>
            <a:r>
              <a:rPr lang="en-US" sz="1400" b="1" dirty="0">
                <a:solidFill>
                  <a:srgbClr val="1B2A4A"/>
                </a:solidFill>
                <a:latin typeface="Calibri" pitchFamily="34" charset="0"/>
                <a:ea typeface="Calibri" pitchFamily="34" charset="-122"/>
                <a:cs typeface="Calibri" pitchFamily="34" charset="-120"/>
              </a:rPr>
              <a:t>Conclusion &amp; Future Work</a:t>
            </a:r>
            <a:endParaRPr lang="en-US" sz="1400" dirty="0"/>
          </a:p>
        </p:txBody>
      </p:sp>
      <p:sp>
        <p:nvSpPr>
          <p:cNvPr id="32" name="Text 30"/>
          <p:cNvSpPr/>
          <p:nvPr/>
        </p:nvSpPr>
        <p:spPr>
          <a:xfrm>
            <a:off x="5468112" y="3886200"/>
            <a:ext cx="3657600" cy="502920"/>
          </a:xfrm>
          <a:prstGeom prst="rect">
            <a:avLst/>
          </a:prstGeom>
          <a:noFill/>
          <a:ln/>
        </p:spPr>
        <p:txBody>
          <a:bodyPr wrap="square" lIns="0" tIns="0" rIns="0" bIns="0" rtlCol="0" anchor="ctr"/>
          <a:lstStyle/>
          <a:p>
            <a:pPr indent="0" marL="0">
              <a:buNone/>
            </a:pPr>
            <a:r>
              <a:rPr lang="en-US" sz="1050" dirty="0">
                <a:solidFill>
                  <a:srgbClr val="6B7280"/>
                </a:solidFill>
                <a:latin typeface="Calibri" pitchFamily="34" charset="0"/>
                <a:ea typeface="Calibri" pitchFamily="34" charset="-122"/>
                <a:cs typeface="Calibri" pitchFamily="34" charset="-120"/>
              </a:rPr>
              <a:t>Contributions · Limitations · Roadmap</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01168"/>
            <a:ext cx="8321040" cy="201168"/>
          </a:xfrm>
          <a:prstGeom prst="rect">
            <a:avLst/>
          </a:prstGeom>
          <a:noFill/>
          <a:ln/>
        </p:spPr>
        <p:txBody>
          <a:bodyPr wrap="square" lIns="0" tIns="0" rIns="0" bIns="0" rtlCol="0" anchor="ctr"/>
          <a:lstStyle/>
          <a:p>
            <a:pPr indent="0" marL="0">
              <a:buNone/>
            </a:pPr>
            <a:r>
              <a:rPr lang="en-US" sz="900" b="1" spc="300" kern="0" dirty="0">
                <a:solidFill>
                  <a:srgbClr val="E87722"/>
                </a:solidFill>
                <a:latin typeface="Calibri" pitchFamily="34" charset="0"/>
                <a:ea typeface="Calibri" pitchFamily="34" charset="-122"/>
                <a:cs typeface="Calibri" pitchFamily="34" charset="-120"/>
              </a:rPr>
              <a:t>01 · INTRODUCTION</a:t>
            </a:r>
            <a:endParaRPr lang="en-US" sz="900" dirty="0"/>
          </a:p>
        </p:txBody>
      </p:sp>
      <p:sp>
        <p:nvSpPr>
          <p:cNvPr id="3" name="Shape 1"/>
          <p:cNvSpPr/>
          <p:nvPr/>
        </p:nvSpPr>
        <p:spPr>
          <a:xfrm>
            <a:off x="384048" y="274320"/>
            <a:ext cx="64008" cy="502920"/>
          </a:xfrm>
          <a:prstGeom prst="rect">
            <a:avLst/>
          </a:prstGeom>
          <a:solidFill>
            <a:srgbClr val="E87722"/>
          </a:solidFill>
          <a:ln w="12700">
            <a:solidFill>
              <a:srgbClr val="E87722"/>
            </a:solidFill>
            <a:prstDash val="solid"/>
          </a:ln>
        </p:spPr>
      </p:sp>
      <p:sp>
        <p:nvSpPr>
          <p:cNvPr id="4" name="Text 2"/>
          <p:cNvSpPr/>
          <p:nvPr/>
        </p:nvSpPr>
        <p:spPr>
          <a:xfrm>
            <a:off x="548640" y="274320"/>
            <a:ext cx="8321040" cy="502920"/>
          </a:xfrm>
          <a:prstGeom prst="rect">
            <a:avLst/>
          </a:prstGeom>
          <a:noFill/>
          <a:ln/>
        </p:spPr>
        <p:txBody>
          <a:bodyPr wrap="square" lIns="0" tIns="0" rIns="0" bIns="0" rtlCol="0" anchor="ctr"/>
          <a:lstStyle/>
          <a:p>
            <a:pPr indent="0" marL="0">
              <a:buNone/>
            </a:pPr>
            <a:r>
              <a:rPr lang="en-US" sz="2400" b="1" dirty="0">
                <a:solidFill>
                  <a:srgbClr val="1B2A4A"/>
                </a:solidFill>
                <a:latin typeface="Georgia" pitchFamily="34" charset="0"/>
                <a:ea typeface="Georgia" pitchFamily="34" charset="-122"/>
                <a:cs typeface="Georgia" pitchFamily="34" charset="-120"/>
              </a:rPr>
              <a:t>Research Background</a:t>
            </a:r>
            <a:endParaRPr lang="en-US" sz="2400" dirty="0"/>
          </a:p>
        </p:txBody>
      </p:sp>
      <p:sp>
        <p:nvSpPr>
          <p:cNvPr id="5" name="Text 3"/>
          <p:cNvSpPr/>
          <p:nvPr/>
        </p:nvSpPr>
        <p:spPr>
          <a:xfrm>
            <a:off x="7772400" y="4846320"/>
            <a:ext cx="1097280" cy="182880"/>
          </a:xfrm>
          <a:prstGeom prst="rect">
            <a:avLst/>
          </a:prstGeom>
          <a:noFill/>
          <a:ln/>
        </p:spPr>
        <p:txBody>
          <a:bodyPr wrap="square" lIns="0" tIns="0" rIns="0" bIns="0"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3 / 24</a:t>
            </a:r>
            <a:endParaRPr lang="en-US" sz="800" dirty="0"/>
          </a:p>
        </p:txBody>
      </p:sp>
      <p:sp>
        <p:nvSpPr>
          <p:cNvPr id="6" name="Text 4"/>
          <p:cNvSpPr/>
          <p:nvPr/>
        </p:nvSpPr>
        <p:spPr>
          <a:xfrm>
            <a:off x="411480" y="1005840"/>
            <a:ext cx="8321040" cy="731520"/>
          </a:xfrm>
          <a:prstGeom prst="rect">
            <a:avLst/>
          </a:prstGeom>
          <a:noFill/>
          <a:ln/>
        </p:spPr>
        <p:txBody>
          <a:bodyPr wrap="square" lIns="0" tIns="0" rIns="0" bIns="0" rtlCol="0" anchor="ctr"/>
          <a:lstStyle/>
          <a:p>
            <a:pPr indent="0" marL="0">
              <a:buNone/>
            </a:pPr>
            <a:r>
              <a:rPr lang="en-US" sz="1350" dirty="0">
                <a:solidFill>
                  <a:srgbClr val="374151"/>
                </a:solidFill>
                <a:latin typeface="Calibri" pitchFamily="34" charset="0"/>
                <a:ea typeface="Calibri" pitchFamily="34" charset="-122"/>
                <a:cs typeface="Calibri" pitchFamily="34" charset="-120"/>
              </a:rPr>
              <a:t>Vietnam's National Education Development Strategy 2021–2030 mandates the integration of digital technology into university teaching. VNU-HCM's MOOC platform has delivered thousands of courses — yet a critical gap remains.</a:t>
            </a:r>
            <a:endParaRPr lang="en-US" sz="1350" dirty="0"/>
          </a:p>
        </p:txBody>
      </p:sp>
      <p:sp>
        <p:nvSpPr>
          <p:cNvPr id="7" name="Shape 5"/>
          <p:cNvSpPr/>
          <p:nvPr/>
        </p:nvSpPr>
        <p:spPr>
          <a:xfrm>
            <a:off x="411480" y="1920240"/>
            <a:ext cx="2743200" cy="1691640"/>
          </a:xfrm>
          <a:prstGeom prst="rect">
            <a:avLst/>
          </a:prstGeom>
          <a:solidFill>
            <a:srgbClr val="F8F9FA"/>
          </a:solidFill>
          <a:ln w="12700">
            <a:solidFill>
              <a:srgbClr val="E5E7EB"/>
            </a:solidFill>
            <a:prstDash val="solid"/>
          </a:ln>
        </p:spPr>
      </p:sp>
      <p:sp>
        <p:nvSpPr>
          <p:cNvPr id="8" name="Shape 6"/>
          <p:cNvSpPr/>
          <p:nvPr/>
        </p:nvSpPr>
        <p:spPr>
          <a:xfrm>
            <a:off x="411480" y="1920240"/>
            <a:ext cx="2743200" cy="64008"/>
          </a:xfrm>
          <a:prstGeom prst="rect">
            <a:avLst/>
          </a:prstGeom>
          <a:solidFill>
            <a:srgbClr val="E87722"/>
          </a:solidFill>
          <a:ln w="12700">
            <a:solidFill>
              <a:srgbClr val="E87722"/>
            </a:solidFill>
            <a:prstDash val="solid"/>
          </a:ln>
        </p:spPr>
      </p:sp>
      <p:sp>
        <p:nvSpPr>
          <p:cNvPr id="9" name="Text 7"/>
          <p:cNvSpPr/>
          <p:nvPr/>
        </p:nvSpPr>
        <p:spPr>
          <a:xfrm>
            <a:off x="502920" y="2057400"/>
            <a:ext cx="2560320" cy="804672"/>
          </a:xfrm>
          <a:prstGeom prst="rect">
            <a:avLst/>
          </a:prstGeom>
          <a:noFill/>
          <a:ln/>
        </p:spPr>
        <p:txBody>
          <a:bodyPr wrap="square" lIns="0" tIns="0" rIns="0" bIns="0" rtlCol="0" anchor="ctr"/>
          <a:lstStyle/>
          <a:p>
            <a:pPr algn="ctr" indent="0" marL="0">
              <a:buNone/>
            </a:pPr>
            <a:r>
              <a:rPr lang="en-US" sz="4200" b="1" dirty="0">
                <a:solidFill>
                  <a:srgbClr val="E87722"/>
                </a:solidFill>
                <a:latin typeface="Georgia" pitchFamily="34" charset="0"/>
                <a:ea typeface="Georgia" pitchFamily="34" charset="-122"/>
                <a:cs typeface="Georgia" pitchFamily="34" charset="-120"/>
              </a:rPr>
              <a:t>89%</a:t>
            </a:r>
            <a:endParaRPr lang="en-US" sz="4200" dirty="0"/>
          </a:p>
        </p:txBody>
      </p:sp>
      <p:sp>
        <p:nvSpPr>
          <p:cNvPr id="10" name="Text 8"/>
          <p:cNvSpPr/>
          <p:nvPr/>
        </p:nvSpPr>
        <p:spPr>
          <a:xfrm>
            <a:off x="548640" y="2889504"/>
            <a:ext cx="2468880" cy="658368"/>
          </a:xfrm>
          <a:prstGeom prst="rect">
            <a:avLst/>
          </a:prstGeom>
          <a:noFill/>
          <a:ln/>
        </p:spPr>
        <p:txBody>
          <a:bodyPr wrap="square" lIns="0" tIns="0" rIns="0" bIns="0" rtlCol="0" anchor="ctr"/>
          <a:lstStyle/>
          <a:p>
            <a:pPr algn="ctr" indent="0" marL="0">
              <a:buNone/>
            </a:pPr>
            <a:r>
              <a:rPr lang="en-US" sz="1100" dirty="0">
                <a:solidFill>
                  <a:srgbClr val="374151"/>
                </a:solidFill>
                <a:latin typeface="Calibri" pitchFamily="34" charset="0"/>
                <a:ea typeface="Calibri" pitchFamily="34" charset="-122"/>
                <a:cs typeface="Calibri" pitchFamily="34" charset="-120"/>
              </a:rPr>
              <a:t>of instructors want to create interactive content</a:t>
            </a:r>
            <a:endParaRPr lang="en-US" sz="1100" dirty="0"/>
          </a:p>
        </p:txBody>
      </p:sp>
      <p:sp>
        <p:nvSpPr>
          <p:cNvPr id="11" name="Shape 9"/>
          <p:cNvSpPr/>
          <p:nvPr/>
        </p:nvSpPr>
        <p:spPr>
          <a:xfrm>
            <a:off x="3291840" y="1920240"/>
            <a:ext cx="2743200" cy="1691640"/>
          </a:xfrm>
          <a:prstGeom prst="rect">
            <a:avLst/>
          </a:prstGeom>
          <a:solidFill>
            <a:srgbClr val="F8F9FA"/>
          </a:solidFill>
          <a:ln w="12700">
            <a:solidFill>
              <a:srgbClr val="E5E7EB"/>
            </a:solidFill>
            <a:prstDash val="solid"/>
          </a:ln>
        </p:spPr>
      </p:sp>
      <p:sp>
        <p:nvSpPr>
          <p:cNvPr id="12" name="Shape 10"/>
          <p:cNvSpPr/>
          <p:nvPr/>
        </p:nvSpPr>
        <p:spPr>
          <a:xfrm>
            <a:off x="3291840" y="1920240"/>
            <a:ext cx="2743200" cy="64008"/>
          </a:xfrm>
          <a:prstGeom prst="rect">
            <a:avLst/>
          </a:prstGeom>
          <a:solidFill>
            <a:srgbClr val="1B2A4A"/>
          </a:solidFill>
          <a:ln w="12700">
            <a:solidFill>
              <a:srgbClr val="1B2A4A"/>
            </a:solidFill>
            <a:prstDash val="solid"/>
          </a:ln>
        </p:spPr>
      </p:sp>
      <p:sp>
        <p:nvSpPr>
          <p:cNvPr id="13" name="Text 11"/>
          <p:cNvSpPr/>
          <p:nvPr/>
        </p:nvSpPr>
        <p:spPr>
          <a:xfrm>
            <a:off x="3383280" y="2057400"/>
            <a:ext cx="2560320" cy="804672"/>
          </a:xfrm>
          <a:prstGeom prst="rect">
            <a:avLst/>
          </a:prstGeom>
          <a:noFill/>
          <a:ln/>
        </p:spPr>
        <p:txBody>
          <a:bodyPr wrap="square" lIns="0" tIns="0" rIns="0" bIns="0" rtlCol="0" anchor="ctr"/>
          <a:lstStyle/>
          <a:p>
            <a:pPr algn="ctr" indent="0" marL="0">
              <a:buNone/>
            </a:pPr>
            <a:r>
              <a:rPr lang="en-US" sz="4200" b="1" dirty="0">
                <a:solidFill>
                  <a:srgbClr val="1B2A4A"/>
                </a:solidFill>
                <a:latin typeface="Georgia" pitchFamily="34" charset="0"/>
                <a:ea typeface="Georgia" pitchFamily="34" charset="-122"/>
                <a:cs typeface="Georgia" pitchFamily="34" charset="-120"/>
              </a:rPr>
              <a:t>23%</a:t>
            </a:r>
            <a:endParaRPr lang="en-US" sz="4200" dirty="0"/>
          </a:p>
        </p:txBody>
      </p:sp>
      <p:sp>
        <p:nvSpPr>
          <p:cNvPr id="14" name="Text 12"/>
          <p:cNvSpPr/>
          <p:nvPr/>
        </p:nvSpPr>
        <p:spPr>
          <a:xfrm>
            <a:off x="3429000" y="2889504"/>
            <a:ext cx="2468880" cy="658368"/>
          </a:xfrm>
          <a:prstGeom prst="rect">
            <a:avLst/>
          </a:prstGeom>
          <a:noFill/>
          <a:ln/>
        </p:spPr>
        <p:txBody>
          <a:bodyPr wrap="square" lIns="0" tIns="0" rIns="0" bIns="0" rtlCol="0" anchor="ctr"/>
          <a:lstStyle/>
          <a:p>
            <a:pPr algn="ctr" indent="0" marL="0">
              <a:buNone/>
            </a:pPr>
            <a:r>
              <a:rPr lang="en-US" sz="1100" dirty="0">
                <a:solidFill>
                  <a:srgbClr val="374151"/>
                </a:solidFill>
                <a:latin typeface="Calibri" pitchFamily="34" charset="0"/>
                <a:ea typeface="Calibri" pitchFamily="34" charset="-122"/>
                <a:cs typeface="Calibri" pitchFamily="34" charset="-120"/>
              </a:rPr>
              <a:t>feel confident using current authoring tools</a:t>
            </a:r>
            <a:endParaRPr lang="en-US" sz="1100" dirty="0"/>
          </a:p>
        </p:txBody>
      </p:sp>
      <p:sp>
        <p:nvSpPr>
          <p:cNvPr id="15" name="Shape 13"/>
          <p:cNvSpPr/>
          <p:nvPr/>
        </p:nvSpPr>
        <p:spPr>
          <a:xfrm>
            <a:off x="6172200" y="1920240"/>
            <a:ext cx="2743200" cy="1691640"/>
          </a:xfrm>
          <a:prstGeom prst="rect">
            <a:avLst/>
          </a:prstGeom>
          <a:solidFill>
            <a:srgbClr val="F8F9FA"/>
          </a:solidFill>
          <a:ln w="12700">
            <a:solidFill>
              <a:srgbClr val="E5E7EB"/>
            </a:solidFill>
            <a:prstDash val="solid"/>
          </a:ln>
        </p:spPr>
      </p:sp>
      <p:sp>
        <p:nvSpPr>
          <p:cNvPr id="16" name="Shape 14"/>
          <p:cNvSpPr/>
          <p:nvPr/>
        </p:nvSpPr>
        <p:spPr>
          <a:xfrm>
            <a:off x="6172200" y="1920240"/>
            <a:ext cx="2743200" cy="64008"/>
          </a:xfrm>
          <a:prstGeom prst="rect">
            <a:avLst/>
          </a:prstGeom>
          <a:solidFill>
            <a:srgbClr val="E87722"/>
          </a:solidFill>
          <a:ln w="12700">
            <a:solidFill>
              <a:srgbClr val="E87722"/>
            </a:solidFill>
            <a:prstDash val="solid"/>
          </a:ln>
        </p:spPr>
      </p:sp>
      <p:sp>
        <p:nvSpPr>
          <p:cNvPr id="17" name="Text 15"/>
          <p:cNvSpPr/>
          <p:nvPr/>
        </p:nvSpPr>
        <p:spPr>
          <a:xfrm>
            <a:off x="6263640" y="2057400"/>
            <a:ext cx="2560320" cy="804672"/>
          </a:xfrm>
          <a:prstGeom prst="rect">
            <a:avLst/>
          </a:prstGeom>
          <a:noFill/>
          <a:ln/>
        </p:spPr>
        <p:txBody>
          <a:bodyPr wrap="square" lIns="0" tIns="0" rIns="0" bIns="0" rtlCol="0" anchor="ctr"/>
          <a:lstStyle/>
          <a:p>
            <a:pPr algn="ctr" indent="0" marL="0">
              <a:buNone/>
            </a:pPr>
            <a:r>
              <a:rPr lang="en-US" sz="4200" b="1" dirty="0">
                <a:solidFill>
                  <a:srgbClr val="E87722"/>
                </a:solidFill>
                <a:latin typeface="Georgia" pitchFamily="34" charset="0"/>
                <a:ea typeface="Georgia" pitchFamily="34" charset="-122"/>
                <a:cs typeface="Georgia" pitchFamily="34" charset="-120"/>
              </a:rPr>
              <a:t>45 min</a:t>
            </a:r>
            <a:endParaRPr lang="en-US" sz="4200" dirty="0"/>
          </a:p>
        </p:txBody>
      </p:sp>
      <p:sp>
        <p:nvSpPr>
          <p:cNvPr id="18" name="Text 16"/>
          <p:cNvSpPr/>
          <p:nvPr/>
        </p:nvSpPr>
        <p:spPr>
          <a:xfrm>
            <a:off x="6309360" y="2889504"/>
            <a:ext cx="2468880" cy="658368"/>
          </a:xfrm>
          <a:prstGeom prst="rect">
            <a:avLst/>
          </a:prstGeom>
          <a:noFill/>
          <a:ln/>
        </p:spPr>
        <p:txBody>
          <a:bodyPr wrap="square" lIns="0" tIns="0" rIns="0" bIns="0" rtlCol="0" anchor="ctr"/>
          <a:lstStyle/>
          <a:p>
            <a:pPr algn="ctr" indent="0" marL="0">
              <a:buNone/>
            </a:pPr>
            <a:r>
              <a:rPr lang="en-US" sz="1100" dirty="0">
                <a:solidFill>
                  <a:srgbClr val="374151"/>
                </a:solidFill>
                <a:latin typeface="Calibri" pitchFamily="34" charset="0"/>
                <a:ea typeface="Calibri" pitchFamily="34" charset="-122"/>
                <a:cs typeface="Calibri" pitchFamily="34" charset="-120"/>
              </a:rPr>
              <a:t>average time to create one interactive video in WordPress H5P</a:t>
            </a:r>
            <a:endParaRPr lang="en-US" sz="1100" dirty="0"/>
          </a:p>
        </p:txBody>
      </p:sp>
      <p:sp>
        <p:nvSpPr>
          <p:cNvPr id="19" name="Text 17"/>
          <p:cNvSpPr/>
          <p:nvPr/>
        </p:nvSpPr>
        <p:spPr>
          <a:xfrm>
            <a:off x="411480" y="3749040"/>
            <a:ext cx="8321040" cy="502920"/>
          </a:xfrm>
          <a:prstGeom prst="rect">
            <a:avLst/>
          </a:prstGeom>
          <a:noFill/>
          <a:ln/>
        </p:spPr>
        <p:txBody>
          <a:bodyPr wrap="square" lIns="0" tIns="0" rIns="0" bIns="0" rtlCol="0" anchor="ctr"/>
          <a:lstStyle/>
          <a:p>
            <a:pPr indent="0" marL="0">
              <a:buNone/>
            </a:pPr>
            <a:r>
              <a:rPr lang="en-US" sz="1300" i="1" dirty="0">
                <a:solidFill>
                  <a:srgbClr val="E87722"/>
                </a:solidFill>
                <a:latin typeface="Calibri" pitchFamily="34" charset="0"/>
                <a:ea typeface="Calibri" pitchFamily="34" charset="-122"/>
                <a:cs typeface="Calibri" pitchFamily="34" charset="-120"/>
              </a:rPr>
              <a:t>The gap is not lack of infrastructure — it is a lack of purpose-built tools that meet educators where they are.</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01168"/>
            <a:ext cx="8321040" cy="201168"/>
          </a:xfrm>
          <a:prstGeom prst="rect">
            <a:avLst/>
          </a:prstGeom>
          <a:noFill/>
          <a:ln/>
        </p:spPr>
        <p:txBody>
          <a:bodyPr wrap="square" lIns="0" tIns="0" rIns="0" bIns="0" rtlCol="0" anchor="ctr"/>
          <a:lstStyle/>
          <a:p>
            <a:pPr indent="0" marL="0">
              <a:buNone/>
            </a:pPr>
            <a:r>
              <a:rPr lang="en-US" sz="900" b="1" spc="300" kern="0" dirty="0">
                <a:solidFill>
                  <a:srgbClr val="E87722"/>
                </a:solidFill>
                <a:latin typeface="Calibri" pitchFamily="34" charset="0"/>
                <a:ea typeface="Calibri" pitchFamily="34" charset="-122"/>
                <a:cs typeface="Calibri" pitchFamily="34" charset="-120"/>
              </a:rPr>
              <a:t>01 · INTRODUCTION</a:t>
            </a:r>
            <a:endParaRPr lang="en-US" sz="900" dirty="0"/>
          </a:p>
        </p:txBody>
      </p:sp>
      <p:sp>
        <p:nvSpPr>
          <p:cNvPr id="3" name="Shape 1"/>
          <p:cNvSpPr/>
          <p:nvPr/>
        </p:nvSpPr>
        <p:spPr>
          <a:xfrm>
            <a:off x="384048" y="274320"/>
            <a:ext cx="64008" cy="502920"/>
          </a:xfrm>
          <a:prstGeom prst="rect">
            <a:avLst/>
          </a:prstGeom>
          <a:solidFill>
            <a:srgbClr val="E87722"/>
          </a:solidFill>
          <a:ln w="12700">
            <a:solidFill>
              <a:srgbClr val="E87722"/>
            </a:solidFill>
            <a:prstDash val="solid"/>
          </a:ln>
        </p:spPr>
      </p:sp>
      <p:sp>
        <p:nvSpPr>
          <p:cNvPr id="4" name="Text 2"/>
          <p:cNvSpPr/>
          <p:nvPr/>
        </p:nvSpPr>
        <p:spPr>
          <a:xfrm>
            <a:off x="548640" y="274320"/>
            <a:ext cx="8321040" cy="502920"/>
          </a:xfrm>
          <a:prstGeom prst="rect">
            <a:avLst/>
          </a:prstGeom>
          <a:noFill/>
          <a:ln/>
        </p:spPr>
        <p:txBody>
          <a:bodyPr wrap="square" lIns="0" tIns="0" rIns="0" bIns="0" rtlCol="0" anchor="ctr"/>
          <a:lstStyle/>
          <a:p>
            <a:pPr indent="0" marL="0">
              <a:buNone/>
            </a:pPr>
            <a:r>
              <a:rPr lang="en-US" sz="2400" b="1" dirty="0">
                <a:solidFill>
                  <a:srgbClr val="1B2A4A"/>
                </a:solidFill>
                <a:latin typeface="Georgia" pitchFamily="34" charset="0"/>
                <a:ea typeface="Georgia" pitchFamily="34" charset="-122"/>
                <a:cs typeface="Georgia" pitchFamily="34" charset="-120"/>
              </a:rPr>
              <a:t>Problem Statement</a:t>
            </a:r>
            <a:endParaRPr lang="en-US" sz="2400" dirty="0"/>
          </a:p>
        </p:txBody>
      </p:sp>
      <p:sp>
        <p:nvSpPr>
          <p:cNvPr id="5" name="Text 3"/>
          <p:cNvSpPr/>
          <p:nvPr/>
        </p:nvSpPr>
        <p:spPr>
          <a:xfrm>
            <a:off x="7772400" y="4846320"/>
            <a:ext cx="1097280" cy="182880"/>
          </a:xfrm>
          <a:prstGeom prst="rect">
            <a:avLst/>
          </a:prstGeom>
          <a:noFill/>
          <a:ln/>
        </p:spPr>
        <p:txBody>
          <a:bodyPr wrap="square" lIns="0" tIns="0" rIns="0" bIns="0"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4 / 24</a:t>
            </a:r>
            <a:endParaRPr lang="en-US" sz="800" dirty="0"/>
          </a:p>
        </p:txBody>
      </p:sp>
      <p:sp>
        <p:nvSpPr>
          <p:cNvPr id="6" name="Text 4"/>
          <p:cNvSpPr/>
          <p:nvPr/>
        </p:nvSpPr>
        <p:spPr>
          <a:xfrm>
            <a:off x="411480" y="1005840"/>
            <a:ext cx="8321040" cy="411480"/>
          </a:xfrm>
          <a:prstGeom prst="rect">
            <a:avLst/>
          </a:prstGeom>
          <a:noFill/>
          <a:ln/>
        </p:spPr>
        <p:txBody>
          <a:bodyPr wrap="square" lIns="0" tIns="0" rIns="0" bIns="0" rtlCol="0" anchor="ctr"/>
          <a:lstStyle/>
          <a:p>
            <a:pPr indent="0" marL="0">
              <a:buNone/>
            </a:pPr>
            <a:r>
              <a:rPr lang="en-US" sz="1300" dirty="0">
                <a:solidFill>
                  <a:srgbClr val="374151"/>
                </a:solidFill>
                <a:latin typeface="Calibri" pitchFamily="34" charset="0"/>
                <a:ea typeface="Calibri" pitchFamily="34" charset="-122"/>
                <a:cs typeface="Calibri" pitchFamily="34" charset="-120"/>
              </a:rPr>
              <a:t>Four interacting challenges compound to prevent adoption of H5P interactive video at institutional scale:</a:t>
            </a:r>
            <a:endParaRPr lang="en-US" sz="1300" dirty="0"/>
          </a:p>
        </p:txBody>
      </p:sp>
      <p:sp>
        <p:nvSpPr>
          <p:cNvPr id="7" name="Shape 5"/>
          <p:cNvSpPr/>
          <p:nvPr/>
        </p:nvSpPr>
        <p:spPr>
          <a:xfrm>
            <a:off x="411480" y="1572768"/>
            <a:ext cx="4160520" cy="1389888"/>
          </a:xfrm>
          <a:prstGeom prst="rect">
            <a:avLst/>
          </a:prstGeom>
          <a:solidFill>
            <a:srgbClr val="FFFFFF"/>
          </a:solidFill>
          <a:ln w="12700">
            <a:solidFill>
              <a:srgbClr val="E5E7EB"/>
            </a:solidFill>
            <a:prstDash val="solid"/>
          </a:ln>
          <a:effectLst>
            <a:outerShdw sx="100000" sy="100000" kx="0" ky="0" algn="bl" rotWithShape="0" blurRad="76200" dist="25400" dir="8100000">
              <a:srgbClr val="000000">
                <a:alpha val="9000"/>
              </a:srgbClr>
            </a:outerShdw>
          </a:effectLst>
        </p:spPr>
      </p:sp>
      <p:sp>
        <p:nvSpPr>
          <p:cNvPr id="8" name="Shape 6"/>
          <p:cNvSpPr/>
          <p:nvPr/>
        </p:nvSpPr>
        <p:spPr>
          <a:xfrm>
            <a:off x="411480" y="1572768"/>
            <a:ext cx="54864" cy="1389888"/>
          </a:xfrm>
          <a:prstGeom prst="rect">
            <a:avLst/>
          </a:prstGeom>
          <a:solidFill>
            <a:srgbClr val="E87722"/>
          </a:solidFill>
          <a:ln w="12700">
            <a:solidFill>
              <a:srgbClr val="E87722"/>
            </a:solidFill>
            <a:prstDash val="solid"/>
          </a:ln>
        </p:spPr>
      </p:sp>
      <p:sp>
        <p:nvSpPr>
          <p:cNvPr id="9" name="Shape 7"/>
          <p:cNvSpPr/>
          <p:nvPr/>
        </p:nvSpPr>
        <p:spPr>
          <a:xfrm>
            <a:off x="576072" y="1737360"/>
            <a:ext cx="384048" cy="384048"/>
          </a:xfrm>
          <a:prstGeom prst="ellipse">
            <a:avLst/>
          </a:prstGeom>
          <a:solidFill>
            <a:srgbClr val="E87722"/>
          </a:solidFill>
          <a:ln w="12700">
            <a:solidFill>
              <a:srgbClr val="E87722"/>
            </a:solidFill>
            <a:prstDash val="solid"/>
          </a:ln>
        </p:spPr>
      </p:sp>
      <p:sp>
        <p:nvSpPr>
          <p:cNvPr id="10" name="Text 8"/>
          <p:cNvSpPr/>
          <p:nvPr/>
        </p:nvSpPr>
        <p:spPr>
          <a:xfrm>
            <a:off x="576072" y="173736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Georgia" pitchFamily="34" charset="0"/>
                <a:ea typeface="Georgia" pitchFamily="34" charset="-122"/>
                <a:cs typeface="Georgia" pitchFamily="34" charset="-120"/>
              </a:rPr>
              <a:t>1</a:t>
            </a:r>
            <a:endParaRPr lang="en-US" sz="1300" dirty="0"/>
          </a:p>
        </p:txBody>
      </p:sp>
      <p:sp>
        <p:nvSpPr>
          <p:cNvPr id="11" name="Text 9"/>
          <p:cNvSpPr/>
          <p:nvPr/>
        </p:nvSpPr>
        <p:spPr>
          <a:xfrm>
            <a:off x="1088136" y="1737360"/>
            <a:ext cx="3383280" cy="292608"/>
          </a:xfrm>
          <a:prstGeom prst="rect">
            <a:avLst/>
          </a:prstGeom>
          <a:noFill/>
          <a:ln/>
        </p:spPr>
        <p:txBody>
          <a:bodyPr wrap="square" lIns="0" tIns="0" rIns="0" bIns="0" rtlCol="0" anchor="ctr"/>
          <a:lstStyle/>
          <a:p>
            <a:pPr indent="0" marL="0">
              <a:buNone/>
            </a:pPr>
            <a:r>
              <a:rPr lang="en-US" sz="1200" b="1" dirty="0">
                <a:solidFill>
                  <a:srgbClr val="1B2A4A"/>
                </a:solidFill>
                <a:latin typeface="Calibri" pitchFamily="34" charset="0"/>
                <a:ea typeface="Calibri" pitchFamily="34" charset="-122"/>
                <a:cs typeface="Calibri" pitchFamily="34" charset="-120"/>
              </a:rPr>
              <a:t>Workflow Fragmentation</a:t>
            </a:r>
            <a:endParaRPr lang="en-US" sz="1200" dirty="0"/>
          </a:p>
        </p:txBody>
      </p:sp>
      <p:sp>
        <p:nvSpPr>
          <p:cNvPr id="12" name="Text 10"/>
          <p:cNvSpPr/>
          <p:nvPr/>
        </p:nvSpPr>
        <p:spPr>
          <a:xfrm>
            <a:off x="576072" y="2157984"/>
            <a:ext cx="3886200" cy="713232"/>
          </a:xfrm>
          <a:prstGeom prst="rect">
            <a:avLst/>
          </a:prstGeom>
          <a:noFill/>
          <a:ln/>
        </p:spPr>
        <p:txBody>
          <a:bodyPr wrap="square" lIns="0" tIns="0" rIns="0" bIns="0" rtlCol="0" anchor="ctr"/>
          <a:lstStyle/>
          <a:p>
            <a:pPr indent="0" marL="0">
              <a:buNone/>
            </a:pPr>
            <a:r>
              <a:rPr lang="en-US" sz="1050" dirty="0">
                <a:solidFill>
                  <a:srgbClr val="374151"/>
                </a:solidFill>
                <a:latin typeface="Calibri" pitchFamily="34" charset="0"/>
                <a:ea typeface="Calibri" pitchFamily="34" charset="-122"/>
                <a:cs typeface="Calibri" pitchFamily="34" charset="-120"/>
              </a:rPr>
              <a:t>Creating one interactive video requires 47 interface interactions across 6 disconnected screens in WordPress. Average page-load of 3.2 seconds destroys creative flow.</a:t>
            </a:r>
            <a:endParaRPr lang="en-US" sz="1050" dirty="0"/>
          </a:p>
        </p:txBody>
      </p:sp>
      <p:sp>
        <p:nvSpPr>
          <p:cNvPr id="13" name="Shape 11"/>
          <p:cNvSpPr/>
          <p:nvPr/>
        </p:nvSpPr>
        <p:spPr>
          <a:xfrm>
            <a:off x="4782312" y="1572768"/>
            <a:ext cx="4160520" cy="1389888"/>
          </a:xfrm>
          <a:prstGeom prst="rect">
            <a:avLst/>
          </a:prstGeom>
          <a:solidFill>
            <a:srgbClr val="FFFFFF"/>
          </a:solidFill>
          <a:ln w="12700">
            <a:solidFill>
              <a:srgbClr val="E5E7EB"/>
            </a:solidFill>
            <a:prstDash val="solid"/>
          </a:ln>
          <a:effectLst>
            <a:outerShdw sx="100000" sy="100000" kx="0" ky="0" algn="bl" rotWithShape="0" blurRad="76200" dist="25400" dir="8100000">
              <a:srgbClr val="000000">
                <a:alpha val="9000"/>
              </a:srgbClr>
            </a:outerShdw>
          </a:effectLst>
        </p:spPr>
      </p:sp>
      <p:sp>
        <p:nvSpPr>
          <p:cNvPr id="14" name="Shape 12"/>
          <p:cNvSpPr/>
          <p:nvPr/>
        </p:nvSpPr>
        <p:spPr>
          <a:xfrm>
            <a:off x="4782312" y="1572768"/>
            <a:ext cx="54864" cy="1389888"/>
          </a:xfrm>
          <a:prstGeom prst="rect">
            <a:avLst/>
          </a:prstGeom>
          <a:solidFill>
            <a:srgbClr val="E87722"/>
          </a:solidFill>
          <a:ln w="12700">
            <a:solidFill>
              <a:srgbClr val="E87722"/>
            </a:solidFill>
            <a:prstDash val="solid"/>
          </a:ln>
        </p:spPr>
      </p:sp>
      <p:sp>
        <p:nvSpPr>
          <p:cNvPr id="15" name="Shape 13"/>
          <p:cNvSpPr/>
          <p:nvPr/>
        </p:nvSpPr>
        <p:spPr>
          <a:xfrm>
            <a:off x="4946904" y="1737360"/>
            <a:ext cx="384048" cy="384048"/>
          </a:xfrm>
          <a:prstGeom prst="ellipse">
            <a:avLst/>
          </a:prstGeom>
          <a:solidFill>
            <a:srgbClr val="E87722"/>
          </a:solidFill>
          <a:ln w="12700">
            <a:solidFill>
              <a:srgbClr val="E87722"/>
            </a:solidFill>
            <a:prstDash val="solid"/>
          </a:ln>
        </p:spPr>
      </p:sp>
      <p:sp>
        <p:nvSpPr>
          <p:cNvPr id="16" name="Text 14"/>
          <p:cNvSpPr/>
          <p:nvPr/>
        </p:nvSpPr>
        <p:spPr>
          <a:xfrm>
            <a:off x="4946904" y="173736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Georgia" pitchFamily="34" charset="0"/>
                <a:ea typeface="Georgia" pitchFamily="34" charset="-122"/>
                <a:cs typeface="Georgia" pitchFamily="34" charset="-120"/>
              </a:rPr>
              <a:t>2</a:t>
            </a:r>
            <a:endParaRPr lang="en-US" sz="1300" dirty="0"/>
          </a:p>
        </p:txBody>
      </p:sp>
      <p:sp>
        <p:nvSpPr>
          <p:cNvPr id="17" name="Text 15"/>
          <p:cNvSpPr/>
          <p:nvPr/>
        </p:nvSpPr>
        <p:spPr>
          <a:xfrm>
            <a:off x="5458968" y="1737360"/>
            <a:ext cx="3383280" cy="292608"/>
          </a:xfrm>
          <a:prstGeom prst="rect">
            <a:avLst/>
          </a:prstGeom>
          <a:noFill/>
          <a:ln/>
        </p:spPr>
        <p:txBody>
          <a:bodyPr wrap="square" lIns="0" tIns="0" rIns="0" bIns="0" rtlCol="0" anchor="ctr"/>
          <a:lstStyle/>
          <a:p>
            <a:pPr indent="0" marL="0">
              <a:buNone/>
            </a:pPr>
            <a:r>
              <a:rPr lang="en-US" sz="1200" b="1" dirty="0">
                <a:solidFill>
                  <a:srgbClr val="1B2A4A"/>
                </a:solidFill>
                <a:latin typeface="Calibri" pitchFamily="34" charset="0"/>
                <a:ea typeface="Calibri" pitchFamily="34" charset="-122"/>
                <a:cs typeface="Calibri" pitchFamily="34" charset="-120"/>
              </a:rPr>
              <a:t>High Extraneous Cognitive Load</a:t>
            </a:r>
            <a:endParaRPr lang="en-US" sz="1200" dirty="0"/>
          </a:p>
        </p:txBody>
      </p:sp>
      <p:sp>
        <p:nvSpPr>
          <p:cNvPr id="18" name="Text 16"/>
          <p:cNvSpPr/>
          <p:nvPr/>
        </p:nvSpPr>
        <p:spPr>
          <a:xfrm>
            <a:off x="4946904" y="2157984"/>
            <a:ext cx="3886200" cy="713232"/>
          </a:xfrm>
          <a:prstGeom prst="rect">
            <a:avLst/>
          </a:prstGeom>
          <a:noFill/>
          <a:ln/>
        </p:spPr>
        <p:txBody>
          <a:bodyPr wrap="square" lIns="0" tIns="0" rIns="0" bIns="0" rtlCol="0" anchor="ctr"/>
          <a:lstStyle/>
          <a:p>
            <a:pPr indent="0" marL="0">
              <a:buNone/>
            </a:pPr>
            <a:r>
              <a:rPr lang="en-US" sz="1050" dirty="0">
                <a:solidFill>
                  <a:srgbClr val="374151"/>
                </a:solidFill>
                <a:latin typeface="Calibri" pitchFamily="34" charset="0"/>
                <a:ea typeface="Calibri" pitchFamily="34" charset="-122"/>
                <a:cs typeface="Calibri" pitchFamily="34" charset="-120"/>
              </a:rPr>
              <a:t>Educators spend more cognitive effort managing the tool — shortcodes, plugin taxonomy, WordPress posts — than designing the pedagogical content itself.</a:t>
            </a:r>
            <a:endParaRPr lang="en-US" sz="1050" dirty="0"/>
          </a:p>
        </p:txBody>
      </p:sp>
      <p:sp>
        <p:nvSpPr>
          <p:cNvPr id="19" name="Shape 17"/>
          <p:cNvSpPr/>
          <p:nvPr/>
        </p:nvSpPr>
        <p:spPr>
          <a:xfrm>
            <a:off x="411480" y="3145536"/>
            <a:ext cx="4160520" cy="1389888"/>
          </a:xfrm>
          <a:prstGeom prst="rect">
            <a:avLst/>
          </a:prstGeom>
          <a:solidFill>
            <a:srgbClr val="FFFFFF"/>
          </a:solidFill>
          <a:ln w="12700">
            <a:solidFill>
              <a:srgbClr val="E5E7EB"/>
            </a:solidFill>
            <a:prstDash val="solid"/>
          </a:ln>
          <a:effectLst>
            <a:outerShdw sx="100000" sy="100000" kx="0" ky="0" algn="bl" rotWithShape="0" blurRad="76200" dist="25400" dir="8100000">
              <a:srgbClr val="000000">
                <a:alpha val="9000"/>
              </a:srgbClr>
            </a:outerShdw>
          </a:effectLst>
        </p:spPr>
      </p:sp>
      <p:sp>
        <p:nvSpPr>
          <p:cNvPr id="20" name="Shape 18"/>
          <p:cNvSpPr/>
          <p:nvPr/>
        </p:nvSpPr>
        <p:spPr>
          <a:xfrm>
            <a:off x="411480" y="3145536"/>
            <a:ext cx="54864" cy="1389888"/>
          </a:xfrm>
          <a:prstGeom prst="rect">
            <a:avLst/>
          </a:prstGeom>
          <a:solidFill>
            <a:srgbClr val="E87722"/>
          </a:solidFill>
          <a:ln w="12700">
            <a:solidFill>
              <a:srgbClr val="E87722"/>
            </a:solidFill>
            <a:prstDash val="solid"/>
          </a:ln>
        </p:spPr>
      </p:sp>
      <p:sp>
        <p:nvSpPr>
          <p:cNvPr id="21" name="Shape 19"/>
          <p:cNvSpPr/>
          <p:nvPr/>
        </p:nvSpPr>
        <p:spPr>
          <a:xfrm>
            <a:off x="576072" y="3310128"/>
            <a:ext cx="384048" cy="384048"/>
          </a:xfrm>
          <a:prstGeom prst="ellipse">
            <a:avLst/>
          </a:prstGeom>
          <a:solidFill>
            <a:srgbClr val="E87722"/>
          </a:solidFill>
          <a:ln w="12700">
            <a:solidFill>
              <a:srgbClr val="E87722"/>
            </a:solidFill>
            <a:prstDash val="solid"/>
          </a:ln>
        </p:spPr>
      </p:sp>
      <p:sp>
        <p:nvSpPr>
          <p:cNvPr id="22" name="Text 20"/>
          <p:cNvSpPr/>
          <p:nvPr/>
        </p:nvSpPr>
        <p:spPr>
          <a:xfrm>
            <a:off x="576072" y="331012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Georgia" pitchFamily="34" charset="0"/>
                <a:ea typeface="Georgia" pitchFamily="34" charset="-122"/>
                <a:cs typeface="Georgia" pitchFamily="34" charset="-120"/>
              </a:rPr>
              <a:t>3</a:t>
            </a:r>
            <a:endParaRPr lang="en-US" sz="1300" dirty="0"/>
          </a:p>
        </p:txBody>
      </p:sp>
      <p:sp>
        <p:nvSpPr>
          <p:cNvPr id="23" name="Text 21"/>
          <p:cNvSpPr/>
          <p:nvPr/>
        </p:nvSpPr>
        <p:spPr>
          <a:xfrm>
            <a:off x="1088136" y="3310128"/>
            <a:ext cx="3383280" cy="292608"/>
          </a:xfrm>
          <a:prstGeom prst="rect">
            <a:avLst/>
          </a:prstGeom>
          <a:noFill/>
          <a:ln/>
        </p:spPr>
        <p:txBody>
          <a:bodyPr wrap="square" lIns="0" tIns="0" rIns="0" bIns="0" rtlCol="0" anchor="ctr"/>
          <a:lstStyle/>
          <a:p>
            <a:pPr indent="0" marL="0">
              <a:buNone/>
            </a:pPr>
            <a:r>
              <a:rPr lang="en-US" sz="1200" b="1" dirty="0">
                <a:solidFill>
                  <a:srgbClr val="1B2A4A"/>
                </a:solidFill>
                <a:latin typeface="Calibri" pitchFamily="34" charset="0"/>
                <a:ea typeface="Calibri" pitchFamily="34" charset="-122"/>
                <a:cs typeface="Calibri" pitchFamily="34" charset="-120"/>
              </a:rPr>
              <a:t>Low Institutional Adoption</a:t>
            </a:r>
            <a:endParaRPr lang="en-US" sz="1200" dirty="0"/>
          </a:p>
        </p:txBody>
      </p:sp>
      <p:sp>
        <p:nvSpPr>
          <p:cNvPr id="24" name="Text 22"/>
          <p:cNvSpPr/>
          <p:nvPr/>
        </p:nvSpPr>
        <p:spPr>
          <a:xfrm>
            <a:off x="576072" y="3730752"/>
            <a:ext cx="3886200" cy="713232"/>
          </a:xfrm>
          <a:prstGeom prst="rect">
            <a:avLst/>
          </a:prstGeom>
          <a:noFill/>
          <a:ln/>
        </p:spPr>
        <p:txBody>
          <a:bodyPr wrap="square" lIns="0" tIns="0" rIns="0" bIns="0" rtlCol="0" anchor="ctr"/>
          <a:lstStyle/>
          <a:p>
            <a:pPr indent="0" marL="0">
              <a:buNone/>
            </a:pPr>
            <a:r>
              <a:rPr lang="en-US" sz="1050" dirty="0">
                <a:solidFill>
                  <a:srgbClr val="374151"/>
                </a:solidFill>
                <a:latin typeface="Calibri" pitchFamily="34" charset="0"/>
                <a:ea typeface="Calibri" pitchFamily="34" charset="-122"/>
                <a:cs typeface="Calibri" pitchFamily="34" charset="-120"/>
              </a:rPr>
              <a:t>Only technically proficient faculty can complete the workflow. Humanities and social science instructors are systematically excluded, regardless of motivation.</a:t>
            </a:r>
            <a:endParaRPr lang="en-US" sz="1050" dirty="0"/>
          </a:p>
        </p:txBody>
      </p:sp>
      <p:sp>
        <p:nvSpPr>
          <p:cNvPr id="25" name="Shape 23"/>
          <p:cNvSpPr/>
          <p:nvPr/>
        </p:nvSpPr>
        <p:spPr>
          <a:xfrm>
            <a:off x="4782312" y="3145536"/>
            <a:ext cx="4160520" cy="1389888"/>
          </a:xfrm>
          <a:prstGeom prst="rect">
            <a:avLst/>
          </a:prstGeom>
          <a:solidFill>
            <a:srgbClr val="FFFFFF"/>
          </a:solidFill>
          <a:ln w="12700">
            <a:solidFill>
              <a:srgbClr val="E5E7EB"/>
            </a:solidFill>
            <a:prstDash val="solid"/>
          </a:ln>
          <a:effectLst>
            <a:outerShdw sx="100000" sy="100000" kx="0" ky="0" algn="bl" rotWithShape="0" blurRad="76200" dist="25400" dir="8100000">
              <a:srgbClr val="000000">
                <a:alpha val="9000"/>
              </a:srgbClr>
            </a:outerShdw>
          </a:effectLst>
        </p:spPr>
      </p:sp>
      <p:sp>
        <p:nvSpPr>
          <p:cNvPr id="26" name="Shape 24"/>
          <p:cNvSpPr/>
          <p:nvPr/>
        </p:nvSpPr>
        <p:spPr>
          <a:xfrm>
            <a:off x="4782312" y="3145536"/>
            <a:ext cx="54864" cy="1389888"/>
          </a:xfrm>
          <a:prstGeom prst="rect">
            <a:avLst/>
          </a:prstGeom>
          <a:solidFill>
            <a:srgbClr val="E87722"/>
          </a:solidFill>
          <a:ln w="12700">
            <a:solidFill>
              <a:srgbClr val="E87722"/>
            </a:solidFill>
            <a:prstDash val="solid"/>
          </a:ln>
        </p:spPr>
      </p:sp>
      <p:sp>
        <p:nvSpPr>
          <p:cNvPr id="27" name="Shape 25"/>
          <p:cNvSpPr/>
          <p:nvPr/>
        </p:nvSpPr>
        <p:spPr>
          <a:xfrm>
            <a:off x="4946904" y="3310128"/>
            <a:ext cx="384048" cy="384048"/>
          </a:xfrm>
          <a:prstGeom prst="ellipse">
            <a:avLst/>
          </a:prstGeom>
          <a:solidFill>
            <a:srgbClr val="E87722"/>
          </a:solidFill>
          <a:ln w="12700">
            <a:solidFill>
              <a:srgbClr val="E87722"/>
            </a:solidFill>
            <a:prstDash val="solid"/>
          </a:ln>
        </p:spPr>
      </p:sp>
      <p:sp>
        <p:nvSpPr>
          <p:cNvPr id="28" name="Text 26"/>
          <p:cNvSpPr/>
          <p:nvPr/>
        </p:nvSpPr>
        <p:spPr>
          <a:xfrm>
            <a:off x="4946904" y="331012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Georgia" pitchFamily="34" charset="0"/>
                <a:ea typeface="Georgia" pitchFamily="34" charset="-122"/>
                <a:cs typeface="Georgia" pitchFamily="34" charset="-120"/>
              </a:rPr>
              <a:t>4</a:t>
            </a:r>
            <a:endParaRPr lang="en-US" sz="1300" dirty="0"/>
          </a:p>
        </p:txBody>
      </p:sp>
      <p:sp>
        <p:nvSpPr>
          <p:cNvPr id="29" name="Text 27"/>
          <p:cNvSpPr/>
          <p:nvPr/>
        </p:nvSpPr>
        <p:spPr>
          <a:xfrm>
            <a:off x="5458968" y="3310128"/>
            <a:ext cx="3383280" cy="292608"/>
          </a:xfrm>
          <a:prstGeom prst="rect">
            <a:avLst/>
          </a:prstGeom>
          <a:noFill/>
          <a:ln/>
        </p:spPr>
        <p:txBody>
          <a:bodyPr wrap="square" lIns="0" tIns="0" rIns="0" bIns="0" rtlCol="0" anchor="ctr"/>
          <a:lstStyle/>
          <a:p>
            <a:pPr indent="0" marL="0">
              <a:buNone/>
            </a:pPr>
            <a:r>
              <a:rPr lang="en-US" sz="1200" b="1" dirty="0">
                <a:solidFill>
                  <a:srgbClr val="1B2A4A"/>
                </a:solidFill>
                <a:latin typeface="Calibri" pitchFamily="34" charset="0"/>
                <a:ea typeface="Calibri" pitchFamily="34" charset="-122"/>
                <a:cs typeface="Calibri" pitchFamily="34" charset="-120"/>
              </a:rPr>
              <a:t>No AI Assistance</a:t>
            </a:r>
            <a:endParaRPr lang="en-US" sz="1200" dirty="0"/>
          </a:p>
        </p:txBody>
      </p:sp>
      <p:sp>
        <p:nvSpPr>
          <p:cNvPr id="30" name="Text 28"/>
          <p:cNvSpPr/>
          <p:nvPr/>
        </p:nvSpPr>
        <p:spPr>
          <a:xfrm>
            <a:off x="4946904" y="3730752"/>
            <a:ext cx="3886200" cy="713232"/>
          </a:xfrm>
          <a:prstGeom prst="rect">
            <a:avLst/>
          </a:prstGeom>
          <a:noFill/>
          <a:ln/>
        </p:spPr>
        <p:txBody>
          <a:bodyPr wrap="square" lIns="0" tIns="0" rIns="0" bIns="0" rtlCol="0" anchor="ctr"/>
          <a:lstStyle/>
          <a:p>
            <a:pPr indent="0" marL="0">
              <a:buNone/>
            </a:pPr>
            <a:r>
              <a:rPr lang="en-US" sz="1050" dirty="0">
                <a:solidFill>
                  <a:srgbClr val="374151"/>
                </a:solidFill>
                <a:latin typeface="Calibri" pitchFamily="34" charset="0"/>
                <a:ea typeface="Calibri" pitchFamily="34" charset="-122"/>
                <a:cs typeface="Calibri" pitchFamily="34" charset="-120"/>
              </a:rPr>
              <a:t>No existing free H5P tool provides AI question generation. Every question, timestamp, and distractor must be authored manually from scratch.</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01168"/>
            <a:ext cx="8321040" cy="201168"/>
          </a:xfrm>
          <a:prstGeom prst="rect">
            <a:avLst/>
          </a:prstGeom>
          <a:noFill/>
          <a:ln/>
        </p:spPr>
        <p:txBody>
          <a:bodyPr wrap="square" lIns="0" tIns="0" rIns="0" bIns="0" rtlCol="0" anchor="ctr"/>
          <a:lstStyle/>
          <a:p>
            <a:pPr indent="0" marL="0">
              <a:buNone/>
            </a:pPr>
            <a:r>
              <a:rPr lang="en-US" sz="900" b="1" spc="300" kern="0" dirty="0">
                <a:solidFill>
                  <a:srgbClr val="E87722"/>
                </a:solidFill>
                <a:latin typeface="Calibri" pitchFamily="34" charset="0"/>
                <a:ea typeface="Calibri" pitchFamily="34" charset="-122"/>
                <a:cs typeface="Calibri" pitchFamily="34" charset="-120"/>
              </a:rPr>
              <a:t>01 · INTRODUCTION</a:t>
            </a:r>
            <a:endParaRPr lang="en-US" sz="900" dirty="0"/>
          </a:p>
        </p:txBody>
      </p:sp>
      <p:sp>
        <p:nvSpPr>
          <p:cNvPr id="3" name="Shape 1"/>
          <p:cNvSpPr/>
          <p:nvPr/>
        </p:nvSpPr>
        <p:spPr>
          <a:xfrm>
            <a:off x="384048" y="274320"/>
            <a:ext cx="64008" cy="502920"/>
          </a:xfrm>
          <a:prstGeom prst="rect">
            <a:avLst/>
          </a:prstGeom>
          <a:solidFill>
            <a:srgbClr val="E87722"/>
          </a:solidFill>
          <a:ln w="12700">
            <a:solidFill>
              <a:srgbClr val="E87722"/>
            </a:solidFill>
            <a:prstDash val="solid"/>
          </a:ln>
        </p:spPr>
      </p:sp>
      <p:sp>
        <p:nvSpPr>
          <p:cNvPr id="4" name="Text 2"/>
          <p:cNvSpPr/>
          <p:nvPr/>
        </p:nvSpPr>
        <p:spPr>
          <a:xfrm>
            <a:off x="548640" y="274320"/>
            <a:ext cx="8321040" cy="502920"/>
          </a:xfrm>
          <a:prstGeom prst="rect">
            <a:avLst/>
          </a:prstGeom>
          <a:noFill/>
          <a:ln/>
        </p:spPr>
        <p:txBody>
          <a:bodyPr wrap="square" lIns="0" tIns="0" rIns="0" bIns="0" rtlCol="0" anchor="ctr"/>
          <a:lstStyle/>
          <a:p>
            <a:pPr indent="0" marL="0">
              <a:buNone/>
            </a:pPr>
            <a:r>
              <a:rPr lang="en-US" sz="2400" b="1" dirty="0">
                <a:solidFill>
                  <a:srgbClr val="1B2A4A"/>
                </a:solidFill>
                <a:latin typeface="Georgia" pitchFamily="34" charset="0"/>
                <a:ea typeface="Georgia" pitchFamily="34" charset="-122"/>
                <a:cs typeface="Georgia" pitchFamily="34" charset="-120"/>
              </a:rPr>
              <a:t>Research Questions</a:t>
            </a:r>
            <a:endParaRPr lang="en-US" sz="2400" dirty="0"/>
          </a:p>
        </p:txBody>
      </p:sp>
      <p:sp>
        <p:nvSpPr>
          <p:cNvPr id="5" name="Text 3"/>
          <p:cNvSpPr/>
          <p:nvPr/>
        </p:nvSpPr>
        <p:spPr>
          <a:xfrm>
            <a:off x="7772400" y="4846320"/>
            <a:ext cx="1097280" cy="182880"/>
          </a:xfrm>
          <a:prstGeom prst="rect">
            <a:avLst/>
          </a:prstGeom>
          <a:noFill/>
          <a:ln/>
        </p:spPr>
        <p:txBody>
          <a:bodyPr wrap="square" lIns="0" tIns="0" rIns="0" bIns="0"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5 / 24</a:t>
            </a:r>
            <a:endParaRPr lang="en-US" sz="800" dirty="0"/>
          </a:p>
        </p:txBody>
      </p:sp>
      <p:sp>
        <p:nvSpPr>
          <p:cNvPr id="6" name="Shape 4"/>
          <p:cNvSpPr/>
          <p:nvPr/>
        </p:nvSpPr>
        <p:spPr>
          <a:xfrm>
            <a:off x="411480" y="1005840"/>
            <a:ext cx="8321040" cy="1005840"/>
          </a:xfrm>
          <a:prstGeom prst="rect">
            <a:avLst/>
          </a:prstGeom>
          <a:solidFill>
            <a:srgbClr val="FEF3E6"/>
          </a:solidFill>
          <a:ln w="19050">
            <a:solidFill>
              <a:srgbClr val="E87722"/>
            </a:solidFill>
            <a:prstDash val="solid"/>
          </a:ln>
        </p:spPr>
      </p:sp>
      <p:sp>
        <p:nvSpPr>
          <p:cNvPr id="7" name="Text 5"/>
          <p:cNvSpPr/>
          <p:nvPr/>
        </p:nvSpPr>
        <p:spPr>
          <a:xfrm>
            <a:off x="594360" y="1051560"/>
            <a:ext cx="7955280" cy="256032"/>
          </a:xfrm>
          <a:prstGeom prst="rect">
            <a:avLst/>
          </a:prstGeom>
          <a:noFill/>
          <a:ln/>
        </p:spPr>
        <p:txBody>
          <a:bodyPr wrap="square" lIns="0" tIns="0" rIns="0" bIns="0" rtlCol="0" anchor="ctr"/>
          <a:lstStyle/>
          <a:p>
            <a:pPr indent="0" marL="0">
              <a:buNone/>
            </a:pPr>
            <a:r>
              <a:rPr lang="en-US" sz="950" b="1" spc="200" kern="0" dirty="0">
                <a:solidFill>
                  <a:srgbClr val="E87722"/>
                </a:solidFill>
                <a:latin typeface="Calibri" pitchFamily="34" charset="0"/>
                <a:ea typeface="Calibri" pitchFamily="34" charset="-122"/>
                <a:cs typeface="Calibri" pitchFamily="34" charset="-120"/>
              </a:rPr>
              <a:t>Primary Research Question</a:t>
            </a:r>
            <a:endParaRPr lang="en-US" sz="950" dirty="0"/>
          </a:p>
        </p:txBody>
      </p:sp>
      <p:sp>
        <p:nvSpPr>
          <p:cNvPr id="8" name="Text 6"/>
          <p:cNvSpPr/>
          <p:nvPr/>
        </p:nvSpPr>
        <p:spPr>
          <a:xfrm>
            <a:off x="594360" y="1316736"/>
            <a:ext cx="7955280" cy="640080"/>
          </a:xfrm>
          <a:prstGeom prst="rect">
            <a:avLst/>
          </a:prstGeom>
          <a:noFill/>
          <a:ln/>
        </p:spPr>
        <p:txBody>
          <a:bodyPr wrap="square" lIns="0" tIns="0" rIns="0" bIns="0" rtlCol="0" anchor="ctr"/>
          <a:lstStyle/>
          <a:p>
            <a:pPr indent="0" marL="0">
              <a:buNone/>
            </a:pPr>
            <a:r>
              <a:rPr lang="en-US" sz="1250" i="1" dirty="0">
                <a:solidFill>
                  <a:srgbClr val="1B2A4A"/>
                </a:solidFill>
                <a:latin typeface="Calibri" pitchFamily="34" charset="0"/>
                <a:ea typeface="Calibri" pitchFamily="34" charset="-122"/>
                <a:cs typeface="Calibri" pitchFamily="34" charset="-120"/>
              </a:rPr>
              <a:t>How can a purpose-built web platform, combining user-centred design with an AI-driven transcript analysis pipeline, improve the efficiency, pedagogical quality, and institutional adoption of H5P interactive video authoring?</a:t>
            </a:r>
            <a:endParaRPr lang="en-US" sz="1250" dirty="0"/>
          </a:p>
        </p:txBody>
      </p:sp>
      <p:sp>
        <p:nvSpPr>
          <p:cNvPr id="9" name="Shape 7"/>
          <p:cNvSpPr/>
          <p:nvPr/>
        </p:nvSpPr>
        <p:spPr>
          <a:xfrm>
            <a:off x="411480" y="2212848"/>
            <a:ext cx="502920" cy="530352"/>
          </a:xfrm>
          <a:prstGeom prst="rect">
            <a:avLst/>
          </a:prstGeom>
          <a:solidFill>
            <a:srgbClr val="1B2A4A"/>
          </a:solidFill>
          <a:ln w="12700">
            <a:solidFill>
              <a:srgbClr val="1B2A4A"/>
            </a:solidFill>
            <a:prstDash val="solid"/>
          </a:ln>
        </p:spPr>
      </p:sp>
      <p:sp>
        <p:nvSpPr>
          <p:cNvPr id="10" name="Text 8"/>
          <p:cNvSpPr/>
          <p:nvPr/>
        </p:nvSpPr>
        <p:spPr>
          <a:xfrm>
            <a:off x="411480" y="2212848"/>
            <a:ext cx="502920" cy="530352"/>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RQ1</a:t>
            </a:r>
            <a:endParaRPr lang="en-US" sz="950" dirty="0"/>
          </a:p>
        </p:txBody>
      </p:sp>
      <p:sp>
        <p:nvSpPr>
          <p:cNvPr id="11" name="Text 9"/>
          <p:cNvSpPr/>
          <p:nvPr/>
        </p:nvSpPr>
        <p:spPr>
          <a:xfrm>
            <a:off x="1005840" y="2249424"/>
            <a:ext cx="7726680" cy="457200"/>
          </a:xfrm>
          <a:prstGeom prst="rect">
            <a:avLst/>
          </a:prstGeom>
          <a:noFill/>
          <a:ln/>
        </p:spPr>
        <p:txBody>
          <a:bodyPr wrap="square" lIns="0" tIns="0" rIns="0" bIns="0" rtlCol="0" anchor="ctr"/>
          <a:lstStyle/>
          <a:p>
            <a:pPr indent="0" marL="0">
              <a:buNone/>
            </a:pPr>
            <a:r>
              <a:rPr lang="en-US" sz="1150" dirty="0">
                <a:solidFill>
                  <a:srgbClr val="374151"/>
                </a:solidFill>
                <a:latin typeface="Calibri" pitchFamily="34" charset="0"/>
                <a:ea typeface="Calibri" pitchFamily="34" charset="-122"/>
                <a:cs typeface="Calibri" pitchFamily="34" charset="-120"/>
              </a:rPr>
              <a:t>What are the specific usability barriers in current H5P workflows that most strongly reduce task completion rates and satisfaction?</a:t>
            </a:r>
            <a:endParaRPr lang="en-US" sz="1150" dirty="0"/>
          </a:p>
        </p:txBody>
      </p:sp>
      <p:sp>
        <p:nvSpPr>
          <p:cNvPr id="12" name="Shape 10"/>
          <p:cNvSpPr/>
          <p:nvPr/>
        </p:nvSpPr>
        <p:spPr>
          <a:xfrm>
            <a:off x="411480" y="2761488"/>
            <a:ext cx="8321040" cy="0"/>
          </a:xfrm>
          <a:prstGeom prst="line">
            <a:avLst/>
          </a:prstGeom>
          <a:noFill/>
          <a:ln w="6350">
            <a:solidFill>
              <a:srgbClr val="E5E7EB"/>
            </a:solidFill>
            <a:prstDash val="solid"/>
          </a:ln>
        </p:spPr>
      </p:sp>
      <p:sp>
        <p:nvSpPr>
          <p:cNvPr id="13" name="Shape 11"/>
          <p:cNvSpPr/>
          <p:nvPr/>
        </p:nvSpPr>
        <p:spPr>
          <a:xfrm>
            <a:off x="411480" y="2889504"/>
            <a:ext cx="502920" cy="530352"/>
          </a:xfrm>
          <a:prstGeom prst="rect">
            <a:avLst/>
          </a:prstGeom>
          <a:solidFill>
            <a:srgbClr val="1B2A4A"/>
          </a:solidFill>
          <a:ln w="12700">
            <a:solidFill>
              <a:srgbClr val="1B2A4A"/>
            </a:solidFill>
            <a:prstDash val="solid"/>
          </a:ln>
        </p:spPr>
      </p:sp>
      <p:sp>
        <p:nvSpPr>
          <p:cNvPr id="14" name="Text 12"/>
          <p:cNvSpPr/>
          <p:nvPr/>
        </p:nvSpPr>
        <p:spPr>
          <a:xfrm>
            <a:off x="411480" y="2889504"/>
            <a:ext cx="502920" cy="530352"/>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RQ2</a:t>
            </a:r>
            <a:endParaRPr lang="en-US" sz="950" dirty="0"/>
          </a:p>
        </p:txBody>
      </p:sp>
      <p:sp>
        <p:nvSpPr>
          <p:cNvPr id="15" name="Text 13"/>
          <p:cNvSpPr/>
          <p:nvPr/>
        </p:nvSpPr>
        <p:spPr>
          <a:xfrm>
            <a:off x="1005840" y="2926080"/>
            <a:ext cx="7726680" cy="457200"/>
          </a:xfrm>
          <a:prstGeom prst="rect">
            <a:avLst/>
          </a:prstGeom>
          <a:noFill/>
          <a:ln/>
        </p:spPr>
        <p:txBody>
          <a:bodyPr wrap="square" lIns="0" tIns="0" rIns="0" bIns="0" rtlCol="0" anchor="ctr"/>
          <a:lstStyle/>
          <a:p>
            <a:pPr indent="0" marL="0">
              <a:buNone/>
            </a:pPr>
            <a:r>
              <a:rPr lang="en-US" sz="1150" dirty="0">
                <a:solidFill>
                  <a:srgbClr val="374151"/>
                </a:solidFill>
                <a:latin typeface="Calibri" pitchFamily="34" charset="0"/>
                <a:ea typeface="Calibri" pitchFamily="34" charset="-122"/>
                <a:cs typeface="Calibri" pitchFamily="34" charset="-120"/>
              </a:rPr>
              <a:t>How can user-centred design principles reduce extraneous cognitive load in timestamp-based interactive question authoring?</a:t>
            </a:r>
            <a:endParaRPr lang="en-US" sz="1150" dirty="0"/>
          </a:p>
        </p:txBody>
      </p:sp>
      <p:sp>
        <p:nvSpPr>
          <p:cNvPr id="16" name="Shape 14"/>
          <p:cNvSpPr/>
          <p:nvPr/>
        </p:nvSpPr>
        <p:spPr>
          <a:xfrm>
            <a:off x="411480" y="3438144"/>
            <a:ext cx="8321040" cy="0"/>
          </a:xfrm>
          <a:prstGeom prst="line">
            <a:avLst/>
          </a:prstGeom>
          <a:noFill/>
          <a:ln w="6350">
            <a:solidFill>
              <a:srgbClr val="E5E7EB"/>
            </a:solidFill>
            <a:prstDash val="solid"/>
          </a:ln>
        </p:spPr>
      </p:sp>
      <p:sp>
        <p:nvSpPr>
          <p:cNvPr id="17" name="Shape 15"/>
          <p:cNvSpPr/>
          <p:nvPr/>
        </p:nvSpPr>
        <p:spPr>
          <a:xfrm>
            <a:off x="411480" y="3566160"/>
            <a:ext cx="502920" cy="530352"/>
          </a:xfrm>
          <a:prstGeom prst="rect">
            <a:avLst/>
          </a:prstGeom>
          <a:solidFill>
            <a:srgbClr val="1B2A4A"/>
          </a:solidFill>
          <a:ln w="12700">
            <a:solidFill>
              <a:srgbClr val="1B2A4A"/>
            </a:solidFill>
            <a:prstDash val="solid"/>
          </a:ln>
        </p:spPr>
      </p:sp>
      <p:sp>
        <p:nvSpPr>
          <p:cNvPr id="18" name="Text 16"/>
          <p:cNvSpPr/>
          <p:nvPr/>
        </p:nvSpPr>
        <p:spPr>
          <a:xfrm>
            <a:off x="411480" y="3566160"/>
            <a:ext cx="502920" cy="530352"/>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RQ3</a:t>
            </a:r>
            <a:endParaRPr lang="en-US" sz="950" dirty="0"/>
          </a:p>
        </p:txBody>
      </p:sp>
      <p:sp>
        <p:nvSpPr>
          <p:cNvPr id="19" name="Text 17"/>
          <p:cNvSpPr/>
          <p:nvPr/>
        </p:nvSpPr>
        <p:spPr>
          <a:xfrm>
            <a:off x="1005840" y="3602736"/>
            <a:ext cx="7726680" cy="457200"/>
          </a:xfrm>
          <a:prstGeom prst="rect">
            <a:avLst/>
          </a:prstGeom>
          <a:noFill/>
          <a:ln/>
        </p:spPr>
        <p:txBody>
          <a:bodyPr wrap="square" lIns="0" tIns="0" rIns="0" bIns="0" rtlCol="0" anchor="ctr"/>
          <a:lstStyle/>
          <a:p>
            <a:pPr indent="0" marL="0">
              <a:buNone/>
            </a:pPr>
            <a:r>
              <a:rPr lang="en-US" sz="1150" dirty="0">
                <a:solidFill>
                  <a:srgbClr val="374151"/>
                </a:solidFill>
                <a:latin typeface="Calibri" pitchFamily="34" charset="0"/>
                <a:ea typeface="Calibri" pitchFamily="34" charset="-122"/>
                <a:cs typeface="Calibri" pitchFamily="34" charset="-120"/>
              </a:rPr>
              <a:t>What full-stack architecture best supports scalable, real-time AI-assisted question generation and seamless H5P package assembly?</a:t>
            </a:r>
            <a:endParaRPr lang="en-US" sz="1150" dirty="0"/>
          </a:p>
        </p:txBody>
      </p:sp>
      <p:sp>
        <p:nvSpPr>
          <p:cNvPr id="20" name="Shape 18"/>
          <p:cNvSpPr/>
          <p:nvPr/>
        </p:nvSpPr>
        <p:spPr>
          <a:xfrm>
            <a:off x="411480" y="4114800"/>
            <a:ext cx="8321040" cy="0"/>
          </a:xfrm>
          <a:prstGeom prst="line">
            <a:avLst/>
          </a:prstGeom>
          <a:noFill/>
          <a:ln w="6350">
            <a:solidFill>
              <a:srgbClr val="E5E7EB"/>
            </a:solidFill>
            <a:prstDash val="solid"/>
          </a:ln>
        </p:spPr>
      </p:sp>
      <p:sp>
        <p:nvSpPr>
          <p:cNvPr id="21" name="Shape 19"/>
          <p:cNvSpPr/>
          <p:nvPr/>
        </p:nvSpPr>
        <p:spPr>
          <a:xfrm>
            <a:off x="411480" y="4242816"/>
            <a:ext cx="502920" cy="530352"/>
          </a:xfrm>
          <a:prstGeom prst="rect">
            <a:avLst/>
          </a:prstGeom>
          <a:solidFill>
            <a:srgbClr val="1B2A4A"/>
          </a:solidFill>
          <a:ln w="12700">
            <a:solidFill>
              <a:srgbClr val="1B2A4A"/>
            </a:solidFill>
            <a:prstDash val="solid"/>
          </a:ln>
        </p:spPr>
      </p:sp>
      <p:sp>
        <p:nvSpPr>
          <p:cNvPr id="22" name="Text 20"/>
          <p:cNvSpPr/>
          <p:nvPr/>
        </p:nvSpPr>
        <p:spPr>
          <a:xfrm>
            <a:off x="411480" y="4242816"/>
            <a:ext cx="502920" cy="530352"/>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RQ4</a:t>
            </a:r>
            <a:endParaRPr lang="en-US" sz="950" dirty="0"/>
          </a:p>
        </p:txBody>
      </p:sp>
      <p:sp>
        <p:nvSpPr>
          <p:cNvPr id="23" name="Text 21"/>
          <p:cNvSpPr/>
          <p:nvPr/>
        </p:nvSpPr>
        <p:spPr>
          <a:xfrm>
            <a:off x="1005840" y="4279392"/>
            <a:ext cx="7726680" cy="457200"/>
          </a:xfrm>
          <a:prstGeom prst="rect">
            <a:avLst/>
          </a:prstGeom>
          <a:noFill/>
          <a:ln/>
        </p:spPr>
        <p:txBody>
          <a:bodyPr wrap="square" lIns="0" tIns="0" rIns="0" bIns="0" rtlCol="0" anchor="ctr"/>
          <a:lstStyle/>
          <a:p>
            <a:pPr indent="0" marL="0">
              <a:buNone/>
            </a:pPr>
            <a:r>
              <a:rPr lang="en-US" sz="1150" dirty="0">
                <a:solidFill>
                  <a:srgbClr val="374151"/>
                </a:solidFill>
                <a:latin typeface="Calibri" pitchFamily="34" charset="0"/>
                <a:ea typeface="Calibri" pitchFamily="34" charset="-122"/>
                <a:cs typeface="Calibri" pitchFamily="34" charset="-120"/>
              </a:rPr>
              <a:t>To what extent does the purpose-built platform quantitatively outperform the WordPress baseline on usability, efficiency, and productivity metrics?</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01168"/>
            <a:ext cx="8321040" cy="201168"/>
          </a:xfrm>
          <a:prstGeom prst="rect">
            <a:avLst/>
          </a:prstGeom>
          <a:noFill/>
          <a:ln/>
        </p:spPr>
        <p:txBody>
          <a:bodyPr wrap="square" lIns="0" tIns="0" rIns="0" bIns="0" rtlCol="0" anchor="ctr"/>
          <a:lstStyle/>
          <a:p>
            <a:pPr indent="0" marL="0">
              <a:buNone/>
            </a:pPr>
            <a:r>
              <a:rPr lang="en-US" sz="900" b="1" spc="300" kern="0" dirty="0">
                <a:solidFill>
                  <a:srgbClr val="E87722"/>
                </a:solidFill>
                <a:latin typeface="Calibri" pitchFamily="34" charset="0"/>
                <a:ea typeface="Calibri" pitchFamily="34" charset="-122"/>
                <a:cs typeface="Calibri" pitchFamily="34" charset="-120"/>
              </a:rPr>
              <a:t>02 · LITERATURE REVIEW</a:t>
            </a:r>
            <a:endParaRPr lang="en-US" sz="900" dirty="0"/>
          </a:p>
        </p:txBody>
      </p:sp>
      <p:sp>
        <p:nvSpPr>
          <p:cNvPr id="3" name="Shape 1"/>
          <p:cNvSpPr/>
          <p:nvPr/>
        </p:nvSpPr>
        <p:spPr>
          <a:xfrm>
            <a:off x="384048" y="274320"/>
            <a:ext cx="64008" cy="502920"/>
          </a:xfrm>
          <a:prstGeom prst="rect">
            <a:avLst/>
          </a:prstGeom>
          <a:solidFill>
            <a:srgbClr val="E87722"/>
          </a:solidFill>
          <a:ln w="12700">
            <a:solidFill>
              <a:srgbClr val="E87722"/>
            </a:solidFill>
            <a:prstDash val="solid"/>
          </a:ln>
        </p:spPr>
      </p:sp>
      <p:sp>
        <p:nvSpPr>
          <p:cNvPr id="4" name="Text 2"/>
          <p:cNvSpPr/>
          <p:nvPr/>
        </p:nvSpPr>
        <p:spPr>
          <a:xfrm>
            <a:off x="548640" y="274320"/>
            <a:ext cx="8321040" cy="502920"/>
          </a:xfrm>
          <a:prstGeom prst="rect">
            <a:avLst/>
          </a:prstGeom>
          <a:noFill/>
          <a:ln/>
        </p:spPr>
        <p:txBody>
          <a:bodyPr wrap="square" lIns="0" tIns="0" rIns="0" bIns="0" rtlCol="0" anchor="ctr"/>
          <a:lstStyle/>
          <a:p>
            <a:pPr indent="0" marL="0">
              <a:buNone/>
            </a:pPr>
            <a:r>
              <a:rPr lang="en-US" sz="2400" b="1" dirty="0">
                <a:solidFill>
                  <a:srgbClr val="1B2A4A"/>
                </a:solidFill>
                <a:latin typeface="Georgia" pitchFamily="34" charset="0"/>
                <a:ea typeface="Georgia" pitchFamily="34" charset="-122"/>
                <a:cs typeface="Georgia" pitchFamily="34" charset="-120"/>
              </a:rPr>
              <a:t>Why Interactive Video Works</a:t>
            </a:r>
            <a:endParaRPr lang="en-US" sz="2400" dirty="0"/>
          </a:p>
        </p:txBody>
      </p:sp>
      <p:sp>
        <p:nvSpPr>
          <p:cNvPr id="5" name="Text 3"/>
          <p:cNvSpPr/>
          <p:nvPr/>
        </p:nvSpPr>
        <p:spPr>
          <a:xfrm>
            <a:off x="7772400" y="4846320"/>
            <a:ext cx="1097280" cy="182880"/>
          </a:xfrm>
          <a:prstGeom prst="rect">
            <a:avLst/>
          </a:prstGeom>
          <a:noFill/>
          <a:ln/>
        </p:spPr>
        <p:txBody>
          <a:bodyPr wrap="square" lIns="0" tIns="0" rIns="0" bIns="0"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6 / 24</a:t>
            </a:r>
            <a:endParaRPr lang="en-US" sz="800" dirty="0"/>
          </a:p>
        </p:txBody>
      </p:sp>
      <p:sp>
        <p:nvSpPr>
          <p:cNvPr id="6" name="Text 4"/>
          <p:cNvSpPr/>
          <p:nvPr/>
        </p:nvSpPr>
        <p:spPr>
          <a:xfrm>
            <a:off x="411480" y="1005840"/>
            <a:ext cx="8321040" cy="457200"/>
          </a:xfrm>
          <a:prstGeom prst="rect">
            <a:avLst/>
          </a:prstGeom>
          <a:noFill/>
          <a:ln/>
        </p:spPr>
        <p:txBody>
          <a:bodyPr wrap="square" lIns="0" tIns="0" rIns="0" bIns="0" rtlCol="0" anchor="ctr"/>
          <a:lstStyle/>
          <a:p>
            <a:pPr indent="0" marL="0">
              <a:buNone/>
            </a:pPr>
            <a:r>
              <a:rPr lang="en-US" sz="1300" dirty="0">
                <a:solidFill>
                  <a:srgbClr val="374151"/>
                </a:solidFill>
                <a:latin typeface="Calibri" pitchFamily="34" charset="0"/>
                <a:ea typeface="Calibri" pitchFamily="34" charset="-122"/>
                <a:cs typeface="Calibri" pitchFamily="34" charset="-120"/>
              </a:rPr>
              <a:t>Three decades of cognitive science and educational technology research provide the empirical foundation for this project's pedagogical goals.</a:t>
            </a:r>
            <a:endParaRPr lang="en-US" sz="1300" dirty="0"/>
          </a:p>
        </p:txBody>
      </p:sp>
      <p:sp>
        <p:nvSpPr>
          <p:cNvPr id="7" name="Shape 5"/>
          <p:cNvSpPr/>
          <p:nvPr/>
        </p:nvSpPr>
        <p:spPr>
          <a:xfrm>
            <a:off x="411480" y="1609344"/>
            <a:ext cx="8321040" cy="960120"/>
          </a:xfrm>
          <a:prstGeom prst="rect">
            <a:avLst/>
          </a:prstGeom>
          <a:solidFill>
            <a:srgbClr val="FFFFFF"/>
          </a:solidFill>
          <a:ln w="12700">
            <a:solidFill>
              <a:srgbClr val="E5E7EB"/>
            </a:solidFill>
            <a:prstDash val="solid"/>
          </a:ln>
          <a:effectLst>
            <a:outerShdw sx="100000" sy="100000" kx="0" ky="0" algn="bl" rotWithShape="0" blurRad="76200" dist="25400" dir="8100000">
              <a:srgbClr val="000000">
                <a:alpha val="9000"/>
              </a:srgbClr>
            </a:outerShdw>
          </a:effectLst>
        </p:spPr>
      </p:sp>
      <p:sp>
        <p:nvSpPr>
          <p:cNvPr id="8" name="Shape 6"/>
          <p:cNvSpPr/>
          <p:nvPr/>
        </p:nvSpPr>
        <p:spPr>
          <a:xfrm>
            <a:off x="411480" y="1609344"/>
            <a:ext cx="54864" cy="960120"/>
          </a:xfrm>
          <a:prstGeom prst="rect">
            <a:avLst/>
          </a:prstGeom>
          <a:solidFill>
            <a:srgbClr val="E87722"/>
          </a:solidFill>
          <a:ln w="12700">
            <a:solidFill>
              <a:srgbClr val="E87722"/>
            </a:solidFill>
            <a:prstDash val="solid"/>
          </a:ln>
        </p:spPr>
      </p:sp>
      <p:sp>
        <p:nvSpPr>
          <p:cNvPr id="9" name="Text 7"/>
          <p:cNvSpPr/>
          <p:nvPr/>
        </p:nvSpPr>
        <p:spPr>
          <a:xfrm>
            <a:off x="566928" y="1700784"/>
            <a:ext cx="8092440" cy="256032"/>
          </a:xfrm>
          <a:prstGeom prst="rect">
            <a:avLst/>
          </a:prstGeom>
          <a:noFill/>
          <a:ln/>
        </p:spPr>
        <p:txBody>
          <a:bodyPr wrap="square" lIns="0" tIns="0" rIns="0" bIns="0" rtlCol="0" anchor="ctr"/>
          <a:lstStyle/>
          <a:p>
            <a:pPr indent="0" marL="0">
              <a:buNone/>
            </a:pPr>
            <a:r>
              <a:rPr lang="en-US" sz="1150" b="1" dirty="0">
                <a:solidFill>
                  <a:srgbClr val="E87722"/>
                </a:solidFill>
                <a:latin typeface="Calibri" pitchFamily="34" charset="0"/>
                <a:ea typeface="Calibri" pitchFamily="34" charset="-122"/>
                <a:cs typeface="Calibri" pitchFamily="34" charset="-120"/>
              </a:rPr>
              <a:t>Zhang et al. (2006)</a:t>
            </a:r>
            <a:endParaRPr lang="en-US" sz="1150" dirty="0"/>
          </a:p>
        </p:txBody>
      </p:sp>
      <p:sp>
        <p:nvSpPr>
          <p:cNvPr id="10" name="Text 8"/>
          <p:cNvSpPr/>
          <p:nvPr/>
        </p:nvSpPr>
        <p:spPr>
          <a:xfrm>
            <a:off x="566928" y="1956816"/>
            <a:ext cx="8092440" cy="292608"/>
          </a:xfrm>
          <a:prstGeom prst="rect">
            <a:avLst/>
          </a:prstGeom>
          <a:noFill/>
          <a:ln/>
        </p:spPr>
        <p:txBody>
          <a:bodyPr wrap="square" lIns="0" tIns="0" rIns="0" bIns="0" rtlCol="0" anchor="ctr"/>
          <a:lstStyle/>
          <a:p>
            <a:pPr indent="0" marL="0">
              <a:buNone/>
            </a:pPr>
            <a:r>
              <a:rPr lang="en-US" sz="1050" dirty="0">
                <a:solidFill>
                  <a:srgbClr val="1B2A4A"/>
                </a:solidFill>
                <a:latin typeface="Calibri" pitchFamily="34" charset="0"/>
                <a:ea typeface="Calibri" pitchFamily="34" charset="-122"/>
                <a:cs typeface="Calibri" pitchFamily="34" charset="-120"/>
              </a:rPr>
              <a:t>Students in interactive video groups scored 20–25% higher on post-tests and reported significantly greater satisfaction compared to passive video viewing.</a:t>
            </a:r>
            <a:endParaRPr lang="en-US" sz="1050" dirty="0"/>
          </a:p>
        </p:txBody>
      </p:sp>
      <p:sp>
        <p:nvSpPr>
          <p:cNvPr id="11" name="Text 9"/>
          <p:cNvSpPr/>
          <p:nvPr/>
        </p:nvSpPr>
        <p:spPr>
          <a:xfrm>
            <a:off x="566928" y="2249424"/>
            <a:ext cx="8092440" cy="256032"/>
          </a:xfrm>
          <a:prstGeom prst="rect">
            <a:avLst/>
          </a:prstGeom>
          <a:noFill/>
          <a:ln/>
        </p:spPr>
        <p:txBody>
          <a:bodyPr wrap="square" lIns="0" tIns="0" rIns="0" bIns="0" rtlCol="0" anchor="ctr"/>
          <a:lstStyle/>
          <a:p>
            <a:pPr indent="0" marL="0">
              <a:buNone/>
            </a:pPr>
            <a:r>
              <a:rPr lang="en-US" sz="1000" i="1" dirty="0">
                <a:solidFill>
                  <a:srgbClr val="6B7280"/>
                </a:solidFill>
                <a:latin typeface="Calibri" pitchFamily="34" charset="0"/>
                <a:ea typeface="Calibri" pitchFamily="34" charset="-122"/>
                <a:cs typeface="Calibri" pitchFamily="34" charset="-120"/>
              </a:rPr>
              <a:t>Mechanism: forced active retrieval prevents passive 'zoning out' at regular intervals throughout the lecture.</a:t>
            </a:r>
            <a:endParaRPr lang="en-US" sz="1000" dirty="0"/>
          </a:p>
        </p:txBody>
      </p:sp>
      <p:sp>
        <p:nvSpPr>
          <p:cNvPr id="12" name="Shape 10"/>
          <p:cNvSpPr/>
          <p:nvPr/>
        </p:nvSpPr>
        <p:spPr>
          <a:xfrm>
            <a:off x="411480" y="2715768"/>
            <a:ext cx="8321040" cy="960120"/>
          </a:xfrm>
          <a:prstGeom prst="rect">
            <a:avLst/>
          </a:prstGeom>
          <a:solidFill>
            <a:srgbClr val="FFFFFF"/>
          </a:solidFill>
          <a:ln w="12700">
            <a:solidFill>
              <a:srgbClr val="E5E7EB"/>
            </a:solidFill>
            <a:prstDash val="solid"/>
          </a:ln>
          <a:effectLst>
            <a:outerShdw sx="100000" sy="100000" kx="0" ky="0" algn="bl" rotWithShape="0" blurRad="76200" dist="25400" dir="8100000">
              <a:srgbClr val="000000">
                <a:alpha val="9000"/>
              </a:srgbClr>
            </a:outerShdw>
          </a:effectLst>
        </p:spPr>
      </p:sp>
      <p:sp>
        <p:nvSpPr>
          <p:cNvPr id="13" name="Shape 11"/>
          <p:cNvSpPr/>
          <p:nvPr/>
        </p:nvSpPr>
        <p:spPr>
          <a:xfrm>
            <a:off x="411480" y="2715768"/>
            <a:ext cx="54864" cy="960120"/>
          </a:xfrm>
          <a:prstGeom prst="rect">
            <a:avLst/>
          </a:prstGeom>
          <a:solidFill>
            <a:srgbClr val="E87722"/>
          </a:solidFill>
          <a:ln w="12700">
            <a:solidFill>
              <a:srgbClr val="E87722"/>
            </a:solidFill>
            <a:prstDash val="solid"/>
          </a:ln>
        </p:spPr>
      </p:sp>
      <p:sp>
        <p:nvSpPr>
          <p:cNvPr id="14" name="Text 12"/>
          <p:cNvSpPr/>
          <p:nvPr/>
        </p:nvSpPr>
        <p:spPr>
          <a:xfrm>
            <a:off x="566928" y="2807208"/>
            <a:ext cx="8092440" cy="256032"/>
          </a:xfrm>
          <a:prstGeom prst="rect">
            <a:avLst/>
          </a:prstGeom>
          <a:noFill/>
          <a:ln/>
        </p:spPr>
        <p:txBody>
          <a:bodyPr wrap="square" lIns="0" tIns="0" rIns="0" bIns="0" rtlCol="0" anchor="ctr"/>
          <a:lstStyle/>
          <a:p>
            <a:pPr indent="0" marL="0">
              <a:buNone/>
            </a:pPr>
            <a:r>
              <a:rPr lang="en-US" sz="1150" b="1" dirty="0">
                <a:solidFill>
                  <a:srgbClr val="E87722"/>
                </a:solidFill>
                <a:latin typeface="Calibri" pitchFamily="34" charset="0"/>
                <a:ea typeface="Calibri" pitchFamily="34" charset="-122"/>
                <a:cs typeface="Calibri" pitchFamily="34" charset="-120"/>
              </a:rPr>
              <a:t>Merkt et al. (2011)</a:t>
            </a:r>
            <a:endParaRPr lang="en-US" sz="1150" dirty="0"/>
          </a:p>
        </p:txBody>
      </p:sp>
      <p:sp>
        <p:nvSpPr>
          <p:cNvPr id="15" name="Text 13"/>
          <p:cNvSpPr/>
          <p:nvPr/>
        </p:nvSpPr>
        <p:spPr>
          <a:xfrm>
            <a:off x="566928" y="3063240"/>
            <a:ext cx="8092440" cy="292608"/>
          </a:xfrm>
          <a:prstGeom prst="rect">
            <a:avLst/>
          </a:prstGeom>
          <a:noFill/>
          <a:ln/>
        </p:spPr>
        <p:txBody>
          <a:bodyPr wrap="square" lIns="0" tIns="0" rIns="0" bIns="0" rtlCol="0" anchor="ctr"/>
          <a:lstStyle/>
          <a:p>
            <a:pPr indent="0" marL="0">
              <a:buNone/>
            </a:pPr>
            <a:r>
              <a:rPr lang="en-US" sz="1050" dirty="0">
                <a:solidFill>
                  <a:srgbClr val="1B2A4A"/>
                </a:solidFill>
                <a:latin typeface="Calibri" pitchFamily="34" charset="0"/>
                <a:ea typeface="Calibri" pitchFamily="34" charset="-122"/>
                <a:cs typeface="Calibri" pitchFamily="34" charset="-120"/>
              </a:rPr>
              <a:t>Videos with embedded forced-choice questions produced better knowledge retention than equivalent print materials — most pronounced for complex STEM content.</a:t>
            </a:r>
            <a:endParaRPr lang="en-US" sz="1050" dirty="0"/>
          </a:p>
        </p:txBody>
      </p:sp>
      <p:sp>
        <p:nvSpPr>
          <p:cNvPr id="16" name="Text 14"/>
          <p:cNvSpPr/>
          <p:nvPr/>
        </p:nvSpPr>
        <p:spPr>
          <a:xfrm>
            <a:off x="566928" y="3355848"/>
            <a:ext cx="8092440" cy="256032"/>
          </a:xfrm>
          <a:prstGeom prst="rect">
            <a:avLst/>
          </a:prstGeom>
          <a:noFill/>
          <a:ln/>
        </p:spPr>
        <p:txBody>
          <a:bodyPr wrap="square" lIns="0" tIns="0" rIns="0" bIns="0" rtlCol="0" anchor="ctr"/>
          <a:lstStyle/>
          <a:p>
            <a:pPr indent="0" marL="0">
              <a:buNone/>
            </a:pPr>
            <a:r>
              <a:rPr lang="en-US" sz="1000" i="1" dirty="0">
                <a:solidFill>
                  <a:srgbClr val="6B7280"/>
                </a:solidFill>
                <a:latin typeface="Calibri" pitchFamily="34" charset="0"/>
                <a:ea typeface="Calibri" pitchFamily="34" charset="-122"/>
                <a:cs typeface="Calibri" pitchFamily="34" charset="-120"/>
              </a:rPr>
              <a:t>Mechanism: interactive control features trigger deeper cognitive processing and schema integration.</a:t>
            </a:r>
            <a:endParaRPr lang="en-US" sz="1000" dirty="0"/>
          </a:p>
        </p:txBody>
      </p:sp>
      <p:sp>
        <p:nvSpPr>
          <p:cNvPr id="17" name="Shape 15"/>
          <p:cNvSpPr/>
          <p:nvPr/>
        </p:nvSpPr>
        <p:spPr>
          <a:xfrm>
            <a:off x="411480" y="3822192"/>
            <a:ext cx="8321040" cy="960120"/>
          </a:xfrm>
          <a:prstGeom prst="rect">
            <a:avLst/>
          </a:prstGeom>
          <a:solidFill>
            <a:srgbClr val="FFFFFF"/>
          </a:solidFill>
          <a:ln w="12700">
            <a:solidFill>
              <a:srgbClr val="E5E7EB"/>
            </a:solidFill>
            <a:prstDash val="solid"/>
          </a:ln>
          <a:effectLst>
            <a:outerShdw sx="100000" sy="100000" kx="0" ky="0" algn="bl" rotWithShape="0" blurRad="76200" dist="25400" dir="8100000">
              <a:srgbClr val="000000">
                <a:alpha val="9000"/>
              </a:srgbClr>
            </a:outerShdw>
          </a:effectLst>
        </p:spPr>
      </p:sp>
      <p:sp>
        <p:nvSpPr>
          <p:cNvPr id="18" name="Shape 16"/>
          <p:cNvSpPr/>
          <p:nvPr/>
        </p:nvSpPr>
        <p:spPr>
          <a:xfrm>
            <a:off x="411480" y="3822192"/>
            <a:ext cx="54864" cy="960120"/>
          </a:xfrm>
          <a:prstGeom prst="rect">
            <a:avLst/>
          </a:prstGeom>
          <a:solidFill>
            <a:srgbClr val="E87722"/>
          </a:solidFill>
          <a:ln w="12700">
            <a:solidFill>
              <a:srgbClr val="E87722"/>
            </a:solidFill>
            <a:prstDash val="solid"/>
          </a:ln>
        </p:spPr>
      </p:sp>
      <p:sp>
        <p:nvSpPr>
          <p:cNvPr id="19" name="Text 17"/>
          <p:cNvSpPr/>
          <p:nvPr/>
        </p:nvSpPr>
        <p:spPr>
          <a:xfrm>
            <a:off x="566928" y="3913632"/>
            <a:ext cx="8092440" cy="256032"/>
          </a:xfrm>
          <a:prstGeom prst="rect">
            <a:avLst/>
          </a:prstGeom>
          <a:noFill/>
          <a:ln/>
        </p:spPr>
        <p:txBody>
          <a:bodyPr wrap="square" lIns="0" tIns="0" rIns="0" bIns="0" rtlCol="0" anchor="ctr"/>
          <a:lstStyle/>
          <a:p>
            <a:pPr indent="0" marL="0">
              <a:buNone/>
            </a:pPr>
            <a:r>
              <a:rPr lang="en-US" sz="1150" b="1" dirty="0">
                <a:solidFill>
                  <a:srgbClr val="E87722"/>
                </a:solidFill>
                <a:latin typeface="Calibri" pitchFamily="34" charset="0"/>
                <a:ea typeface="Calibri" pitchFamily="34" charset="-122"/>
                <a:cs typeface="Calibri" pitchFamily="34" charset="-120"/>
              </a:rPr>
              <a:t>Freeman et al. (2014) — meta-analysis of 225 STEM studies</a:t>
            </a:r>
            <a:endParaRPr lang="en-US" sz="1150" dirty="0"/>
          </a:p>
        </p:txBody>
      </p:sp>
      <p:sp>
        <p:nvSpPr>
          <p:cNvPr id="20" name="Text 18"/>
          <p:cNvSpPr/>
          <p:nvPr/>
        </p:nvSpPr>
        <p:spPr>
          <a:xfrm>
            <a:off x="566928" y="4169664"/>
            <a:ext cx="8092440" cy="292608"/>
          </a:xfrm>
          <a:prstGeom prst="rect">
            <a:avLst/>
          </a:prstGeom>
          <a:noFill/>
          <a:ln/>
        </p:spPr>
        <p:txBody>
          <a:bodyPr wrap="square" lIns="0" tIns="0" rIns="0" bIns="0" rtlCol="0" anchor="ctr"/>
          <a:lstStyle/>
          <a:p>
            <a:pPr indent="0" marL="0">
              <a:buNone/>
            </a:pPr>
            <a:r>
              <a:rPr lang="en-US" sz="1050" dirty="0">
                <a:solidFill>
                  <a:srgbClr val="1B2A4A"/>
                </a:solidFill>
                <a:latin typeface="Calibri" pitchFamily="34" charset="0"/>
                <a:ea typeface="Calibri" pitchFamily="34" charset="-122"/>
                <a:cs typeface="Calibri" pitchFamily="34" charset="-120"/>
              </a:rPr>
              <a:t>Active learning interventions raised final exam scores by 6% on average and halved the failure rate compared to traditional passive lecture formats.</a:t>
            </a:r>
            <a:endParaRPr lang="en-US" sz="1050" dirty="0"/>
          </a:p>
        </p:txBody>
      </p:sp>
      <p:sp>
        <p:nvSpPr>
          <p:cNvPr id="21" name="Text 19"/>
          <p:cNvSpPr/>
          <p:nvPr/>
        </p:nvSpPr>
        <p:spPr>
          <a:xfrm>
            <a:off x="566928" y="4462272"/>
            <a:ext cx="8092440" cy="256032"/>
          </a:xfrm>
          <a:prstGeom prst="rect">
            <a:avLst/>
          </a:prstGeom>
          <a:noFill/>
          <a:ln/>
        </p:spPr>
        <p:txBody>
          <a:bodyPr wrap="square" lIns="0" tIns="0" rIns="0" bIns="0" rtlCol="0" anchor="ctr"/>
          <a:lstStyle/>
          <a:p>
            <a:pPr indent="0" marL="0">
              <a:buNone/>
            </a:pPr>
            <a:r>
              <a:rPr lang="en-US" sz="1000" i="1" dirty="0">
                <a:solidFill>
                  <a:srgbClr val="6B7280"/>
                </a:solidFill>
                <a:latin typeface="Calibri" pitchFamily="34" charset="0"/>
                <a:ea typeface="Calibri" pitchFamily="34" charset="-122"/>
                <a:cs typeface="Calibri" pitchFamily="34" charset="-120"/>
              </a:rPr>
              <a:t>Mechanism: active learning forces germane cognitive load — the productive effort that builds lasting mental models.</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01168"/>
            <a:ext cx="8321040" cy="201168"/>
          </a:xfrm>
          <a:prstGeom prst="rect">
            <a:avLst/>
          </a:prstGeom>
          <a:noFill/>
          <a:ln/>
        </p:spPr>
        <p:txBody>
          <a:bodyPr wrap="square" lIns="0" tIns="0" rIns="0" bIns="0" rtlCol="0" anchor="ctr"/>
          <a:lstStyle/>
          <a:p>
            <a:pPr indent="0" marL="0">
              <a:buNone/>
            </a:pPr>
            <a:r>
              <a:rPr lang="en-US" sz="900" b="1" spc="300" kern="0" dirty="0">
                <a:solidFill>
                  <a:srgbClr val="E87722"/>
                </a:solidFill>
                <a:latin typeface="Calibri" pitchFamily="34" charset="0"/>
                <a:ea typeface="Calibri" pitchFamily="34" charset="-122"/>
                <a:cs typeface="Calibri" pitchFamily="34" charset="-120"/>
              </a:rPr>
              <a:t>02 · LITERATURE REVIEW</a:t>
            </a:r>
            <a:endParaRPr lang="en-US" sz="900" dirty="0"/>
          </a:p>
        </p:txBody>
      </p:sp>
      <p:sp>
        <p:nvSpPr>
          <p:cNvPr id="3" name="Shape 1"/>
          <p:cNvSpPr/>
          <p:nvPr/>
        </p:nvSpPr>
        <p:spPr>
          <a:xfrm>
            <a:off x="384048" y="274320"/>
            <a:ext cx="64008" cy="502920"/>
          </a:xfrm>
          <a:prstGeom prst="rect">
            <a:avLst/>
          </a:prstGeom>
          <a:solidFill>
            <a:srgbClr val="E87722"/>
          </a:solidFill>
          <a:ln w="12700">
            <a:solidFill>
              <a:srgbClr val="E87722"/>
            </a:solidFill>
            <a:prstDash val="solid"/>
          </a:ln>
        </p:spPr>
      </p:sp>
      <p:sp>
        <p:nvSpPr>
          <p:cNvPr id="4" name="Text 2"/>
          <p:cNvSpPr/>
          <p:nvPr/>
        </p:nvSpPr>
        <p:spPr>
          <a:xfrm>
            <a:off x="548640" y="274320"/>
            <a:ext cx="8321040" cy="502920"/>
          </a:xfrm>
          <a:prstGeom prst="rect">
            <a:avLst/>
          </a:prstGeom>
          <a:noFill/>
          <a:ln/>
        </p:spPr>
        <p:txBody>
          <a:bodyPr wrap="square" lIns="0" tIns="0" rIns="0" bIns="0" rtlCol="0" anchor="ctr"/>
          <a:lstStyle/>
          <a:p>
            <a:pPr indent="0" marL="0">
              <a:buNone/>
            </a:pPr>
            <a:r>
              <a:rPr lang="en-US" sz="2400" b="1" dirty="0">
                <a:solidFill>
                  <a:srgbClr val="1B2A4A"/>
                </a:solidFill>
                <a:latin typeface="Georgia" pitchFamily="34" charset="0"/>
                <a:ea typeface="Georgia" pitchFamily="34" charset="-122"/>
                <a:cs typeface="Georgia" pitchFamily="34" charset="-120"/>
              </a:rPr>
              <a:t>H5P Framework &amp; the WordPress Problem</a:t>
            </a:r>
            <a:endParaRPr lang="en-US" sz="2400" dirty="0"/>
          </a:p>
        </p:txBody>
      </p:sp>
      <p:sp>
        <p:nvSpPr>
          <p:cNvPr id="5" name="Text 3"/>
          <p:cNvSpPr/>
          <p:nvPr/>
        </p:nvSpPr>
        <p:spPr>
          <a:xfrm>
            <a:off x="7772400" y="4846320"/>
            <a:ext cx="1097280" cy="182880"/>
          </a:xfrm>
          <a:prstGeom prst="rect">
            <a:avLst/>
          </a:prstGeom>
          <a:noFill/>
          <a:ln/>
        </p:spPr>
        <p:txBody>
          <a:bodyPr wrap="square" lIns="0" tIns="0" rIns="0" bIns="0"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7 / 24</a:t>
            </a:r>
            <a:endParaRPr lang="en-US" sz="800" dirty="0"/>
          </a:p>
        </p:txBody>
      </p:sp>
      <p:sp>
        <p:nvSpPr>
          <p:cNvPr id="6" name="Text 4"/>
          <p:cNvSpPr/>
          <p:nvPr/>
        </p:nvSpPr>
        <p:spPr>
          <a:xfrm>
            <a:off x="411480" y="1005840"/>
            <a:ext cx="4114800" cy="292608"/>
          </a:xfrm>
          <a:prstGeom prst="rect">
            <a:avLst/>
          </a:prstGeom>
          <a:noFill/>
          <a:ln/>
        </p:spPr>
        <p:txBody>
          <a:bodyPr wrap="square" lIns="0" tIns="0" rIns="0" bIns="0" rtlCol="0" anchor="ctr"/>
          <a:lstStyle/>
          <a:p>
            <a:pPr indent="0" marL="0">
              <a:buNone/>
            </a:pPr>
            <a:r>
              <a:rPr lang="en-US" sz="1350" b="1" dirty="0">
                <a:solidFill>
                  <a:srgbClr val="1B2A4A"/>
                </a:solidFill>
                <a:latin typeface="Calibri" pitchFamily="34" charset="0"/>
                <a:ea typeface="Calibri" pitchFamily="34" charset="-122"/>
                <a:cs typeface="Calibri" pitchFamily="34" charset="-120"/>
              </a:rPr>
              <a:t>What is H5P?</a:t>
            </a:r>
            <a:endParaRPr lang="en-US" sz="1350" dirty="0"/>
          </a:p>
        </p:txBody>
      </p:sp>
      <p:sp>
        <p:nvSpPr>
          <p:cNvPr id="7" name="Text 5"/>
          <p:cNvSpPr/>
          <p:nvPr/>
        </p:nvSpPr>
        <p:spPr>
          <a:xfrm>
            <a:off x="411480" y="1353312"/>
            <a:ext cx="4114800" cy="1005840"/>
          </a:xfrm>
          <a:prstGeom prst="rect">
            <a:avLst/>
          </a:prstGeom>
          <a:noFill/>
          <a:ln/>
        </p:spPr>
        <p:txBody>
          <a:bodyPr wrap="square" lIns="0" tIns="0" rIns="0" bIns="0" rtlCol="0" anchor="ctr"/>
          <a:lstStyle/>
          <a:p>
            <a:pPr indent="0" marL="0">
              <a:buNone/>
            </a:pPr>
            <a:r>
              <a:rPr lang="en-US" sz="1150" dirty="0">
                <a:solidFill>
                  <a:srgbClr val="374151"/>
                </a:solidFill>
                <a:latin typeface="Calibri" pitchFamily="34" charset="0"/>
                <a:ea typeface="Calibri" pitchFamily="34" charset="-122"/>
                <a:cs typeface="Calibri" pitchFamily="34" charset="-120"/>
              </a:rPr>
              <a:t>H5P (HTML5 Package) is an open-source framework for creating richly interactive content. Each .h5p file is a self-contained ZIP archive bundling JavaScript logic, CSS, media assets, and a structured JSON configuration — completely portable across any LMS.</a:t>
            </a:r>
            <a:endParaRPr lang="en-US" sz="1150" dirty="0"/>
          </a:p>
        </p:txBody>
      </p:sp>
      <p:sp>
        <p:nvSpPr>
          <p:cNvPr id="8" name="Text 6"/>
          <p:cNvSpPr/>
          <p:nvPr/>
        </p:nvSpPr>
        <p:spPr>
          <a:xfrm>
            <a:off x="411480" y="2423160"/>
            <a:ext cx="4114800" cy="320040"/>
          </a:xfrm>
          <a:prstGeom prst="rect">
            <a:avLst/>
          </a:prstGeom>
          <a:noFill/>
          <a:ln/>
        </p:spPr>
        <p:txBody>
          <a:bodyPr wrap="square" lIns="0" tIns="0" rIns="0" bIns="0" rtlCol="0" anchor="ctr"/>
          <a:lstStyle/>
          <a:p>
            <a:pPr indent="0" marL="0">
              <a:buNone/>
            </a:pPr>
            <a:r>
              <a:rPr lang="en-US" sz="1050" b="1" dirty="0">
                <a:solidFill>
                  <a:srgbClr val="E87722"/>
                </a:solidFill>
                <a:latin typeface="Calibri" pitchFamily="34" charset="0"/>
                <a:ea typeface="Calibri" pitchFamily="34" charset="-122"/>
                <a:cs typeface="Calibri" pitchFamily="34" charset="-120"/>
              </a:rPr>
              <a:t>50+ content types  |  Used in Moodle · Canvas · Blackboard  |  Open source</a:t>
            </a:r>
            <a:endParaRPr lang="en-US" sz="1050" dirty="0"/>
          </a:p>
        </p:txBody>
      </p:sp>
      <p:sp>
        <p:nvSpPr>
          <p:cNvPr id="9" name="Shape 7"/>
          <p:cNvSpPr/>
          <p:nvPr/>
        </p:nvSpPr>
        <p:spPr>
          <a:xfrm>
            <a:off x="4754880" y="960120"/>
            <a:ext cx="0" cy="3840480"/>
          </a:xfrm>
          <a:prstGeom prst="line">
            <a:avLst/>
          </a:prstGeom>
          <a:noFill/>
          <a:ln w="12700">
            <a:solidFill>
              <a:srgbClr val="E5E7EB"/>
            </a:solidFill>
            <a:prstDash val="solid"/>
          </a:ln>
        </p:spPr>
      </p:sp>
      <p:sp>
        <p:nvSpPr>
          <p:cNvPr id="10" name="Text 8"/>
          <p:cNvSpPr/>
          <p:nvPr/>
        </p:nvSpPr>
        <p:spPr>
          <a:xfrm>
            <a:off x="4983480" y="1005840"/>
            <a:ext cx="3749040" cy="292608"/>
          </a:xfrm>
          <a:prstGeom prst="rect">
            <a:avLst/>
          </a:prstGeom>
          <a:noFill/>
          <a:ln/>
        </p:spPr>
        <p:txBody>
          <a:bodyPr wrap="square" lIns="0" tIns="0" rIns="0" bIns="0" rtlCol="0" anchor="ctr"/>
          <a:lstStyle/>
          <a:p>
            <a:pPr indent="0" marL="0">
              <a:buNone/>
            </a:pPr>
            <a:r>
              <a:rPr lang="en-US" sz="1350" b="1" dirty="0">
                <a:solidFill>
                  <a:srgbClr val="1B2A4A"/>
                </a:solidFill>
                <a:latin typeface="Calibri" pitchFamily="34" charset="0"/>
                <a:ea typeface="Calibri" pitchFamily="34" charset="-122"/>
                <a:cs typeface="Calibri" pitchFamily="34" charset="-120"/>
              </a:rPr>
              <a:t>Why WordPress H5P Fails at Scale</a:t>
            </a:r>
            <a:endParaRPr lang="en-US" sz="1350" dirty="0"/>
          </a:p>
        </p:txBody>
      </p:sp>
      <p:sp>
        <p:nvSpPr>
          <p:cNvPr id="11" name="Shape 9"/>
          <p:cNvSpPr/>
          <p:nvPr/>
        </p:nvSpPr>
        <p:spPr>
          <a:xfrm>
            <a:off x="4983480" y="1389888"/>
            <a:ext cx="64008" cy="502920"/>
          </a:xfrm>
          <a:prstGeom prst="rect">
            <a:avLst/>
          </a:prstGeom>
          <a:solidFill>
            <a:srgbClr val="E87722"/>
          </a:solidFill>
          <a:ln w="12700">
            <a:solidFill>
              <a:srgbClr val="E87722"/>
            </a:solidFill>
            <a:prstDash val="solid"/>
          </a:ln>
        </p:spPr>
      </p:sp>
      <p:sp>
        <p:nvSpPr>
          <p:cNvPr id="12" name="Text 10"/>
          <p:cNvSpPr/>
          <p:nvPr/>
        </p:nvSpPr>
        <p:spPr>
          <a:xfrm>
            <a:off x="5138928" y="1408176"/>
            <a:ext cx="3566160" cy="237744"/>
          </a:xfrm>
          <a:prstGeom prst="rect">
            <a:avLst/>
          </a:prstGeom>
          <a:noFill/>
          <a:ln/>
        </p:spPr>
        <p:txBody>
          <a:bodyPr wrap="square" lIns="0" tIns="0" rIns="0" bIns="0"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47 interactions</a:t>
            </a:r>
            <a:endParaRPr lang="en-US" sz="1100" dirty="0"/>
          </a:p>
        </p:txBody>
      </p:sp>
      <p:sp>
        <p:nvSpPr>
          <p:cNvPr id="13" name="Text 11"/>
          <p:cNvSpPr/>
          <p:nvPr/>
        </p:nvSpPr>
        <p:spPr>
          <a:xfrm>
            <a:off x="5138928" y="1645920"/>
            <a:ext cx="3566160" cy="219456"/>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across 6 screens to create a single 3-question interactive video</a:t>
            </a:r>
            <a:endParaRPr lang="en-US" sz="1000" dirty="0"/>
          </a:p>
        </p:txBody>
      </p:sp>
      <p:sp>
        <p:nvSpPr>
          <p:cNvPr id="14" name="Shape 12"/>
          <p:cNvSpPr/>
          <p:nvPr/>
        </p:nvSpPr>
        <p:spPr>
          <a:xfrm>
            <a:off x="4983480" y="2057400"/>
            <a:ext cx="64008" cy="502920"/>
          </a:xfrm>
          <a:prstGeom prst="rect">
            <a:avLst/>
          </a:prstGeom>
          <a:solidFill>
            <a:srgbClr val="E87722"/>
          </a:solidFill>
          <a:ln w="12700">
            <a:solidFill>
              <a:srgbClr val="E87722"/>
            </a:solidFill>
            <a:prstDash val="solid"/>
          </a:ln>
        </p:spPr>
      </p:sp>
      <p:sp>
        <p:nvSpPr>
          <p:cNvPr id="15" name="Text 13"/>
          <p:cNvSpPr/>
          <p:nvPr/>
        </p:nvSpPr>
        <p:spPr>
          <a:xfrm>
            <a:off x="5138928" y="2075688"/>
            <a:ext cx="3566160" cy="237744"/>
          </a:xfrm>
          <a:prstGeom prst="rect">
            <a:avLst/>
          </a:prstGeom>
          <a:noFill/>
          <a:ln/>
        </p:spPr>
        <p:txBody>
          <a:bodyPr wrap="square" lIns="0" tIns="0" rIns="0" bIns="0"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3.2 sec page loads</a:t>
            </a:r>
            <a:endParaRPr lang="en-US" sz="1100" dirty="0"/>
          </a:p>
        </p:txBody>
      </p:sp>
      <p:sp>
        <p:nvSpPr>
          <p:cNvPr id="16" name="Text 14"/>
          <p:cNvSpPr/>
          <p:nvPr/>
        </p:nvSpPr>
        <p:spPr>
          <a:xfrm>
            <a:off x="5138928" y="2313432"/>
            <a:ext cx="3566160" cy="219456"/>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from PHP/MySQL stack — destroys creative flow mid-authoring</a:t>
            </a:r>
            <a:endParaRPr lang="en-US" sz="1000" dirty="0"/>
          </a:p>
        </p:txBody>
      </p:sp>
      <p:sp>
        <p:nvSpPr>
          <p:cNvPr id="17" name="Shape 15"/>
          <p:cNvSpPr/>
          <p:nvPr/>
        </p:nvSpPr>
        <p:spPr>
          <a:xfrm>
            <a:off x="4983480" y="2724912"/>
            <a:ext cx="64008" cy="502920"/>
          </a:xfrm>
          <a:prstGeom prst="rect">
            <a:avLst/>
          </a:prstGeom>
          <a:solidFill>
            <a:srgbClr val="E87722"/>
          </a:solidFill>
          <a:ln w="12700">
            <a:solidFill>
              <a:srgbClr val="E87722"/>
            </a:solidFill>
            <a:prstDash val="solid"/>
          </a:ln>
        </p:spPr>
      </p:sp>
      <p:sp>
        <p:nvSpPr>
          <p:cNvPr id="18" name="Text 16"/>
          <p:cNvSpPr/>
          <p:nvPr/>
        </p:nvSpPr>
        <p:spPr>
          <a:xfrm>
            <a:off x="5138928" y="2743200"/>
            <a:ext cx="3566160" cy="237744"/>
          </a:xfrm>
          <a:prstGeom prst="rect">
            <a:avLst/>
          </a:prstGeom>
          <a:noFill/>
          <a:ln/>
        </p:spPr>
        <p:txBody>
          <a:bodyPr wrap="square" lIns="0" tIns="0" rIns="0" bIns="0"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CMS cognitive burden</a:t>
            </a:r>
            <a:endParaRPr lang="en-US" sz="1100" dirty="0"/>
          </a:p>
        </p:txBody>
      </p:sp>
      <p:sp>
        <p:nvSpPr>
          <p:cNvPr id="19" name="Text 17"/>
          <p:cNvSpPr/>
          <p:nvPr/>
        </p:nvSpPr>
        <p:spPr>
          <a:xfrm>
            <a:off x="5138928" y="2980944"/>
            <a:ext cx="3566160" cy="219456"/>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educators must master WordPress concepts irrelevant to pedagogy</a:t>
            </a:r>
            <a:endParaRPr lang="en-US" sz="1000" dirty="0"/>
          </a:p>
        </p:txBody>
      </p:sp>
      <p:sp>
        <p:nvSpPr>
          <p:cNvPr id="20" name="Shape 18"/>
          <p:cNvSpPr/>
          <p:nvPr/>
        </p:nvSpPr>
        <p:spPr>
          <a:xfrm>
            <a:off x="4983480" y="3392424"/>
            <a:ext cx="64008" cy="502920"/>
          </a:xfrm>
          <a:prstGeom prst="rect">
            <a:avLst/>
          </a:prstGeom>
          <a:solidFill>
            <a:srgbClr val="E87722"/>
          </a:solidFill>
          <a:ln w="12700">
            <a:solidFill>
              <a:srgbClr val="E87722"/>
            </a:solidFill>
            <a:prstDash val="solid"/>
          </a:ln>
        </p:spPr>
      </p:sp>
      <p:sp>
        <p:nvSpPr>
          <p:cNvPr id="21" name="Text 19"/>
          <p:cNvSpPr/>
          <p:nvPr/>
        </p:nvSpPr>
        <p:spPr>
          <a:xfrm>
            <a:off x="5138928" y="3410712"/>
            <a:ext cx="3566160" cy="237744"/>
          </a:xfrm>
          <a:prstGeom prst="rect">
            <a:avLst/>
          </a:prstGeom>
          <a:noFill/>
          <a:ln/>
        </p:spPr>
        <p:txBody>
          <a:bodyPr wrap="square" lIns="0" tIns="0" rIns="0" bIns="0"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Silent JS failures</a:t>
            </a:r>
            <a:endParaRPr lang="en-US" sz="1100" dirty="0"/>
          </a:p>
        </p:txBody>
      </p:sp>
      <p:sp>
        <p:nvSpPr>
          <p:cNvPr id="22" name="Text 20"/>
          <p:cNvSpPr/>
          <p:nvPr/>
        </p:nvSpPr>
        <p:spPr>
          <a:xfrm>
            <a:off x="5138928" y="3648456"/>
            <a:ext cx="3566160" cy="219456"/>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from version mismatches between H5P, WordPress, and PHP — no clear errors</a:t>
            </a:r>
            <a:endParaRPr lang="en-US" sz="1000" dirty="0"/>
          </a:p>
        </p:txBody>
      </p:sp>
      <p:sp>
        <p:nvSpPr>
          <p:cNvPr id="23" name="Shape 21"/>
          <p:cNvSpPr/>
          <p:nvPr/>
        </p:nvSpPr>
        <p:spPr>
          <a:xfrm>
            <a:off x="4983480" y="4059936"/>
            <a:ext cx="64008" cy="502920"/>
          </a:xfrm>
          <a:prstGeom prst="rect">
            <a:avLst/>
          </a:prstGeom>
          <a:solidFill>
            <a:srgbClr val="E87722"/>
          </a:solidFill>
          <a:ln w="12700">
            <a:solidFill>
              <a:srgbClr val="E87722"/>
            </a:solidFill>
            <a:prstDash val="solid"/>
          </a:ln>
        </p:spPr>
      </p:sp>
      <p:sp>
        <p:nvSpPr>
          <p:cNvPr id="24" name="Text 22"/>
          <p:cNvSpPr/>
          <p:nvPr/>
        </p:nvSpPr>
        <p:spPr>
          <a:xfrm>
            <a:off x="5138928" y="4078224"/>
            <a:ext cx="3566160" cy="237744"/>
          </a:xfrm>
          <a:prstGeom prst="rect">
            <a:avLst/>
          </a:prstGeom>
          <a:noFill/>
          <a:ln/>
        </p:spPr>
        <p:txBody>
          <a:bodyPr wrap="square" lIns="0" tIns="0" rIns="0" bIns="0"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Zero AI capability</a:t>
            </a:r>
            <a:endParaRPr lang="en-US" sz="1100" dirty="0"/>
          </a:p>
        </p:txBody>
      </p:sp>
      <p:sp>
        <p:nvSpPr>
          <p:cNvPr id="25" name="Text 23"/>
          <p:cNvSpPr/>
          <p:nvPr/>
        </p:nvSpPr>
        <p:spPr>
          <a:xfrm>
            <a:off x="5138928" y="4315968"/>
            <a:ext cx="3566160" cy="219456"/>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every question typed manually, every timestamp found by hand</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01168"/>
            <a:ext cx="8321040" cy="201168"/>
          </a:xfrm>
          <a:prstGeom prst="rect">
            <a:avLst/>
          </a:prstGeom>
          <a:noFill/>
          <a:ln/>
        </p:spPr>
        <p:txBody>
          <a:bodyPr wrap="square" lIns="0" tIns="0" rIns="0" bIns="0" rtlCol="0" anchor="ctr"/>
          <a:lstStyle/>
          <a:p>
            <a:pPr indent="0" marL="0">
              <a:buNone/>
            </a:pPr>
            <a:r>
              <a:rPr lang="en-US" sz="900" b="1" spc="300" kern="0" dirty="0">
                <a:solidFill>
                  <a:srgbClr val="E87722"/>
                </a:solidFill>
                <a:latin typeface="Calibri" pitchFamily="34" charset="0"/>
                <a:ea typeface="Calibri" pitchFamily="34" charset="-122"/>
                <a:cs typeface="Calibri" pitchFamily="34" charset="-120"/>
              </a:rPr>
              <a:t>03 · METHODOLOGY &amp; DESIGN</a:t>
            </a:r>
            <a:endParaRPr lang="en-US" sz="900" dirty="0"/>
          </a:p>
        </p:txBody>
      </p:sp>
      <p:sp>
        <p:nvSpPr>
          <p:cNvPr id="3" name="Shape 1"/>
          <p:cNvSpPr/>
          <p:nvPr/>
        </p:nvSpPr>
        <p:spPr>
          <a:xfrm>
            <a:off x="384048" y="274320"/>
            <a:ext cx="64008" cy="502920"/>
          </a:xfrm>
          <a:prstGeom prst="rect">
            <a:avLst/>
          </a:prstGeom>
          <a:solidFill>
            <a:srgbClr val="E87722"/>
          </a:solidFill>
          <a:ln w="12700">
            <a:solidFill>
              <a:srgbClr val="E87722"/>
            </a:solidFill>
            <a:prstDash val="solid"/>
          </a:ln>
        </p:spPr>
      </p:sp>
      <p:sp>
        <p:nvSpPr>
          <p:cNvPr id="4" name="Text 2"/>
          <p:cNvSpPr/>
          <p:nvPr/>
        </p:nvSpPr>
        <p:spPr>
          <a:xfrm>
            <a:off x="548640" y="274320"/>
            <a:ext cx="8321040" cy="502920"/>
          </a:xfrm>
          <a:prstGeom prst="rect">
            <a:avLst/>
          </a:prstGeom>
          <a:noFill/>
          <a:ln/>
        </p:spPr>
        <p:txBody>
          <a:bodyPr wrap="square" lIns="0" tIns="0" rIns="0" bIns="0" rtlCol="0" anchor="ctr"/>
          <a:lstStyle/>
          <a:p>
            <a:pPr indent="0" marL="0">
              <a:buNone/>
            </a:pPr>
            <a:r>
              <a:rPr lang="en-US" sz="2400" b="1" dirty="0">
                <a:solidFill>
                  <a:srgbClr val="1B2A4A"/>
                </a:solidFill>
                <a:latin typeface="Georgia" pitchFamily="34" charset="0"/>
                <a:ea typeface="Georgia" pitchFamily="34" charset="-122"/>
                <a:cs typeface="Georgia" pitchFamily="34" charset="-120"/>
              </a:rPr>
              <a:t>System Architecture — Three-Tier Design</a:t>
            </a:r>
            <a:endParaRPr lang="en-US" sz="2400" dirty="0"/>
          </a:p>
        </p:txBody>
      </p:sp>
      <p:sp>
        <p:nvSpPr>
          <p:cNvPr id="5" name="Text 3"/>
          <p:cNvSpPr/>
          <p:nvPr/>
        </p:nvSpPr>
        <p:spPr>
          <a:xfrm>
            <a:off x="7772400" y="4846320"/>
            <a:ext cx="1097280" cy="182880"/>
          </a:xfrm>
          <a:prstGeom prst="rect">
            <a:avLst/>
          </a:prstGeom>
          <a:noFill/>
          <a:ln/>
        </p:spPr>
        <p:txBody>
          <a:bodyPr wrap="square" lIns="0" tIns="0" rIns="0" bIns="0"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8 / 24</a:t>
            </a:r>
            <a:endParaRPr lang="en-US" sz="800" dirty="0"/>
          </a:p>
        </p:txBody>
      </p:sp>
      <p:pic>
        <p:nvPicPr>
          <p:cNvPr id="6" name="Image 0" descr="/sessions/nifty-eager-shannon/mnt/outputs/pptx-build/imgs/Three-ti_e_er_system.jpeg">    </p:cNvPr>
          <p:cNvPicPr>
            <a:picLocks noChangeAspect="1"/>
          </p:cNvPicPr>
          <p:nvPr/>
        </p:nvPicPr>
        <p:blipFill>
          <a:blip r:embed="rId1"/>
          <a:srcRect l="0" r="0" t="0" b="0"/>
          <a:stretch/>
        </p:blipFill>
        <p:spPr>
          <a:xfrm>
            <a:off x="384048" y="960120"/>
            <a:ext cx="4636419" cy="3520440"/>
          </a:xfrm>
          <a:prstGeom prst="rect">
            <a:avLst/>
          </a:prstGeom>
        </p:spPr>
      </p:pic>
      <p:sp>
        <p:nvSpPr>
          <p:cNvPr id="7" name="Text 4"/>
          <p:cNvSpPr/>
          <p:nvPr/>
        </p:nvSpPr>
        <p:spPr>
          <a:xfrm>
            <a:off x="5486400" y="960120"/>
            <a:ext cx="3291840" cy="292608"/>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Tech Stack</a:t>
            </a:r>
            <a:endParaRPr lang="en-US" sz="1300" dirty="0"/>
          </a:p>
        </p:txBody>
      </p:sp>
      <p:sp>
        <p:nvSpPr>
          <p:cNvPr id="8" name="Shape 5"/>
          <p:cNvSpPr/>
          <p:nvPr/>
        </p:nvSpPr>
        <p:spPr>
          <a:xfrm>
            <a:off x="5486400" y="1316736"/>
            <a:ext cx="3291840" cy="987552"/>
          </a:xfrm>
          <a:prstGeom prst="rect">
            <a:avLst/>
          </a:prstGeom>
          <a:solidFill>
            <a:srgbClr val="FFFFFF"/>
          </a:solidFill>
          <a:ln w="12700">
            <a:solidFill>
              <a:srgbClr val="E5E7EB"/>
            </a:solidFill>
            <a:prstDash val="solid"/>
          </a:ln>
          <a:effectLst>
            <a:outerShdw sx="100000" sy="100000" kx="0" ky="0" algn="bl" rotWithShape="0" blurRad="76200" dist="25400" dir="8100000">
              <a:srgbClr val="000000">
                <a:alpha val="9000"/>
              </a:srgbClr>
            </a:outerShdw>
          </a:effectLst>
        </p:spPr>
      </p:sp>
      <p:sp>
        <p:nvSpPr>
          <p:cNvPr id="9" name="Shape 6"/>
          <p:cNvSpPr/>
          <p:nvPr/>
        </p:nvSpPr>
        <p:spPr>
          <a:xfrm>
            <a:off x="5486400" y="1316736"/>
            <a:ext cx="54864" cy="987552"/>
          </a:xfrm>
          <a:prstGeom prst="rect">
            <a:avLst/>
          </a:prstGeom>
          <a:solidFill>
            <a:srgbClr val="E87722"/>
          </a:solidFill>
          <a:ln w="12700">
            <a:solidFill>
              <a:srgbClr val="E87722"/>
            </a:solidFill>
            <a:prstDash val="solid"/>
          </a:ln>
        </p:spPr>
      </p:sp>
      <p:sp>
        <p:nvSpPr>
          <p:cNvPr id="10" name="Text 7"/>
          <p:cNvSpPr/>
          <p:nvPr/>
        </p:nvSpPr>
        <p:spPr>
          <a:xfrm>
            <a:off x="5614416" y="1408176"/>
            <a:ext cx="2743200" cy="256032"/>
          </a:xfrm>
          <a:prstGeom prst="rect">
            <a:avLst/>
          </a:prstGeom>
          <a:noFill/>
          <a:ln/>
        </p:spPr>
        <p:txBody>
          <a:bodyPr wrap="square" lIns="0" tIns="0" rIns="0" bIns="0" rtlCol="0" anchor="ctr"/>
          <a:lstStyle/>
          <a:p>
            <a:pPr indent="0" marL="0">
              <a:buNone/>
            </a:pPr>
            <a:r>
              <a:rPr lang="en-US" sz="1050" b="1" dirty="0">
                <a:solidFill>
                  <a:srgbClr val="E87722"/>
                </a:solidFill>
                <a:latin typeface="Calibri" pitchFamily="34" charset="0"/>
                <a:ea typeface="Calibri" pitchFamily="34" charset="-122"/>
                <a:cs typeface="Calibri" pitchFamily="34" charset="-120"/>
              </a:rPr>
              <a:t>Tier 1 — Presentation</a:t>
            </a:r>
            <a:endParaRPr lang="en-US" sz="1050" dirty="0"/>
          </a:p>
        </p:txBody>
      </p:sp>
      <p:sp>
        <p:nvSpPr>
          <p:cNvPr id="11" name="Text 8"/>
          <p:cNvSpPr/>
          <p:nvPr/>
        </p:nvSpPr>
        <p:spPr>
          <a:xfrm>
            <a:off x="8046720" y="1408176"/>
            <a:ext cx="685800" cy="256032"/>
          </a:xfrm>
          <a:prstGeom prst="rect">
            <a:avLst/>
          </a:prstGeom>
          <a:noFill/>
          <a:ln/>
        </p:spPr>
        <p:txBody>
          <a:bodyPr wrap="square" lIns="0" tIns="0" rIns="0" bIns="0" rtlCol="0" anchor="ctr"/>
          <a:lstStyle/>
          <a:p>
            <a:pPr algn="r" indent="0" marL="0">
              <a:buNone/>
            </a:pPr>
            <a:r>
              <a:rPr lang="en-US" sz="1000" b="1" dirty="0">
                <a:solidFill>
                  <a:srgbClr val="1B2A4A"/>
                </a:solidFill>
                <a:latin typeface="Calibri" pitchFamily="34" charset="0"/>
                <a:ea typeface="Calibri" pitchFamily="34" charset="-122"/>
                <a:cs typeface="Calibri" pitchFamily="34" charset="-120"/>
              </a:rPr>
              <a:t>:3002</a:t>
            </a:r>
            <a:endParaRPr lang="en-US" sz="1000" dirty="0"/>
          </a:p>
        </p:txBody>
      </p:sp>
      <p:sp>
        <p:nvSpPr>
          <p:cNvPr id="12" name="Text 9"/>
          <p:cNvSpPr/>
          <p:nvPr/>
        </p:nvSpPr>
        <p:spPr>
          <a:xfrm>
            <a:off x="5614416" y="1682496"/>
            <a:ext cx="3108960" cy="566928"/>
          </a:xfrm>
          <a:prstGeom prst="rect">
            <a:avLst/>
          </a:prstGeom>
          <a:noFill/>
          <a:ln/>
        </p:spPr>
        <p:txBody>
          <a:bodyPr wrap="square" lIns="0" tIns="0" rIns="0" bIns="0" rtlCol="0" anchor="ctr"/>
          <a:lstStyle/>
          <a:p>
            <a:pPr indent="0" marL="0">
              <a:buNone/>
            </a:pPr>
            <a:r>
              <a:rPr lang="en-US" sz="1000" dirty="0">
                <a:solidFill>
                  <a:srgbClr val="374151"/>
                </a:solidFill>
                <a:latin typeface="Calibri" pitchFamily="34" charset="0"/>
                <a:ea typeface="Calibri" pitchFamily="34" charset="-122"/>
                <a:cs typeface="Calibri" pitchFamily="34" charset="-120"/>
              </a:rPr>
              <a:t>React 18 + TypeScript + Vite</a:t>
            </a:r>
            <a:endParaRPr lang="en-US" sz="1000" dirty="0"/>
          </a:p>
          <a:p>
            <a:pPr indent="0" marL="0">
              <a:buNone/>
            </a:pPr>
            <a:r>
              <a:rPr lang="en-US" sz="1000" dirty="0">
                <a:solidFill>
                  <a:srgbClr val="374151"/>
                </a:solidFill>
                <a:latin typeface="Calibri" pitchFamily="34" charset="0"/>
                <a:ea typeface="Calibri" pitchFamily="34" charset="-122"/>
                <a:cs typeface="Calibri" pitchFamily="34" charset="-120"/>
              </a:rPr>
              <a:t>Tailwind CSS · Radix UI · Zustand</a:t>
            </a:r>
            <a:endParaRPr lang="en-US" sz="1000" dirty="0"/>
          </a:p>
        </p:txBody>
      </p:sp>
      <p:sp>
        <p:nvSpPr>
          <p:cNvPr id="13" name="Shape 10"/>
          <p:cNvSpPr/>
          <p:nvPr/>
        </p:nvSpPr>
        <p:spPr>
          <a:xfrm>
            <a:off x="5486400" y="2432304"/>
            <a:ext cx="3291840" cy="987552"/>
          </a:xfrm>
          <a:prstGeom prst="rect">
            <a:avLst/>
          </a:prstGeom>
          <a:solidFill>
            <a:srgbClr val="FFFFFF"/>
          </a:solidFill>
          <a:ln w="12700">
            <a:solidFill>
              <a:srgbClr val="E5E7EB"/>
            </a:solidFill>
            <a:prstDash val="solid"/>
          </a:ln>
          <a:effectLst>
            <a:outerShdw sx="100000" sy="100000" kx="0" ky="0" algn="bl" rotWithShape="0" blurRad="76200" dist="25400" dir="8100000">
              <a:srgbClr val="000000">
                <a:alpha val="9000"/>
              </a:srgbClr>
            </a:outerShdw>
          </a:effectLst>
        </p:spPr>
      </p:sp>
      <p:sp>
        <p:nvSpPr>
          <p:cNvPr id="14" name="Shape 11"/>
          <p:cNvSpPr/>
          <p:nvPr/>
        </p:nvSpPr>
        <p:spPr>
          <a:xfrm>
            <a:off x="5486400" y="2432304"/>
            <a:ext cx="54864" cy="987552"/>
          </a:xfrm>
          <a:prstGeom prst="rect">
            <a:avLst/>
          </a:prstGeom>
          <a:solidFill>
            <a:srgbClr val="E87722"/>
          </a:solidFill>
          <a:ln w="12700">
            <a:solidFill>
              <a:srgbClr val="E87722"/>
            </a:solidFill>
            <a:prstDash val="solid"/>
          </a:ln>
        </p:spPr>
      </p:sp>
      <p:sp>
        <p:nvSpPr>
          <p:cNvPr id="15" name="Text 12"/>
          <p:cNvSpPr/>
          <p:nvPr/>
        </p:nvSpPr>
        <p:spPr>
          <a:xfrm>
            <a:off x="5614416" y="2523744"/>
            <a:ext cx="2743200" cy="256032"/>
          </a:xfrm>
          <a:prstGeom prst="rect">
            <a:avLst/>
          </a:prstGeom>
          <a:noFill/>
          <a:ln/>
        </p:spPr>
        <p:txBody>
          <a:bodyPr wrap="square" lIns="0" tIns="0" rIns="0" bIns="0" rtlCol="0" anchor="ctr"/>
          <a:lstStyle/>
          <a:p>
            <a:pPr indent="0" marL="0">
              <a:buNone/>
            </a:pPr>
            <a:r>
              <a:rPr lang="en-US" sz="1050" b="1" dirty="0">
                <a:solidFill>
                  <a:srgbClr val="E87722"/>
                </a:solidFill>
                <a:latin typeface="Calibri" pitchFamily="34" charset="0"/>
                <a:ea typeface="Calibri" pitchFamily="34" charset="-122"/>
                <a:cs typeface="Calibri" pitchFamily="34" charset="-120"/>
              </a:rPr>
              <a:t>Tier 2 — Application</a:t>
            </a:r>
            <a:endParaRPr lang="en-US" sz="1050" dirty="0"/>
          </a:p>
        </p:txBody>
      </p:sp>
      <p:sp>
        <p:nvSpPr>
          <p:cNvPr id="16" name="Text 13"/>
          <p:cNvSpPr/>
          <p:nvPr/>
        </p:nvSpPr>
        <p:spPr>
          <a:xfrm>
            <a:off x="8046720" y="2523744"/>
            <a:ext cx="685800" cy="256032"/>
          </a:xfrm>
          <a:prstGeom prst="rect">
            <a:avLst/>
          </a:prstGeom>
          <a:noFill/>
          <a:ln/>
        </p:spPr>
        <p:txBody>
          <a:bodyPr wrap="square" lIns="0" tIns="0" rIns="0" bIns="0" rtlCol="0" anchor="ctr"/>
          <a:lstStyle/>
          <a:p>
            <a:pPr algn="r" indent="0" marL="0">
              <a:buNone/>
            </a:pPr>
            <a:r>
              <a:rPr lang="en-US" sz="1000" b="1" dirty="0">
                <a:solidFill>
                  <a:srgbClr val="1B2A4A"/>
                </a:solidFill>
                <a:latin typeface="Calibri" pitchFamily="34" charset="0"/>
                <a:ea typeface="Calibri" pitchFamily="34" charset="-122"/>
                <a:cs typeface="Calibri" pitchFamily="34" charset="-120"/>
              </a:rPr>
              <a:t>:5001</a:t>
            </a:r>
            <a:endParaRPr lang="en-US" sz="1000" dirty="0"/>
          </a:p>
        </p:txBody>
      </p:sp>
      <p:sp>
        <p:nvSpPr>
          <p:cNvPr id="17" name="Text 14"/>
          <p:cNvSpPr/>
          <p:nvPr/>
        </p:nvSpPr>
        <p:spPr>
          <a:xfrm>
            <a:off x="5614416" y="2798064"/>
            <a:ext cx="3108960" cy="566928"/>
          </a:xfrm>
          <a:prstGeom prst="rect">
            <a:avLst/>
          </a:prstGeom>
          <a:noFill/>
          <a:ln/>
        </p:spPr>
        <p:txBody>
          <a:bodyPr wrap="square" lIns="0" tIns="0" rIns="0" bIns="0" rtlCol="0" anchor="ctr"/>
          <a:lstStyle/>
          <a:p>
            <a:pPr indent="0" marL="0">
              <a:buNone/>
            </a:pPr>
            <a:r>
              <a:rPr lang="en-US" sz="1000" dirty="0">
                <a:solidFill>
                  <a:srgbClr val="374151"/>
                </a:solidFill>
                <a:latin typeface="Calibri" pitchFamily="34" charset="0"/>
                <a:ea typeface="Calibri" pitchFamily="34" charset="-122"/>
                <a:cs typeface="Calibri" pitchFamily="34" charset="-120"/>
              </a:rPr>
              <a:t>Node.js 18 + Express.js REST API</a:t>
            </a:r>
            <a:endParaRPr lang="en-US" sz="1000" dirty="0"/>
          </a:p>
          <a:p>
            <a:pPr indent="0" marL="0">
              <a:buNone/>
            </a:pPr>
            <a:r>
              <a:rPr lang="en-US" sz="1000" dirty="0">
                <a:solidFill>
                  <a:srgbClr val="374151"/>
                </a:solidFill>
                <a:latin typeface="Calibri" pitchFamily="34" charset="0"/>
                <a:ea typeface="Calibri" pitchFamily="34" charset="-122"/>
                <a:cs typeface="Calibri" pitchFamily="34" charset="-120"/>
              </a:rPr>
              <a:t>Sequelize ORM · Zod validation · Helmet.js</a:t>
            </a:r>
            <a:endParaRPr lang="en-US" sz="1000" dirty="0"/>
          </a:p>
        </p:txBody>
      </p:sp>
      <p:sp>
        <p:nvSpPr>
          <p:cNvPr id="18" name="Shape 15"/>
          <p:cNvSpPr/>
          <p:nvPr/>
        </p:nvSpPr>
        <p:spPr>
          <a:xfrm>
            <a:off x="5486400" y="3547872"/>
            <a:ext cx="3291840" cy="987552"/>
          </a:xfrm>
          <a:prstGeom prst="rect">
            <a:avLst/>
          </a:prstGeom>
          <a:solidFill>
            <a:srgbClr val="FFFFFF"/>
          </a:solidFill>
          <a:ln w="12700">
            <a:solidFill>
              <a:srgbClr val="E5E7EB"/>
            </a:solidFill>
            <a:prstDash val="solid"/>
          </a:ln>
          <a:effectLst>
            <a:outerShdw sx="100000" sy="100000" kx="0" ky="0" algn="bl" rotWithShape="0" blurRad="76200" dist="25400" dir="8100000">
              <a:srgbClr val="000000">
                <a:alpha val="9000"/>
              </a:srgbClr>
            </a:outerShdw>
          </a:effectLst>
        </p:spPr>
      </p:sp>
      <p:sp>
        <p:nvSpPr>
          <p:cNvPr id="19" name="Shape 16"/>
          <p:cNvSpPr/>
          <p:nvPr/>
        </p:nvSpPr>
        <p:spPr>
          <a:xfrm>
            <a:off x="5486400" y="3547872"/>
            <a:ext cx="54864" cy="987552"/>
          </a:xfrm>
          <a:prstGeom prst="rect">
            <a:avLst/>
          </a:prstGeom>
          <a:solidFill>
            <a:srgbClr val="E87722"/>
          </a:solidFill>
          <a:ln w="12700">
            <a:solidFill>
              <a:srgbClr val="E87722"/>
            </a:solidFill>
            <a:prstDash val="solid"/>
          </a:ln>
        </p:spPr>
      </p:sp>
      <p:sp>
        <p:nvSpPr>
          <p:cNvPr id="20" name="Text 17"/>
          <p:cNvSpPr/>
          <p:nvPr/>
        </p:nvSpPr>
        <p:spPr>
          <a:xfrm>
            <a:off x="5614416" y="3639312"/>
            <a:ext cx="2743200" cy="256032"/>
          </a:xfrm>
          <a:prstGeom prst="rect">
            <a:avLst/>
          </a:prstGeom>
          <a:noFill/>
          <a:ln/>
        </p:spPr>
        <p:txBody>
          <a:bodyPr wrap="square" lIns="0" tIns="0" rIns="0" bIns="0" rtlCol="0" anchor="ctr"/>
          <a:lstStyle/>
          <a:p>
            <a:pPr indent="0" marL="0">
              <a:buNone/>
            </a:pPr>
            <a:r>
              <a:rPr lang="en-US" sz="1050" b="1" dirty="0">
                <a:solidFill>
                  <a:srgbClr val="E87722"/>
                </a:solidFill>
                <a:latin typeface="Calibri" pitchFamily="34" charset="0"/>
                <a:ea typeface="Calibri" pitchFamily="34" charset="-122"/>
                <a:cs typeface="Calibri" pitchFamily="34" charset="-120"/>
              </a:rPr>
              <a:t>Tier 3 — Data</a:t>
            </a:r>
            <a:endParaRPr lang="en-US" sz="1050" dirty="0"/>
          </a:p>
        </p:txBody>
      </p:sp>
      <p:sp>
        <p:nvSpPr>
          <p:cNvPr id="21" name="Text 18"/>
          <p:cNvSpPr/>
          <p:nvPr/>
        </p:nvSpPr>
        <p:spPr>
          <a:xfrm>
            <a:off x="8046720" y="3639312"/>
            <a:ext cx="685800" cy="256032"/>
          </a:xfrm>
          <a:prstGeom prst="rect">
            <a:avLst/>
          </a:prstGeom>
          <a:noFill/>
          <a:ln/>
        </p:spPr>
        <p:txBody>
          <a:bodyPr wrap="square" lIns="0" tIns="0" rIns="0" bIns="0" rtlCol="0" anchor="ctr"/>
          <a:lstStyle/>
          <a:p>
            <a:pPr algn="r" indent="0" marL="0">
              <a:buNone/>
            </a:pPr>
            <a:r>
              <a:rPr lang="en-US" sz="1000" b="1" dirty="0">
                <a:solidFill>
                  <a:srgbClr val="1B2A4A"/>
                </a:solidFill>
                <a:latin typeface="Calibri" pitchFamily="34" charset="0"/>
                <a:ea typeface="Calibri" pitchFamily="34" charset="-122"/>
                <a:cs typeface="Calibri" pitchFamily="34" charset="-120"/>
              </a:rPr>
              <a:t>—</a:t>
            </a:r>
            <a:endParaRPr lang="en-US" sz="1000" dirty="0"/>
          </a:p>
        </p:txBody>
      </p:sp>
      <p:sp>
        <p:nvSpPr>
          <p:cNvPr id="22" name="Text 19"/>
          <p:cNvSpPr/>
          <p:nvPr/>
        </p:nvSpPr>
        <p:spPr>
          <a:xfrm>
            <a:off x="5614416" y="3913632"/>
            <a:ext cx="3108960" cy="566928"/>
          </a:xfrm>
          <a:prstGeom prst="rect">
            <a:avLst/>
          </a:prstGeom>
          <a:noFill/>
          <a:ln/>
        </p:spPr>
        <p:txBody>
          <a:bodyPr wrap="square" lIns="0" tIns="0" rIns="0" bIns="0" rtlCol="0" anchor="ctr"/>
          <a:lstStyle/>
          <a:p>
            <a:pPr indent="0" marL="0">
              <a:buNone/>
            </a:pPr>
            <a:r>
              <a:rPr lang="en-US" sz="1000" dirty="0">
                <a:solidFill>
                  <a:srgbClr val="374151"/>
                </a:solidFill>
                <a:latin typeface="Calibri" pitchFamily="34" charset="0"/>
                <a:ea typeface="Calibri" pitchFamily="34" charset="-122"/>
                <a:cs typeface="Calibri" pitchFamily="34" charset="-120"/>
              </a:rPr>
              <a:t>SQLite (h5p.db) + File Storage</a:t>
            </a:r>
            <a:endParaRPr lang="en-US" sz="1000" dirty="0"/>
          </a:p>
          <a:p>
            <a:pPr indent="0" marL="0">
              <a:buNone/>
            </a:pPr>
            <a:r>
              <a:rPr lang="en-US" sz="1000" dirty="0">
                <a:solidFill>
                  <a:srgbClr val="374151"/>
                </a:solidFill>
                <a:latin typeface="Calibri" pitchFamily="34" charset="0"/>
                <a:ea typeface="Calibri" pitchFamily="34" charset="-122"/>
                <a:cs typeface="Calibri" pitchFamily="34" charset="-120"/>
              </a:rPr>
              <a:t>H5P Libraries · H5P Content packages</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01168"/>
            <a:ext cx="8321040" cy="201168"/>
          </a:xfrm>
          <a:prstGeom prst="rect">
            <a:avLst/>
          </a:prstGeom>
          <a:noFill/>
          <a:ln/>
        </p:spPr>
        <p:txBody>
          <a:bodyPr wrap="square" lIns="0" tIns="0" rIns="0" bIns="0" rtlCol="0" anchor="ctr"/>
          <a:lstStyle/>
          <a:p>
            <a:pPr indent="0" marL="0">
              <a:buNone/>
            </a:pPr>
            <a:r>
              <a:rPr lang="en-US" sz="900" b="1" spc="300" kern="0" dirty="0">
                <a:solidFill>
                  <a:srgbClr val="E87722"/>
                </a:solidFill>
                <a:latin typeface="Calibri" pitchFamily="34" charset="0"/>
                <a:ea typeface="Calibri" pitchFamily="34" charset="-122"/>
                <a:cs typeface="Calibri" pitchFamily="34" charset="-120"/>
              </a:rPr>
              <a:t>03 · METHODOLOGY &amp; DESIGN</a:t>
            </a:r>
            <a:endParaRPr lang="en-US" sz="900" dirty="0"/>
          </a:p>
        </p:txBody>
      </p:sp>
      <p:sp>
        <p:nvSpPr>
          <p:cNvPr id="3" name="Shape 1"/>
          <p:cNvSpPr/>
          <p:nvPr/>
        </p:nvSpPr>
        <p:spPr>
          <a:xfrm>
            <a:off x="384048" y="274320"/>
            <a:ext cx="64008" cy="502920"/>
          </a:xfrm>
          <a:prstGeom prst="rect">
            <a:avLst/>
          </a:prstGeom>
          <a:solidFill>
            <a:srgbClr val="E87722"/>
          </a:solidFill>
          <a:ln w="12700">
            <a:solidFill>
              <a:srgbClr val="E87722"/>
            </a:solidFill>
            <a:prstDash val="solid"/>
          </a:ln>
        </p:spPr>
      </p:sp>
      <p:sp>
        <p:nvSpPr>
          <p:cNvPr id="4" name="Text 2"/>
          <p:cNvSpPr/>
          <p:nvPr/>
        </p:nvSpPr>
        <p:spPr>
          <a:xfrm>
            <a:off x="548640" y="274320"/>
            <a:ext cx="8321040" cy="502920"/>
          </a:xfrm>
          <a:prstGeom prst="rect">
            <a:avLst/>
          </a:prstGeom>
          <a:noFill/>
          <a:ln/>
        </p:spPr>
        <p:txBody>
          <a:bodyPr wrap="square" lIns="0" tIns="0" rIns="0" bIns="0" rtlCol="0" anchor="ctr"/>
          <a:lstStyle/>
          <a:p>
            <a:pPr indent="0" marL="0">
              <a:buNone/>
            </a:pPr>
            <a:r>
              <a:rPr lang="en-US" sz="2400" b="1" dirty="0">
                <a:solidFill>
                  <a:srgbClr val="1B2A4A"/>
                </a:solidFill>
                <a:latin typeface="Georgia" pitchFamily="34" charset="0"/>
                <a:ea typeface="Georgia" pitchFamily="34" charset="-122"/>
                <a:cs typeface="Georgia" pitchFamily="34" charset="-120"/>
              </a:rPr>
              <a:t>Use Case — Platform Actors &amp; Workflows</a:t>
            </a:r>
            <a:endParaRPr lang="en-US" sz="2400" dirty="0"/>
          </a:p>
        </p:txBody>
      </p:sp>
      <p:sp>
        <p:nvSpPr>
          <p:cNvPr id="5" name="Text 3"/>
          <p:cNvSpPr/>
          <p:nvPr/>
        </p:nvSpPr>
        <p:spPr>
          <a:xfrm>
            <a:off x="7772400" y="4846320"/>
            <a:ext cx="1097280" cy="182880"/>
          </a:xfrm>
          <a:prstGeom prst="rect">
            <a:avLst/>
          </a:prstGeom>
          <a:noFill/>
          <a:ln/>
        </p:spPr>
        <p:txBody>
          <a:bodyPr wrap="square" lIns="0" tIns="0" rIns="0" bIns="0"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9 / 24</a:t>
            </a:r>
            <a:endParaRPr lang="en-US" sz="800" dirty="0"/>
          </a:p>
        </p:txBody>
      </p:sp>
      <p:pic>
        <p:nvPicPr>
          <p:cNvPr id="6" name="Image 0" descr="/sessions/nifty-eager-shannon/mnt/outputs/pptx-build/imgs/Usecase.png">    </p:cNvPr>
          <p:cNvPicPr>
            <a:picLocks noChangeAspect="1"/>
          </p:cNvPicPr>
          <p:nvPr/>
        </p:nvPicPr>
        <p:blipFill>
          <a:blip r:embed="rId1"/>
          <a:srcRect l="0" r="0" t="0" b="0"/>
          <a:stretch/>
        </p:blipFill>
        <p:spPr>
          <a:xfrm>
            <a:off x="320040" y="960120"/>
            <a:ext cx="5349240" cy="3566160"/>
          </a:xfrm>
          <a:prstGeom prst="rect">
            <a:avLst/>
          </a:prstGeom>
        </p:spPr>
      </p:pic>
      <p:sp>
        <p:nvSpPr>
          <p:cNvPr id="7" name="Text 4"/>
          <p:cNvSpPr/>
          <p:nvPr/>
        </p:nvSpPr>
        <p:spPr>
          <a:xfrm>
            <a:off x="5989320" y="1051560"/>
            <a:ext cx="2834640" cy="274320"/>
          </a:xfrm>
          <a:prstGeom prst="rect">
            <a:avLst/>
          </a:prstGeom>
          <a:noFill/>
          <a:ln/>
        </p:spPr>
        <p:txBody>
          <a:bodyPr wrap="square" lIns="0" tIns="0" rIns="0" bIns="0" rtlCol="0" anchor="ctr"/>
          <a:lstStyle/>
          <a:p>
            <a:pPr indent="0" marL="0">
              <a:buNone/>
            </a:pPr>
            <a:r>
              <a:rPr lang="en-US" sz="1350" b="1" dirty="0">
                <a:solidFill>
                  <a:srgbClr val="1B2A4A"/>
                </a:solidFill>
                <a:latin typeface="Calibri" pitchFamily="34" charset="0"/>
                <a:ea typeface="Calibri" pitchFamily="34" charset="-122"/>
                <a:cs typeface="Calibri" pitchFamily="34" charset="-120"/>
              </a:rPr>
              <a:t>Instructor</a:t>
            </a:r>
            <a:endParaRPr lang="en-US" sz="1350" dirty="0"/>
          </a:p>
        </p:txBody>
      </p:sp>
      <p:sp>
        <p:nvSpPr>
          <p:cNvPr id="8" name="Shape 5"/>
          <p:cNvSpPr/>
          <p:nvPr/>
        </p:nvSpPr>
        <p:spPr>
          <a:xfrm>
            <a:off x="5989320" y="1371600"/>
            <a:ext cx="2834640" cy="0"/>
          </a:xfrm>
          <a:prstGeom prst="line">
            <a:avLst/>
          </a:prstGeom>
          <a:noFill/>
          <a:ln w="19050">
            <a:solidFill>
              <a:srgbClr val="E87722"/>
            </a:solidFill>
            <a:prstDash val="solid"/>
          </a:ln>
        </p:spPr>
      </p:sp>
      <p:sp>
        <p:nvSpPr>
          <p:cNvPr id="9" name="Text 6"/>
          <p:cNvSpPr/>
          <p:nvPr/>
        </p:nvSpPr>
        <p:spPr>
          <a:xfrm>
            <a:off x="5989320" y="1463040"/>
            <a:ext cx="2834640" cy="1828800"/>
          </a:xfrm>
          <a:prstGeom prst="rect">
            <a:avLst/>
          </a:prstGeom>
          <a:noFill/>
          <a:ln/>
        </p:spPr>
        <p:txBody>
          <a:bodyPr wrap="square" lIns="0" tIns="0" rIns="0" bIns="0" rtlCol="0" anchor="ctr"/>
          <a:lstStyle/>
          <a:p>
            <a:pPr marL="342900" indent="-342900">
              <a:buSzPct val="100000"/>
              <a:buChar char="•"/>
            </a:pPr>
            <a:r>
              <a:rPr lang="en-US" sz="1100" dirty="0">
                <a:solidFill>
                  <a:srgbClr val="374151"/>
                </a:solidFill>
                <a:latin typeface="Calibri" pitchFamily="34" charset="0"/>
                <a:ea typeface="Calibri" pitchFamily="34" charset="-122"/>
                <a:cs typeface="Calibri" pitchFamily="34" charset="-120"/>
              </a:rPr>
              <a:t>Authenticate securely</a:t>
            </a:r>
            <a:endParaRPr lang="en-US" sz="1100" dirty="0"/>
          </a:p>
          <a:p>
            <a:pPr marL="342900" indent="-342900">
              <a:buSzPct val="100000"/>
              <a:buChar char="•"/>
            </a:pPr>
            <a:r>
              <a:rPr lang="en-US" sz="1100" dirty="0">
                <a:solidFill>
                  <a:srgbClr val="374151"/>
                </a:solidFill>
                <a:latin typeface="Calibri" pitchFamily="34" charset="0"/>
                <a:ea typeface="Calibri" pitchFamily="34" charset="-122"/>
                <a:cs typeface="Calibri" pitchFamily="34" charset="-120"/>
              </a:rPr>
              <a:t>Upload or link video</a:t>
            </a:r>
            <a:endParaRPr lang="en-US" sz="1100" dirty="0"/>
          </a:p>
          <a:p>
            <a:pPr marL="342900" indent="-342900">
              <a:buSzPct val="100000"/>
              <a:buChar char="•"/>
            </a:pPr>
            <a:r>
              <a:rPr lang="en-US" sz="1100" dirty="0">
                <a:solidFill>
                  <a:srgbClr val="374151"/>
                </a:solidFill>
                <a:latin typeface="Calibri" pitchFamily="34" charset="0"/>
                <a:ea typeface="Calibri" pitchFamily="34" charset="-122"/>
                <a:cs typeface="Calibri" pitchFamily="34" charset="-120"/>
              </a:rPr>
              <a:t>Request AI transcript analysis</a:t>
            </a:r>
            <a:endParaRPr lang="en-US" sz="1100" dirty="0"/>
          </a:p>
          <a:p>
            <a:pPr marL="342900" indent="-342900">
              <a:buSzPct val="100000"/>
              <a:buChar char="•"/>
            </a:pPr>
            <a:r>
              <a:rPr lang="en-US" sz="1100" dirty="0">
                <a:solidFill>
                  <a:srgbClr val="374151"/>
                </a:solidFill>
                <a:latin typeface="Calibri" pitchFamily="34" charset="0"/>
                <a:ea typeface="Calibri" pitchFamily="34" charset="-122"/>
                <a:cs typeface="Calibri" pitchFamily="34" charset="-120"/>
              </a:rPr>
              <a:t>Review / edit generated interactions</a:t>
            </a:r>
            <a:endParaRPr lang="en-US" sz="1100" dirty="0"/>
          </a:p>
          <a:p>
            <a:pPr marL="342900" indent="-342900">
              <a:buSzPct val="100000"/>
              <a:buChar char="•"/>
            </a:pPr>
            <a:r>
              <a:rPr lang="en-US" sz="1100" dirty="0">
                <a:solidFill>
                  <a:srgbClr val="374151"/>
                </a:solidFill>
                <a:latin typeface="Calibri" pitchFamily="34" charset="0"/>
                <a:ea typeface="Calibri" pitchFamily="34" charset="-122"/>
                <a:cs typeface="Calibri" pitchFamily="34" charset="-120"/>
              </a:rPr>
              <a:t>Preview content in live H5P player</a:t>
            </a:r>
            <a:endParaRPr lang="en-US" sz="1100" dirty="0"/>
          </a:p>
          <a:p>
            <a:pPr marL="342900" indent="-342900">
              <a:buSzPct val="100000"/>
              <a:buChar char="•"/>
            </a:pPr>
            <a:r>
              <a:rPr lang="en-US" sz="1100" dirty="0">
                <a:solidFill>
                  <a:srgbClr val="374151"/>
                </a:solidFill>
                <a:latin typeface="Calibri" pitchFamily="34" charset="0"/>
                <a:ea typeface="Calibri" pitchFamily="34" charset="-122"/>
                <a:cs typeface="Calibri" pitchFamily="34" charset="-120"/>
              </a:rPr>
              <a:t>Export .h5p package for LMS upload</a:t>
            </a:r>
            <a:endParaRPr lang="en-US" sz="1100" dirty="0"/>
          </a:p>
        </p:txBody>
      </p:sp>
      <p:sp>
        <p:nvSpPr>
          <p:cNvPr id="10" name="Text 7"/>
          <p:cNvSpPr/>
          <p:nvPr/>
        </p:nvSpPr>
        <p:spPr>
          <a:xfrm>
            <a:off x="5989320" y="3401568"/>
            <a:ext cx="2834640" cy="274320"/>
          </a:xfrm>
          <a:prstGeom prst="rect">
            <a:avLst/>
          </a:prstGeom>
          <a:noFill/>
          <a:ln/>
        </p:spPr>
        <p:txBody>
          <a:bodyPr wrap="square" lIns="0" tIns="0" rIns="0" bIns="0" rtlCol="0" anchor="ctr"/>
          <a:lstStyle/>
          <a:p>
            <a:pPr indent="0" marL="0">
              <a:buNone/>
            </a:pPr>
            <a:r>
              <a:rPr lang="en-US" sz="1350" b="1" dirty="0">
                <a:solidFill>
                  <a:srgbClr val="1B2A4A"/>
                </a:solidFill>
                <a:latin typeface="Calibri" pitchFamily="34" charset="0"/>
                <a:ea typeface="Calibri" pitchFamily="34" charset="-122"/>
                <a:cs typeface="Calibri" pitchFamily="34" charset="-120"/>
              </a:rPr>
              <a:t>Admin</a:t>
            </a:r>
            <a:endParaRPr lang="en-US" sz="1350" dirty="0"/>
          </a:p>
        </p:txBody>
      </p:sp>
      <p:sp>
        <p:nvSpPr>
          <p:cNvPr id="11" name="Shape 8"/>
          <p:cNvSpPr/>
          <p:nvPr/>
        </p:nvSpPr>
        <p:spPr>
          <a:xfrm>
            <a:off x="5989320" y="3712464"/>
            <a:ext cx="2834640" cy="0"/>
          </a:xfrm>
          <a:prstGeom prst="line">
            <a:avLst/>
          </a:prstGeom>
          <a:noFill/>
          <a:ln w="19050">
            <a:solidFill>
              <a:srgbClr val="E87722"/>
            </a:solidFill>
            <a:prstDash val="solid"/>
          </a:ln>
        </p:spPr>
      </p:sp>
      <p:sp>
        <p:nvSpPr>
          <p:cNvPr id="12" name="Text 9"/>
          <p:cNvSpPr/>
          <p:nvPr/>
        </p:nvSpPr>
        <p:spPr>
          <a:xfrm>
            <a:off x="5989320" y="3767328"/>
            <a:ext cx="2834640" cy="502920"/>
          </a:xfrm>
          <a:prstGeom prst="rect">
            <a:avLst/>
          </a:prstGeom>
          <a:noFill/>
          <a:ln/>
        </p:spPr>
        <p:txBody>
          <a:bodyPr wrap="square" lIns="0" tIns="0" rIns="0" bIns="0" rtlCol="0" anchor="ctr"/>
          <a:lstStyle/>
          <a:p>
            <a:pPr indent="0" marL="0">
              <a:buNone/>
            </a:pPr>
            <a:r>
              <a:rPr lang="en-US" sz="1100" dirty="0">
                <a:solidFill>
                  <a:srgbClr val="374151"/>
                </a:solidFill>
                <a:latin typeface="Calibri" pitchFamily="34" charset="0"/>
                <a:ea typeface="Calibri" pitchFamily="34" charset="-122"/>
                <a:cs typeface="Calibri" pitchFamily="34" charset="-120"/>
              </a:rPr>
              <a:t>Manage users · Monitor AI usage · Configure API keys · Review audit logs</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01168"/>
            <a:ext cx="8321040" cy="201168"/>
          </a:xfrm>
          <a:prstGeom prst="rect">
            <a:avLst/>
          </a:prstGeom>
          <a:noFill/>
          <a:ln/>
        </p:spPr>
        <p:txBody>
          <a:bodyPr wrap="square" lIns="0" tIns="0" rIns="0" bIns="0" rtlCol="0" anchor="ctr"/>
          <a:lstStyle/>
          <a:p>
            <a:pPr indent="0" marL="0">
              <a:buNone/>
            </a:pPr>
            <a:r>
              <a:rPr lang="en-US" sz="900" b="1" spc="300" kern="0" dirty="0">
                <a:solidFill>
                  <a:srgbClr val="E87722"/>
                </a:solidFill>
                <a:latin typeface="Calibri" pitchFamily="34" charset="0"/>
                <a:ea typeface="Calibri" pitchFamily="34" charset="-122"/>
                <a:cs typeface="Calibri" pitchFamily="34" charset="-120"/>
              </a:rPr>
              <a:t>03 · METHODOLOGY &amp; DESIGN</a:t>
            </a:r>
            <a:endParaRPr lang="en-US" sz="900" dirty="0"/>
          </a:p>
        </p:txBody>
      </p:sp>
      <p:sp>
        <p:nvSpPr>
          <p:cNvPr id="3" name="Shape 1"/>
          <p:cNvSpPr/>
          <p:nvPr/>
        </p:nvSpPr>
        <p:spPr>
          <a:xfrm>
            <a:off x="384048" y="274320"/>
            <a:ext cx="64008" cy="502920"/>
          </a:xfrm>
          <a:prstGeom prst="rect">
            <a:avLst/>
          </a:prstGeom>
          <a:solidFill>
            <a:srgbClr val="E87722"/>
          </a:solidFill>
          <a:ln w="12700">
            <a:solidFill>
              <a:srgbClr val="E87722"/>
            </a:solidFill>
            <a:prstDash val="solid"/>
          </a:ln>
        </p:spPr>
      </p:sp>
      <p:sp>
        <p:nvSpPr>
          <p:cNvPr id="4" name="Text 2"/>
          <p:cNvSpPr/>
          <p:nvPr/>
        </p:nvSpPr>
        <p:spPr>
          <a:xfrm>
            <a:off x="548640" y="274320"/>
            <a:ext cx="8321040" cy="502920"/>
          </a:xfrm>
          <a:prstGeom prst="rect">
            <a:avLst/>
          </a:prstGeom>
          <a:noFill/>
          <a:ln/>
        </p:spPr>
        <p:txBody>
          <a:bodyPr wrap="square" lIns="0" tIns="0" rIns="0" bIns="0" rtlCol="0" anchor="ctr"/>
          <a:lstStyle/>
          <a:p>
            <a:pPr indent="0" marL="0">
              <a:buNone/>
            </a:pPr>
            <a:r>
              <a:rPr lang="en-US" sz="2400" b="1" dirty="0">
                <a:solidFill>
                  <a:srgbClr val="1B2A4A"/>
                </a:solidFill>
                <a:latin typeface="Georgia" pitchFamily="34" charset="0"/>
                <a:ea typeface="Georgia" pitchFamily="34" charset="-122"/>
                <a:cs typeface="Georgia" pitchFamily="34" charset="-120"/>
              </a:rPr>
              <a:t>Authentication &amp; Security Architecture</a:t>
            </a:r>
            <a:endParaRPr lang="en-US" sz="2400" dirty="0"/>
          </a:p>
        </p:txBody>
      </p:sp>
      <p:sp>
        <p:nvSpPr>
          <p:cNvPr id="5" name="Text 3"/>
          <p:cNvSpPr/>
          <p:nvPr/>
        </p:nvSpPr>
        <p:spPr>
          <a:xfrm>
            <a:off x="7772400" y="4846320"/>
            <a:ext cx="1097280" cy="182880"/>
          </a:xfrm>
          <a:prstGeom prst="rect">
            <a:avLst/>
          </a:prstGeom>
          <a:noFill/>
          <a:ln/>
        </p:spPr>
        <p:txBody>
          <a:bodyPr wrap="square" lIns="0" tIns="0" rIns="0" bIns="0"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10 / 24</a:t>
            </a:r>
            <a:endParaRPr lang="en-US" sz="800" dirty="0"/>
          </a:p>
        </p:txBody>
      </p:sp>
      <p:pic>
        <p:nvPicPr>
          <p:cNvPr id="6" name="Image 0" descr="/sessions/nifty-eager-shannon/mnt/outputs/pptx-build/imgs/Sequence_diagram-_user_registration__email_verification__login__and_authenti-_cated_API_request.jpeg">    </p:cNvPr>
          <p:cNvPicPr>
            <a:picLocks noChangeAspect="1"/>
          </p:cNvPicPr>
          <p:nvPr/>
        </p:nvPicPr>
        <p:blipFill>
          <a:blip r:embed="rId1"/>
          <a:srcRect l="0" r="0" t="0" b="0"/>
          <a:stretch/>
        </p:blipFill>
        <p:spPr>
          <a:xfrm>
            <a:off x="320040" y="960120"/>
            <a:ext cx="3513582" cy="2651760"/>
          </a:xfrm>
          <a:prstGeom prst="rect">
            <a:avLst/>
          </a:prstGeom>
        </p:spPr>
      </p:pic>
      <p:sp>
        <p:nvSpPr>
          <p:cNvPr id="7" name="Text 4"/>
          <p:cNvSpPr/>
          <p:nvPr/>
        </p:nvSpPr>
        <p:spPr>
          <a:xfrm>
            <a:off x="320040" y="3657600"/>
            <a:ext cx="3513582" cy="274320"/>
          </a:xfrm>
          <a:prstGeom prst="rect">
            <a:avLst/>
          </a:prstGeom>
          <a:noFill/>
          <a:ln/>
        </p:spPr>
        <p:txBody>
          <a:bodyPr wrap="square" lIns="0" tIns="0" rIns="0" bIns="0" rtlCol="0" anchor="ctr"/>
          <a:lstStyle/>
          <a:p>
            <a:pPr algn="ctr" indent="0" marL="0">
              <a:buNone/>
            </a:pPr>
            <a:r>
              <a:rPr lang="en-US" sz="850" i="1" dirty="0">
                <a:solidFill>
                  <a:srgbClr val="6B7280"/>
                </a:solidFill>
                <a:latin typeface="Calibri" pitchFamily="34" charset="0"/>
                <a:ea typeface="Calibri" pitchFamily="34" charset="-122"/>
                <a:cs typeface="Calibri" pitchFamily="34" charset="-120"/>
              </a:rPr>
              <a:t>Sequence: Registration → Email Verification → Login → Authenticated API Request</a:t>
            </a:r>
            <a:endParaRPr lang="en-US" sz="850" dirty="0"/>
          </a:p>
        </p:txBody>
      </p:sp>
      <p:sp>
        <p:nvSpPr>
          <p:cNvPr id="8" name="Text 5"/>
          <p:cNvSpPr/>
          <p:nvPr/>
        </p:nvSpPr>
        <p:spPr>
          <a:xfrm>
            <a:off x="4160520" y="960120"/>
            <a:ext cx="4663440" cy="292608"/>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Security Controls</a:t>
            </a:r>
            <a:endParaRPr lang="en-US" sz="1300" dirty="0"/>
          </a:p>
        </p:txBody>
      </p:sp>
      <p:sp>
        <p:nvSpPr>
          <p:cNvPr id="9" name="Text 6"/>
          <p:cNvSpPr/>
          <p:nvPr/>
        </p:nvSpPr>
        <p:spPr>
          <a:xfrm>
            <a:off x="4160520" y="1353312"/>
            <a:ext cx="4663440" cy="246888"/>
          </a:xfrm>
          <a:prstGeom prst="rect">
            <a:avLst/>
          </a:prstGeom>
          <a:noFill/>
          <a:ln/>
        </p:spPr>
        <p:txBody>
          <a:bodyPr wrap="square" lIns="0" tIns="0" rIns="0" bIns="0"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bcrypt (cost factor 12)</a:t>
            </a:r>
            <a:endParaRPr lang="en-US" sz="1100" dirty="0"/>
          </a:p>
        </p:txBody>
      </p:sp>
      <p:sp>
        <p:nvSpPr>
          <p:cNvPr id="10" name="Text 7"/>
          <p:cNvSpPr/>
          <p:nvPr/>
        </p:nvSpPr>
        <p:spPr>
          <a:xfrm>
            <a:off x="4160520" y="1600200"/>
            <a:ext cx="4663440" cy="246888"/>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Password hashing — expensive by design to resist offline brute-force attacks</a:t>
            </a:r>
            <a:endParaRPr lang="en-US" sz="1000" dirty="0"/>
          </a:p>
        </p:txBody>
      </p:sp>
      <p:sp>
        <p:nvSpPr>
          <p:cNvPr id="11" name="Shape 8"/>
          <p:cNvSpPr/>
          <p:nvPr/>
        </p:nvSpPr>
        <p:spPr>
          <a:xfrm>
            <a:off x="4160520" y="1892808"/>
            <a:ext cx="4663440" cy="0"/>
          </a:xfrm>
          <a:prstGeom prst="line">
            <a:avLst/>
          </a:prstGeom>
          <a:noFill/>
          <a:ln w="6350">
            <a:solidFill>
              <a:srgbClr val="E5E7EB"/>
            </a:solidFill>
            <a:prstDash val="solid"/>
          </a:ln>
        </p:spPr>
      </p:sp>
      <p:sp>
        <p:nvSpPr>
          <p:cNvPr id="12" name="Text 9"/>
          <p:cNvSpPr/>
          <p:nvPr/>
        </p:nvSpPr>
        <p:spPr>
          <a:xfrm>
            <a:off x="4160520" y="1947672"/>
            <a:ext cx="4663440" cy="246888"/>
          </a:xfrm>
          <a:prstGeom prst="rect">
            <a:avLst/>
          </a:prstGeom>
          <a:noFill/>
          <a:ln/>
        </p:spPr>
        <p:txBody>
          <a:bodyPr wrap="square" lIns="0" tIns="0" rIns="0" bIns="0"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JWT — 7-day stateless tokens</a:t>
            </a:r>
            <a:endParaRPr lang="en-US" sz="1100" dirty="0"/>
          </a:p>
        </p:txBody>
      </p:sp>
      <p:sp>
        <p:nvSpPr>
          <p:cNvPr id="13" name="Text 10"/>
          <p:cNvSpPr/>
          <p:nvPr/>
        </p:nvSpPr>
        <p:spPr>
          <a:xfrm>
            <a:off x="4160520" y="2194560"/>
            <a:ext cx="4663440" cy="246888"/>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No server-side session storage; accounts enumeration prevented on forgot-password</a:t>
            </a:r>
            <a:endParaRPr lang="en-US" sz="1000" dirty="0"/>
          </a:p>
        </p:txBody>
      </p:sp>
      <p:sp>
        <p:nvSpPr>
          <p:cNvPr id="14" name="Shape 11"/>
          <p:cNvSpPr/>
          <p:nvPr/>
        </p:nvSpPr>
        <p:spPr>
          <a:xfrm>
            <a:off x="4160520" y="2487168"/>
            <a:ext cx="4663440" cy="0"/>
          </a:xfrm>
          <a:prstGeom prst="line">
            <a:avLst/>
          </a:prstGeom>
          <a:noFill/>
          <a:ln w="6350">
            <a:solidFill>
              <a:srgbClr val="E5E7EB"/>
            </a:solidFill>
            <a:prstDash val="solid"/>
          </a:ln>
        </p:spPr>
      </p:sp>
      <p:sp>
        <p:nvSpPr>
          <p:cNvPr id="15" name="Text 12"/>
          <p:cNvSpPr/>
          <p:nvPr/>
        </p:nvSpPr>
        <p:spPr>
          <a:xfrm>
            <a:off x="4160520" y="2542032"/>
            <a:ext cx="4663440" cy="246888"/>
          </a:xfrm>
          <a:prstGeom prst="rect">
            <a:avLst/>
          </a:prstGeom>
          <a:noFill/>
          <a:ln/>
        </p:spPr>
        <p:txBody>
          <a:bodyPr wrap="square" lIns="0" tIns="0" rIns="0" bIns="0"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Zod schema validation</a:t>
            </a:r>
            <a:endParaRPr lang="en-US" sz="1100" dirty="0"/>
          </a:p>
        </p:txBody>
      </p:sp>
      <p:sp>
        <p:nvSpPr>
          <p:cNvPr id="16" name="Text 13"/>
          <p:cNvSpPr/>
          <p:nvPr/>
        </p:nvSpPr>
        <p:spPr>
          <a:xfrm>
            <a:off x="4160520" y="2788920"/>
            <a:ext cx="4663440" cy="246888"/>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All critical API endpoints validated before business logic executes</a:t>
            </a:r>
            <a:endParaRPr lang="en-US" sz="1000" dirty="0"/>
          </a:p>
        </p:txBody>
      </p:sp>
      <p:sp>
        <p:nvSpPr>
          <p:cNvPr id="17" name="Shape 14"/>
          <p:cNvSpPr/>
          <p:nvPr/>
        </p:nvSpPr>
        <p:spPr>
          <a:xfrm>
            <a:off x="4160520" y="3081528"/>
            <a:ext cx="4663440" cy="0"/>
          </a:xfrm>
          <a:prstGeom prst="line">
            <a:avLst/>
          </a:prstGeom>
          <a:noFill/>
          <a:ln w="6350">
            <a:solidFill>
              <a:srgbClr val="E5E7EB"/>
            </a:solidFill>
            <a:prstDash val="solid"/>
          </a:ln>
        </p:spPr>
      </p:sp>
      <p:sp>
        <p:nvSpPr>
          <p:cNvPr id="18" name="Text 15"/>
          <p:cNvSpPr/>
          <p:nvPr/>
        </p:nvSpPr>
        <p:spPr>
          <a:xfrm>
            <a:off x="4160520" y="3136392"/>
            <a:ext cx="4663440" cy="246888"/>
          </a:xfrm>
          <a:prstGeom prst="rect">
            <a:avLst/>
          </a:prstGeom>
          <a:noFill/>
          <a:ln/>
        </p:spPr>
        <p:txBody>
          <a:bodyPr wrap="square" lIns="0" tIns="0" rIns="0" bIns="0"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Helmet.js + CORS whitelist</a:t>
            </a:r>
            <a:endParaRPr lang="en-US" sz="1100" dirty="0"/>
          </a:p>
        </p:txBody>
      </p:sp>
      <p:sp>
        <p:nvSpPr>
          <p:cNvPr id="19" name="Text 16"/>
          <p:cNvSpPr/>
          <p:nvPr/>
        </p:nvSpPr>
        <p:spPr>
          <a:xfrm>
            <a:off x="4160520" y="3383280"/>
            <a:ext cx="4663440" cy="246888"/>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Security headers auto-configured; strict origin allowlist enforced</a:t>
            </a:r>
            <a:endParaRPr lang="en-US" sz="1000" dirty="0"/>
          </a:p>
        </p:txBody>
      </p:sp>
      <p:sp>
        <p:nvSpPr>
          <p:cNvPr id="20" name="Shape 17"/>
          <p:cNvSpPr/>
          <p:nvPr/>
        </p:nvSpPr>
        <p:spPr>
          <a:xfrm>
            <a:off x="4160520" y="3675888"/>
            <a:ext cx="4663440" cy="0"/>
          </a:xfrm>
          <a:prstGeom prst="line">
            <a:avLst/>
          </a:prstGeom>
          <a:noFill/>
          <a:ln w="6350">
            <a:solidFill>
              <a:srgbClr val="E5E7EB"/>
            </a:solidFill>
            <a:prstDash val="solid"/>
          </a:ln>
        </p:spPr>
      </p:sp>
      <p:sp>
        <p:nvSpPr>
          <p:cNvPr id="21" name="Text 18"/>
          <p:cNvSpPr/>
          <p:nvPr/>
        </p:nvSpPr>
        <p:spPr>
          <a:xfrm>
            <a:off x="4160520" y="3730752"/>
            <a:ext cx="4663440" cy="246888"/>
          </a:xfrm>
          <a:prstGeom prst="rect">
            <a:avLst/>
          </a:prstGeom>
          <a:noFill/>
          <a:ln/>
        </p:spPr>
        <p:txBody>
          <a:bodyPr wrap="square" lIns="0" tIns="0" rIns="0" bIns="0"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AuditLogs + LoginAttempts</a:t>
            </a:r>
            <a:endParaRPr lang="en-US" sz="1100" dirty="0"/>
          </a:p>
        </p:txBody>
      </p:sp>
      <p:sp>
        <p:nvSpPr>
          <p:cNvPr id="22" name="Text 19"/>
          <p:cNvSpPr/>
          <p:nvPr/>
        </p:nvSpPr>
        <p:spPr>
          <a:xfrm>
            <a:off x="4160520" y="3977640"/>
            <a:ext cx="4663440" cy="246888"/>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Full write trail on user-management actions; UUID request IDs for traceability</a:t>
            </a:r>
            <a:endParaRPr lang="en-US" sz="1000" dirty="0"/>
          </a:p>
        </p:txBody>
      </p:sp>
      <p:sp>
        <p:nvSpPr>
          <p:cNvPr id="23" name="Shape 20"/>
          <p:cNvSpPr/>
          <p:nvPr/>
        </p:nvSpPr>
        <p:spPr>
          <a:xfrm>
            <a:off x="4160520" y="4270248"/>
            <a:ext cx="4663440" cy="0"/>
          </a:xfrm>
          <a:prstGeom prst="line">
            <a:avLst/>
          </a:prstGeom>
          <a:noFill/>
          <a:ln w="6350">
            <a:solidFill>
              <a:srgbClr val="E5E7EB"/>
            </a:solidFill>
            <a:prstDash val="solid"/>
          </a:ln>
        </p:spPr>
      </p:sp>
      <p:sp>
        <p:nvSpPr>
          <p:cNvPr id="24" name="Text 21"/>
          <p:cNvSpPr/>
          <p:nvPr/>
        </p:nvSpPr>
        <p:spPr>
          <a:xfrm>
            <a:off x="4160520" y="4325112"/>
            <a:ext cx="4663440" cy="246888"/>
          </a:xfrm>
          <a:prstGeom prst="rect">
            <a:avLst/>
          </a:prstGeom>
          <a:noFill/>
          <a:ln/>
        </p:spPr>
        <p:txBody>
          <a:bodyPr wrap="square" lIns="0" tIns="0" rIns="0" bIns="0"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OWASP Top Ten mapping</a:t>
            </a:r>
            <a:endParaRPr lang="en-US" sz="1100" dirty="0"/>
          </a:p>
        </p:txBody>
      </p:sp>
      <p:sp>
        <p:nvSpPr>
          <p:cNvPr id="25" name="Text 22"/>
          <p:cNvSpPr/>
          <p:nvPr/>
        </p:nvSpPr>
        <p:spPr>
          <a:xfrm>
            <a:off x="4160520" y="4572000"/>
            <a:ext cx="4663440" cy="246888"/>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Each control explicitly maps to an OWASP 2021 vulnerability category</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01168"/>
            <a:ext cx="8321040" cy="201168"/>
          </a:xfrm>
          <a:prstGeom prst="rect">
            <a:avLst/>
          </a:prstGeom>
          <a:noFill/>
          <a:ln/>
        </p:spPr>
        <p:txBody>
          <a:bodyPr wrap="square" lIns="0" tIns="0" rIns="0" bIns="0" rtlCol="0" anchor="ctr"/>
          <a:lstStyle/>
          <a:p>
            <a:pPr indent="0" marL="0">
              <a:buNone/>
            </a:pPr>
            <a:r>
              <a:rPr lang="en-US" sz="900" b="1" spc="300" kern="0" dirty="0">
                <a:solidFill>
                  <a:srgbClr val="E87722"/>
                </a:solidFill>
                <a:latin typeface="Calibri" pitchFamily="34" charset="0"/>
                <a:ea typeface="Calibri" pitchFamily="34" charset="-122"/>
                <a:cs typeface="Calibri" pitchFamily="34" charset="-120"/>
              </a:rPr>
              <a:t>04 · IMPLEMENTATION</a:t>
            </a:r>
            <a:endParaRPr lang="en-US" sz="900" dirty="0"/>
          </a:p>
        </p:txBody>
      </p:sp>
      <p:sp>
        <p:nvSpPr>
          <p:cNvPr id="3" name="Shape 1"/>
          <p:cNvSpPr/>
          <p:nvPr/>
        </p:nvSpPr>
        <p:spPr>
          <a:xfrm>
            <a:off x="384048" y="274320"/>
            <a:ext cx="64008" cy="502920"/>
          </a:xfrm>
          <a:prstGeom prst="rect">
            <a:avLst/>
          </a:prstGeom>
          <a:solidFill>
            <a:srgbClr val="E87722"/>
          </a:solidFill>
          <a:ln w="12700">
            <a:solidFill>
              <a:srgbClr val="E87722"/>
            </a:solidFill>
            <a:prstDash val="solid"/>
          </a:ln>
        </p:spPr>
      </p:sp>
      <p:sp>
        <p:nvSpPr>
          <p:cNvPr id="4" name="Text 2"/>
          <p:cNvSpPr/>
          <p:nvPr/>
        </p:nvSpPr>
        <p:spPr>
          <a:xfrm>
            <a:off x="548640" y="274320"/>
            <a:ext cx="8321040" cy="502920"/>
          </a:xfrm>
          <a:prstGeom prst="rect">
            <a:avLst/>
          </a:prstGeom>
          <a:noFill/>
          <a:ln/>
        </p:spPr>
        <p:txBody>
          <a:bodyPr wrap="square" lIns="0" tIns="0" rIns="0" bIns="0" rtlCol="0" anchor="ctr"/>
          <a:lstStyle/>
          <a:p>
            <a:pPr indent="0" marL="0">
              <a:buNone/>
            </a:pPr>
            <a:r>
              <a:rPr lang="en-US" sz="2400" b="1" dirty="0">
                <a:solidFill>
                  <a:srgbClr val="1B2A4A"/>
                </a:solidFill>
                <a:latin typeface="Georgia" pitchFamily="34" charset="0"/>
                <a:ea typeface="Georgia" pitchFamily="34" charset="-122"/>
                <a:cs typeface="Georgia" pitchFamily="34" charset="-120"/>
              </a:rPr>
              <a:t>Video Upload Pipeline</a:t>
            </a:r>
            <a:endParaRPr lang="en-US" sz="2400" dirty="0"/>
          </a:p>
        </p:txBody>
      </p:sp>
      <p:sp>
        <p:nvSpPr>
          <p:cNvPr id="5" name="Text 3"/>
          <p:cNvSpPr/>
          <p:nvPr/>
        </p:nvSpPr>
        <p:spPr>
          <a:xfrm>
            <a:off x="7772400" y="4846320"/>
            <a:ext cx="1097280" cy="182880"/>
          </a:xfrm>
          <a:prstGeom prst="rect">
            <a:avLst/>
          </a:prstGeom>
          <a:noFill/>
          <a:ln/>
        </p:spPr>
        <p:txBody>
          <a:bodyPr wrap="square" lIns="0" tIns="0" rIns="0" bIns="0"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11 / 24</a:t>
            </a:r>
            <a:endParaRPr lang="en-US" sz="800" dirty="0"/>
          </a:p>
        </p:txBody>
      </p:sp>
      <p:pic>
        <p:nvPicPr>
          <p:cNvPr id="6" name="Image 0" descr="/sessions/nifty-eager-shannon/mnt/outputs/pptx-build/imgs/Upload_page.png">    </p:cNvPr>
          <p:cNvPicPr>
            <a:picLocks noChangeAspect="1"/>
          </p:cNvPicPr>
          <p:nvPr/>
        </p:nvPicPr>
        <p:blipFill>
          <a:blip r:embed="rId1"/>
          <a:srcRect l="0" r="0" t="0" b="0"/>
          <a:stretch/>
        </p:blipFill>
        <p:spPr>
          <a:xfrm>
            <a:off x="320040" y="960120"/>
            <a:ext cx="3981298" cy="2560320"/>
          </a:xfrm>
          <a:prstGeom prst="rect">
            <a:avLst/>
          </a:prstGeom>
          <a:effectLst>
            <a:outerShdw sx="100000" sy="100000" kx="0" ky="0" algn="bl" rotWithShape="0" blurRad="76200" dist="25400" dir="8100000">
              <a:srgbClr val="000000">
                <a:alpha val="9000"/>
              </a:srgbClr>
            </a:outerShdw>
          </a:effectLst>
        </p:spPr>
      </p:pic>
      <p:sp>
        <p:nvSpPr>
          <p:cNvPr id="7" name="Shape 4"/>
          <p:cNvSpPr/>
          <p:nvPr/>
        </p:nvSpPr>
        <p:spPr>
          <a:xfrm>
            <a:off x="320040" y="3639312"/>
            <a:ext cx="3981298" cy="640080"/>
          </a:xfrm>
          <a:prstGeom prst="rect">
            <a:avLst/>
          </a:prstGeom>
          <a:solidFill>
            <a:srgbClr val="FEF3E6"/>
          </a:solidFill>
          <a:ln w="12700">
            <a:solidFill>
              <a:srgbClr val="E87722"/>
            </a:solidFill>
            <a:prstDash val="solid"/>
          </a:ln>
        </p:spPr>
      </p:sp>
      <p:sp>
        <p:nvSpPr>
          <p:cNvPr id="8" name="Text 5"/>
          <p:cNvSpPr/>
          <p:nvPr/>
        </p:nvSpPr>
        <p:spPr>
          <a:xfrm>
            <a:off x="411480" y="3639312"/>
            <a:ext cx="3798418" cy="640080"/>
          </a:xfrm>
          <a:prstGeom prst="rect">
            <a:avLst/>
          </a:prstGeom>
          <a:noFill/>
          <a:ln/>
        </p:spPr>
        <p:txBody>
          <a:bodyPr wrap="square" lIns="0" tIns="0" rIns="0" bIns="0" rtlCol="0" anchor="ctr"/>
          <a:lstStyle/>
          <a:p>
            <a:pPr indent="0" marL="0">
              <a:buNone/>
            </a:pPr>
            <a:r>
              <a:rPr lang="en-US" sz="1000" dirty="0">
                <a:solidFill>
                  <a:srgbClr val="E87722"/>
                </a:solidFill>
                <a:latin typeface="Calibri" pitchFamily="34" charset="0"/>
                <a:ea typeface="Calibri" pitchFamily="34" charset="-122"/>
                <a:cs typeface="Calibri" pitchFamily="34" charset="-120"/>
              </a:rPr>
              <a:t>YouTube import path: URL → yt-dlp metadata extraction → stored as external reference (no FFmpeg processing required)</a:t>
            </a:r>
            <a:endParaRPr lang="en-US" sz="1000" dirty="0"/>
          </a:p>
        </p:txBody>
      </p:sp>
      <p:sp>
        <p:nvSpPr>
          <p:cNvPr id="9" name="Text 6"/>
          <p:cNvSpPr/>
          <p:nvPr/>
        </p:nvSpPr>
        <p:spPr>
          <a:xfrm>
            <a:off x="4663440" y="960120"/>
            <a:ext cx="4160520" cy="292608"/>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Direct Upload Processing Flow</a:t>
            </a:r>
            <a:endParaRPr lang="en-US" sz="1300" dirty="0"/>
          </a:p>
        </p:txBody>
      </p:sp>
      <p:sp>
        <p:nvSpPr>
          <p:cNvPr id="10" name="Shape 7"/>
          <p:cNvSpPr/>
          <p:nvPr/>
        </p:nvSpPr>
        <p:spPr>
          <a:xfrm>
            <a:off x="4663440" y="1408176"/>
            <a:ext cx="347472" cy="347472"/>
          </a:xfrm>
          <a:prstGeom prst="ellipse">
            <a:avLst/>
          </a:prstGeom>
          <a:solidFill>
            <a:srgbClr val="E87722"/>
          </a:solidFill>
          <a:ln w="12700">
            <a:solidFill>
              <a:srgbClr val="E87722"/>
            </a:solidFill>
            <a:prstDash val="solid"/>
          </a:ln>
        </p:spPr>
      </p:sp>
      <p:sp>
        <p:nvSpPr>
          <p:cNvPr id="11" name="Text 8"/>
          <p:cNvSpPr/>
          <p:nvPr/>
        </p:nvSpPr>
        <p:spPr>
          <a:xfrm>
            <a:off x="4663440" y="1408176"/>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Georgia" pitchFamily="34" charset="0"/>
                <a:ea typeface="Georgia" pitchFamily="34" charset="-122"/>
                <a:cs typeface="Georgia" pitchFamily="34" charset="-120"/>
              </a:rPr>
              <a:t>1</a:t>
            </a:r>
            <a:endParaRPr lang="en-US" sz="1200" dirty="0"/>
          </a:p>
        </p:txBody>
      </p:sp>
      <p:sp>
        <p:nvSpPr>
          <p:cNvPr id="12" name="Shape 9"/>
          <p:cNvSpPr/>
          <p:nvPr/>
        </p:nvSpPr>
        <p:spPr>
          <a:xfrm>
            <a:off x="4832604" y="1755648"/>
            <a:ext cx="0" cy="384048"/>
          </a:xfrm>
          <a:prstGeom prst="line">
            <a:avLst/>
          </a:prstGeom>
          <a:noFill/>
          <a:ln w="19050">
            <a:solidFill>
              <a:srgbClr val="E87722"/>
            </a:solidFill>
            <a:prstDash val="dash"/>
          </a:ln>
        </p:spPr>
      </p:sp>
      <p:sp>
        <p:nvSpPr>
          <p:cNvPr id="13" name="Text 10"/>
          <p:cNvSpPr/>
          <p:nvPr/>
        </p:nvSpPr>
        <p:spPr>
          <a:xfrm>
            <a:off x="5120640" y="1353312"/>
            <a:ext cx="3703320" cy="274320"/>
          </a:xfrm>
          <a:prstGeom prst="rect">
            <a:avLst/>
          </a:prstGeom>
          <a:noFill/>
          <a:ln/>
        </p:spPr>
        <p:txBody>
          <a:bodyPr wrap="square" lIns="0" tIns="0" rIns="0" bIns="0"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POST /api/videos/upload</a:t>
            </a:r>
            <a:endParaRPr lang="en-US" sz="1100" dirty="0"/>
          </a:p>
        </p:txBody>
      </p:sp>
      <p:sp>
        <p:nvSpPr>
          <p:cNvPr id="14" name="Text 11"/>
          <p:cNvSpPr/>
          <p:nvPr/>
        </p:nvSpPr>
        <p:spPr>
          <a:xfrm>
            <a:off x="5120640" y="1627632"/>
            <a:ext cx="3703320" cy="292608"/>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Multipart form-data — video file + title metadata</a:t>
            </a:r>
            <a:endParaRPr lang="en-US" sz="1000" dirty="0"/>
          </a:p>
        </p:txBody>
      </p:sp>
      <p:sp>
        <p:nvSpPr>
          <p:cNvPr id="15" name="Shape 12"/>
          <p:cNvSpPr/>
          <p:nvPr/>
        </p:nvSpPr>
        <p:spPr>
          <a:xfrm>
            <a:off x="4663440" y="2139696"/>
            <a:ext cx="347472" cy="347472"/>
          </a:xfrm>
          <a:prstGeom prst="ellipse">
            <a:avLst/>
          </a:prstGeom>
          <a:solidFill>
            <a:srgbClr val="E87722"/>
          </a:solidFill>
          <a:ln w="12700">
            <a:solidFill>
              <a:srgbClr val="E87722"/>
            </a:solidFill>
            <a:prstDash val="solid"/>
          </a:ln>
        </p:spPr>
      </p:sp>
      <p:sp>
        <p:nvSpPr>
          <p:cNvPr id="16" name="Text 13"/>
          <p:cNvSpPr/>
          <p:nvPr/>
        </p:nvSpPr>
        <p:spPr>
          <a:xfrm>
            <a:off x="4663440" y="2139696"/>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Georgia" pitchFamily="34" charset="0"/>
                <a:ea typeface="Georgia" pitchFamily="34" charset="-122"/>
                <a:cs typeface="Georgia" pitchFamily="34" charset="-120"/>
              </a:rPr>
              <a:t>2</a:t>
            </a:r>
            <a:endParaRPr lang="en-US" sz="1200" dirty="0"/>
          </a:p>
        </p:txBody>
      </p:sp>
      <p:sp>
        <p:nvSpPr>
          <p:cNvPr id="17" name="Shape 14"/>
          <p:cNvSpPr/>
          <p:nvPr/>
        </p:nvSpPr>
        <p:spPr>
          <a:xfrm>
            <a:off x="4832604" y="2487168"/>
            <a:ext cx="0" cy="384048"/>
          </a:xfrm>
          <a:prstGeom prst="line">
            <a:avLst/>
          </a:prstGeom>
          <a:noFill/>
          <a:ln w="19050">
            <a:solidFill>
              <a:srgbClr val="E87722"/>
            </a:solidFill>
            <a:prstDash val="dash"/>
          </a:ln>
        </p:spPr>
      </p:sp>
      <p:sp>
        <p:nvSpPr>
          <p:cNvPr id="18" name="Text 15"/>
          <p:cNvSpPr/>
          <p:nvPr/>
        </p:nvSpPr>
        <p:spPr>
          <a:xfrm>
            <a:off x="5120640" y="2084832"/>
            <a:ext cx="3703320" cy="274320"/>
          </a:xfrm>
          <a:prstGeom prst="rect">
            <a:avLst/>
          </a:prstGeom>
          <a:noFill/>
          <a:ln/>
        </p:spPr>
        <p:txBody>
          <a:bodyPr wrap="square" lIns="0" tIns="0" rIns="0" bIns="0"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Multer → MIME Validation</a:t>
            </a:r>
            <a:endParaRPr lang="en-US" sz="1100" dirty="0"/>
          </a:p>
        </p:txBody>
      </p:sp>
      <p:sp>
        <p:nvSpPr>
          <p:cNvPr id="19" name="Text 16"/>
          <p:cNvSpPr/>
          <p:nvPr/>
        </p:nvSpPr>
        <p:spPr>
          <a:xfrm>
            <a:off x="5120640" y="2359152"/>
            <a:ext cx="3703320" cy="292608"/>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Allowlist: mp4 · webm · mov · quicktime  |  max 5 GB</a:t>
            </a:r>
            <a:endParaRPr lang="en-US" sz="1000" dirty="0"/>
          </a:p>
        </p:txBody>
      </p:sp>
      <p:sp>
        <p:nvSpPr>
          <p:cNvPr id="20" name="Shape 17"/>
          <p:cNvSpPr/>
          <p:nvPr/>
        </p:nvSpPr>
        <p:spPr>
          <a:xfrm>
            <a:off x="4663440" y="2871216"/>
            <a:ext cx="347472" cy="347472"/>
          </a:xfrm>
          <a:prstGeom prst="ellipse">
            <a:avLst/>
          </a:prstGeom>
          <a:solidFill>
            <a:srgbClr val="E87722"/>
          </a:solidFill>
          <a:ln w="12700">
            <a:solidFill>
              <a:srgbClr val="E87722"/>
            </a:solidFill>
            <a:prstDash val="solid"/>
          </a:ln>
        </p:spPr>
      </p:sp>
      <p:sp>
        <p:nvSpPr>
          <p:cNvPr id="21" name="Text 18"/>
          <p:cNvSpPr/>
          <p:nvPr/>
        </p:nvSpPr>
        <p:spPr>
          <a:xfrm>
            <a:off x="4663440" y="2871216"/>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Georgia" pitchFamily="34" charset="0"/>
                <a:ea typeface="Georgia" pitchFamily="34" charset="-122"/>
                <a:cs typeface="Georgia" pitchFamily="34" charset="-120"/>
              </a:rPr>
              <a:t>3</a:t>
            </a:r>
            <a:endParaRPr lang="en-US" sz="1200" dirty="0"/>
          </a:p>
        </p:txBody>
      </p:sp>
      <p:sp>
        <p:nvSpPr>
          <p:cNvPr id="22" name="Shape 19"/>
          <p:cNvSpPr/>
          <p:nvPr/>
        </p:nvSpPr>
        <p:spPr>
          <a:xfrm>
            <a:off x="4832604" y="3218688"/>
            <a:ext cx="0" cy="384048"/>
          </a:xfrm>
          <a:prstGeom prst="line">
            <a:avLst/>
          </a:prstGeom>
          <a:noFill/>
          <a:ln w="19050">
            <a:solidFill>
              <a:srgbClr val="E87722"/>
            </a:solidFill>
            <a:prstDash val="dash"/>
          </a:ln>
        </p:spPr>
      </p:sp>
      <p:sp>
        <p:nvSpPr>
          <p:cNvPr id="23" name="Text 20"/>
          <p:cNvSpPr/>
          <p:nvPr/>
        </p:nvSpPr>
        <p:spPr>
          <a:xfrm>
            <a:off x="5120640" y="2816352"/>
            <a:ext cx="3703320" cy="274320"/>
          </a:xfrm>
          <a:prstGeom prst="rect">
            <a:avLst/>
          </a:prstGeom>
          <a:noFill/>
          <a:ln/>
        </p:spPr>
        <p:txBody>
          <a:bodyPr wrap="square" lIns="0" tIns="0" rIns="0" bIns="0"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FFmpeg — Thumbnail + Metadata</a:t>
            </a:r>
            <a:endParaRPr lang="en-US" sz="1100" dirty="0"/>
          </a:p>
        </p:txBody>
      </p:sp>
      <p:sp>
        <p:nvSpPr>
          <p:cNvPr id="24" name="Text 21"/>
          <p:cNvSpPr/>
          <p:nvPr/>
        </p:nvSpPr>
        <p:spPr>
          <a:xfrm>
            <a:off x="5120640" y="3090672"/>
            <a:ext cx="3703320" cy="292608"/>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Spawned as child process; extracts duration, resolution, codec</a:t>
            </a:r>
            <a:endParaRPr lang="en-US" sz="1000" dirty="0"/>
          </a:p>
        </p:txBody>
      </p:sp>
      <p:sp>
        <p:nvSpPr>
          <p:cNvPr id="25" name="Shape 22"/>
          <p:cNvSpPr/>
          <p:nvPr/>
        </p:nvSpPr>
        <p:spPr>
          <a:xfrm>
            <a:off x="4663440" y="3602736"/>
            <a:ext cx="347472" cy="347472"/>
          </a:xfrm>
          <a:prstGeom prst="ellipse">
            <a:avLst/>
          </a:prstGeom>
          <a:solidFill>
            <a:srgbClr val="E87722"/>
          </a:solidFill>
          <a:ln w="12700">
            <a:solidFill>
              <a:srgbClr val="E87722"/>
            </a:solidFill>
            <a:prstDash val="solid"/>
          </a:ln>
        </p:spPr>
      </p:sp>
      <p:sp>
        <p:nvSpPr>
          <p:cNvPr id="26" name="Text 23"/>
          <p:cNvSpPr/>
          <p:nvPr/>
        </p:nvSpPr>
        <p:spPr>
          <a:xfrm>
            <a:off x="4663440" y="3602736"/>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Georgia" pitchFamily="34" charset="0"/>
                <a:ea typeface="Georgia" pitchFamily="34" charset="-122"/>
                <a:cs typeface="Georgia" pitchFamily="34" charset="-120"/>
              </a:rPr>
              <a:t>4</a:t>
            </a:r>
            <a:endParaRPr lang="en-US" sz="1200" dirty="0"/>
          </a:p>
        </p:txBody>
      </p:sp>
      <p:sp>
        <p:nvSpPr>
          <p:cNvPr id="27" name="Shape 24"/>
          <p:cNvSpPr/>
          <p:nvPr/>
        </p:nvSpPr>
        <p:spPr>
          <a:xfrm>
            <a:off x="4832604" y="3950208"/>
            <a:ext cx="0" cy="384048"/>
          </a:xfrm>
          <a:prstGeom prst="line">
            <a:avLst/>
          </a:prstGeom>
          <a:noFill/>
          <a:ln w="19050">
            <a:solidFill>
              <a:srgbClr val="E87722"/>
            </a:solidFill>
            <a:prstDash val="dash"/>
          </a:ln>
        </p:spPr>
      </p:sp>
      <p:sp>
        <p:nvSpPr>
          <p:cNvPr id="28" name="Text 25"/>
          <p:cNvSpPr/>
          <p:nvPr/>
        </p:nvSpPr>
        <p:spPr>
          <a:xfrm>
            <a:off x="5120640" y="3547872"/>
            <a:ext cx="3703320" cy="274320"/>
          </a:xfrm>
          <a:prstGeom prst="rect">
            <a:avLst/>
          </a:prstGeom>
          <a:noFill/>
          <a:ln/>
        </p:spPr>
        <p:txBody>
          <a:bodyPr wrap="square" lIns="0" tIns="0" rIns="0" bIns="0"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SQLite INSERT (Videos table)</a:t>
            </a:r>
            <a:endParaRPr lang="en-US" sz="1100" dirty="0"/>
          </a:p>
        </p:txBody>
      </p:sp>
      <p:sp>
        <p:nvSpPr>
          <p:cNvPr id="29" name="Text 26"/>
          <p:cNvSpPr/>
          <p:nvPr/>
        </p:nvSpPr>
        <p:spPr>
          <a:xfrm>
            <a:off x="5120640" y="3822192"/>
            <a:ext cx="3703320" cy="292608"/>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filePath · duration · mimeType · ownerUserId · status</a:t>
            </a:r>
            <a:endParaRPr lang="en-US" sz="1000" dirty="0"/>
          </a:p>
        </p:txBody>
      </p:sp>
      <p:sp>
        <p:nvSpPr>
          <p:cNvPr id="30" name="Shape 27"/>
          <p:cNvSpPr/>
          <p:nvPr/>
        </p:nvSpPr>
        <p:spPr>
          <a:xfrm>
            <a:off x="4663440" y="4334256"/>
            <a:ext cx="347472" cy="347472"/>
          </a:xfrm>
          <a:prstGeom prst="ellipse">
            <a:avLst/>
          </a:prstGeom>
          <a:solidFill>
            <a:srgbClr val="E87722"/>
          </a:solidFill>
          <a:ln w="12700">
            <a:solidFill>
              <a:srgbClr val="E87722"/>
            </a:solidFill>
            <a:prstDash val="solid"/>
          </a:ln>
        </p:spPr>
      </p:sp>
      <p:sp>
        <p:nvSpPr>
          <p:cNvPr id="31" name="Text 28"/>
          <p:cNvSpPr/>
          <p:nvPr/>
        </p:nvSpPr>
        <p:spPr>
          <a:xfrm>
            <a:off x="4663440" y="4334256"/>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Georgia" pitchFamily="34" charset="0"/>
                <a:ea typeface="Georgia" pitchFamily="34" charset="-122"/>
                <a:cs typeface="Georgia" pitchFamily="34" charset="-120"/>
              </a:rPr>
              <a:t>5</a:t>
            </a:r>
            <a:endParaRPr lang="en-US" sz="1200" dirty="0"/>
          </a:p>
        </p:txBody>
      </p:sp>
      <p:sp>
        <p:nvSpPr>
          <p:cNvPr id="32" name="Text 29"/>
          <p:cNvSpPr/>
          <p:nvPr/>
        </p:nvSpPr>
        <p:spPr>
          <a:xfrm>
            <a:off x="5120640" y="4279392"/>
            <a:ext cx="3703320" cy="274320"/>
          </a:xfrm>
          <a:prstGeom prst="rect">
            <a:avLst/>
          </a:prstGeom>
          <a:noFill/>
          <a:ln/>
        </p:spPr>
        <p:txBody>
          <a:bodyPr wrap="square" lIns="0" tIns="0" rIns="0" bIns="0"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HTTP Range Streaming</a:t>
            </a:r>
            <a:endParaRPr lang="en-US" sz="1100" dirty="0"/>
          </a:p>
        </p:txBody>
      </p:sp>
      <p:sp>
        <p:nvSpPr>
          <p:cNvPr id="33" name="Text 30"/>
          <p:cNvSpPr/>
          <p:nvPr/>
        </p:nvSpPr>
        <p:spPr>
          <a:xfrm>
            <a:off x="5120640" y="4553712"/>
            <a:ext cx="3703320" cy="292608"/>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Ownership-checked range requests serve video to HLS player</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01168"/>
            <a:ext cx="8321040" cy="201168"/>
          </a:xfrm>
          <a:prstGeom prst="rect">
            <a:avLst/>
          </a:prstGeom>
          <a:noFill/>
          <a:ln/>
        </p:spPr>
        <p:txBody>
          <a:bodyPr wrap="square" lIns="0" tIns="0" rIns="0" bIns="0" rtlCol="0" anchor="ctr"/>
          <a:lstStyle/>
          <a:p>
            <a:pPr indent="0" marL="0">
              <a:buNone/>
            </a:pPr>
            <a:r>
              <a:rPr lang="en-US" sz="900" b="1" spc="300" kern="0" dirty="0">
                <a:solidFill>
                  <a:srgbClr val="E87722"/>
                </a:solidFill>
                <a:latin typeface="Calibri" pitchFamily="34" charset="0"/>
                <a:ea typeface="Calibri" pitchFamily="34" charset="-122"/>
                <a:cs typeface="Calibri" pitchFamily="34" charset="-120"/>
              </a:rPr>
              <a:t>04 · IMPLEMENTATION</a:t>
            </a:r>
            <a:endParaRPr lang="en-US" sz="900" dirty="0"/>
          </a:p>
        </p:txBody>
      </p:sp>
      <p:sp>
        <p:nvSpPr>
          <p:cNvPr id="3" name="Shape 1"/>
          <p:cNvSpPr/>
          <p:nvPr/>
        </p:nvSpPr>
        <p:spPr>
          <a:xfrm>
            <a:off x="384048" y="274320"/>
            <a:ext cx="64008" cy="502920"/>
          </a:xfrm>
          <a:prstGeom prst="rect">
            <a:avLst/>
          </a:prstGeom>
          <a:solidFill>
            <a:srgbClr val="E87722"/>
          </a:solidFill>
          <a:ln w="12700">
            <a:solidFill>
              <a:srgbClr val="E87722"/>
            </a:solidFill>
            <a:prstDash val="solid"/>
          </a:ln>
        </p:spPr>
      </p:sp>
      <p:sp>
        <p:nvSpPr>
          <p:cNvPr id="4" name="Text 2"/>
          <p:cNvSpPr/>
          <p:nvPr/>
        </p:nvSpPr>
        <p:spPr>
          <a:xfrm>
            <a:off x="548640" y="274320"/>
            <a:ext cx="8321040" cy="502920"/>
          </a:xfrm>
          <a:prstGeom prst="rect">
            <a:avLst/>
          </a:prstGeom>
          <a:noFill/>
          <a:ln/>
        </p:spPr>
        <p:txBody>
          <a:bodyPr wrap="square" lIns="0" tIns="0" rIns="0" bIns="0" rtlCol="0" anchor="ctr"/>
          <a:lstStyle/>
          <a:p>
            <a:pPr indent="0" marL="0">
              <a:buNone/>
            </a:pPr>
            <a:r>
              <a:rPr lang="en-US" sz="2400" b="1" dirty="0">
                <a:solidFill>
                  <a:srgbClr val="1B2A4A"/>
                </a:solidFill>
                <a:latin typeface="Georgia" pitchFamily="34" charset="0"/>
                <a:ea typeface="Georgia" pitchFamily="34" charset="-122"/>
                <a:cs typeface="Georgia" pitchFamily="34" charset="-120"/>
              </a:rPr>
              <a:t>AI-Assisted Question Generation Pipeline</a:t>
            </a:r>
            <a:endParaRPr lang="en-US" sz="2400" dirty="0"/>
          </a:p>
        </p:txBody>
      </p:sp>
      <p:sp>
        <p:nvSpPr>
          <p:cNvPr id="5" name="Text 3"/>
          <p:cNvSpPr/>
          <p:nvPr/>
        </p:nvSpPr>
        <p:spPr>
          <a:xfrm>
            <a:off x="7772400" y="4846320"/>
            <a:ext cx="1097280" cy="182880"/>
          </a:xfrm>
          <a:prstGeom prst="rect">
            <a:avLst/>
          </a:prstGeom>
          <a:noFill/>
          <a:ln/>
        </p:spPr>
        <p:txBody>
          <a:bodyPr wrap="square" lIns="0" tIns="0" rIns="0" bIns="0"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12 / 24</a:t>
            </a:r>
            <a:endParaRPr lang="en-US" sz="800" dirty="0"/>
          </a:p>
        </p:txBody>
      </p:sp>
      <p:pic>
        <p:nvPicPr>
          <p:cNvPr id="6" name="Image 0" descr="/sessions/nifty-eager-shannon/mnt/outputs/pptx-build/imgs/AI_Pipeline.jpeg">    </p:cNvPr>
          <p:cNvPicPr>
            <a:picLocks noChangeAspect="1"/>
          </p:cNvPicPr>
          <p:nvPr/>
        </p:nvPicPr>
        <p:blipFill>
          <a:blip r:embed="rId1"/>
          <a:srcRect l="0" r="0" t="0" b="0"/>
          <a:stretch/>
        </p:blipFill>
        <p:spPr>
          <a:xfrm>
            <a:off x="320040" y="1005840"/>
            <a:ext cx="1366525" cy="3703320"/>
          </a:xfrm>
          <a:prstGeom prst="rect">
            <a:avLst/>
          </a:prstGeom>
        </p:spPr>
      </p:pic>
      <p:sp>
        <p:nvSpPr>
          <p:cNvPr id="7" name="Shape 4"/>
          <p:cNvSpPr/>
          <p:nvPr/>
        </p:nvSpPr>
        <p:spPr>
          <a:xfrm>
            <a:off x="2011680" y="1005840"/>
            <a:ext cx="0" cy="3703320"/>
          </a:xfrm>
          <a:prstGeom prst="line">
            <a:avLst/>
          </a:prstGeom>
          <a:noFill/>
          <a:ln w="9525">
            <a:solidFill>
              <a:srgbClr val="E5E7EB"/>
            </a:solidFill>
            <a:prstDash val="solid"/>
          </a:ln>
        </p:spPr>
      </p:sp>
      <p:sp>
        <p:nvSpPr>
          <p:cNvPr id="8" name="Text 5"/>
          <p:cNvSpPr/>
          <p:nvPr/>
        </p:nvSpPr>
        <p:spPr>
          <a:xfrm>
            <a:off x="2194560" y="1005840"/>
            <a:ext cx="6629400" cy="274320"/>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Provider Fallback Chain</a:t>
            </a:r>
            <a:endParaRPr lang="en-US" sz="1300" dirty="0"/>
          </a:p>
        </p:txBody>
      </p:sp>
      <p:sp>
        <p:nvSpPr>
          <p:cNvPr id="9" name="Shape 6"/>
          <p:cNvSpPr/>
          <p:nvPr/>
        </p:nvSpPr>
        <p:spPr>
          <a:xfrm>
            <a:off x="2194560" y="1389888"/>
            <a:ext cx="6629400" cy="658368"/>
          </a:xfrm>
          <a:prstGeom prst="rect">
            <a:avLst/>
          </a:prstGeom>
          <a:solidFill>
            <a:srgbClr val="FFFFFF"/>
          </a:solidFill>
          <a:ln w="12700">
            <a:solidFill>
              <a:srgbClr val="E5E7EB"/>
            </a:solidFill>
            <a:prstDash val="solid"/>
          </a:ln>
          <a:effectLst>
            <a:outerShdw sx="100000" sy="100000" kx="0" ky="0" algn="bl" rotWithShape="0" blurRad="76200" dist="25400" dir="8100000">
              <a:srgbClr val="000000">
                <a:alpha val="9000"/>
              </a:srgbClr>
            </a:outerShdw>
          </a:effectLst>
        </p:spPr>
      </p:sp>
      <p:sp>
        <p:nvSpPr>
          <p:cNvPr id="10" name="Shape 7"/>
          <p:cNvSpPr/>
          <p:nvPr/>
        </p:nvSpPr>
        <p:spPr>
          <a:xfrm>
            <a:off x="2194560" y="1389888"/>
            <a:ext cx="54864" cy="658368"/>
          </a:xfrm>
          <a:prstGeom prst="rect">
            <a:avLst/>
          </a:prstGeom>
          <a:solidFill>
            <a:srgbClr val="0D9488"/>
          </a:solidFill>
          <a:ln w="12700">
            <a:solidFill>
              <a:srgbClr val="0D9488"/>
            </a:solidFill>
            <a:prstDash val="solid"/>
          </a:ln>
        </p:spPr>
      </p:sp>
      <p:sp>
        <p:nvSpPr>
          <p:cNvPr id="11" name="Text 8"/>
          <p:cNvSpPr/>
          <p:nvPr/>
        </p:nvSpPr>
        <p:spPr>
          <a:xfrm>
            <a:off x="2331720" y="1481328"/>
            <a:ext cx="3657600" cy="256032"/>
          </a:xfrm>
          <a:prstGeom prst="rect">
            <a:avLst/>
          </a:prstGeom>
          <a:noFill/>
          <a:ln/>
        </p:spPr>
        <p:txBody>
          <a:bodyPr wrap="square" lIns="0" tIns="0" rIns="0" bIns="0" rtlCol="0" anchor="ctr"/>
          <a:lstStyle/>
          <a:p>
            <a:pPr indent="0" marL="0">
              <a:buNone/>
            </a:pPr>
            <a:r>
              <a:rPr lang="en-US" sz="1200" b="1" dirty="0">
                <a:solidFill>
                  <a:srgbClr val="1B2A4A"/>
                </a:solidFill>
                <a:latin typeface="Calibri" pitchFamily="34" charset="0"/>
                <a:ea typeface="Calibri" pitchFamily="34" charset="-122"/>
                <a:cs typeface="Calibri" pitchFamily="34" charset="-120"/>
              </a:rPr>
              <a:t>Groq (LLaMA 3)</a:t>
            </a:r>
            <a:endParaRPr lang="en-US" sz="1200" dirty="0"/>
          </a:p>
        </p:txBody>
      </p:sp>
      <p:sp>
        <p:nvSpPr>
          <p:cNvPr id="12" name="Text 9"/>
          <p:cNvSpPr/>
          <p:nvPr/>
        </p:nvSpPr>
        <p:spPr>
          <a:xfrm>
            <a:off x="7772400" y="1499616"/>
            <a:ext cx="960120" cy="201168"/>
          </a:xfrm>
          <a:prstGeom prst="rect">
            <a:avLst/>
          </a:prstGeom>
          <a:noFill/>
          <a:ln/>
        </p:spPr>
        <p:txBody>
          <a:bodyPr wrap="square" lIns="0" tIns="0" rIns="0" bIns="0" rtlCol="0" anchor="ctr"/>
          <a:lstStyle/>
          <a:p>
            <a:pPr algn="r" indent="0" marL="0">
              <a:buNone/>
            </a:pPr>
            <a:r>
              <a:rPr lang="en-US" sz="850" b="1" dirty="0">
                <a:solidFill>
                  <a:srgbClr val="0D9488"/>
                </a:solidFill>
                <a:latin typeface="Calibri" pitchFamily="34" charset="0"/>
                <a:ea typeface="Calibri" pitchFamily="34" charset="-122"/>
                <a:cs typeface="Calibri" pitchFamily="34" charset="-120"/>
              </a:rPr>
              <a:t>PRIMARY</a:t>
            </a:r>
            <a:endParaRPr lang="en-US" sz="850" dirty="0"/>
          </a:p>
        </p:txBody>
      </p:sp>
      <p:sp>
        <p:nvSpPr>
          <p:cNvPr id="13" name="Text 10"/>
          <p:cNvSpPr/>
          <p:nvPr/>
        </p:nvSpPr>
        <p:spPr>
          <a:xfrm>
            <a:off x="2331720" y="1773936"/>
            <a:ext cx="6400800" cy="201168"/>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Fastest · free-tier cloud inference · default provider</a:t>
            </a:r>
            <a:endParaRPr lang="en-US" sz="1000" dirty="0"/>
          </a:p>
        </p:txBody>
      </p:sp>
      <p:sp>
        <p:nvSpPr>
          <p:cNvPr id="14" name="Shape 11"/>
          <p:cNvSpPr/>
          <p:nvPr/>
        </p:nvSpPr>
        <p:spPr>
          <a:xfrm>
            <a:off x="2194560" y="2139696"/>
            <a:ext cx="6629400" cy="658368"/>
          </a:xfrm>
          <a:prstGeom prst="rect">
            <a:avLst/>
          </a:prstGeom>
          <a:solidFill>
            <a:srgbClr val="FFFFFF"/>
          </a:solidFill>
          <a:ln w="12700">
            <a:solidFill>
              <a:srgbClr val="E5E7EB"/>
            </a:solidFill>
            <a:prstDash val="solid"/>
          </a:ln>
          <a:effectLst>
            <a:outerShdw sx="100000" sy="100000" kx="0" ky="0" algn="bl" rotWithShape="0" blurRad="76200" dist="25400" dir="8100000">
              <a:srgbClr val="000000">
                <a:alpha val="9000"/>
              </a:srgbClr>
            </a:outerShdw>
          </a:effectLst>
        </p:spPr>
      </p:sp>
      <p:sp>
        <p:nvSpPr>
          <p:cNvPr id="15" name="Shape 12"/>
          <p:cNvSpPr/>
          <p:nvPr/>
        </p:nvSpPr>
        <p:spPr>
          <a:xfrm>
            <a:off x="2194560" y="2139696"/>
            <a:ext cx="54864" cy="658368"/>
          </a:xfrm>
          <a:prstGeom prst="rect">
            <a:avLst/>
          </a:prstGeom>
          <a:solidFill>
            <a:srgbClr val="2563EB"/>
          </a:solidFill>
          <a:ln w="12700">
            <a:solidFill>
              <a:srgbClr val="2563EB"/>
            </a:solidFill>
            <a:prstDash val="solid"/>
          </a:ln>
        </p:spPr>
      </p:sp>
      <p:sp>
        <p:nvSpPr>
          <p:cNvPr id="16" name="Text 13"/>
          <p:cNvSpPr/>
          <p:nvPr/>
        </p:nvSpPr>
        <p:spPr>
          <a:xfrm>
            <a:off x="2331720" y="2231136"/>
            <a:ext cx="3657600" cy="256032"/>
          </a:xfrm>
          <a:prstGeom prst="rect">
            <a:avLst/>
          </a:prstGeom>
          <a:noFill/>
          <a:ln/>
        </p:spPr>
        <p:txBody>
          <a:bodyPr wrap="square" lIns="0" tIns="0" rIns="0" bIns="0" rtlCol="0" anchor="ctr"/>
          <a:lstStyle/>
          <a:p>
            <a:pPr indent="0" marL="0">
              <a:buNone/>
            </a:pPr>
            <a:r>
              <a:rPr lang="en-US" sz="1200" b="1" dirty="0">
                <a:solidFill>
                  <a:srgbClr val="1B2A4A"/>
                </a:solidFill>
                <a:latin typeface="Calibri" pitchFamily="34" charset="0"/>
                <a:ea typeface="Calibri" pitchFamily="34" charset="-122"/>
                <a:cs typeface="Calibri" pitchFamily="34" charset="-120"/>
              </a:rPr>
              <a:t>Ollama (local)</a:t>
            </a:r>
            <a:endParaRPr lang="en-US" sz="1200" dirty="0"/>
          </a:p>
        </p:txBody>
      </p:sp>
      <p:sp>
        <p:nvSpPr>
          <p:cNvPr id="17" name="Text 14"/>
          <p:cNvSpPr/>
          <p:nvPr/>
        </p:nvSpPr>
        <p:spPr>
          <a:xfrm>
            <a:off x="7772400" y="2249424"/>
            <a:ext cx="960120" cy="201168"/>
          </a:xfrm>
          <a:prstGeom prst="rect">
            <a:avLst/>
          </a:prstGeom>
          <a:noFill/>
          <a:ln/>
        </p:spPr>
        <p:txBody>
          <a:bodyPr wrap="square" lIns="0" tIns="0" rIns="0" bIns="0" rtlCol="0" anchor="ctr"/>
          <a:lstStyle/>
          <a:p>
            <a:pPr algn="r" indent="0" marL="0">
              <a:buNone/>
            </a:pPr>
            <a:r>
              <a:rPr lang="en-US" sz="850" b="1" dirty="0">
                <a:solidFill>
                  <a:srgbClr val="2563EB"/>
                </a:solidFill>
                <a:latin typeface="Calibri" pitchFamily="34" charset="0"/>
                <a:ea typeface="Calibri" pitchFamily="34" charset="-122"/>
                <a:cs typeface="Calibri" pitchFamily="34" charset="-120"/>
              </a:rPr>
              <a:t>FALLBACK 1</a:t>
            </a:r>
            <a:endParaRPr lang="en-US" sz="850" dirty="0"/>
          </a:p>
        </p:txBody>
      </p:sp>
      <p:sp>
        <p:nvSpPr>
          <p:cNvPr id="18" name="Text 15"/>
          <p:cNvSpPr/>
          <p:nvPr/>
        </p:nvSpPr>
        <p:spPr>
          <a:xfrm>
            <a:off x="2331720" y="2523744"/>
            <a:ext cx="6400800" cy="201168"/>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Fully offline · private data · no network dependency</a:t>
            </a:r>
            <a:endParaRPr lang="en-US" sz="1000" dirty="0"/>
          </a:p>
        </p:txBody>
      </p:sp>
      <p:sp>
        <p:nvSpPr>
          <p:cNvPr id="19" name="Shape 16"/>
          <p:cNvSpPr/>
          <p:nvPr/>
        </p:nvSpPr>
        <p:spPr>
          <a:xfrm>
            <a:off x="2194560" y="2889504"/>
            <a:ext cx="6629400" cy="658368"/>
          </a:xfrm>
          <a:prstGeom prst="rect">
            <a:avLst/>
          </a:prstGeom>
          <a:solidFill>
            <a:srgbClr val="FFFFFF"/>
          </a:solidFill>
          <a:ln w="12700">
            <a:solidFill>
              <a:srgbClr val="E5E7EB"/>
            </a:solidFill>
            <a:prstDash val="solid"/>
          </a:ln>
          <a:effectLst>
            <a:outerShdw sx="100000" sy="100000" kx="0" ky="0" algn="bl" rotWithShape="0" blurRad="76200" dist="25400" dir="8100000">
              <a:srgbClr val="000000">
                <a:alpha val="9000"/>
              </a:srgbClr>
            </a:outerShdw>
          </a:effectLst>
        </p:spPr>
      </p:sp>
      <p:sp>
        <p:nvSpPr>
          <p:cNvPr id="20" name="Shape 17"/>
          <p:cNvSpPr/>
          <p:nvPr/>
        </p:nvSpPr>
        <p:spPr>
          <a:xfrm>
            <a:off x="2194560" y="2889504"/>
            <a:ext cx="54864" cy="658368"/>
          </a:xfrm>
          <a:prstGeom prst="rect">
            <a:avLst/>
          </a:prstGeom>
          <a:solidFill>
            <a:srgbClr val="7C3AED"/>
          </a:solidFill>
          <a:ln w="12700">
            <a:solidFill>
              <a:srgbClr val="7C3AED"/>
            </a:solidFill>
            <a:prstDash val="solid"/>
          </a:ln>
        </p:spPr>
      </p:sp>
      <p:sp>
        <p:nvSpPr>
          <p:cNvPr id="21" name="Text 18"/>
          <p:cNvSpPr/>
          <p:nvPr/>
        </p:nvSpPr>
        <p:spPr>
          <a:xfrm>
            <a:off x="2331720" y="2980944"/>
            <a:ext cx="3657600" cy="256032"/>
          </a:xfrm>
          <a:prstGeom prst="rect">
            <a:avLst/>
          </a:prstGeom>
          <a:noFill/>
          <a:ln/>
        </p:spPr>
        <p:txBody>
          <a:bodyPr wrap="square" lIns="0" tIns="0" rIns="0" bIns="0" rtlCol="0" anchor="ctr"/>
          <a:lstStyle/>
          <a:p>
            <a:pPr indent="0" marL="0">
              <a:buNone/>
            </a:pPr>
            <a:r>
              <a:rPr lang="en-US" sz="1200" b="1" dirty="0">
                <a:solidFill>
                  <a:srgbClr val="1B2A4A"/>
                </a:solidFill>
                <a:latin typeface="Calibri" pitchFamily="34" charset="0"/>
                <a:ea typeface="Calibri" pitchFamily="34" charset="-122"/>
                <a:cs typeface="Calibri" pitchFamily="34" charset="-120"/>
              </a:rPr>
              <a:t>Anthropic Claude</a:t>
            </a:r>
            <a:endParaRPr lang="en-US" sz="1200" dirty="0"/>
          </a:p>
        </p:txBody>
      </p:sp>
      <p:sp>
        <p:nvSpPr>
          <p:cNvPr id="22" name="Text 19"/>
          <p:cNvSpPr/>
          <p:nvPr/>
        </p:nvSpPr>
        <p:spPr>
          <a:xfrm>
            <a:off x="7772400" y="2999232"/>
            <a:ext cx="960120" cy="201168"/>
          </a:xfrm>
          <a:prstGeom prst="rect">
            <a:avLst/>
          </a:prstGeom>
          <a:noFill/>
          <a:ln/>
        </p:spPr>
        <p:txBody>
          <a:bodyPr wrap="square" lIns="0" tIns="0" rIns="0" bIns="0" rtlCol="0" anchor="ctr"/>
          <a:lstStyle/>
          <a:p>
            <a:pPr algn="r" indent="0" marL="0">
              <a:buNone/>
            </a:pPr>
            <a:r>
              <a:rPr lang="en-US" sz="850" b="1" dirty="0">
                <a:solidFill>
                  <a:srgbClr val="7C3AED"/>
                </a:solidFill>
                <a:latin typeface="Calibri" pitchFamily="34" charset="0"/>
                <a:ea typeface="Calibri" pitchFamily="34" charset="-122"/>
                <a:cs typeface="Calibri" pitchFamily="34" charset="-120"/>
              </a:rPr>
              <a:t>FALLBACK 2</a:t>
            </a:r>
            <a:endParaRPr lang="en-US" sz="850" dirty="0"/>
          </a:p>
        </p:txBody>
      </p:sp>
      <p:sp>
        <p:nvSpPr>
          <p:cNvPr id="23" name="Text 20"/>
          <p:cNvSpPr/>
          <p:nvPr/>
        </p:nvSpPr>
        <p:spPr>
          <a:xfrm>
            <a:off x="2331720" y="3273552"/>
            <a:ext cx="6400800" cy="201168"/>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Highest quality · paid API · last-resort fallback</a:t>
            </a:r>
            <a:endParaRPr lang="en-US" sz="1000" dirty="0"/>
          </a:p>
        </p:txBody>
      </p:sp>
      <p:sp>
        <p:nvSpPr>
          <p:cNvPr id="24" name="Text 21"/>
          <p:cNvSpPr/>
          <p:nvPr/>
        </p:nvSpPr>
        <p:spPr>
          <a:xfrm>
            <a:off x="2194560" y="3749040"/>
            <a:ext cx="6629400" cy="256032"/>
          </a:xfrm>
          <a:prstGeom prst="rect">
            <a:avLst/>
          </a:prstGeom>
          <a:noFill/>
          <a:ln/>
        </p:spPr>
        <p:txBody>
          <a:bodyPr wrap="square" lIns="0" tIns="0" rIns="0" bIns="0" rtlCol="0" anchor="ctr"/>
          <a:lstStyle/>
          <a:p>
            <a:pPr indent="0" marL="0">
              <a:buNone/>
            </a:pPr>
            <a:r>
              <a:rPr lang="en-US" sz="1200" b="1" dirty="0">
                <a:solidFill>
                  <a:srgbClr val="1B2A4A"/>
                </a:solidFill>
                <a:latin typeface="Calibri" pitchFamily="34" charset="0"/>
                <a:ea typeface="Calibri" pitchFamily="34" charset="-122"/>
                <a:cs typeface="Calibri" pitchFamily="34" charset="-120"/>
              </a:rPr>
              <a:t>Key Engineering Decisions</a:t>
            </a:r>
            <a:endParaRPr lang="en-US" sz="1200" dirty="0"/>
          </a:p>
        </p:txBody>
      </p:sp>
      <p:sp>
        <p:nvSpPr>
          <p:cNvPr id="25" name="Text 22"/>
          <p:cNvSpPr/>
          <p:nvPr/>
        </p:nvSpPr>
        <p:spPr>
          <a:xfrm>
            <a:off x="2194560" y="4041648"/>
            <a:ext cx="6629400" cy="822960"/>
          </a:xfrm>
          <a:prstGeom prst="rect">
            <a:avLst/>
          </a:prstGeom>
          <a:noFill/>
          <a:ln/>
        </p:spPr>
        <p:txBody>
          <a:bodyPr wrap="square" lIns="0" tIns="0" rIns="0" bIns="0" rtlCol="0" anchor="ctr"/>
          <a:lstStyle/>
          <a:p>
            <a:pPr indent="0" marL="0">
              <a:buNone/>
            </a:pPr>
            <a:r>
              <a:rPr lang="en-US" sz="1050" b="1" dirty="0">
                <a:solidFill>
                  <a:srgbClr val="374151"/>
                </a:solidFill>
                <a:latin typeface="Calibri" pitchFamily="34" charset="0"/>
                <a:ea typeface="Calibri" pitchFamily="34" charset="-122"/>
                <a:cs typeface="Calibri" pitchFamily="34" charset="-120"/>
              </a:rPr>
              <a:t>SSE streaming  </a:t>
            </a:r>
            <a:pPr indent="0" marL="0">
              <a:buNone/>
            </a:pPr>
            <a:r>
              <a:rPr lang="en-US" sz="1050" dirty="0">
                <a:solidFill>
                  <a:srgbClr val="374151"/>
                </a:solidFill>
                <a:latin typeface="Calibri" pitchFamily="34" charset="0"/>
                <a:ea typeface="Calibri" pitchFamily="34" charset="-122"/>
                <a:cs typeface="Calibri" pitchFamily="34" charset="-120"/>
              </a:rPr>
              <a:t>— tokens arrive in real-time; eliminates the blank-screen anxiety of 8–12 sec LLM inference latency   </a:t>
            </a:r>
            <a:pPr indent="0" marL="0">
              <a:buNone/>
            </a:pPr>
            <a:r>
              <a:rPr lang="en-US" sz="1050" b="1" dirty="0">
                <a:solidFill>
                  <a:srgbClr val="374151"/>
                </a:solidFill>
                <a:latin typeface="Calibri" pitchFamily="34" charset="0"/>
                <a:ea typeface="Calibri" pitchFamily="34" charset="-122"/>
                <a:cs typeface="Calibri" pitchFamily="34" charset="-120"/>
              </a:rPr>
              <a:t>Zod validation  </a:t>
            </a:r>
            <a:pPr indent="0" marL="0">
              <a:buNone/>
            </a:pPr>
            <a:r>
              <a:rPr lang="en-US" sz="1050" dirty="0">
                <a:solidFill>
                  <a:srgbClr val="374151"/>
                </a:solidFill>
                <a:latin typeface="Calibri" pitchFamily="34" charset="0"/>
                <a:ea typeface="Calibri" pitchFamily="34" charset="-122"/>
                <a:cs typeface="Calibri" pitchFamily="34" charset="-120"/>
              </a:rPr>
              <a:t>— raw LLM JSON is parsed and validated against strict schemas before it ever reaches the UI   </a:t>
            </a:r>
            <a:pPr indent="0" marL="0">
              <a:buNone/>
            </a:pPr>
            <a:r>
              <a:rPr lang="en-US" sz="1050" b="1" dirty="0">
                <a:solidFill>
                  <a:srgbClr val="374151"/>
                </a:solidFill>
                <a:latin typeface="Calibri" pitchFamily="34" charset="0"/>
                <a:ea typeface="Calibri" pitchFamily="34" charset="-122"/>
                <a:cs typeface="Calibri" pitchFamily="34" charset="-120"/>
              </a:rPr>
              <a:t>Bloom's taxonomy  </a:t>
            </a:r>
            <a:pPr indent="0" marL="0">
              <a:buNone/>
            </a:pPr>
            <a:r>
              <a:rPr lang="en-US" sz="1050" dirty="0">
                <a:solidFill>
                  <a:srgbClr val="374151"/>
                </a:solidFill>
                <a:latin typeface="Calibri" pitchFamily="34" charset="0"/>
                <a:ea typeface="Calibri" pitchFamily="34" charset="-122"/>
                <a:cs typeface="Calibri" pitchFamily="34" charset="-120"/>
              </a:rPr>
              <a:t>— prompt engineering classifies each question by cognitive level automatically</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01168"/>
            <a:ext cx="8321040" cy="201168"/>
          </a:xfrm>
          <a:prstGeom prst="rect">
            <a:avLst/>
          </a:prstGeom>
          <a:noFill/>
          <a:ln/>
        </p:spPr>
        <p:txBody>
          <a:bodyPr wrap="square" lIns="0" tIns="0" rIns="0" bIns="0" rtlCol="0" anchor="ctr"/>
          <a:lstStyle/>
          <a:p>
            <a:pPr indent="0" marL="0">
              <a:buNone/>
            </a:pPr>
            <a:r>
              <a:rPr lang="en-US" sz="900" b="1" spc="300" kern="0" dirty="0">
                <a:solidFill>
                  <a:srgbClr val="E87722"/>
                </a:solidFill>
                <a:latin typeface="Calibri" pitchFamily="34" charset="0"/>
                <a:ea typeface="Calibri" pitchFamily="34" charset="-122"/>
                <a:cs typeface="Calibri" pitchFamily="34" charset="-120"/>
              </a:rPr>
              <a:t>04 · IMPLEMENTATION</a:t>
            </a:r>
            <a:endParaRPr lang="en-US" sz="900" dirty="0"/>
          </a:p>
        </p:txBody>
      </p:sp>
      <p:sp>
        <p:nvSpPr>
          <p:cNvPr id="3" name="Shape 1"/>
          <p:cNvSpPr/>
          <p:nvPr/>
        </p:nvSpPr>
        <p:spPr>
          <a:xfrm>
            <a:off x="384048" y="274320"/>
            <a:ext cx="64008" cy="502920"/>
          </a:xfrm>
          <a:prstGeom prst="rect">
            <a:avLst/>
          </a:prstGeom>
          <a:solidFill>
            <a:srgbClr val="E87722"/>
          </a:solidFill>
          <a:ln w="12700">
            <a:solidFill>
              <a:srgbClr val="E87722"/>
            </a:solidFill>
            <a:prstDash val="solid"/>
          </a:ln>
        </p:spPr>
      </p:sp>
      <p:sp>
        <p:nvSpPr>
          <p:cNvPr id="4" name="Text 2"/>
          <p:cNvSpPr/>
          <p:nvPr/>
        </p:nvSpPr>
        <p:spPr>
          <a:xfrm>
            <a:off x="548640" y="274320"/>
            <a:ext cx="8321040" cy="502920"/>
          </a:xfrm>
          <a:prstGeom prst="rect">
            <a:avLst/>
          </a:prstGeom>
          <a:noFill/>
          <a:ln/>
        </p:spPr>
        <p:txBody>
          <a:bodyPr wrap="square" lIns="0" tIns="0" rIns="0" bIns="0" rtlCol="0" anchor="ctr"/>
          <a:lstStyle/>
          <a:p>
            <a:pPr indent="0" marL="0">
              <a:buNone/>
            </a:pPr>
            <a:r>
              <a:rPr lang="en-US" sz="2400" b="1" dirty="0">
                <a:solidFill>
                  <a:srgbClr val="1B2A4A"/>
                </a:solidFill>
                <a:latin typeface="Georgia" pitchFamily="34" charset="0"/>
                <a:ea typeface="Georgia" pitchFamily="34" charset="-122"/>
                <a:cs typeface="Georgia" pitchFamily="34" charset="-120"/>
              </a:rPr>
              <a:t>H5P Interactive Video Editor</a:t>
            </a:r>
            <a:endParaRPr lang="en-US" sz="2400" dirty="0"/>
          </a:p>
        </p:txBody>
      </p:sp>
      <p:sp>
        <p:nvSpPr>
          <p:cNvPr id="5" name="Text 3"/>
          <p:cNvSpPr/>
          <p:nvPr/>
        </p:nvSpPr>
        <p:spPr>
          <a:xfrm>
            <a:off x="7772400" y="4846320"/>
            <a:ext cx="1097280" cy="182880"/>
          </a:xfrm>
          <a:prstGeom prst="rect">
            <a:avLst/>
          </a:prstGeom>
          <a:noFill/>
          <a:ln/>
        </p:spPr>
        <p:txBody>
          <a:bodyPr wrap="square" lIns="0" tIns="0" rIns="0" bIns="0"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13 / 24</a:t>
            </a:r>
            <a:endParaRPr lang="en-US" sz="800" dirty="0"/>
          </a:p>
        </p:txBody>
      </p:sp>
      <p:pic>
        <p:nvPicPr>
          <p:cNvPr id="6" name="Image 0" descr="/sessions/nifty-eager-shannon/mnt/outputs/pptx-build/imgs/Editor_page.png">    </p:cNvPr>
          <p:cNvPicPr>
            <a:picLocks noChangeAspect="1"/>
          </p:cNvPicPr>
          <p:nvPr/>
        </p:nvPicPr>
        <p:blipFill>
          <a:blip r:embed="rId1"/>
          <a:srcRect l="0" r="0" t="0" b="0"/>
          <a:stretch/>
        </p:blipFill>
        <p:spPr>
          <a:xfrm>
            <a:off x="320040" y="960120"/>
            <a:ext cx="4877410" cy="2743200"/>
          </a:xfrm>
          <a:prstGeom prst="rect">
            <a:avLst/>
          </a:prstGeom>
          <a:effectLst>
            <a:outerShdw sx="100000" sy="100000" kx="0" ky="0" algn="bl" rotWithShape="0" blurRad="76200" dist="25400" dir="8100000">
              <a:srgbClr val="000000">
                <a:alpha val="9000"/>
              </a:srgbClr>
            </a:outerShdw>
          </a:effectLst>
        </p:spPr>
      </p:pic>
      <p:sp>
        <p:nvSpPr>
          <p:cNvPr id="7" name="Text 4"/>
          <p:cNvSpPr/>
          <p:nvPr/>
        </p:nvSpPr>
        <p:spPr>
          <a:xfrm>
            <a:off x="320040" y="3749040"/>
            <a:ext cx="4877410" cy="274320"/>
          </a:xfrm>
          <a:prstGeom prst="rect">
            <a:avLst/>
          </a:prstGeom>
          <a:noFill/>
          <a:ln/>
        </p:spPr>
        <p:txBody>
          <a:bodyPr wrap="square" lIns="0" tIns="0" rIns="0" bIns="0" rtlCol="0" anchor="ctr"/>
          <a:lstStyle/>
          <a:p>
            <a:pPr algn="ctr" indent="0" marL="0">
              <a:buNone/>
            </a:pPr>
            <a:r>
              <a:rPr lang="en-US" sz="850" i="1" dirty="0">
                <a:solidFill>
                  <a:srgbClr val="6B7280"/>
                </a:solidFill>
                <a:latin typeface="Calibri" pitchFamily="34" charset="0"/>
                <a:ea typeface="Calibri" pitchFamily="34" charset="-122"/>
                <a:cs typeface="Calibri" pitchFamily="34" charset="-120"/>
              </a:rPr>
              <a:t>Single-page editor: video player · AI panel · question timeline — all co-located, no screen switching</a:t>
            </a:r>
            <a:endParaRPr lang="en-US" sz="850" dirty="0"/>
          </a:p>
        </p:txBody>
      </p:sp>
      <p:sp>
        <p:nvSpPr>
          <p:cNvPr id="8" name="Text 5"/>
          <p:cNvSpPr/>
          <p:nvPr/>
        </p:nvSpPr>
        <p:spPr>
          <a:xfrm>
            <a:off x="5486400" y="960120"/>
            <a:ext cx="3291840" cy="292608"/>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Design Principles Applied</a:t>
            </a:r>
            <a:endParaRPr lang="en-US" sz="1300" dirty="0"/>
          </a:p>
        </p:txBody>
      </p:sp>
      <p:sp>
        <p:nvSpPr>
          <p:cNvPr id="9" name="Shape 6"/>
          <p:cNvSpPr/>
          <p:nvPr/>
        </p:nvSpPr>
        <p:spPr>
          <a:xfrm>
            <a:off x="5486400" y="1353312"/>
            <a:ext cx="3291840" cy="804672"/>
          </a:xfrm>
          <a:prstGeom prst="rect">
            <a:avLst/>
          </a:prstGeom>
          <a:solidFill>
            <a:srgbClr val="FFFFFF"/>
          </a:solidFill>
          <a:ln w="12700">
            <a:solidFill>
              <a:srgbClr val="E5E7EB"/>
            </a:solidFill>
            <a:prstDash val="solid"/>
          </a:ln>
          <a:effectLst>
            <a:outerShdw sx="100000" sy="100000" kx="0" ky="0" algn="bl" rotWithShape="0" blurRad="76200" dist="25400" dir="8100000">
              <a:srgbClr val="000000">
                <a:alpha val="9000"/>
              </a:srgbClr>
            </a:outerShdw>
          </a:effectLst>
        </p:spPr>
      </p:sp>
      <p:sp>
        <p:nvSpPr>
          <p:cNvPr id="10" name="Shape 7"/>
          <p:cNvSpPr/>
          <p:nvPr/>
        </p:nvSpPr>
        <p:spPr>
          <a:xfrm>
            <a:off x="5486400" y="1353312"/>
            <a:ext cx="54864" cy="804672"/>
          </a:xfrm>
          <a:prstGeom prst="rect">
            <a:avLst/>
          </a:prstGeom>
          <a:solidFill>
            <a:srgbClr val="E87722"/>
          </a:solidFill>
          <a:ln w="12700">
            <a:solidFill>
              <a:srgbClr val="E87722"/>
            </a:solidFill>
            <a:prstDash val="solid"/>
          </a:ln>
        </p:spPr>
      </p:sp>
      <p:sp>
        <p:nvSpPr>
          <p:cNvPr id="11" name="Text 8"/>
          <p:cNvSpPr/>
          <p:nvPr/>
        </p:nvSpPr>
        <p:spPr>
          <a:xfrm>
            <a:off x="5614416" y="1444752"/>
            <a:ext cx="3108960" cy="256032"/>
          </a:xfrm>
          <a:prstGeom prst="rect">
            <a:avLst/>
          </a:prstGeom>
          <a:noFill/>
          <a:ln/>
        </p:spPr>
        <p:txBody>
          <a:bodyPr wrap="square" lIns="0" tIns="0" rIns="0" bIns="0" rtlCol="0" anchor="ctr"/>
          <a:lstStyle/>
          <a:p>
            <a:pPr indent="0" marL="0">
              <a:buNone/>
            </a:pPr>
            <a:r>
              <a:rPr lang="en-US" sz="1100" b="1" dirty="0">
                <a:solidFill>
                  <a:srgbClr val="E87722"/>
                </a:solidFill>
                <a:latin typeface="Calibri" pitchFamily="34" charset="0"/>
                <a:ea typeface="Calibri" pitchFamily="34" charset="-122"/>
                <a:cs typeface="Calibri" pitchFamily="34" charset="-120"/>
              </a:rPr>
              <a:t>Co-location (Chandler &amp; Sweller)</a:t>
            </a:r>
            <a:endParaRPr lang="en-US" sz="1100" dirty="0"/>
          </a:p>
        </p:txBody>
      </p:sp>
      <p:sp>
        <p:nvSpPr>
          <p:cNvPr id="12" name="Text 9"/>
          <p:cNvSpPr/>
          <p:nvPr/>
        </p:nvSpPr>
        <p:spPr>
          <a:xfrm>
            <a:off x="5614416" y="1719072"/>
            <a:ext cx="3108960" cy="384048"/>
          </a:xfrm>
          <a:prstGeom prst="rect">
            <a:avLst/>
          </a:prstGeom>
          <a:noFill/>
          <a:ln/>
        </p:spPr>
        <p:txBody>
          <a:bodyPr wrap="square" lIns="0" tIns="0" rIns="0" bIns="0" rtlCol="0" anchor="ctr"/>
          <a:lstStyle/>
          <a:p>
            <a:pPr indent="0" marL="0">
              <a:buNone/>
            </a:pPr>
            <a:r>
              <a:rPr lang="en-US" sz="1000" dirty="0">
                <a:solidFill>
                  <a:srgbClr val="374151"/>
                </a:solidFill>
                <a:latin typeface="Calibri" pitchFamily="34" charset="0"/>
                <a:ea typeface="Calibri" pitchFamily="34" charset="-122"/>
                <a:cs typeface="Calibri" pitchFamily="34" charset="-120"/>
              </a:rPr>
              <a:t>Video, transcript, AI suggestions, and question editor exist on one viewport — eliminating split-attention effect</a:t>
            </a:r>
            <a:endParaRPr lang="en-US" sz="1000" dirty="0"/>
          </a:p>
        </p:txBody>
      </p:sp>
      <p:sp>
        <p:nvSpPr>
          <p:cNvPr id="13" name="Shape 10"/>
          <p:cNvSpPr/>
          <p:nvPr/>
        </p:nvSpPr>
        <p:spPr>
          <a:xfrm>
            <a:off x="5486400" y="2267712"/>
            <a:ext cx="3291840" cy="804672"/>
          </a:xfrm>
          <a:prstGeom prst="rect">
            <a:avLst/>
          </a:prstGeom>
          <a:solidFill>
            <a:srgbClr val="FFFFFF"/>
          </a:solidFill>
          <a:ln w="12700">
            <a:solidFill>
              <a:srgbClr val="E5E7EB"/>
            </a:solidFill>
            <a:prstDash val="solid"/>
          </a:ln>
          <a:effectLst>
            <a:outerShdw sx="100000" sy="100000" kx="0" ky="0" algn="bl" rotWithShape="0" blurRad="76200" dist="25400" dir="8100000">
              <a:srgbClr val="000000">
                <a:alpha val="9000"/>
              </a:srgbClr>
            </a:outerShdw>
          </a:effectLst>
        </p:spPr>
      </p:sp>
      <p:sp>
        <p:nvSpPr>
          <p:cNvPr id="14" name="Shape 11"/>
          <p:cNvSpPr/>
          <p:nvPr/>
        </p:nvSpPr>
        <p:spPr>
          <a:xfrm>
            <a:off x="5486400" y="2267712"/>
            <a:ext cx="54864" cy="804672"/>
          </a:xfrm>
          <a:prstGeom prst="rect">
            <a:avLst/>
          </a:prstGeom>
          <a:solidFill>
            <a:srgbClr val="E87722"/>
          </a:solidFill>
          <a:ln w="12700">
            <a:solidFill>
              <a:srgbClr val="E87722"/>
            </a:solidFill>
            <a:prstDash val="solid"/>
          </a:ln>
        </p:spPr>
      </p:sp>
      <p:sp>
        <p:nvSpPr>
          <p:cNvPr id="15" name="Text 12"/>
          <p:cNvSpPr/>
          <p:nvPr/>
        </p:nvSpPr>
        <p:spPr>
          <a:xfrm>
            <a:off x="5614416" y="2359152"/>
            <a:ext cx="3108960" cy="256032"/>
          </a:xfrm>
          <a:prstGeom prst="rect">
            <a:avLst/>
          </a:prstGeom>
          <a:noFill/>
          <a:ln/>
        </p:spPr>
        <p:txBody>
          <a:bodyPr wrap="square" lIns="0" tIns="0" rIns="0" bIns="0" rtlCol="0" anchor="ctr"/>
          <a:lstStyle/>
          <a:p>
            <a:pPr indent="0" marL="0">
              <a:buNone/>
            </a:pPr>
            <a:r>
              <a:rPr lang="en-US" sz="1100" b="1" dirty="0">
                <a:solidFill>
                  <a:srgbClr val="E87722"/>
                </a:solidFill>
                <a:latin typeface="Calibri" pitchFamily="34" charset="0"/>
                <a:ea typeface="Calibri" pitchFamily="34" charset="-122"/>
                <a:cs typeface="Calibri" pitchFamily="34" charset="-120"/>
              </a:rPr>
              <a:t>47 → 8 interactions</a:t>
            </a:r>
            <a:endParaRPr lang="en-US" sz="1100" dirty="0"/>
          </a:p>
        </p:txBody>
      </p:sp>
      <p:sp>
        <p:nvSpPr>
          <p:cNvPr id="16" name="Text 13"/>
          <p:cNvSpPr/>
          <p:nvPr/>
        </p:nvSpPr>
        <p:spPr>
          <a:xfrm>
            <a:off x="5614416" y="2633472"/>
            <a:ext cx="3108960" cy="384048"/>
          </a:xfrm>
          <a:prstGeom prst="rect">
            <a:avLst/>
          </a:prstGeom>
          <a:noFill/>
          <a:ln/>
        </p:spPr>
        <p:txBody>
          <a:bodyPr wrap="square" lIns="0" tIns="0" rIns="0" bIns="0" rtlCol="0" anchor="ctr"/>
          <a:lstStyle/>
          <a:p>
            <a:pPr indent="0" marL="0">
              <a:buNone/>
            </a:pPr>
            <a:r>
              <a:rPr lang="en-US" sz="1000" dirty="0">
                <a:solidFill>
                  <a:srgbClr val="374151"/>
                </a:solidFill>
                <a:latin typeface="Calibri" pitchFamily="34" charset="0"/>
                <a:ea typeface="Calibri" pitchFamily="34" charset="-122"/>
                <a:cs typeface="Calibri" pitchFamily="34" charset="-120"/>
              </a:rPr>
              <a:t>Task analysis confirmed this reduction. No page reloads, no plugin navigation, no WordPress shortcodes</a:t>
            </a:r>
            <a:endParaRPr lang="en-US" sz="1000" dirty="0"/>
          </a:p>
        </p:txBody>
      </p:sp>
      <p:sp>
        <p:nvSpPr>
          <p:cNvPr id="17" name="Shape 14"/>
          <p:cNvSpPr/>
          <p:nvPr/>
        </p:nvSpPr>
        <p:spPr>
          <a:xfrm>
            <a:off x="5486400" y="3182112"/>
            <a:ext cx="3291840" cy="804672"/>
          </a:xfrm>
          <a:prstGeom prst="rect">
            <a:avLst/>
          </a:prstGeom>
          <a:solidFill>
            <a:srgbClr val="FFFFFF"/>
          </a:solidFill>
          <a:ln w="12700">
            <a:solidFill>
              <a:srgbClr val="E5E7EB"/>
            </a:solidFill>
            <a:prstDash val="solid"/>
          </a:ln>
          <a:effectLst>
            <a:outerShdw sx="100000" sy="100000" kx="0" ky="0" algn="bl" rotWithShape="0" blurRad="76200" dist="25400" dir="8100000">
              <a:srgbClr val="000000">
                <a:alpha val="9000"/>
              </a:srgbClr>
            </a:outerShdw>
          </a:effectLst>
        </p:spPr>
      </p:sp>
      <p:sp>
        <p:nvSpPr>
          <p:cNvPr id="18" name="Shape 15"/>
          <p:cNvSpPr/>
          <p:nvPr/>
        </p:nvSpPr>
        <p:spPr>
          <a:xfrm>
            <a:off x="5486400" y="3182112"/>
            <a:ext cx="54864" cy="804672"/>
          </a:xfrm>
          <a:prstGeom prst="rect">
            <a:avLst/>
          </a:prstGeom>
          <a:solidFill>
            <a:srgbClr val="E87722"/>
          </a:solidFill>
          <a:ln w="12700">
            <a:solidFill>
              <a:srgbClr val="E87722"/>
            </a:solidFill>
            <a:prstDash val="solid"/>
          </a:ln>
        </p:spPr>
      </p:sp>
      <p:sp>
        <p:nvSpPr>
          <p:cNvPr id="19" name="Text 16"/>
          <p:cNvSpPr/>
          <p:nvPr/>
        </p:nvSpPr>
        <p:spPr>
          <a:xfrm>
            <a:off x="5614416" y="3273552"/>
            <a:ext cx="3108960" cy="256032"/>
          </a:xfrm>
          <a:prstGeom prst="rect">
            <a:avLst/>
          </a:prstGeom>
          <a:noFill/>
          <a:ln/>
        </p:spPr>
        <p:txBody>
          <a:bodyPr wrap="square" lIns="0" tIns="0" rIns="0" bIns="0" rtlCol="0" anchor="ctr"/>
          <a:lstStyle/>
          <a:p>
            <a:pPr indent="0" marL="0">
              <a:buNone/>
            </a:pPr>
            <a:r>
              <a:rPr lang="en-US" sz="1100" b="1" dirty="0">
                <a:solidFill>
                  <a:srgbClr val="E87722"/>
                </a:solidFill>
                <a:latin typeface="Calibri" pitchFamily="34" charset="0"/>
                <a:ea typeface="Calibri" pitchFamily="34" charset="-122"/>
                <a:cs typeface="Calibri" pitchFamily="34" charset="-120"/>
              </a:rPr>
              <a:t>Timestamp-based placement</a:t>
            </a:r>
            <a:endParaRPr lang="en-US" sz="1100" dirty="0"/>
          </a:p>
        </p:txBody>
      </p:sp>
      <p:sp>
        <p:nvSpPr>
          <p:cNvPr id="20" name="Text 17"/>
          <p:cNvSpPr/>
          <p:nvPr/>
        </p:nvSpPr>
        <p:spPr>
          <a:xfrm>
            <a:off x="5614416" y="3547872"/>
            <a:ext cx="3108960" cy="384048"/>
          </a:xfrm>
          <a:prstGeom prst="rect">
            <a:avLst/>
          </a:prstGeom>
          <a:noFill/>
          <a:ln/>
        </p:spPr>
        <p:txBody>
          <a:bodyPr wrap="square" lIns="0" tIns="0" rIns="0" bIns="0" rtlCol="0" anchor="ctr"/>
          <a:lstStyle/>
          <a:p>
            <a:pPr indent="0" marL="0">
              <a:buNone/>
            </a:pPr>
            <a:r>
              <a:rPr lang="en-US" sz="1000" dirty="0">
                <a:solidFill>
                  <a:srgbClr val="374151"/>
                </a:solidFill>
                <a:latin typeface="Calibri" pitchFamily="34" charset="0"/>
                <a:ea typeface="Calibri" pitchFamily="34" charset="-122"/>
                <a:cs typeface="Calibri" pitchFamily="34" charset="-120"/>
              </a:rPr>
              <a:t>Click any moment on the video scrubber — question is anchored to that exact playback second</a:t>
            </a:r>
            <a:endParaRPr lang="en-US" sz="1000" dirty="0"/>
          </a:p>
        </p:txBody>
      </p:sp>
      <p:sp>
        <p:nvSpPr>
          <p:cNvPr id="21" name="Shape 18"/>
          <p:cNvSpPr/>
          <p:nvPr/>
        </p:nvSpPr>
        <p:spPr>
          <a:xfrm>
            <a:off x="5486400" y="4096512"/>
            <a:ext cx="3291840" cy="804672"/>
          </a:xfrm>
          <a:prstGeom prst="rect">
            <a:avLst/>
          </a:prstGeom>
          <a:solidFill>
            <a:srgbClr val="FFFFFF"/>
          </a:solidFill>
          <a:ln w="12700">
            <a:solidFill>
              <a:srgbClr val="E5E7EB"/>
            </a:solidFill>
            <a:prstDash val="solid"/>
          </a:ln>
          <a:effectLst>
            <a:outerShdw sx="100000" sy="100000" kx="0" ky="0" algn="bl" rotWithShape="0" blurRad="76200" dist="25400" dir="8100000">
              <a:srgbClr val="000000">
                <a:alpha val="9000"/>
              </a:srgbClr>
            </a:outerShdw>
          </a:effectLst>
        </p:spPr>
      </p:sp>
      <p:sp>
        <p:nvSpPr>
          <p:cNvPr id="22" name="Shape 19"/>
          <p:cNvSpPr/>
          <p:nvPr/>
        </p:nvSpPr>
        <p:spPr>
          <a:xfrm>
            <a:off x="5486400" y="4096512"/>
            <a:ext cx="54864" cy="804672"/>
          </a:xfrm>
          <a:prstGeom prst="rect">
            <a:avLst/>
          </a:prstGeom>
          <a:solidFill>
            <a:srgbClr val="E87722"/>
          </a:solidFill>
          <a:ln w="12700">
            <a:solidFill>
              <a:srgbClr val="E87722"/>
            </a:solidFill>
            <a:prstDash val="solid"/>
          </a:ln>
        </p:spPr>
      </p:sp>
      <p:sp>
        <p:nvSpPr>
          <p:cNvPr id="23" name="Text 20"/>
          <p:cNvSpPr/>
          <p:nvPr/>
        </p:nvSpPr>
        <p:spPr>
          <a:xfrm>
            <a:off x="5614416" y="4187952"/>
            <a:ext cx="3108960" cy="256032"/>
          </a:xfrm>
          <a:prstGeom prst="rect">
            <a:avLst/>
          </a:prstGeom>
          <a:noFill/>
          <a:ln/>
        </p:spPr>
        <p:txBody>
          <a:bodyPr wrap="square" lIns="0" tIns="0" rIns="0" bIns="0" rtlCol="0" anchor="ctr"/>
          <a:lstStyle/>
          <a:p>
            <a:pPr indent="0" marL="0">
              <a:buNone/>
            </a:pPr>
            <a:r>
              <a:rPr lang="en-US" sz="1100" b="1" dirty="0">
                <a:solidFill>
                  <a:srgbClr val="E87722"/>
                </a:solidFill>
                <a:latin typeface="Calibri" pitchFamily="34" charset="0"/>
                <a:ea typeface="Calibri" pitchFamily="34" charset="-122"/>
                <a:cs typeface="Calibri" pitchFamily="34" charset="-120"/>
              </a:rPr>
              <a:t>Real-time H5P preview</a:t>
            </a:r>
            <a:endParaRPr lang="en-US" sz="1100" dirty="0"/>
          </a:p>
        </p:txBody>
      </p:sp>
      <p:sp>
        <p:nvSpPr>
          <p:cNvPr id="24" name="Text 21"/>
          <p:cNvSpPr/>
          <p:nvPr/>
        </p:nvSpPr>
        <p:spPr>
          <a:xfrm>
            <a:off x="5614416" y="4462272"/>
            <a:ext cx="3108960" cy="384048"/>
          </a:xfrm>
          <a:prstGeom prst="rect">
            <a:avLst/>
          </a:prstGeom>
          <a:noFill/>
          <a:ln/>
        </p:spPr>
        <p:txBody>
          <a:bodyPr wrap="square" lIns="0" tIns="0" rIns="0" bIns="0" rtlCol="0" anchor="ctr"/>
          <a:lstStyle/>
          <a:p>
            <a:pPr indent="0" marL="0">
              <a:buNone/>
            </a:pPr>
            <a:r>
              <a:rPr lang="en-US" sz="1000" dirty="0">
                <a:solidFill>
                  <a:srgbClr val="374151"/>
                </a:solidFill>
                <a:latin typeface="Calibri" pitchFamily="34" charset="0"/>
                <a:ea typeface="Calibri" pitchFamily="34" charset="-122"/>
                <a:cs typeface="Calibri" pitchFamily="34" charset="-120"/>
              </a:rPr>
              <a:t>Questions render via the actual Lumieducation H5P library — pixel-accurate, no export-and-check cycle</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01168"/>
            <a:ext cx="8321040" cy="201168"/>
          </a:xfrm>
          <a:prstGeom prst="rect">
            <a:avLst/>
          </a:prstGeom>
          <a:noFill/>
          <a:ln/>
        </p:spPr>
        <p:txBody>
          <a:bodyPr wrap="square" lIns="0" tIns="0" rIns="0" bIns="0" rtlCol="0" anchor="ctr"/>
          <a:lstStyle/>
          <a:p>
            <a:pPr indent="0" marL="0">
              <a:buNone/>
            </a:pPr>
            <a:r>
              <a:rPr lang="en-US" sz="900" b="1" spc="300" kern="0" dirty="0">
                <a:solidFill>
                  <a:srgbClr val="E87722"/>
                </a:solidFill>
                <a:latin typeface="Calibri" pitchFamily="34" charset="0"/>
                <a:ea typeface="Calibri" pitchFamily="34" charset="-122"/>
                <a:cs typeface="Calibri" pitchFamily="34" charset="-120"/>
              </a:rPr>
              <a:t>04 · IMPLEMENTATION</a:t>
            </a:r>
            <a:endParaRPr lang="en-US" sz="900" dirty="0"/>
          </a:p>
        </p:txBody>
      </p:sp>
      <p:sp>
        <p:nvSpPr>
          <p:cNvPr id="3" name="Shape 1"/>
          <p:cNvSpPr/>
          <p:nvPr/>
        </p:nvSpPr>
        <p:spPr>
          <a:xfrm>
            <a:off x="384048" y="274320"/>
            <a:ext cx="64008" cy="502920"/>
          </a:xfrm>
          <a:prstGeom prst="rect">
            <a:avLst/>
          </a:prstGeom>
          <a:solidFill>
            <a:srgbClr val="E87722"/>
          </a:solidFill>
          <a:ln w="12700">
            <a:solidFill>
              <a:srgbClr val="E87722"/>
            </a:solidFill>
            <a:prstDash val="solid"/>
          </a:ln>
        </p:spPr>
      </p:sp>
      <p:sp>
        <p:nvSpPr>
          <p:cNvPr id="4" name="Text 2"/>
          <p:cNvSpPr/>
          <p:nvPr/>
        </p:nvSpPr>
        <p:spPr>
          <a:xfrm>
            <a:off x="548640" y="274320"/>
            <a:ext cx="8321040" cy="502920"/>
          </a:xfrm>
          <a:prstGeom prst="rect">
            <a:avLst/>
          </a:prstGeom>
          <a:noFill/>
          <a:ln/>
        </p:spPr>
        <p:txBody>
          <a:bodyPr wrap="square" lIns="0" tIns="0" rIns="0" bIns="0" rtlCol="0" anchor="ctr"/>
          <a:lstStyle/>
          <a:p>
            <a:pPr indent="0" marL="0">
              <a:buNone/>
            </a:pPr>
            <a:r>
              <a:rPr lang="en-US" sz="2400" b="1" dirty="0">
                <a:solidFill>
                  <a:srgbClr val="1B2A4A"/>
                </a:solidFill>
                <a:latin typeface="Georgia" pitchFamily="34" charset="0"/>
                <a:ea typeface="Georgia" pitchFamily="34" charset="-122"/>
                <a:cs typeface="Georgia" pitchFamily="34" charset="-120"/>
              </a:rPr>
              <a:t>Supported H5P Content Types</a:t>
            </a:r>
            <a:endParaRPr lang="en-US" sz="2400" dirty="0"/>
          </a:p>
        </p:txBody>
      </p:sp>
      <p:sp>
        <p:nvSpPr>
          <p:cNvPr id="5" name="Text 3"/>
          <p:cNvSpPr/>
          <p:nvPr/>
        </p:nvSpPr>
        <p:spPr>
          <a:xfrm>
            <a:off x="7772400" y="4846320"/>
            <a:ext cx="1097280" cy="182880"/>
          </a:xfrm>
          <a:prstGeom prst="rect">
            <a:avLst/>
          </a:prstGeom>
          <a:noFill/>
          <a:ln/>
        </p:spPr>
        <p:txBody>
          <a:bodyPr wrap="square" lIns="0" tIns="0" rIns="0" bIns="0"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14 / 24</a:t>
            </a:r>
            <a:endParaRPr lang="en-US" sz="800" dirty="0"/>
          </a:p>
        </p:txBody>
      </p:sp>
      <p:pic>
        <p:nvPicPr>
          <p:cNvPr id="6" name="Image 0" descr="/sessions/nifty-eager-shannon/mnt/outputs/pptx-build/imgs/Question_types_menu.png">    </p:cNvPr>
          <p:cNvPicPr>
            <a:picLocks noChangeAspect="1"/>
          </p:cNvPicPr>
          <p:nvPr/>
        </p:nvPicPr>
        <p:blipFill>
          <a:blip r:embed="rId1"/>
          <a:srcRect l="0" r="0" t="0" b="0"/>
          <a:stretch/>
        </p:blipFill>
        <p:spPr>
          <a:xfrm>
            <a:off x="320040" y="960120"/>
            <a:ext cx="3739530" cy="2926080"/>
          </a:xfrm>
          <a:prstGeom prst="rect">
            <a:avLst/>
          </a:prstGeom>
          <a:effectLst>
            <a:outerShdw sx="100000" sy="100000" kx="0" ky="0" algn="bl" rotWithShape="0" blurRad="76200" dist="25400" dir="8100000">
              <a:srgbClr val="000000">
                <a:alpha val="9000"/>
              </a:srgbClr>
            </a:outerShdw>
          </a:effectLst>
        </p:spPr>
      </p:pic>
      <p:pic>
        <p:nvPicPr>
          <p:cNvPr id="7" name="Image 1" descr="/sessions/nifty-eager-shannon/mnt/outputs/pptx-build/imgs/Answered_correct.png">    </p:cNvPr>
          <p:cNvPicPr>
            <a:picLocks noChangeAspect="1"/>
          </p:cNvPicPr>
          <p:nvPr/>
        </p:nvPicPr>
        <p:blipFill>
          <a:blip r:embed="rId2"/>
          <a:srcRect l="0" r="0" t="0" b="0"/>
          <a:stretch/>
        </p:blipFill>
        <p:spPr>
          <a:xfrm>
            <a:off x="320040" y="3977640"/>
            <a:ext cx="1916582" cy="1828800"/>
          </a:xfrm>
          <a:prstGeom prst="rect">
            <a:avLst/>
          </a:prstGeom>
          <a:effectLst>
            <a:outerShdw sx="100000" sy="100000" kx="0" ky="0" algn="bl" rotWithShape="0" blurRad="76200" dist="25400" dir="8100000">
              <a:srgbClr val="000000">
                <a:alpha val="9000"/>
              </a:srgbClr>
            </a:outerShdw>
          </a:effectLst>
        </p:spPr>
      </p:pic>
      <p:sp>
        <p:nvSpPr>
          <p:cNvPr id="8" name="Text 4"/>
          <p:cNvSpPr/>
          <p:nvPr/>
        </p:nvSpPr>
        <p:spPr>
          <a:xfrm>
            <a:off x="4572000" y="960120"/>
            <a:ext cx="4206240" cy="292608"/>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H5P Library Identifiers</a:t>
            </a:r>
            <a:endParaRPr lang="en-US" sz="1300" dirty="0"/>
          </a:p>
        </p:txBody>
      </p:sp>
      <p:sp>
        <p:nvSpPr>
          <p:cNvPr id="9" name="Shape 5"/>
          <p:cNvSpPr/>
          <p:nvPr/>
        </p:nvSpPr>
        <p:spPr>
          <a:xfrm>
            <a:off x="4572000" y="1353312"/>
            <a:ext cx="4206240" cy="621792"/>
          </a:xfrm>
          <a:prstGeom prst="rect">
            <a:avLst/>
          </a:prstGeom>
          <a:solidFill>
            <a:srgbClr val="F8F9FA"/>
          </a:solidFill>
          <a:ln w="12700">
            <a:solidFill>
              <a:srgbClr val="E5E7EB"/>
            </a:solidFill>
            <a:prstDash val="solid"/>
          </a:ln>
        </p:spPr>
      </p:sp>
      <p:sp>
        <p:nvSpPr>
          <p:cNvPr id="10" name="Text 6"/>
          <p:cNvSpPr/>
          <p:nvPr/>
        </p:nvSpPr>
        <p:spPr>
          <a:xfrm>
            <a:off x="4681728" y="1408176"/>
            <a:ext cx="1828800" cy="237744"/>
          </a:xfrm>
          <a:prstGeom prst="rect">
            <a:avLst/>
          </a:prstGeom>
          <a:noFill/>
          <a:ln/>
        </p:spPr>
        <p:txBody>
          <a:bodyPr wrap="square" lIns="0" tIns="0" rIns="0" bIns="0"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Multiple Choice</a:t>
            </a:r>
            <a:endParaRPr lang="en-US" sz="1100" dirty="0"/>
          </a:p>
        </p:txBody>
      </p:sp>
      <p:sp>
        <p:nvSpPr>
          <p:cNvPr id="11" name="Text 7"/>
          <p:cNvSpPr/>
          <p:nvPr/>
        </p:nvSpPr>
        <p:spPr>
          <a:xfrm>
            <a:off x="6492240" y="1426464"/>
            <a:ext cx="2240280" cy="201168"/>
          </a:xfrm>
          <a:prstGeom prst="rect">
            <a:avLst/>
          </a:prstGeom>
          <a:noFill/>
          <a:ln/>
        </p:spPr>
        <p:txBody>
          <a:bodyPr wrap="square" lIns="0" tIns="0" rIns="0" bIns="0" rtlCol="0" anchor="ctr"/>
          <a:lstStyle/>
          <a:p>
            <a:pPr algn="r" indent="0" marL="0">
              <a:buNone/>
            </a:pPr>
            <a:r>
              <a:rPr lang="en-US" sz="800" dirty="0">
                <a:solidFill>
                  <a:srgbClr val="E87722"/>
                </a:solidFill>
                <a:latin typeface="Courier New" pitchFamily="34" charset="0"/>
                <a:ea typeface="Courier New" pitchFamily="34" charset="-122"/>
                <a:cs typeface="Courier New" pitchFamily="34" charset="-120"/>
              </a:rPr>
              <a:t>H5P.MultiChoice 1.16</a:t>
            </a:r>
            <a:endParaRPr lang="en-US" sz="800" dirty="0"/>
          </a:p>
        </p:txBody>
      </p:sp>
      <p:sp>
        <p:nvSpPr>
          <p:cNvPr id="12" name="Text 8"/>
          <p:cNvSpPr/>
          <p:nvPr/>
        </p:nvSpPr>
        <p:spPr>
          <a:xfrm>
            <a:off x="4681728" y="1664208"/>
            <a:ext cx="3977640" cy="256032"/>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Single/multi-answer; distractors sourced from transcript context</a:t>
            </a:r>
            <a:endParaRPr lang="en-US" sz="1000" dirty="0"/>
          </a:p>
        </p:txBody>
      </p:sp>
      <p:sp>
        <p:nvSpPr>
          <p:cNvPr id="13" name="Shape 9"/>
          <p:cNvSpPr/>
          <p:nvPr/>
        </p:nvSpPr>
        <p:spPr>
          <a:xfrm>
            <a:off x="4572000" y="2066544"/>
            <a:ext cx="4206240" cy="621792"/>
          </a:xfrm>
          <a:prstGeom prst="rect">
            <a:avLst/>
          </a:prstGeom>
          <a:solidFill>
            <a:srgbClr val="F8F9FA"/>
          </a:solidFill>
          <a:ln w="12700">
            <a:solidFill>
              <a:srgbClr val="E5E7EB"/>
            </a:solidFill>
            <a:prstDash val="solid"/>
          </a:ln>
        </p:spPr>
      </p:sp>
      <p:sp>
        <p:nvSpPr>
          <p:cNvPr id="14" name="Text 10"/>
          <p:cNvSpPr/>
          <p:nvPr/>
        </p:nvSpPr>
        <p:spPr>
          <a:xfrm>
            <a:off x="4681728" y="2121408"/>
            <a:ext cx="1828800" cy="237744"/>
          </a:xfrm>
          <a:prstGeom prst="rect">
            <a:avLst/>
          </a:prstGeom>
          <a:noFill/>
          <a:ln/>
        </p:spPr>
        <p:txBody>
          <a:bodyPr wrap="square" lIns="0" tIns="0" rIns="0" bIns="0"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True / False</a:t>
            </a:r>
            <a:endParaRPr lang="en-US" sz="1100" dirty="0"/>
          </a:p>
        </p:txBody>
      </p:sp>
      <p:sp>
        <p:nvSpPr>
          <p:cNvPr id="15" name="Text 11"/>
          <p:cNvSpPr/>
          <p:nvPr/>
        </p:nvSpPr>
        <p:spPr>
          <a:xfrm>
            <a:off x="6492240" y="2139696"/>
            <a:ext cx="2240280" cy="201168"/>
          </a:xfrm>
          <a:prstGeom prst="rect">
            <a:avLst/>
          </a:prstGeom>
          <a:noFill/>
          <a:ln/>
        </p:spPr>
        <p:txBody>
          <a:bodyPr wrap="square" lIns="0" tIns="0" rIns="0" bIns="0" rtlCol="0" anchor="ctr"/>
          <a:lstStyle/>
          <a:p>
            <a:pPr algn="r" indent="0" marL="0">
              <a:buNone/>
            </a:pPr>
            <a:r>
              <a:rPr lang="en-US" sz="800" dirty="0">
                <a:solidFill>
                  <a:srgbClr val="E87722"/>
                </a:solidFill>
                <a:latin typeface="Courier New" pitchFamily="34" charset="0"/>
                <a:ea typeface="Courier New" pitchFamily="34" charset="-122"/>
                <a:cs typeface="Courier New" pitchFamily="34" charset="-120"/>
              </a:rPr>
              <a:t>H5P.TrueFalse 1.6</a:t>
            </a:r>
            <a:endParaRPr lang="en-US" sz="800" dirty="0"/>
          </a:p>
        </p:txBody>
      </p:sp>
      <p:sp>
        <p:nvSpPr>
          <p:cNvPr id="16" name="Text 12"/>
          <p:cNvSpPr/>
          <p:nvPr/>
        </p:nvSpPr>
        <p:spPr>
          <a:xfrm>
            <a:off x="4681728" y="2377440"/>
            <a:ext cx="3977640" cy="256032"/>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Binary assertion on factual claims or common misconceptions</a:t>
            </a:r>
            <a:endParaRPr lang="en-US" sz="1000" dirty="0"/>
          </a:p>
        </p:txBody>
      </p:sp>
      <p:sp>
        <p:nvSpPr>
          <p:cNvPr id="17" name="Shape 13"/>
          <p:cNvSpPr/>
          <p:nvPr/>
        </p:nvSpPr>
        <p:spPr>
          <a:xfrm>
            <a:off x="4572000" y="2779776"/>
            <a:ext cx="4206240" cy="621792"/>
          </a:xfrm>
          <a:prstGeom prst="rect">
            <a:avLst/>
          </a:prstGeom>
          <a:solidFill>
            <a:srgbClr val="F8F9FA"/>
          </a:solidFill>
          <a:ln w="12700">
            <a:solidFill>
              <a:srgbClr val="E5E7EB"/>
            </a:solidFill>
            <a:prstDash val="solid"/>
          </a:ln>
        </p:spPr>
      </p:sp>
      <p:sp>
        <p:nvSpPr>
          <p:cNvPr id="18" name="Text 14"/>
          <p:cNvSpPr/>
          <p:nvPr/>
        </p:nvSpPr>
        <p:spPr>
          <a:xfrm>
            <a:off x="4681728" y="2834640"/>
            <a:ext cx="1828800" cy="237744"/>
          </a:xfrm>
          <a:prstGeom prst="rect">
            <a:avLst/>
          </a:prstGeom>
          <a:noFill/>
          <a:ln/>
        </p:spPr>
        <p:txBody>
          <a:bodyPr wrap="square" lIns="0" tIns="0" rIns="0" bIns="0"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Fill in the Blanks</a:t>
            </a:r>
            <a:endParaRPr lang="en-US" sz="1100" dirty="0"/>
          </a:p>
        </p:txBody>
      </p:sp>
      <p:sp>
        <p:nvSpPr>
          <p:cNvPr id="19" name="Text 15"/>
          <p:cNvSpPr/>
          <p:nvPr/>
        </p:nvSpPr>
        <p:spPr>
          <a:xfrm>
            <a:off x="6492240" y="2852928"/>
            <a:ext cx="2240280" cy="201168"/>
          </a:xfrm>
          <a:prstGeom prst="rect">
            <a:avLst/>
          </a:prstGeom>
          <a:noFill/>
          <a:ln/>
        </p:spPr>
        <p:txBody>
          <a:bodyPr wrap="square" lIns="0" tIns="0" rIns="0" bIns="0" rtlCol="0" anchor="ctr"/>
          <a:lstStyle/>
          <a:p>
            <a:pPr algn="r" indent="0" marL="0">
              <a:buNone/>
            </a:pPr>
            <a:r>
              <a:rPr lang="en-US" sz="800" dirty="0">
                <a:solidFill>
                  <a:srgbClr val="E87722"/>
                </a:solidFill>
                <a:latin typeface="Courier New" pitchFamily="34" charset="0"/>
                <a:ea typeface="Courier New" pitchFamily="34" charset="-122"/>
                <a:cs typeface="Courier New" pitchFamily="34" charset="-120"/>
              </a:rPr>
              <a:t>H5P.Blanks 1.14</a:t>
            </a:r>
            <a:endParaRPr lang="en-US" sz="800" dirty="0"/>
          </a:p>
        </p:txBody>
      </p:sp>
      <p:sp>
        <p:nvSpPr>
          <p:cNvPr id="20" name="Text 16"/>
          <p:cNvSpPr/>
          <p:nvPr/>
        </p:nvSpPr>
        <p:spPr>
          <a:xfrm>
            <a:off x="4681728" y="3090672"/>
            <a:ext cx="3977640" cy="256032"/>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Cloze test; technical terms wrapped in *asterisks* by LLM</a:t>
            </a:r>
            <a:endParaRPr lang="en-US" sz="1000" dirty="0"/>
          </a:p>
        </p:txBody>
      </p:sp>
      <p:sp>
        <p:nvSpPr>
          <p:cNvPr id="21" name="Shape 17"/>
          <p:cNvSpPr/>
          <p:nvPr/>
        </p:nvSpPr>
        <p:spPr>
          <a:xfrm>
            <a:off x="4572000" y="3493008"/>
            <a:ext cx="4206240" cy="621792"/>
          </a:xfrm>
          <a:prstGeom prst="rect">
            <a:avLst/>
          </a:prstGeom>
          <a:solidFill>
            <a:srgbClr val="F8F9FA"/>
          </a:solidFill>
          <a:ln w="12700">
            <a:solidFill>
              <a:srgbClr val="E5E7EB"/>
            </a:solidFill>
            <a:prstDash val="solid"/>
          </a:ln>
        </p:spPr>
      </p:sp>
      <p:sp>
        <p:nvSpPr>
          <p:cNvPr id="22" name="Text 18"/>
          <p:cNvSpPr/>
          <p:nvPr/>
        </p:nvSpPr>
        <p:spPr>
          <a:xfrm>
            <a:off x="4681728" y="3547872"/>
            <a:ext cx="1828800" cy="237744"/>
          </a:xfrm>
          <a:prstGeom prst="rect">
            <a:avLst/>
          </a:prstGeom>
          <a:noFill/>
          <a:ln/>
        </p:spPr>
        <p:txBody>
          <a:bodyPr wrap="square" lIns="0" tIns="0" rIns="0" bIns="0"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Mark the Words</a:t>
            </a:r>
            <a:endParaRPr lang="en-US" sz="1100" dirty="0"/>
          </a:p>
        </p:txBody>
      </p:sp>
      <p:sp>
        <p:nvSpPr>
          <p:cNvPr id="23" name="Text 19"/>
          <p:cNvSpPr/>
          <p:nvPr/>
        </p:nvSpPr>
        <p:spPr>
          <a:xfrm>
            <a:off x="6492240" y="3566160"/>
            <a:ext cx="2240280" cy="201168"/>
          </a:xfrm>
          <a:prstGeom prst="rect">
            <a:avLst/>
          </a:prstGeom>
          <a:noFill/>
          <a:ln/>
        </p:spPr>
        <p:txBody>
          <a:bodyPr wrap="square" lIns="0" tIns="0" rIns="0" bIns="0" rtlCol="0" anchor="ctr"/>
          <a:lstStyle/>
          <a:p>
            <a:pPr algn="r" indent="0" marL="0">
              <a:buNone/>
            </a:pPr>
            <a:r>
              <a:rPr lang="en-US" sz="800" dirty="0">
                <a:solidFill>
                  <a:srgbClr val="E87722"/>
                </a:solidFill>
                <a:latin typeface="Courier New" pitchFamily="34" charset="0"/>
                <a:ea typeface="Courier New" pitchFamily="34" charset="-122"/>
                <a:cs typeface="Courier New" pitchFamily="34" charset="-120"/>
              </a:rPr>
              <a:t>H5P.MarkTheWords 1.9</a:t>
            </a:r>
            <a:endParaRPr lang="en-US" sz="800" dirty="0"/>
          </a:p>
        </p:txBody>
      </p:sp>
      <p:sp>
        <p:nvSpPr>
          <p:cNvPr id="24" name="Text 20"/>
          <p:cNvSpPr/>
          <p:nvPr/>
        </p:nvSpPr>
        <p:spPr>
          <a:xfrm>
            <a:off x="4681728" y="3803904"/>
            <a:ext cx="3977640" cy="256032"/>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Students click key vocabulary terms in a short passage</a:t>
            </a:r>
            <a:endParaRPr lang="en-US" sz="1000" dirty="0"/>
          </a:p>
        </p:txBody>
      </p:sp>
      <p:sp>
        <p:nvSpPr>
          <p:cNvPr id="25" name="Shape 21"/>
          <p:cNvSpPr/>
          <p:nvPr/>
        </p:nvSpPr>
        <p:spPr>
          <a:xfrm>
            <a:off x="4572000" y="4206240"/>
            <a:ext cx="4206240" cy="621792"/>
          </a:xfrm>
          <a:prstGeom prst="rect">
            <a:avLst/>
          </a:prstGeom>
          <a:solidFill>
            <a:srgbClr val="F8F9FA"/>
          </a:solidFill>
          <a:ln w="12700">
            <a:solidFill>
              <a:srgbClr val="E5E7EB"/>
            </a:solidFill>
            <a:prstDash val="solid"/>
          </a:ln>
        </p:spPr>
      </p:sp>
      <p:sp>
        <p:nvSpPr>
          <p:cNvPr id="26" name="Text 22"/>
          <p:cNvSpPr/>
          <p:nvPr/>
        </p:nvSpPr>
        <p:spPr>
          <a:xfrm>
            <a:off x="4681728" y="4261104"/>
            <a:ext cx="1828800" cy="237744"/>
          </a:xfrm>
          <a:prstGeom prst="rect">
            <a:avLst/>
          </a:prstGeom>
          <a:noFill/>
          <a:ln/>
        </p:spPr>
        <p:txBody>
          <a:bodyPr wrap="square" lIns="0" tIns="0" rIns="0" bIns="0"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Matching</a:t>
            </a:r>
            <a:endParaRPr lang="en-US" sz="1100" dirty="0"/>
          </a:p>
        </p:txBody>
      </p:sp>
      <p:sp>
        <p:nvSpPr>
          <p:cNvPr id="27" name="Text 23"/>
          <p:cNvSpPr/>
          <p:nvPr/>
        </p:nvSpPr>
        <p:spPr>
          <a:xfrm>
            <a:off x="6492240" y="4279392"/>
            <a:ext cx="2240280" cy="201168"/>
          </a:xfrm>
          <a:prstGeom prst="rect">
            <a:avLst/>
          </a:prstGeom>
          <a:noFill/>
          <a:ln/>
        </p:spPr>
        <p:txBody>
          <a:bodyPr wrap="square" lIns="0" tIns="0" rIns="0" bIns="0" rtlCol="0" anchor="ctr"/>
          <a:lstStyle/>
          <a:p>
            <a:pPr algn="r" indent="0" marL="0">
              <a:buNone/>
            </a:pPr>
            <a:r>
              <a:rPr lang="en-US" sz="800" dirty="0">
                <a:solidFill>
                  <a:srgbClr val="E87722"/>
                </a:solidFill>
                <a:latin typeface="Courier New" pitchFamily="34" charset="0"/>
                <a:ea typeface="Courier New" pitchFamily="34" charset="-122"/>
                <a:cs typeface="Courier New" pitchFamily="34" charset="-120"/>
              </a:rPr>
              <a:t>H5P.Matching 1.0</a:t>
            </a:r>
            <a:endParaRPr lang="en-US" sz="800" dirty="0"/>
          </a:p>
        </p:txBody>
      </p:sp>
      <p:sp>
        <p:nvSpPr>
          <p:cNvPr id="28" name="Text 24"/>
          <p:cNvSpPr/>
          <p:nvPr/>
        </p:nvSpPr>
        <p:spPr>
          <a:xfrm>
            <a:off x="4681728" y="4517136"/>
            <a:ext cx="3977640" cy="256032"/>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Pair concepts to definitions; used for video recap modules</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01168"/>
            <a:ext cx="8321040" cy="201168"/>
          </a:xfrm>
          <a:prstGeom prst="rect">
            <a:avLst/>
          </a:prstGeom>
          <a:noFill/>
          <a:ln/>
        </p:spPr>
        <p:txBody>
          <a:bodyPr wrap="square" lIns="0" tIns="0" rIns="0" bIns="0" rtlCol="0" anchor="ctr"/>
          <a:lstStyle/>
          <a:p>
            <a:pPr indent="0" marL="0">
              <a:buNone/>
            </a:pPr>
            <a:r>
              <a:rPr lang="en-US" sz="900" b="1" spc="300" kern="0" dirty="0">
                <a:solidFill>
                  <a:srgbClr val="E87722"/>
                </a:solidFill>
                <a:latin typeface="Calibri" pitchFamily="34" charset="0"/>
                <a:ea typeface="Calibri" pitchFamily="34" charset="-122"/>
                <a:cs typeface="Calibri" pitchFamily="34" charset="-120"/>
              </a:rPr>
              <a:t>05 · EVALUATION</a:t>
            </a:r>
            <a:endParaRPr lang="en-US" sz="900" dirty="0"/>
          </a:p>
        </p:txBody>
      </p:sp>
      <p:sp>
        <p:nvSpPr>
          <p:cNvPr id="3" name="Shape 1"/>
          <p:cNvSpPr/>
          <p:nvPr/>
        </p:nvSpPr>
        <p:spPr>
          <a:xfrm>
            <a:off x="384048" y="274320"/>
            <a:ext cx="64008" cy="502920"/>
          </a:xfrm>
          <a:prstGeom prst="rect">
            <a:avLst/>
          </a:prstGeom>
          <a:solidFill>
            <a:srgbClr val="E87722"/>
          </a:solidFill>
          <a:ln w="12700">
            <a:solidFill>
              <a:srgbClr val="E87722"/>
            </a:solidFill>
            <a:prstDash val="solid"/>
          </a:ln>
        </p:spPr>
      </p:sp>
      <p:sp>
        <p:nvSpPr>
          <p:cNvPr id="4" name="Text 2"/>
          <p:cNvSpPr/>
          <p:nvPr/>
        </p:nvSpPr>
        <p:spPr>
          <a:xfrm>
            <a:off x="548640" y="274320"/>
            <a:ext cx="8321040" cy="502920"/>
          </a:xfrm>
          <a:prstGeom prst="rect">
            <a:avLst/>
          </a:prstGeom>
          <a:noFill/>
          <a:ln/>
        </p:spPr>
        <p:txBody>
          <a:bodyPr wrap="square" lIns="0" tIns="0" rIns="0" bIns="0" rtlCol="0" anchor="ctr"/>
          <a:lstStyle/>
          <a:p>
            <a:pPr indent="0" marL="0">
              <a:buNone/>
            </a:pPr>
            <a:r>
              <a:rPr lang="en-US" sz="2400" b="1" dirty="0">
                <a:solidFill>
                  <a:srgbClr val="1B2A4A"/>
                </a:solidFill>
                <a:latin typeface="Georgia" pitchFamily="34" charset="0"/>
                <a:ea typeface="Georgia" pitchFamily="34" charset="-122"/>
                <a:cs typeface="Georgia" pitchFamily="34" charset="-120"/>
              </a:rPr>
              <a:t>Evaluation Methodology</a:t>
            </a:r>
            <a:endParaRPr lang="en-US" sz="2400" dirty="0"/>
          </a:p>
        </p:txBody>
      </p:sp>
      <p:sp>
        <p:nvSpPr>
          <p:cNvPr id="5" name="Text 3"/>
          <p:cNvSpPr/>
          <p:nvPr/>
        </p:nvSpPr>
        <p:spPr>
          <a:xfrm>
            <a:off x="7772400" y="4846320"/>
            <a:ext cx="1097280" cy="182880"/>
          </a:xfrm>
          <a:prstGeom prst="rect">
            <a:avLst/>
          </a:prstGeom>
          <a:noFill/>
          <a:ln/>
        </p:spPr>
        <p:txBody>
          <a:bodyPr wrap="square" lIns="0" tIns="0" rIns="0" bIns="0"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15 / 24</a:t>
            </a:r>
            <a:endParaRPr lang="en-US" sz="800" dirty="0"/>
          </a:p>
        </p:txBody>
      </p:sp>
      <p:sp>
        <p:nvSpPr>
          <p:cNvPr id="6" name="Text 4"/>
          <p:cNvSpPr/>
          <p:nvPr/>
        </p:nvSpPr>
        <p:spPr>
          <a:xfrm>
            <a:off x="411480" y="1024128"/>
            <a:ext cx="4114800" cy="292608"/>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Study Design</a:t>
            </a:r>
            <a:endParaRPr lang="en-US" sz="1300" dirty="0"/>
          </a:p>
        </p:txBody>
      </p:sp>
      <p:sp>
        <p:nvSpPr>
          <p:cNvPr id="7" name="Shape 5"/>
          <p:cNvSpPr/>
          <p:nvPr/>
        </p:nvSpPr>
        <p:spPr>
          <a:xfrm>
            <a:off x="411480" y="1408176"/>
            <a:ext cx="4114800" cy="548640"/>
          </a:xfrm>
          <a:prstGeom prst="rect">
            <a:avLst/>
          </a:prstGeom>
          <a:solidFill>
            <a:srgbClr val="F8F9FA"/>
          </a:solidFill>
          <a:ln w="12700">
            <a:solidFill>
              <a:srgbClr val="E5E7EB"/>
            </a:solidFill>
            <a:prstDash val="solid"/>
          </a:ln>
        </p:spPr>
      </p:sp>
      <p:sp>
        <p:nvSpPr>
          <p:cNvPr id="8" name="Text 6"/>
          <p:cNvSpPr/>
          <p:nvPr/>
        </p:nvSpPr>
        <p:spPr>
          <a:xfrm>
            <a:off x="530352" y="1481328"/>
            <a:ext cx="1097280" cy="411480"/>
          </a:xfrm>
          <a:prstGeom prst="rect">
            <a:avLst/>
          </a:prstGeom>
          <a:noFill/>
          <a:ln/>
        </p:spPr>
        <p:txBody>
          <a:bodyPr wrap="square" lIns="0" tIns="0" rIns="0" bIns="0" rtlCol="0" anchor="ctr"/>
          <a:lstStyle/>
          <a:p>
            <a:pPr indent="0" marL="0">
              <a:buNone/>
            </a:pPr>
            <a:r>
              <a:rPr lang="en-US" sz="1000" b="1" dirty="0">
                <a:solidFill>
                  <a:srgbClr val="E87722"/>
                </a:solidFill>
                <a:latin typeface="Calibri" pitchFamily="34" charset="0"/>
                <a:ea typeface="Calibri" pitchFamily="34" charset="-122"/>
                <a:cs typeface="Calibri" pitchFamily="34" charset="-120"/>
              </a:rPr>
              <a:t>Paradigm:</a:t>
            </a:r>
            <a:endParaRPr lang="en-US" sz="1000" dirty="0"/>
          </a:p>
        </p:txBody>
      </p:sp>
      <p:sp>
        <p:nvSpPr>
          <p:cNvPr id="9" name="Text 7"/>
          <p:cNvSpPr/>
          <p:nvPr/>
        </p:nvSpPr>
        <p:spPr>
          <a:xfrm>
            <a:off x="1627632" y="1463040"/>
            <a:ext cx="2834640" cy="420624"/>
          </a:xfrm>
          <a:prstGeom prst="rect">
            <a:avLst/>
          </a:prstGeom>
          <a:noFill/>
          <a:ln/>
        </p:spPr>
        <p:txBody>
          <a:bodyPr wrap="square" lIns="0" tIns="0" rIns="0" bIns="0" rtlCol="0" anchor="ctr"/>
          <a:lstStyle/>
          <a:p>
            <a:pPr indent="0" marL="0">
              <a:buNone/>
            </a:pPr>
            <a:r>
              <a:rPr lang="en-US" sz="1000" dirty="0">
                <a:solidFill>
                  <a:srgbClr val="374151"/>
                </a:solidFill>
                <a:latin typeface="Calibri" pitchFamily="34" charset="0"/>
                <a:ea typeface="Calibri" pitchFamily="34" charset="-122"/>
                <a:cs typeface="Calibri" pitchFamily="34" charset="-120"/>
              </a:rPr>
              <a:t>Comparative usability study — Design Science research</a:t>
            </a:r>
            <a:endParaRPr lang="en-US" sz="1000" dirty="0"/>
          </a:p>
        </p:txBody>
      </p:sp>
      <p:sp>
        <p:nvSpPr>
          <p:cNvPr id="10" name="Shape 8"/>
          <p:cNvSpPr/>
          <p:nvPr/>
        </p:nvSpPr>
        <p:spPr>
          <a:xfrm>
            <a:off x="411480" y="2029968"/>
            <a:ext cx="4114800" cy="548640"/>
          </a:xfrm>
          <a:prstGeom prst="rect">
            <a:avLst/>
          </a:prstGeom>
          <a:solidFill>
            <a:srgbClr val="F8F9FA"/>
          </a:solidFill>
          <a:ln w="12700">
            <a:solidFill>
              <a:srgbClr val="E5E7EB"/>
            </a:solidFill>
            <a:prstDash val="solid"/>
          </a:ln>
        </p:spPr>
      </p:sp>
      <p:sp>
        <p:nvSpPr>
          <p:cNvPr id="11" name="Text 9"/>
          <p:cNvSpPr/>
          <p:nvPr/>
        </p:nvSpPr>
        <p:spPr>
          <a:xfrm>
            <a:off x="530352" y="2103120"/>
            <a:ext cx="1097280" cy="411480"/>
          </a:xfrm>
          <a:prstGeom prst="rect">
            <a:avLst/>
          </a:prstGeom>
          <a:noFill/>
          <a:ln/>
        </p:spPr>
        <p:txBody>
          <a:bodyPr wrap="square" lIns="0" tIns="0" rIns="0" bIns="0" rtlCol="0" anchor="ctr"/>
          <a:lstStyle/>
          <a:p>
            <a:pPr indent="0" marL="0">
              <a:buNone/>
            </a:pPr>
            <a:r>
              <a:rPr lang="en-US" sz="1000" b="1" dirty="0">
                <a:solidFill>
                  <a:srgbClr val="E87722"/>
                </a:solidFill>
                <a:latin typeface="Calibri" pitchFamily="34" charset="0"/>
                <a:ea typeface="Calibri" pitchFamily="34" charset="-122"/>
                <a:cs typeface="Calibri" pitchFamily="34" charset="-120"/>
              </a:rPr>
              <a:t>Participants:</a:t>
            </a:r>
            <a:endParaRPr lang="en-US" sz="1000" dirty="0"/>
          </a:p>
        </p:txBody>
      </p:sp>
      <p:sp>
        <p:nvSpPr>
          <p:cNvPr id="12" name="Text 10"/>
          <p:cNvSpPr/>
          <p:nvPr/>
        </p:nvSpPr>
        <p:spPr>
          <a:xfrm>
            <a:off x="1627632" y="2084832"/>
            <a:ext cx="2834640" cy="420624"/>
          </a:xfrm>
          <a:prstGeom prst="rect">
            <a:avLst/>
          </a:prstGeom>
          <a:noFill/>
          <a:ln/>
        </p:spPr>
        <p:txBody>
          <a:bodyPr wrap="square" lIns="0" tIns="0" rIns="0" bIns="0" rtlCol="0" anchor="ctr"/>
          <a:lstStyle/>
          <a:p>
            <a:pPr indent="0" marL="0">
              <a:buNone/>
            </a:pPr>
            <a:r>
              <a:rPr lang="en-US" sz="1000" dirty="0">
                <a:solidFill>
                  <a:srgbClr val="374151"/>
                </a:solidFill>
                <a:latin typeface="Calibri" pitchFamily="34" charset="0"/>
                <a:ea typeface="Calibri" pitchFamily="34" charset="-122"/>
                <a:cs typeface="Calibri" pitchFamily="34" charset="-120"/>
              </a:rPr>
              <a:t>10 IT students as educator proxies (Nielsen's threshold for usability flaw detection)</a:t>
            </a:r>
            <a:endParaRPr lang="en-US" sz="1000" dirty="0"/>
          </a:p>
        </p:txBody>
      </p:sp>
      <p:sp>
        <p:nvSpPr>
          <p:cNvPr id="13" name="Shape 11"/>
          <p:cNvSpPr/>
          <p:nvPr/>
        </p:nvSpPr>
        <p:spPr>
          <a:xfrm>
            <a:off x="411480" y="2651760"/>
            <a:ext cx="4114800" cy="548640"/>
          </a:xfrm>
          <a:prstGeom prst="rect">
            <a:avLst/>
          </a:prstGeom>
          <a:solidFill>
            <a:srgbClr val="F8F9FA"/>
          </a:solidFill>
          <a:ln w="12700">
            <a:solidFill>
              <a:srgbClr val="E5E7EB"/>
            </a:solidFill>
            <a:prstDash val="solid"/>
          </a:ln>
        </p:spPr>
      </p:sp>
      <p:sp>
        <p:nvSpPr>
          <p:cNvPr id="14" name="Text 12"/>
          <p:cNvSpPr/>
          <p:nvPr/>
        </p:nvSpPr>
        <p:spPr>
          <a:xfrm>
            <a:off x="530352" y="2724912"/>
            <a:ext cx="1097280" cy="411480"/>
          </a:xfrm>
          <a:prstGeom prst="rect">
            <a:avLst/>
          </a:prstGeom>
          <a:noFill/>
          <a:ln/>
        </p:spPr>
        <p:txBody>
          <a:bodyPr wrap="square" lIns="0" tIns="0" rIns="0" bIns="0" rtlCol="0" anchor="ctr"/>
          <a:lstStyle/>
          <a:p>
            <a:pPr indent="0" marL="0">
              <a:buNone/>
            </a:pPr>
            <a:r>
              <a:rPr lang="en-US" sz="1000" b="1" dirty="0">
                <a:solidFill>
                  <a:srgbClr val="E87722"/>
                </a:solidFill>
                <a:latin typeface="Calibri" pitchFamily="34" charset="0"/>
                <a:ea typeface="Calibri" pitchFamily="34" charset="-122"/>
                <a:cs typeface="Calibri" pitchFamily="34" charset="-120"/>
              </a:rPr>
              <a:t>Approach:</a:t>
            </a:r>
            <a:endParaRPr lang="en-US" sz="1000" dirty="0"/>
          </a:p>
        </p:txBody>
      </p:sp>
      <p:sp>
        <p:nvSpPr>
          <p:cNvPr id="15" name="Text 13"/>
          <p:cNvSpPr/>
          <p:nvPr/>
        </p:nvSpPr>
        <p:spPr>
          <a:xfrm>
            <a:off x="1627632" y="2706624"/>
            <a:ext cx="2834640" cy="420624"/>
          </a:xfrm>
          <a:prstGeom prst="rect">
            <a:avLst/>
          </a:prstGeom>
          <a:noFill/>
          <a:ln/>
        </p:spPr>
        <p:txBody>
          <a:bodyPr wrap="square" lIns="0" tIns="0" rIns="0" bIns="0" rtlCol="0" anchor="ctr"/>
          <a:lstStyle/>
          <a:p>
            <a:pPr indent="0" marL="0">
              <a:buNone/>
            </a:pPr>
            <a:r>
              <a:rPr lang="en-US" sz="1000" dirty="0">
                <a:solidFill>
                  <a:srgbClr val="374151"/>
                </a:solidFill>
                <a:latin typeface="Calibri" pitchFamily="34" charset="0"/>
                <a:ea typeface="Calibri" pitchFamily="34" charset="-122"/>
                <a:cs typeface="Calibri" pitchFamily="34" charset="-120"/>
              </a:rPr>
              <a:t>Within-subjects — same 5 tasks on both systems, randomised order to control learning effects</a:t>
            </a:r>
            <a:endParaRPr lang="en-US" sz="1000" dirty="0"/>
          </a:p>
        </p:txBody>
      </p:sp>
      <p:sp>
        <p:nvSpPr>
          <p:cNvPr id="16" name="Shape 14"/>
          <p:cNvSpPr/>
          <p:nvPr/>
        </p:nvSpPr>
        <p:spPr>
          <a:xfrm>
            <a:off x="411480" y="3273552"/>
            <a:ext cx="4114800" cy="548640"/>
          </a:xfrm>
          <a:prstGeom prst="rect">
            <a:avLst/>
          </a:prstGeom>
          <a:solidFill>
            <a:srgbClr val="F8F9FA"/>
          </a:solidFill>
          <a:ln w="12700">
            <a:solidFill>
              <a:srgbClr val="E5E7EB"/>
            </a:solidFill>
            <a:prstDash val="solid"/>
          </a:ln>
        </p:spPr>
      </p:sp>
      <p:sp>
        <p:nvSpPr>
          <p:cNvPr id="17" name="Text 15"/>
          <p:cNvSpPr/>
          <p:nvPr/>
        </p:nvSpPr>
        <p:spPr>
          <a:xfrm>
            <a:off x="530352" y="3346704"/>
            <a:ext cx="1097280" cy="411480"/>
          </a:xfrm>
          <a:prstGeom prst="rect">
            <a:avLst/>
          </a:prstGeom>
          <a:noFill/>
          <a:ln/>
        </p:spPr>
        <p:txBody>
          <a:bodyPr wrap="square" lIns="0" tIns="0" rIns="0" bIns="0" rtlCol="0" anchor="ctr"/>
          <a:lstStyle/>
          <a:p>
            <a:pPr indent="0" marL="0">
              <a:buNone/>
            </a:pPr>
            <a:r>
              <a:rPr lang="en-US" sz="1000" b="1" dirty="0">
                <a:solidFill>
                  <a:srgbClr val="E87722"/>
                </a:solidFill>
                <a:latin typeface="Calibri" pitchFamily="34" charset="0"/>
                <a:ea typeface="Calibri" pitchFamily="34" charset="-122"/>
                <a:cs typeface="Calibri" pitchFamily="34" charset="-120"/>
              </a:rPr>
              <a:t>Baseline:</a:t>
            </a:r>
            <a:endParaRPr lang="en-US" sz="1000" dirty="0"/>
          </a:p>
        </p:txBody>
      </p:sp>
      <p:sp>
        <p:nvSpPr>
          <p:cNvPr id="18" name="Text 16"/>
          <p:cNvSpPr/>
          <p:nvPr/>
        </p:nvSpPr>
        <p:spPr>
          <a:xfrm>
            <a:off x="1627632" y="3328416"/>
            <a:ext cx="2834640" cy="420624"/>
          </a:xfrm>
          <a:prstGeom prst="rect">
            <a:avLst/>
          </a:prstGeom>
          <a:noFill/>
          <a:ln/>
        </p:spPr>
        <p:txBody>
          <a:bodyPr wrap="square" lIns="0" tIns="0" rIns="0" bIns="0" rtlCol="0" anchor="ctr"/>
          <a:lstStyle/>
          <a:p>
            <a:pPr indent="0" marL="0">
              <a:buNone/>
            </a:pPr>
            <a:r>
              <a:rPr lang="en-US" sz="1000" dirty="0">
                <a:solidFill>
                  <a:srgbClr val="374151"/>
                </a:solidFill>
                <a:latin typeface="Calibri" pitchFamily="34" charset="0"/>
                <a:ea typeface="Calibri" pitchFamily="34" charset="-122"/>
                <a:cs typeface="Calibri" pitchFamily="34" charset="-120"/>
              </a:rPr>
              <a:t>WordPress H5P plugin — standard deployment, unmodified</a:t>
            </a:r>
            <a:endParaRPr lang="en-US" sz="1000" dirty="0"/>
          </a:p>
        </p:txBody>
      </p:sp>
      <p:sp>
        <p:nvSpPr>
          <p:cNvPr id="19" name="Shape 17"/>
          <p:cNvSpPr/>
          <p:nvPr/>
        </p:nvSpPr>
        <p:spPr>
          <a:xfrm>
            <a:off x="411480" y="3895344"/>
            <a:ext cx="4114800" cy="548640"/>
          </a:xfrm>
          <a:prstGeom prst="rect">
            <a:avLst/>
          </a:prstGeom>
          <a:solidFill>
            <a:srgbClr val="F8F9FA"/>
          </a:solidFill>
          <a:ln w="12700">
            <a:solidFill>
              <a:srgbClr val="E5E7EB"/>
            </a:solidFill>
            <a:prstDash val="solid"/>
          </a:ln>
        </p:spPr>
      </p:sp>
      <p:sp>
        <p:nvSpPr>
          <p:cNvPr id="20" name="Text 18"/>
          <p:cNvSpPr/>
          <p:nvPr/>
        </p:nvSpPr>
        <p:spPr>
          <a:xfrm>
            <a:off x="530352" y="3968496"/>
            <a:ext cx="1097280" cy="411480"/>
          </a:xfrm>
          <a:prstGeom prst="rect">
            <a:avLst/>
          </a:prstGeom>
          <a:noFill/>
          <a:ln/>
        </p:spPr>
        <p:txBody>
          <a:bodyPr wrap="square" lIns="0" tIns="0" rIns="0" bIns="0" rtlCol="0" anchor="ctr"/>
          <a:lstStyle/>
          <a:p>
            <a:pPr indent="0" marL="0">
              <a:buNone/>
            </a:pPr>
            <a:r>
              <a:rPr lang="en-US" sz="1000" b="1" dirty="0">
                <a:solidFill>
                  <a:srgbClr val="E87722"/>
                </a:solidFill>
                <a:latin typeface="Calibri" pitchFamily="34" charset="0"/>
                <a:ea typeface="Calibri" pitchFamily="34" charset="-122"/>
                <a:cs typeface="Calibri" pitchFamily="34" charset="-120"/>
              </a:rPr>
              <a:t>Test System:</a:t>
            </a:r>
            <a:endParaRPr lang="en-US" sz="1000" dirty="0"/>
          </a:p>
        </p:txBody>
      </p:sp>
      <p:sp>
        <p:nvSpPr>
          <p:cNvPr id="21" name="Text 19"/>
          <p:cNvSpPr/>
          <p:nvPr/>
        </p:nvSpPr>
        <p:spPr>
          <a:xfrm>
            <a:off x="1627632" y="3950208"/>
            <a:ext cx="2834640" cy="420624"/>
          </a:xfrm>
          <a:prstGeom prst="rect">
            <a:avLst/>
          </a:prstGeom>
          <a:noFill/>
          <a:ln/>
        </p:spPr>
        <p:txBody>
          <a:bodyPr wrap="square" lIns="0" tIns="0" rIns="0" bIns="0" rtlCol="0" anchor="ctr"/>
          <a:lstStyle/>
          <a:p>
            <a:pPr indent="0" marL="0">
              <a:buNone/>
            </a:pPr>
            <a:r>
              <a:rPr lang="en-US" sz="1000" dirty="0">
                <a:solidFill>
                  <a:srgbClr val="374151"/>
                </a:solidFill>
                <a:latin typeface="Calibri" pitchFamily="34" charset="0"/>
                <a:ea typeface="Calibri" pitchFamily="34" charset="-122"/>
                <a:cs typeface="Calibri" pitchFamily="34" charset="-120"/>
              </a:rPr>
              <a:t>AI-ActivEdu — this platform, release candidate build</a:t>
            </a:r>
            <a:endParaRPr lang="en-US" sz="1000" dirty="0"/>
          </a:p>
        </p:txBody>
      </p:sp>
      <p:sp>
        <p:nvSpPr>
          <p:cNvPr id="22" name="Shape 20"/>
          <p:cNvSpPr/>
          <p:nvPr/>
        </p:nvSpPr>
        <p:spPr>
          <a:xfrm>
            <a:off x="4754880" y="987552"/>
            <a:ext cx="0" cy="3886200"/>
          </a:xfrm>
          <a:prstGeom prst="line">
            <a:avLst/>
          </a:prstGeom>
          <a:noFill/>
          <a:ln w="12700">
            <a:solidFill>
              <a:srgbClr val="E5E7EB"/>
            </a:solidFill>
            <a:prstDash val="solid"/>
          </a:ln>
        </p:spPr>
      </p:sp>
      <p:sp>
        <p:nvSpPr>
          <p:cNvPr id="23" name="Text 21"/>
          <p:cNvSpPr/>
          <p:nvPr/>
        </p:nvSpPr>
        <p:spPr>
          <a:xfrm>
            <a:off x="4983480" y="1024128"/>
            <a:ext cx="3794760" cy="292608"/>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Metrics &amp; Instruments</a:t>
            </a:r>
            <a:endParaRPr lang="en-US" sz="1300" dirty="0"/>
          </a:p>
        </p:txBody>
      </p:sp>
      <p:sp>
        <p:nvSpPr>
          <p:cNvPr id="24" name="Shape 22"/>
          <p:cNvSpPr/>
          <p:nvPr/>
        </p:nvSpPr>
        <p:spPr>
          <a:xfrm>
            <a:off x="4983480" y="1408176"/>
            <a:ext cx="3794760" cy="548640"/>
          </a:xfrm>
          <a:prstGeom prst="rect">
            <a:avLst/>
          </a:prstGeom>
          <a:solidFill>
            <a:srgbClr val="F8F9FA"/>
          </a:solidFill>
          <a:ln w="12700">
            <a:solidFill>
              <a:srgbClr val="E5E7EB"/>
            </a:solidFill>
            <a:prstDash val="solid"/>
          </a:ln>
        </p:spPr>
      </p:sp>
      <p:sp>
        <p:nvSpPr>
          <p:cNvPr id="25" name="Text 23"/>
          <p:cNvSpPr/>
          <p:nvPr/>
        </p:nvSpPr>
        <p:spPr>
          <a:xfrm>
            <a:off x="5102352" y="1463040"/>
            <a:ext cx="3657600" cy="237744"/>
          </a:xfrm>
          <a:prstGeom prst="rect">
            <a:avLst/>
          </a:prstGeom>
          <a:noFill/>
          <a:ln/>
        </p:spPr>
        <p:txBody>
          <a:bodyPr wrap="square" lIns="0" tIns="0" rIns="0" bIns="0"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Task Completion Rate</a:t>
            </a:r>
            <a:endParaRPr lang="en-US" sz="1100" dirty="0"/>
          </a:p>
        </p:txBody>
      </p:sp>
      <p:sp>
        <p:nvSpPr>
          <p:cNvPr id="26" name="Text 24"/>
          <p:cNvSpPr/>
          <p:nvPr/>
        </p:nvSpPr>
        <p:spPr>
          <a:xfrm>
            <a:off x="5102352" y="1700784"/>
            <a:ext cx="3657600" cy="219456"/>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Observed pass/fail per task</a:t>
            </a:r>
            <a:endParaRPr lang="en-US" sz="1000" dirty="0"/>
          </a:p>
        </p:txBody>
      </p:sp>
      <p:sp>
        <p:nvSpPr>
          <p:cNvPr id="27" name="Shape 25"/>
          <p:cNvSpPr/>
          <p:nvPr/>
        </p:nvSpPr>
        <p:spPr>
          <a:xfrm>
            <a:off x="4983480" y="2029968"/>
            <a:ext cx="3794760" cy="548640"/>
          </a:xfrm>
          <a:prstGeom prst="rect">
            <a:avLst/>
          </a:prstGeom>
          <a:solidFill>
            <a:srgbClr val="F8F9FA"/>
          </a:solidFill>
          <a:ln w="12700">
            <a:solidFill>
              <a:srgbClr val="E5E7EB"/>
            </a:solidFill>
            <a:prstDash val="solid"/>
          </a:ln>
        </p:spPr>
      </p:sp>
      <p:sp>
        <p:nvSpPr>
          <p:cNvPr id="28" name="Text 26"/>
          <p:cNvSpPr/>
          <p:nvPr/>
        </p:nvSpPr>
        <p:spPr>
          <a:xfrm>
            <a:off x="5102352" y="2084832"/>
            <a:ext cx="3657600" cy="237744"/>
          </a:xfrm>
          <a:prstGeom prst="rect">
            <a:avLst/>
          </a:prstGeom>
          <a:noFill/>
          <a:ln/>
        </p:spPr>
        <p:txBody>
          <a:bodyPr wrap="square" lIns="0" tIns="0" rIns="0" bIns="0"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Time on Task</a:t>
            </a:r>
            <a:endParaRPr lang="en-US" sz="1100" dirty="0"/>
          </a:p>
        </p:txBody>
      </p:sp>
      <p:sp>
        <p:nvSpPr>
          <p:cNvPr id="29" name="Text 27"/>
          <p:cNvSpPr/>
          <p:nvPr/>
        </p:nvSpPr>
        <p:spPr>
          <a:xfrm>
            <a:off x="5102352" y="2322576"/>
            <a:ext cx="3657600" cy="219456"/>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Stopwatch — start to first success</a:t>
            </a:r>
            <a:endParaRPr lang="en-US" sz="1000" dirty="0"/>
          </a:p>
        </p:txBody>
      </p:sp>
      <p:sp>
        <p:nvSpPr>
          <p:cNvPr id="30" name="Shape 28"/>
          <p:cNvSpPr/>
          <p:nvPr/>
        </p:nvSpPr>
        <p:spPr>
          <a:xfrm>
            <a:off x="4983480" y="2651760"/>
            <a:ext cx="3794760" cy="548640"/>
          </a:xfrm>
          <a:prstGeom prst="rect">
            <a:avLst/>
          </a:prstGeom>
          <a:solidFill>
            <a:srgbClr val="F8F9FA"/>
          </a:solidFill>
          <a:ln w="12700">
            <a:solidFill>
              <a:srgbClr val="E5E7EB"/>
            </a:solidFill>
            <a:prstDash val="solid"/>
          </a:ln>
        </p:spPr>
      </p:sp>
      <p:sp>
        <p:nvSpPr>
          <p:cNvPr id="31" name="Text 29"/>
          <p:cNvSpPr/>
          <p:nvPr/>
        </p:nvSpPr>
        <p:spPr>
          <a:xfrm>
            <a:off x="5102352" y="2706624"/>
            <a:ext cx="3657600" cy="237744"/>
          </a:xfrm>
          <a:prstGeom prst="rect">
            <a:avLst/>
          </a:prstGeom>
          <a:noFill/>
          <a:ln/>
        </p:spPr>
        <p:txBody>
          <a:bodyPr wrap="square" lIns="0" tIns="0" rIns="0" bIns="0"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Error Frequency</a:t>
            </a:r>
            <a:endParaRPr lang="en-US" sz="1100" dirty="0"/>
          </a:p>
        </p:txBody>
      </p:sp>
      <p:sp>
        <p:nvSpPr>
          <p:cNvPr id="32" name="Text 30"/>
          <p:cNvSpPr/>
          <p:nvPr/>
        </p:nvSpPr>
        <p:spPr>
          <a:xfrm>
            <a:off x="5102352" y="2944368"/>
            <a:ext cx="3657600" cy="219456"/>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Observed misclicks and help requests</a:t>
            </a:r>
            <a:endParaRPr lang="en-US" sz="1000" dirty="0"/>
          </a:p>
        </p:txBody>
      </p:sp>
      <p:sp>
        <p:nvSpPr>
          <p:cNvPr id="33" name="Shape 31"/>
          <p:cNvSpPr/>
          <p:nvPr/>
        </p:nvSpPr>
        <p:spPr>
          <a:xfrm>
            <a:off x="4983480" y="3273552"/>
            <a:ext cx="3794760" cy="548640"/>
          </a:xfrm>
          <a:prstGeom prst="rect">
            <a:avLst/>
          </a:prstGeom>
          <a:solidFill>
            <a:srgbClr val="F8F9FA"/>
          </a:solidFill>
          <a:ln w="12700">
            <a:solidFill>
              <a:srgbClr val="E5E7EB"/>
            </a:solidFill>
            <a:prstDash val="solid"/>
          </a:ln>
        </p:spPr>
      </p:sp>
      <p:sp>
        <p:nvSpPr>
          <p:cNvPr id="34" name="Text 32"/>
          <p:cNvSpPr/>
          <p:nvPr/>
        </p:nvSpPr>
        <p:spPr>
          <a:xfrm>
            <a:off x="5102352" y="3328416"/>
            <a:ext cx="3657600" cy="237744"/>
          </a:xfrm>
          <a:prstGeom prst="rect">
            <a:avLst/>
          </a:prstGeom>
          <a:noFill/>
          <a:ln/>
        </p:spPr>
        <p:txBody>
          <a:bodyPr wrap="square" lIns="0" tIns="0" rIns="0" bIns="0"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SUS Score</a:t>
            </a:r>
            <a:endParaRPr lang="en-US" sz="1100" dirty="0"/>
          </a:p>
        </p:txBody>
      </p:sp>
      <p:sp>
        <p:nvSpPr>
          <p:cNvPr id="35" name="Text 33"/>
          <p:cNvSpPr/>
          <p:nvPr/>
        </p:nvSpPr>
        <p:spPr>
          <a:xfrm>
            <a:off x="5102352" y="3566160"/>
            <a:ext cx="3657600" cy="219456"/>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10-item System Usability Scale (Brooke, 1996)</a:t>
            </a:r>
            <a:endParaRPr lang="en-US" sz="1000" dirty="0"/>
          </a:p>
        </p:txBody>
      </p:sp>
      <p:sp>
        <p:nvSpPr>
          <p:cNvPr id="36" name="Shape 34"/>
          <p:cNvSpPr/>
          <p:nvPr/>
        </p:nvSpPr>
        <p:spPr>
          <a:xfrm>
            <a:off x="4983480" y="3895344"/>
            <a:ext cx="3794760" cy="548640"/>
          </a:xfrm>
          <a:prstGeom prst="rect">
            <a:avLst/>
          </a:prstGeom>
          <a:solidFill>
            <a:srgbClr val="F8F9FA"/>
          </a:solidFill>
          <a:ln w="12700">
            <a:solidFill>
              <a:srgbClr val="E5E7EB"/>
            </a:solidFill>
            <a:prstDash val="solid"/>
          </a:ln>
        </p:spPr>
      </p:sp>
      <p:sp>
        <p:nvSpPr>
          <p:cNvPr id="37" name="Text 35"/>
          <p:cNvSpPr/>
          <p:nvPr/>
        </p:nvSpPr>
        <p:spPr>
          <a:xfrm>
            <a:off x="5102352" y="3950208"/>
            <a:ext cx="3657600" cy="237744"/>
          </a:xfrm>
          <a:prstGeom prst="rect">
            <a:avLst/>
          </a:prstGeom>
          <a:noFill/>
          <a:ln/>
        </p:spPr>
        <p:txBody>
          <a:bodyPr wrap="square" lIns="0" tIns="0" rIns="0" bIns="0"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Qualitative Feedback</a:t>
            </a:r>
            <a:endParaRPr lang="en-US" sz="1100" dirty="0"/>
          </a:p>
        </p:txBody>
      </p:sp>
      <p:sp>
        <p:nvSpPr>
          <p:cNvPr id="38" name="Text 36"/>
          <p:cNvSpPr/>
          <p:nvPr/>
        </p:nvSpPr>
        <p:spPr>
          <a:xfrm>
            <a:off x="5102352" y="4187952"/>
            <a:ext cx="3657600" cy="219456"/>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Post-task semi-structured interview</a:t>
            </a:r>
            <a:endParaRPr lang="en-US" sz="1000" dirty="0"/>
          </a:p>
        </p:txBody>
      </p:sp>
      <p:sp>
        <p:nvSpPr>
          <p:cNvPr id="39" name="Shape 37"/>
          <p:cNvSpPr/>
          <p:nvPr/>
        </p:nvSpPr>
        <p:spPr>
          <a:xfrm>
            <a:off x="411480" y="4572000"/>
            <a:ext cx="8321040" cy="384048"/>
          </a:xfrm>
          <a:prstGeom prst="rect">
            <a:avLst/>
          </a:prstGeom>
          <a:solidFill>
            <a:srgbClr val="FEF3E6"/>
          </a:solidFill>
          <a:ln w="12700">
            <a:solidFill>
              <a:srgbClr val="E87722"/>
            </a:solidFill>
            <a:prstDash val="solid"/>
          </a:ln>
        </p:spPr>
      </p:sp>
      <p:sp>
        <p:nvSpPr>
          <p:cNvPr id="40" name="Text 38"/>
          <p:cNvSpPr/>
          <p:nvPr/>
        </p:nvSpPr>
        <p:spPr>
          <a:xfrm>
            <a:off x="502920" y="4572000"/>
            <a:ext cx="8138160" cy="384048"/>
          </a:xfrm>
          <a:prstGeom prst="rect">
            <a:avLst/>
          </a:prstGeom>
          <a:noFill/>
          <a:ln/>
        </p:spPr>
        <p:txBody>
          <a:bodyPr wrap="square" lIns="0" tIns="0" rIns="0" bIns="0" rtlCol="0" anchor="ctr"/>
          <a:lstStyle/>
          <a:p>
            <a:pPr indent="0" marL="0">
              <a:buNone/>
            </a:pPr>
            <a:r>
              <a:rPr lang="en-US" sz="1000" dirty="0">
                <a:solidFill>
                  <a:srgbClr val="E87722"/>
                </a:solidFill>
                <a:latin typeface="Calibri" pitchFamily="34" charset="0"/>
                <a:ea typeface="Calibri" pitchFamily="34" charset="-122"/>
                <a:cs typeface="Calibri" pitchFamily="34" charset="-120"/>
              </a:rPr>
              <a:t>5 Tasks (identical on both systems):  Login  →  Upload video  →  Trigger AI generation &amp; review  →  Embed 2 questions on timeline  →  Preview &amp; export H5P package</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01168"/>
            <a:ext cx="8321040" cy="201168"/>
          </a:xfrm>
          <a:prstGeom prst="rect">
            <a:avLst/>
          </a:prstGeom>
          <a:noFill/>
          <a:ln/>
        </p:spPr>
        <p:txBody>
          <a:bodyPr wrap="square" lIns="0" tIns="0" rIns="0" bIns="0" rtlCol="0" anchor="ctr"/>
          <a:lstStyle/>
          <a:p>
            <a:pPr indent="0" marL="0">
              <a:buNone/>
            </a:pPr>
            <a:r>
              <a:rPr lang="en-US" sz="900" b="1" spc="300" kern="0" dirty="0">
                <a:solidFill>
                  <a:srgbClr val="E87722"/>
                </a:solidFill>
                <a:latin typeface="Calibri" pitchFamily="34" charset="0"/>
                <a:ea typeface="Calibri" pitchFamily="34" charset="-122"/>
                <a:cs typeface="Calibri" pitchFamily="34" charset="-120"/>
              </a:rPr>
              <a:t>05 · EVALUATION</a:t>
            </a:r>
            <a:endParaRPr lang="en-US" sz="900" dirty="0"/>
          </a:p>
        </p:txBody>
      </p:sp>
      <p:sp>
        <p:nvSpPr>
          <p:cNvPr id="3" name="Shape 1"/>
          <p:cNvSpPr/>
          <p:nvPr/>
        </p:nvSpPr>
        <p:spPr>
          <a:xfrm>
            <a:off x="384048" y="274320"/>
            <a:ext cx="64008" cy="502920"/>
          </a:xfrm>
          <a:prstGeom prst="rect">
            <a:avLst/>
          </a:prstGeom>
          <a:solidFill>
            <a:srgbClr val="E87722"/>
          </a:solidFill>
          <a:ln w="12700">
            <a:solidFill>
              <a:srgbClr val="E87722"/>
            </a:solidFill>
            <a:prstDash val="solid"/>
          </a:ln>
        </p:spPr>
      </p:sp>
      <p:sp>
        <p:nvSpPr>
          <p:cNvPr id="4" name="Text 2"/>
          <p:cNvSpPr/>
          <p:nvPr/>
        </p:nvSpPr>
        <p:spPr>
          <a:xfrm>
            <a:off x="548640" y="274320"/>
            <a:ext cx="8321040" cy="502920"/>
          </a:xfrm>
          <a:prstGeom prst="rect">
            <a:avLst/>
          </a:prstGeom>
          <a:noFill/>
          <a:ln/>
        </p:spPr>
        <p:txBody>
          <a:bodyPr wrap="square" lIns="0" tIns="0" rIns="0" bIns="0" rtlCol="0" anchor="ctr"/>
          <a:lstStyle/>
          <a:p>
            <a:pPr indent="0" marL="0">
              <a:buNone/>
            </a:pPr>
            <a:r>
              <a:rPr lang="en-US" sz="2400" b="1" dirty="0">
                <a:solidFill>
                  <a:srgbClr val="1B2A4A"/>
                </a:solidFill>
                <a:latin typeface="Georgia" pitchFamily="34" charset="0"/>
                <a:ea typeface="Georgia" pitchFamily="34" charset="-122"/>
                <a:cs typeface="Georgia" pitchFamily="34" charset="-120"/>
              </a:rPr>
              <a:t>Quantitative Results</a:t>
            </a:r>
            <a:endParaRPr lang="en-US" sz="2400" dirty="0"/>
          </a:p>
        </p:txBody>
      </p:sp>
      <p:sp>
        <p:nvSpPr>
          <p:cNvPr id="5" name="Text 3"/>
          <p:cNvSpPr/>
          <p:nvPr/>
        </p:nvSpPr>
        <p:spPr>
          <a:xfrm>
            <a:off x="7772400" y="4846320"/>
            <a:ext cx="1097280" cy="182880"/>
          </a:xfrm>
          <a:prstGeom prst="rect">
            <a:avLst/>
          </a:prstGeom>
          <a:noFill/>
          <a:ln/>
        </p:spPr>
        <p:txBody>
          <a:bodyPr wrap="square" lIns="0" tIns="0" rIns="0" bIns="0"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16 / 24</a:t>
            </a:r>
            <a:endParaRPr lang="en-US" sz="800" dirty="0"/>
          </a:p>
        </p:txBody>
      </p:sp>
      <p:sp>
        <p:nvSpPr>
          <p:cNvPr id="6" name="Shape 4"/>
          <p:cNvSpPr/>
          <p:nvPr/>
        </p:nvSpPr>
        <p:spPr>
          <a:xfrm>
            <a:off x="320040" y="960120"/>
            <a:ext cx="2011680" cy="1600200"/>
          </a:xfrm>
          <a:prstGeom prst="rect">
            <a:avLst/>
          </a:prstGeom>
          <a:solidFill>
            <a:srgbClr val="1B2A4A"/>
          </a:solidFill>
          <a:ln w="12700">
            <a:solidFill>
              <a:srgbClr val="1B2A4A"/>
            </a:solidFill>
            <a:prstDash val="solid"/>
          </a:ln>
          <a:effectLst>
            <a:outerShdw sx="100000" sy="100000" kx="0" ky="0" algn="bl" rotWithShape="0" blurRad="76200" dist="25400" dir="8100000">
              <a:srgbClr val="000000">
                <a:alpha val="9000"/>
              </a:srgbClr>
            </a:outerShdw>
          </a:effectLst>
        </p:spPr>
      </p:sp>
      <p:sp>
        <p:nvSpPr>
          <p:cNvPr id="7" name="Text 5"/>
          <p:cNvSpPr/>
          <p:nvPr/>
        </p:nvSpPr>
        <p:spPr>
          <a:xfrm>
            <a:off x="393192" y="1033272"/>
            <a:ext cx="1865376" cy="804672"/>
          </a:xfrm>
          <a:prstGeom prst="rect">
            <a:avLst/>
          </a:prstGeom>
          <a:noFill/>
          <a:ln/>
        </p:spPr>
        <p:txBody>
          <a:bodyPr wrap="square" lIns="0" tIns="0" rIns="0" bIns="0" rtlCol="0" anchor="ctr"/>
          <a:lstStyle/>
          <a:p>
            <a:pPr algn="ctr" indent="0" marL="0">
              <a:buNone/>
            </a:pPr>
            <a:r>
              <a:rPr lang="en-US" sz="3200" b="1" dirty="0">
                <a:solidFill>
                  <a:srgbClr val="E87722"/>
                </a:solidFill>
                <a:latin typeface="Georgia" pitchFamily="34" charset="0"/>
                <a:ea typeface="Georgia" pitchFamily="34" charset="-122"/>
                <a:cs typeface="Georgia" pitchFamily="34" charset="-120"/>
              </a:rPr>
              <a:t>95%</a:t>
            </a:r>
            <a:endParaRPr lang="en-US" sz="3200" dirty="0"/>
          </a:p>
        </p:txBody>
      </p:sp>
      <p:sp>
        <p:nvSpPr>
          <p:cNvPr id="8" name="Text 6"/>
          <p:cNvSpPr/>
          <p:nvPr/>
        </p:nvSpPr>
        <p:spPr>
          <a:xfrm>
            <a:off x="393192" y="1856232"/>
            <a:ext cx="1865376" cy="329184"/>
          </a:xfrm>
          <a:prstGeom prst="rect">
            <a:avLst/>
          </a:prstGeom>
          <a:noFill/>
          <a:ln/>
        </p:spPr>
        <p:txBody>
          <a:bodyPr wrap="square" lIns="0" tIns="0" rIns="0" bIns="0" rtlCol="0" anchor="ctr"/>
          <a:lstStyle/>
          <a:p>
            <a:pPr algn="ctr" indent="0" marL="0">
              <a:buNone/>
            </a:pPr>
            <a:r>
              <a:rPr lang="en-US" sz="1000" dirty="0">
                <a:solidFill>
                  <a:srgbClr val="A8C5DA"/>
                </a:solidFill>
                <a:latin typeface="Calibri" pitchFamily="34" charset="0"/>
                <a:ea typeface="Calibri" pitchFamily="34" charset="-122"/>
                <a:cs typeface="Calibri" pitchFamily="34" charset="-120"/>
              </a:rPr>
              <a:t>Task Completion</a:t>
            </a:r>
            <a:endParaRPr lang="en-US" sz="1000" dirty="0"/>
          </a:p>
        </p:txBody>
      </p:sp>
      <p:sp>
        <p:nvSpPr>
          <p:cNvPr id="9" name="Text 7"/>
          <p:cNvSpPr/>
          <p:nvPr/>
        </p:nvSpPr>
        <p:spPr>
          <a:xfrm>
            <a:off x="429768" y="2350008"/>
            <a:ext cx="1792224" cy="201168"/>
          </a:xfrm>
          <a:prstGeom prst="rect">
            <a:avLst/>
          </a:prstGeom>
          <a:noFill/>
          <a:ln/>
        </p:spPr>
        <p:txBody>
          <a:bodyPr wrap="square" lIns="0" tIns="0" rIns="0" bIns="0" rtlCol="0" anchor="ctr"/>
          <a:lstStyle/>
          <a:p>
            <a:pPr algn="ctr" indent="0" marL="0">
              <a:buNone/>
            </a:pPr>
            <a:r>
              <a:rPr lang="en-US" sz="850" i="1" dirty="0">
                <a:solidFill>
                  <a:srgbClr val="6B7280"/>
                </a:solidFill>
                <a:latin typeface="Calibri" pitchFamily="34" charset="0"/>
                <a:ea typeface="Calibri" pitchFamily="34" charset="-122"/>
                <a:cs typeface="Calibri" pitchFamily="34" charset="-120"/>
              </a:rPr>
              <a:t>vs 30%  (+65pp)</a:t>
            </a:r>
            <a:endParaRPr lang="en-US" sz="850" dirty="0"/>
          </a:p>
        </p:txBody>
      </p:sp>
      <p:sp>
        <p:nvSpPr>
          <p:cNvPr id="10" name="Shape 8"/>
          <p:cNvSpPr/>
          <p:nvPr/>
        </p:nvSpPr>
        <p:spPr>
          <a:xfrm>
            <a:off x="2468880" y="960120"/>
            <a:ext cx="2011680" cy="1600200"/>
          </a:xfrm>
          <a:prstGeom prst="rect">
            <a:avLst/>
          </a:prstGeom>
          <a:solidFill>
            <a:srgbClr val="1B2A4A"/>
          </a:solidFill>
          <a:ln w="12700">
            <a:solidFill>
              <a:srgbClr val="1B2A4A"/>
            </a:solidFill>
            <a:prstDash val="solid"/>
          </a:ln>
          <a:effectLst>
            <a:outerShdw sx="100000" sy="100000" kx="0" ky="0" algn="bl" rotWithShape="0" blurRad="76200" dist="25400" dir="8100000">
              <a:srgbClr val="000000">
                <a:alpha val="9000"/>
              </a:srgbClr>
            </a:outerShdw>
          </a:effectLst>
        </p:spPr>
      </p:sp>
      <p:sp>
        <p:nvSpPr>
          <p:cNvPr id="11" name="Text 9"/>
          <p:cNvSpPr/>
          <p:nvPr/>
        </p:nvSpPr>
        <p:spPr>
          <a:xfrm>
            <a:off x="2542032" y="1033272"/>
            <a:ext cx="1865376" cy="804672"/>
          </a:xfrm>
          <a:prstGeom prst="rect">
            <a:avLst/>
          </a:prstGeom>
          <a:noFill/>
          <a:ln/>
        </p:spPr>
        <p:txBody>
          <a:bodyPr wrap="square" lIns="0" tIns="0" rIns="0" bIns="0" rtlCol="0" anchor="ctr"/>
          <a:lstStyle/>
          <a:p>
            <a:pPr algn="ctr" indent="0" marL="0">
              <a:buNone/>
            </a:pPr>
            <a:r>
              <a:rPr lang="en-US" sz="3200" b="1" dirty="0">
                <a:solidFill>
                  <a:srgbClr val="E87722"/>
                </a:solidFill>
                <a:latin typeface="Georgia" pitchFamily="34" charset="0"/>
                <a:ea typeface="Georgia" pitchFamily="34" charset="-122"/>
                <a:cs typeface="Georgia" pitchFamily="34" charset="-120"/>
              </a:rPr>
              <a:t>3.2 min</a:t>
            </a:r>
            <a:endParaRPr lang="en-US" sz="3200" dirty="0"/>
          </a:p>
        </p:txBody>
      </p:sp>
      <p:sp>
        <p:nvSpPr>
          <p:cNvPr id="12" name="Text 10"/>
          <p:cNvSpPr/>
          <p:nvPr/>
        </p:nvSpPr>
        <p:spPr>
          <a:xfrm>
            <a:off x="2542032" y="1856232"/>
            <a:ext cx="1865376" cy="329184"/>
          </a:xfrm>
          <a:prstGeom prst="rect">
            <a:avLst/>
          </a:prstGeom>
          <a:noFill/>
          <a:ln/>
        </p:spPr>
        <p:txBody>
          <a:bodyPr wrap="square" lIns="0" tIns="0" rIns="0" bIns="0" rtlCol="0" anchor="ctr"/>
          <a:lstStyle/>
          <a:p>
            <a:pPr algn="ctr" indent="0" marL="0">
              <a:buNone/>
            </a:pPr>
            <a:r>
              <a:rPr lang="en-US" sz="1000" dirty="0">
                <a:solidFill>
                  <a:srgbClr val="A8C5DA"/>
                </a:solidFill>
                <a:latin typeface="Calibri" pitchFamily="34" charset="0"/>
                <a:ea typeface="Calibri" pitchFamily="34" charset="-122"/>
                <a:cs typeface="Calibri" pitchFamily="34" charset="-120"/>
              </a:rPr>
              <a:t>Median Task Time</a:t>
            </a:r>
            <a:endParaRPr lang="en-US" sz="1000" dirty="0"/>
          </a:p>
        </p:txBody>
      </p:sp>
      <p:sp>
        <p:nvSpPr>
          <p:cNvPr id="13" name="Text 11"/>
          <p:cNvSpPr/>
          <p:nvPr/>
        </p:nvSpPr>
        <p:spPr>
          <a:xfrm>
            <a:off x="2578608" y="2350008"/>
            <a:ext cx="1792224" cy="201168"/>
          </a:xfrm>
          <a:prstGeom prst="rect">
            <a:avLst/>
          </a:prstGeom>
          <a:noFill/>
          <a:ln/>
        </p:spPr>
        <p:txBody>
          <a:bodyPr wrap="square" lIns="0" tIns="0" rIns="0" bIns="0" rtlCol="0" anchor="ctr"/>
          <a:lstStyle/>
          <a:p>
            <a:pPr algn="ctr" indent="0" marL="0">
              <a:buNone/>
            </a:pPr>
            <a:r>
              <a:rPr lang="en-US" sz="850" i="1" dirty="0">
                <a:solidFill>
                  <a:srgbClr val="6B7280"/>
                </a:solidFill>
                <a:latin typeface="Calibri" pitchFamily="34" charset="0"/>
                <a:ea typeface="Calibri" pitchFamily="34" charset="-122"/>
                <a:cs typeface="Calibri" pitchFamily="34" charset="-120"/>
              </a:rPr>
              <a:t>vs 45.0 min  (−93%)</a:t>
            </a:r>
            <a:endParaRPr lang="en-US" sz="850" dirty="0"/>
          </a:p>
        </p:txBody>
      </p:sp>
      <p:sp>
        <p:nvSpPr>
          <p:cNvPr id="14" name="Shape 12"/>
          <p:cNvSpPr/>
          <p:nvPr/>
        </p:nvSpPr>
        <p:spPr>
          <a:xfrm>
            <a:off x="4617720" y="960120"/>
            <a:ext cx="2011680" cy="1600200"/>
          </a:xfrm>
          <a:prstGeom prst="rect">
            <a:avLst/>
          </a:prstGeom>
          <a:solidFill>
            <a:srgbClr val="1B2A4A"/>
          </a:solidFill>
          <a:ln w="12700">
            <a:solidFill>
              <a:srgbClr val="1B2A4A"/>
            </a:solidFill>
            <a:prstDash val="solid"/>
          </a:ln>
          <a:effectLst>
            <a:outerShdw sx="100000" sy="100000" kx="0" ky="0" algn="bl" rotWithShape="0" blurRad="76200" dist="25400" dir="8100000">
              <a:srgbClr val="000000">
                <a:alpha val="9000"/>
              </a:srgbClr>
            </a:outerShdw>
          </a:effectLst>
        </p:spPr>
      </p:sp>
      <p:sp>
        <p:nvSpPr>
          <p:cNvPr id="15" name="Text 13"/>
          <p:cNvSpPr/>
          <p:nvPr/>
        </p:nvSpPr>
        <p:spPr>
          <a:xfrm>
            <a:off x="4690872" y="1033272"/>
            <a:ext cx="1865376" cy="804672"/>
          </a:xfrm>
          <a:prstGeom prst="rect">
            <a:avLst/>
          </a:prstGeom>
          <a:noFill/>
          <a:ln/>
        </p:spPr>
        <p:txBody>
          <a:bodyPr wrap="square" lIns="0" tIns="0" rIns="0" bIns="0" rtlCol="0" anchor="ctr"/>
          <a:lstStyle/>
          <a:p>
            <a:pPr algn="ctr" indent="0" marL="0">
              <a:buNone/>
            </a:pPr>
            <a:r>
              <a:rPr lang="en-US" sz="3200" b="1" dirty="0">
                <a:solidFill>
                  <a:srgbClr val="E87722"/>
                </a:solidFill>
                <a:latin typeface="Georgia" pitchFamily="34" charset="0"/>
                <a:ea typeface="Georgia" pitchFamily="34" charset="-122"/>
                <a:cs typeface="Georgia" pitchFamily="34" charset="-120"/>
              </a:rPr>
              <a:t>82.5</a:t>
            </a:r>
            <a:endParaRPr lang="en-US" sz="3200" dirty="0"/>
          </a:p>
        </p:txBody>
      </p:sp>
      <p:sp>
        <p:nvSpPr>
          <p:cNvPr id="16" name="Text 14"/>
          <p:cNvSpPr/>
          <p:nvPr/>
        </p:nvSpPr>
        <p:spPr>
          <a:xfrm>
            <a:off x="4690872" y="1856232"/>
            <a:ext cx="1865376" cy="329184"/>
          </a:xfrm>
          <a:prstGeom prst="rect">
            <a:avLst/>
          </a:prstGeom>
          <a:noFill/>
          <a:ln/>
        </p:spPr>
        <p:txBody>
          <a:bodyPr wrap="square" lIns="0" tIns="0" rIns="0" bIns="0" rtlCol="0" anchor="ctr"/>
          <a:lstStyle/>
          <a:p>
            <a:pPr algn="ctr" indent="0" marL="0">
              <a:buNone/>
            </a:pPr>
            <a:r>
              <a:rPr lang="en-US" sz="1000" dirty="0">
                <a:solidFill>
                  <a:srgbClr val="A8C5DA"/>
                </a:solidFill>
                <a:latin typeface="Calibri" pitchFamily="34" charset="0"/>
                <a:ea typeface="Calibri" pitchFamily="34" charset="-122"/>
                <a:cs typeface="Calibri" pitchFamily="34" charset="-120"/>
              </a:rPr>
              <a:t>Mean SUS Score</a:t>
            </a:r>
            <a:endParaRPr lang="en-US" sz="1000" dirty="0"/>
          </a:p>
        </p:txBody>
      </p:sp>
      <p:sp>
        <p:nvSpPr>
          <p:cNvPr id="17" name="Text 15"/>
          <p:cNvSpPr/>
          <p:nvPr/>
        </p:nvSpPr>
        <p:spPr>
          <a:xfrm>
            <a:off x="4727448" y="2350008"/>
            <a:ext cx="1792224" cy="201168"/>
          </a:xfrm>
          <a:prstGeom prst="rect">
            <a:avLst/>
          </a:prstGeom>
          <a:noFill/>
          <a:ln/>
        </p:spPr>
        <p:txBody>
          <a:bodyPr wrap="square" lIns="0" tIns="0" rIns="0" bIns="0" rtlCol="0" anchor="ctr"/>
          <a:lstStyle/>
          <a:p>
            <a:pPr algn="ctr" indent="0" marL="0">
              <a:buNone/>
            </a:pPr>
            <a:r>
              <a:rPr lang="en-US" sz="850" i="1" dirty="0">
                <a:solidFill>
                  <a:srgbClr val="6B7280"/>
                </a:solidFill>
                <a:latin typeface="Calibri" pitchFamily="34" charset="0"/>
                <a:ea typeface="Calibri" pitchFamily="34" charset="-122"/>
                <a:cs typeface="Calibri" pitchFamily="34" charset="-120"/>
              </a:rPr>
              <a:t>vs 38.0  (+44.5 pts)</a:t>
            </a:r>
            <a:endParaRPr lang="en-US" sz="850" dirty="0"/>
          </a:p>
        </p:txBody>
      </p:sp>
      <p:sp>
        <p:nvSpPr>
          <p:cNvPr id="18" name="Shape 16"/>
          <p:cNvSpPr/>
          <p:nvPr/>
        </p:nvSpPr>
        <p:spPr>
          <a:xfrm>
            <a:off x="6766560" y="960120"/>
            <a:ext cx="2011680" cy="1600200"/>
          </a:xfrm>
          <a:prstGeom prst="rect">
            <a:avLst/>
          </a:prstGeom>
          <a:solidFill>
            <a:srgbClr val="1B2A4A"/>
          </a:solidFill>
          <a:ln w="12700">
            <a:solidFill>
              <a:srgbClr val="1B2A4A"/>
            </a:solidFill>
            <a:prstDash val="solid"/>
          </a:ln>
          <a:effectLst>
            <a:outerShdw sx="100000" sy="100000" kx="0" ky="0" algn="bl" rotWithShape="0" blurRad="76200" dist="25400" dir="8100000">
              <a:srgbClr val="000000">
                <a:alpha val="9000"/>
              </a:srgbClr>
            </a:outerShdw>
          </a:effectLst>
        </p:spPr>
      </p:sp>
      <p:sp>
        <p:nvSpPr>
          <p:cNvPr id="19" name="Text 17"/>
          <p:cNvSpPr/>
          <p:nvPr/>
        </p:nvSpPr>
        <p:spPr>
          <a:xfrm>
            <a:off x="6839712" y="1033272"/>
            <a:ext cx="1865376" cy="804672"/>
          </a:xfrm>
          <a:prstGeom prst="rect">
            <a:avLst/>
          </a:prstGeom>
          <a:noFill/>
          <a:ln/>
        </p:spPr>
        <p:txBody>
          <a:bodyPr wrap="square" lIns="0" tIns="0" rIns="0" bIns="0" rtlCol="0" anchor="ctr"/>
          <a:lstStyle/>
          <a:p>
            <a:pPr algn="ctr" indent="0" marL="0">
              <a:buNone/>
            </a:pPr>
            <a:r>
              <a:rPr lang="en-US" sz="3200" b="1" dirty="0">
                <a:solidFill>
                  <a:srgbClr val="E87722"/>
                </a:solidFill>
                <a:latin typeface="Georgia" pitchFamily="34" charset="0"/>
                <a:ea typeface="Georgia" pitchFamily="34" charset="-122"/>
                <a:cs typeface="Georgia" pitchFamily="34" charset="-120"/>
              </a:rPr>
              <a:t>0.9</a:t>
            </a:r>
            <a:endParaRPr lang="en-US" sz="3200" dirty="0"/>
          </a:p>
        </p:txBody>
      </p:sp>
      <p:sp>
        <p:nvSpPr>
          <p:cNvPr id="20" name="Text 18"/>
          <p:cNvSpPr/>
          <p:nvPr/>
        </p:nvSpPr>
        <p:spPr>
          <a:xfrm>
            <a:off x="6839712" y="1856232"/>
            <a:ext cx="1865376" cy="329184"/>
          </a:xfrm>
          <a:prstGeom prst="rect">
            <a:avLst/>
          </a:prstGeom>
          <a:noFill/>
          <a:ln/>
        </p:spPr>
        <p:txBody>
          <a:bodyPr wrap="square" lIns="0" tIns="0" rIns="0" bIns="0" rtlCol="0" anchor="ctr"/>
          <a:lstStyle/>
          <a:p>
            <a:pPr algn="ctr" indent="0" marL="0">
              <a:buNone/>
            </a:pPr>
            <a:r>
              <a:rPr lang="en-US" sz="1000" dirty="0">
                <a:solidFill>
                  <a:srgbClr val="A8C5DA"/>
                </a:solidFill>
                <a:latin typeface="Calibri" pitchFamily="34" charset="0"/>
                <a:ea typeface="Calibri" pitchFamily="34" charset="-122"/>
                <a:cs typeface="Calibri" pitchFamily="34" charset="-120"/>
              </a:rPr>
              <a:t>Mean Error Count</a:t>
            </a:r>
            <a:endParaRPr lang="en-US" sz="1000" dirty="0"/>
          </a:p>
        </p:txBody>
      </p:sp>
      <p:sp>
        <p:nvSpPr>
          <p:cNvPr id="21" name="Text 19"/>
          <p:cNvSpPr/>
          <p:nvPr/>
        </p:nvSpPr>
        <p:spPr>
          <a:xfrm>
            <a:off x="6876288" y="2350008"/>
            <a:ext cx="1792224" cy="201168"/>
          </a:xfrm>
          <a:prstGeom prst="rect">
            <a:avLst/>
          </a:prstGeom>
          <a:noFill/>
          <a:ln/>
        </p:spPr>
        <p:txBody>
          <a:bodyPr wrap="square" lIns="0" tIns="0" rIns="0" bIns="0" rtlCol="0" anchor="ctr"/>
          <a:lstStyle/>
          <a:p>
            <a:pPr algn="ctr" indent="0" marL="0">
              <a:buNone/>
            </a:pPr>
            <a:r>
              <a:rPr lang="en-US" sz="850" i="1" dirty="0">
                <a:solidFill>
                  <a:srgbClr val="6B7280"/>
                </a:solidFill>
                <a:latin typeface="Calibri" pitchFamily="34" charset="0"/>
                <a:ea typeface="Calibri" pitchFamily="34" charset="-122"/>
                <a:cs typeface="Calibri" pitchFamily="34" charset="-120"/>
              </a:rPr>
              <a:t>vs 8.3  (−89%)</a:t>
            </a:r>
            <a:endParaRPr lang="en-US" sz="850" dirty="0"/>
          </a:p>
        </p:txBody>
      </p:sp>
      <p:pic>
        <p:nvPicPr>
          <p:cNvPr id="22" name="Image 0" descr="/sessions/nifty-eager-shannon/mnt/outputs/pptx-build/imgs/SUS_Score.jpeg">    </p:cNvPr>
          <p:cNvPicPr>
            <a:picLocks noChangeAspect="1"/>
          </p:cNvPicPr>
          <p:nvPr/>
        </p:nvPicPr>
        <p:blipFill>
          <a:blip r:embed="rId1"/>
          <a:srcRect l="0" r="0" t="0" b="0"/>
          <a:stretch/>
        </p:blipFill>
        <p:spPr>
          <a:xfrm>
            <a:off x="320040" y="2670048"/>
            <a:ext cx="3864620" cy="2194560"/>
          </a:xfrm>
          <a:prstGeom prst="rect">
            <a:avLst/>
          </a:prstGeom>
        </p:spPr>
      </p:pic>
      <p:pic>
        <p:nvPicPr>
          <p:cNvPr id="23" name="Image 1" descr="/sessions/nifty-eager-shannon/mnt/outputs/pptx-build/imgs/Comparative_.jpeg">    </p:cNvPr>
          <p:cNvPicPr>
            <a:picLocks noChangeAspect="1"/>
          </p:cNvPicPr>
          <p:nvPr/>
        </p:nvPicPr>
        <p:blipFill>
          <a:blip r:embed="rId2"/>
          <a:srcRect l="0" r="0" t="0" b="0"/>
          <a:stretch/>
        </p:blipFill>
        <p:spPr>
          <a:xfrm>
            <a:off x="4413260" y="2670048"/>
            <a:ext cx="1472550" cy="2194560"/>
          </a:xfrm>
          <a:prstGeom prst="rect">
            <a:avLst/>
          </a:prstGeom>
        </p:spPr>
      </p:pic>
      <p:sp>
        <p:nvSpPr>
          <p:cNvPr id="24" name="Text 20"/>
          <p:cNvSpPr/>
          <p:nvPr/>
        </p:nvSpPr>
        <p:spPr>
          <a:xfrm>
            <a:off x="6114410" y="2670048"/>
            <a:ext cx="2800990" cy="2194560"/>
          </a:xfrm>
          <a:prstGeom prst="rect">
            <a:avLst/>
          </a:prstGeom>
          <a:noFill/>
          <a:ln/>
        </p:spPr>
        <p:txBody>
          <a:bodyPr wrap="square" lIns="0" tIns="0" rIns="0" bIns="0" rtlCol="0" anchor="ctr"/>
          <a:lstStyle/>
          <a:p>
            <a:pPr indent="0" marL="0">
              <a:buNone/>
            </a:pPr>
            <a:r>
              <a:rPr lang="en-US" sz="1100" dirty="0">
                <a:solidFill>
                  <a:srgbClr val="374151"/>
                </a:solidFill>
                <a:latin typeface="Calibri" pitchFamily="34" charset="0"/>
                <a:ea typeface="Calibri" pitchFamily="34" charset="-122"/>
                <a:cs typeface="Calibri" pitchFamily="34" charset="-120"/>
              </a:rPr>
              <a:t>Every metric improved significantly. SUS scores cluster tightly above 80 — indicating consistency, not outliers. The comparative chart shows the gap holds across all 5 tasks.</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01168"/>
            <a:ext cx="8321040" cy="201168"/>
          </a:xfrm>
          <a:prstGeom prst="rect">
            <a:avLst/>
          </a:prstGeom>
          <a:noFill/>
          <a:ln/>
        </p:spPr>
        <p:txBody>
          <a:bodyPr wrap="square" lIns="0" tIns="0" rIns="0" bIns="0" rtlCol="0" anchor="ctr"/>
          <a:lstStyle/>
          <a:p>
            <a:pPr indent="0" marL="0">
              <a:buNone/>
            </a:pPr>
            <a:r>
              <a:rPr lang="en-US" sz="900" b="1" spc="300" kern="0" dirty="0">
                <a:solidFill>
                  <a:srgbClr val="E87722"/>
                </a:solidFill>
                <a:latin typeface="Calibri" pitchFamily="34" charset="0"/>
                <a:ea typeface="Calibri" pitchFamily="34" charset="-122"/>
                <a:cs typeface="Calibri" pitchFamily="34" charset="-120"/>
              </a:rPr>
              <a:t>05 · EVALUATION</a:t>
            </a:r>
            <a:endParaRPr lang="en-US" sz="900" dirty="0"/>
          </a:p>
        </p:txBody>
      </p:sp>
      <p:sp>
        <p:nvSpPr>
          <p:cNvPr id="3" name="Shape 1"/>
          <p:cNvSpPr/>
          <p:nvPr/>
        </p:nvSpPr>
        <p:spPr>
          <a:xfrm>
            <a:off x="384048" y="274320"/>
            <a:ext cx="64008" cy="502920"/>
          </a:xfrm>
          <a:prstGeom prst="rect">
            <a:avLst/>
          </a:prstGeom>
          <a:solidFill>
            <a:srgbClr val="E87722"/>
          </a:solidFill>
          <a:ln w="12700">
            <a:solidFill>
              <a:srgbClr val="E87722"/>
            </a:solidFill>
            <a:prstDash val="solid"/>
          </a:ln>
        </p:spPr>
      </p:sp>
      <p:sp>
        <p:nvSpPr>
          <p:cNvPr id="4" name="Text 2"/>
          <p:cNvSpPr/>
          <p:nvPr/>
        </p:nvSpPr>
        <p:spPr>
          <a:xfrm>
            <a:off x="548640" y="274320"/>
            <a:ext cx="8321040" cy="502920"/>
          </a:xfrm>
          <a:prstGeom prst="rect">
            <a:avLst/>
          </a:prstGeom>
          <a:noFill/>
          <a:ln/>
        </p:spPr>
        <p:txBody>
          <a:bodyPr wrap="square" lIns="0" tIns="0" rIns="0" bIns="0" rtlCol="0" anchor="ctr"/>
          <a:lstStyle/>
          <a:p>
            <a:pPr indent="0" marL="0">
              <a:buNone/>
            </a:pPr>
            <a:r>
              <a:rPr lang="en-US" sz="2400" b="1" dirty="0">
                <a:solidFill>
                  <a:srgbClr val="1B2A4A"/>
                </a:solidFill>
                <a:latin typeface="Georgia" pitchFamily="34" charset="0"/>
                <a:ea typeface="Georgia" pitchFamily="34" charset="-122"/>
                <a:cs typeface="Georgia" pitchFamily="34" charset="-120"/>
              </a:rPr>
              <a:t>Discussion — Research Questions Answered</a:t>
            </a:r>
            <a:endParaRPr lang="en-US" sz="2400" dirty="0"/>
          </a:p>
        </p:txBody>
      </p:sp>
      <p:sp>
        <p:nvSpPr>
          <p:cNvPr id="5" name="Text 3"/>
          <p:cNvSpPr/>
          <p:nvPr/>
        </p:nvSpPr>
        <p:spPr>
          <a:xfrm>
            <a:off x="7772400" y="4846320"/>
            <a:ext cx="1097280" cy="182880"/>
          </a:xfrm>
          <a:prstGeom prst="rect">
            <a:avLst/>
          </a:prstGeom>
          <a:noFill/>
          <a:ln/>
        </p:spPr>
        <p:txBody>
          <a:bodyPr wrap="square" lIns="0" tIns="0" rIns="0" bIns="0"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17 / 24</a:t>
            </a:r>
            <a:endParaRPr lang="en-US" sz="800" dirty="0"/>
          </a:p>
        </p:txBody>
      </p:sp>
      <p:sp>
        <p:nvSpPr>
          <p:cNvPr id="6" name="Shape 4"/>
          <p:cNvSpPr/>
          <p:nvPr/>
        </p:nvSpPr>
        <p:spPr>
          <a:xfrm>
            <a:off x="411480" y="987552"/>
            <a:ext cx="502920" cy="777240"/>
          </a:xfrm>
          <a:prstGeom prst="rect">
            <a:avLst/>
          </a:prstGeom>
          <a:solidFill>
            <a:srgbClr val="1B2A4A"/>
          </a:solidFill>
          <a:ln w="12700">
            <a:solidFill>
              <a:srgbClr val="1B2A4A"/>
            </a:solidFill>
            <a:prstDash val="solid"/>
          </a:ln>
        </p:spPr>
      </p:sp>
      <p:sp>
        <p:nvSpPr>
          <p:cNvPr id="7" name="Text 5"/>
          <p:cNvSpPr/>
          <p:nvPr/>
        </p:nvSpPr>
        <p:spPr>
          <a:xfrm>
            <a:off x="411480" y="987552"/>
            <a:ext cx="502920" cy="777240"/>
          </a:xfrm>
          <a:prstGeom prst="rect">
            <a:avLst/>
          </a:prstGeom>
          <a:noFill/>
          <a:ln/>
        </p:spPr>
        <p:txBody>
          <a:bodyPr wrap="square" lIns="0" tIns="0" rIns="0" bIns="0" rtlCol="0" anchor="ctr"/>
          <a:lstStyle/>
          <a:p>
            <a:pPr algn="ctr" indent="0" marL="0">
              <a:buNone/>
            </a:pPr>
            <a:r>
              <a:rPr lang="en-US" sz="1000" b="1" dirty="0">
                <a:solidFill>
                  <a:srgbClr val="E87722"/>
                </a:solidFill>
                <a:latin typeface="Calibri" pitchFamily="34" charset="0"/>
                <a:ea typeface="Calibri" pitchFamily="34" charset="-122"/>
                <a:cs typeface="Calibri" pitchFamily="34" charset="-120"/>
              </a:rPr>
              <a:t>RQ1</a:t>
            </a:r>
            <a:endParaRPr lang="en-US" sz="1000" dirty="0"/>
          </a:p>
        </p:txBody>
      </p:sp>
      <p:sp>
        <p:nvSpPr>
          <p:cNvPr id="8" name="Text 6"/>
          <p:cNvSpPr/>
          <p:nvPr/>
        </p:nvSpPr>
        <p:spPr>
          <a:xfrm>
            <a:off x="1024128" y="1005840"/>
            <a:ext cx="7680960" cy="292608"/>
          </a:xfrm>
          <a:prstGeom prst="rect">
            <a:avLst/>
          </a:prstGeom>
          <a:noFill/>
          <a:ln/>
        </p:spPr>
        <p:txBody>
          <a:bodyPr wrap="square" lIns="0" tIns="0" rIns="0" bIns="0"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What are the specific usability barriers in current H5P workflows?</a:t>
            </a:r>
            <a:endParaRPr lang="en-US" sz="1100" dirty="0"/>
          </a:p>
        </p:txBody>
      </p:sp>
      <p:sp>
        <p:nvSpPr>
          <p:cNvPr id="9" name="Text 7"/>
          <p:cNvSpPr/>
          <p:nvPr/>
        </p:nvSpPr>
        <p:spPr>
          <a:xfrm>
            <a:off x="1024128" y="1307592"/>
            <a:ext cx="7680960" cy="457200"/>
          </a:xfrm>
          <a:prstGeom prst="rect">
            <a:avLst/>
          </a:prstGeom>
          <a:noFill/>
          <a:ln/>
        </p:spPr>
        <p:txBody>
          <a:bodyPr wrap="square" lIns="0" tIns="0" rIns="0" bIns="0" rtlCol="0" anchor="ctr"/>
          <a:lstStyle/>
          <a:p>
            <a:pPr indent="0" marL="0">
              <a:buNone/>
            </a:pPr>
            <a:r>
              <a:rPr lang="en-US" sz="1050" dirty="0">
                <a:solidFill>
                  <a:srgbClr val="374151"/>
                </a:solidFill>
                <a:latin typeface="Calibri" pitchFamily="34" charset="0"/>
                <a:ea typeface="Calibri" pitchFamily="34" charset="-122"/>
                <a:cs typeface="Calibri" pitchFamily="34" charset="-120"/>
              </a:rPr>
              <a:t>Conclusively identified: multi-screen navigation fragmentation, CMS cognitive burden (shortcodes, WordPress posts), absence of WYSIWYG preview, and zero AI scaffolding. All four were systematically eliminated.</a:t>
            </a:r>
            <a:endParaRPr lang="en-US" sz="1050" dirty="0"/>
          </a:p>
        </p:txBody>
      </p:sp>
      <p:sp>
        <p:nvSpPr>
          <p:cNvPr id="10" name="Shape 8"/>
          <p:cNvSpPr/>
          <p:nvPr/>
        </p:nvSpPr>
        <p:spPr>
          <a:xfrm>
            <a:off x="411480" y="1856232"/>
            <a:ext cx="8321040" cy="0"/>
          </a:xfrm>
          <a:prstGeom prst="line">
            <a:avLst/>
          </a:prstGeom>
          <a:noFill/>
          <a:ln w="6350">
            <a:solidFill>
              <a:srgbClr val="E5E7EB"/>
            </a:solidFill>
            <a:prstDash val="solid"/>
          </a:ln>
        </p:spPr>
      </p:sp>
      <p:sp>
        <p:nvSpPr>
          <p:cNvPr id="11" name="Shape 9"/>
          <p:cNvSpPr/>
          <p:nvPr/>
        </p:nvSpPr>
        <p:spPr>
          <a:xfrm>
            <a:off x="411480" y="1993392"/>
            <a:ext cx="502920" cy="777240"/>
          </a:xfrm>
          <a:prstGeom prst="rect">
            <a:avLst/>
          </a:prstGeom>
          <a:solidFill>
            <a:srgbClr val="1B2A4A"/>
          </a:solidFill>
          <a:ln w="12700">
            <a:solidFill>
              <a:srgbClr val="1B2A4A"/>
            </a:solidFill>
            <a:prstDash val="solid"/>
          </a:ln>
        </p:spPr>
      </p:sp>
      <p:sp>
        <p:nvSpPr>
          <p:cNvPr id="12" name="Text 10"/>
          <p:cNvSpPr/>
          <p:nvPr/>
        </p:nvSpPr>
        <p:spPr>
          <a:xfrm>
            <a:off x="411480" y="1993392"/>
            <a:ext cx="502920" cy="777240"/>
          </a:xfrm>
          <a:prstGeom prst="rect">
            <a:avLst/>
          </a:prstGeom>
          <a:noFill/>
          <a:ln/>
        </p:spPr>
        <p:txBody>
          <a:bodyPr wrap="square" lIns="0" tIns="0" rIns="0" bIns="0" rtlCol="0" anchor="ctr"/>
          <a:lstStyle/>
          <a:p>
            <a:pPr algn="ctr" indent="0" marL="0">
              <a:buNone/>
            </a:pPr>
            <a:r>
              <a:rPr lang="en-US" sz="1000" b="1" dirty="0">
                <a:solidFill>
                  <a:srgbClr val="E87722"/>
                </a:solidFill>
                <a:latin typeface="Calibri" pitchFamily="34" charset="0"/>
                <a:ea typeface="Calibri" pitchFamily="34" charset="-122"/>
                <a:cs typeface="Calibri" pitchFamily="34" charset="-120"/>
              </a:rPr>
              <a:t>RQ2</a:t>
            </a:r>
            <a:endParaRPr lang="en-US" sz="1000" dirty="0"/>
          </a:p>
        </p:txBody>
      </p:sp>
      <p:sp>
        <p:nvSpPr>
          <p:cNvPr id="13" name="Text 11"/>
          <p:cNvSpPr/>
          <p:nvPr/>
        </p:nvSpPr>
        <p:spPr>
          <a:xfrm>
            <a:off x="1024128" y="2011680"/>
            <a:ext cx="7680960" cy="292608"/>
          </a:xfrm>
          <a:prstGeom prst="rect">
            <a:avLst/>
          </a:prstGeom>
          <a:noFill/>
          <a:ln/>
        </p:spPr>
        <p:txBody>
          <a:bodyPr wrap="square" lIns="0" tIns="0" rIns="0" bIns="0"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How can UCD reduce extraneous cognitive load in interactive authoring?</a:t>
            </a:r>
            <a:endParaRPr lang="en-US" sz="1100" dirty="0"/>
          </a:p>
        </p:txBody>
      </p:sp>
      <p:sp>
        <p:nvSpPr>
          <p:cNvPr id="14" name="Text 12"/>
          <p:cNvSpPr/>
          <p:nvPr/>
        </p:nvSpPr>
        <p:spPr>
          <a:xfrm>
            <a:off x="1024128" y="2313432"/>
            <a:ext cx="7680960" cy="457200"/>
          </a:xfrm>
          <a:prstGeom prst="rect">
            <a:avLst/>
          </a:prstGeom>
          <a:noFill/>
          <a:ln/>
        </p:spPr>
        <p:txBody>
          <a:bodyPr wrap="square" lIns="0" tIns="0" rIns="0" bIns="0" rtlCol="0" anchor="ctr"/>
          <a:lstStyle/>
          <a:p>
            <a:pPr indent="0" marL="0">
              <a:buNone/>
            </a:pPr>
            <a:r>
              <a:rPr lang="en-US" sz="1050" dirty="0">
                <a:solidFill>
                  <a:srgbClr val="374151"/>
                </a:solidFill>
                <a:latin typeface="Calibri" pitchFamily="34" charset="0"/>
                <a:ea typeface="Calibri" pitchFamily="34" charset="-122"/>
                <a:cs typeface="Calibri" pitchFamily="34" charset="-120"/>
              </a:rPr>
              <a:t>By aggressively co-locating the video player, timestamp tool, question editor, and AI panel on one viewport, the split-attention effect was eliminated. UI interactions fell from 47 to 8.</a:t>
            </a:r>
            <a:endParaRPr lang="en-US" sz="1050" dirty="0"/>
          </a:p>
        </p:txBody>
      </p:sp>
      <p:sp>
        <p:nvSpPr>
          <p:cNvPr id="15" name="Shape 13"/>
          <p:cNvSpPr/>
          <p:nvPr/>
        </p:nvSpPr>
        <p:spPr>
          <a:xfrm>
            <a:off x="411480" y="2862072"/>
            <a:ext cx="8321040" cy="0"/>
          </a:xfrm>
          <a:prstGeom prst="line">
            <a:avLst/>
          </a:prstGeom>
          <a:noFill/>
          <a:ln w="6350">
            <a:solidFill>
              <a:srgbClr val="E5E7EB"/>
            </a:solidFill>
            <a:prstDash val="solid"/>
          </a:ln>
        </p:spPr>
      </p:sp>
      <p:sp>
        <p:nvSpPr>
          <p:cNvPr id="16" name="Shape 14"/>
          <p:cNvSpPr/>
          <p:nvPr/>
        </p:nvSpPr>
        <p:spPr>
          <a:xfrm>
            <a:off x="411480" y="2999232"/>
            <a:ext cx="502920" cy="777240"/>
          </a:xfrm>
          <a:prstGeom prst="rect">
            <a:avLst/>
          </a:prstGeom>
          <a:solidFill>
            <a:srgbClr val="1B2A4A"/>
          </a:solidFill>
          <a:ln w="12700">
            <a:solidFill>
              <a:srgbClr val="1B2A4A"/>
            </a:solidFill>
            <a:prstDash val="solid"/>
          </a:ln>
        </p:spPr>
      </p:sp>
      <p:sp>
        <p:nvSpPr>
          <p:cNvPr id="17" name="Text 15"/>
          <p:cNvSpPr/>
          <p:nvPr/>
        </p:nvSpPr>
        <p:spPr>
          <a:xfrm>
            <a:off x="411480" y="2999232"/>
            <a:ext cx="502920" cy="777240"/>
          </a:xfrm>
          <a:prstGeom prst="rect">
            <a:avLst/>
          </a:prstGeom>
          <a:noFill/>
          <a:ln/>
        </p:spPr>
        <p:txBody>
          <a:bodyPr wrap="square" lIns="0" tIns="0" rIns="0" bIns="0" rtlCol="0" anchor="ctr"/>
          <a:lstStyle/>
          <a:p>
            <a:pPr algn="ctr" indent="0" marL="0">
              <a:buNone/>
            </a:pPr>
            <a:r>
              <a:rPr lang="en-US" sz="1000" b="1" dirty="0">
                <a:solidFill>
                  <a:srgbClr val="E87722"/>
                </a:solidFill>
                <a:latin typeface="Calibri" pitchFamily="34" charset="0"/>
                <a:ea typeface="Calibri" pitchFamily="34" charset="-122"/>
                <a:cs typeface="Calibri" pitchFamily="34" charset="-120"/>
              </a:rPr>
              <a:t>RQ3</a:t>
            </a:r>
            <a:endParaRPr lang="en-US" sz="1000" dirty="0"/>
          </a:p>
        </p:txBody>
      </p:sp>
      <p:sp>
        <p:nvSpPr>
          <p:cNvPr id="18" name="Text 16"/>
          <p:cNvSpPr/>
          <p:nvPr/>
        </p:nvSpPr>
        <p:spPr>
          <a:xfrm>
            <a:off x="1024128" y="3017520"/>
            <a:ext cx="7680960" cy="292608"/>
          </a:xfrm>
          <a:prstGeom prst="rect">
            <a:avLst/>
          </a:prstGeom>
          <a:noFill/>
          <a:ln/>
        </p:spPr>
        <p:txBody>
          <a:bodyPr wrap="square" lIns="0" tIns="0" rIns="0" bIns="0"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What architecture best supports AI-assisted H5P authoring?</a:t>
            </a:r>
            <a:endParaRPr lang="en-US" sz="1100" dirty="0"/>
          </a:p>
        </p:txBody>
      </p:sp>
      <p:sp>
        <p:nvSpPr>
          <p:cNvPr id="19" name="Text 17"/>
          <p:cNvSpPr/>
          <p:nvPr/>
        </p:nvSpPr>
        <p:spPr>
          <a:xfrm>
            <a:off x="1024128" y="3319272"/>
            <a:ext cx="7680960" cy="457200"/>
          </a:xfrm>
          <a:prstGeom prst="rect">
            <a:avLst/>
          </a:prstGeom>
          <a:noFill/>
          <a:ln/>
        </p:spPr>
        <p:txBody>
          <a:bodyPr wrap="square" lIns="0" tIns="0" rIns="0" bIns="0" rtlCol="0" anchor="ctr"/>
          <a:lstStyle/>
          <a:p>
            <a:pPr indent="0" marL="0">
              <a:buNone/>
            </a:pPr>
            <a:r>
              <a:rPr lang="en-US" sz="1050" dirty="0">
                <a:solidFill>
                  <a:srgbClr val="374151"/>
                </a:solidFill>
                <a:latin typeface="Calibri" pitchFamily="34" charset="0"/>
                <a:ea typeface="Calibri" pitchFamily="34" charset="-122"/>
                <a:cs typeface="Calibri" pitchFamily="34" charset="-120"/>
              </a:rPr>
              <a:t>A resilient dual-provider LLM chain (Groq → Ollama → Claude) with Zod-based structured output validation and SSE streaming. Headless Lumieducation H5P library decouples from WordPress entirely.</a:t>
            </a:r>
            <a:endParaRPr lang="en-US" sz="1050" dirty="0"/>
          </a:p>
        </p:txBody>
      </p:sp>
      <p:sp>
        <p:nvSpPr>
          <p:cNvPr id="20" name="Shape 18"/>
          <p:cNvSpPr/>
          <p:nvPr/>
        </p:nvSpPr>
        <p:spPr>
          <a:xfrm>
            <a:off x="411480" y="3867912"/>
            <a:ext cx="8321040" cy="0"/>
          </a:xfrm>
          <a:prstGeom prst="line">
            <a:avLst/>
          </a:prstGeom>
          <a:noFill/>
          <a:ln w="6350">
            <a:solidFill>
              <a:srgbClr val="E5E7EB"/>
            </a:solidFill>
            <a:prstDash val="solid"/>
          </a:ln>
        </p:spPr>
      </p:sp>
      <p:sp>
        <p:nvSpPr>
          <p:cNvPr id="21" name="Shape 19"/>
          <p:cNvSpPr/>
          <p:nvPr/>
        </p:nvSpPr>
        <p:spPr>
          <a:xfrm>
            <a:off x="411480" y="4005072"/>
            <a:ext cx="502920" cy="777240"/>
          </a:xfrm>
          <a:prstGeom prst="rect">
            <a:avLst/>
          </a:prstGeom>
          <a:solidFill>
            <a:srgbClr val="1B2A4A"/>
          </a:solidFill>
          <a:ln w="12700">
            <a:solidFill>
              <a:srgbClr val="1B2A4A"/>
            </a:solidFill>
            <a:prstDash val="solid"/>
          </a:ln>
        </p:spPr>
      </p:sp>
      <p:sp>
        <p:nvSpPr>
          <p:cNvPr id="22" name="Text 20"/>
          <p:cNvSpPr/>
          <p:nvPr/>
        </p:nvSpPr>
        <p:spPr>
          <a:xfrm>
            <a:off x="411480" y="4005072"/>
            <a:ext cx="502920" cy="777240"/>
          </a:xfrm>
          <a:prstGeom prst="rect">
            <a:avLst/>
          </a:prstGeom>
          <a:noFill/>
          <a:ln/>
        </p:spPr>
        <p:txBody>
          <a:bodyPr wrap="square" lIns="0" tIns="0" rIns="0" bIns="0" rtlCol="0" anchor="ctr"/>
          <a:lstStyle/>
          <a:p>
            <a:pPr algn="ctr" indent="0" marL="0">
              <a:buNone/>
            </a:pPr>
            <a:r>
              <a:rPr lang="en-US" sz="1000" b="1" dirty="0">
                <a:solidFill>
                  <a:srgbClr val="E87722"/>
                </a:solidFill>
                <a:latin typeface="Calibri" pitchFamily="34" charset="0"/>
                <a:ea typeface="Calibri" pitchFamily="34" charset="-122"/>
                <a:cs typeface="Calibri" pitchFamily="34" charset="-120"/>
              </a:rPr>
              <a:t>RQ4</a:t>
            </a:r>
            <a:endParaRPr lang="en-US" sz="1000" dirty="0"/>
          </a:p>
        </p:txBody>
      </p:sp>
      <p:sp>
        <p:nvSpPr>
          <p:cNvPr id="23" name="Text 21"/>
          <p:cNvSpPr/>
          <p:nvPr/>
        </p:nvSpPr>
        <p:spPr>
          <a:xfrm>
            <a:off x="1024128" y="4023360"/>
            <a:ext cx="7680960" cy="292608"/>
          </a:xfrm>
          <a:prstGeom prst="rect">
            <a:avLst/>
          </a:prstGeom>
          <a:noFill/>
          <a:ln/>
        </p:spPr>
        <p:txBody>
          <a:bodyPr wrap="square" lIns="0" tIns="0" rIns="0" bIns="0"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To what extent does the platform outperform the WordPress baseline?</a:t>
            </a:r>
            <a:endParaRPr lang="en-US" sz="1100" dirty="0"/>
          </a:p>
        </p:txBody>
      </p:sp>
      <p:sp>
        <p:nvSpPr>
          <p:cNvPr id="24" name="Text 22"/>
          <p:cNvSpPr/>
          <p:nvPr/>
        </p:nvSpPr>
        <p:spPr>
          <a:xfrm>
            <a:off x="1024128" y="4325112"/>
            <a:ext cx="7680960" cy="457200"/>
          </a:xfrm>
          <a:prstGeom prst="rect">
            <a:avLst/>
          </a:prstGeom>
          <a:noFill/>
          <a:ln/>
        </p:spPr>
        <p:txBody>
          <a:bodyPr wrap="square" lIns="0" tIns="0" rIns="0" bIns="0" rtlCol="0" anchor="ctr"/>
          <a:lstStyle/>
          <a:p>
            <a:pPr indent="0" marL="0">
              <a:buNone/>
            </a:pPr>
            <a:r>
              <a:rPr lang="en-US" sz="1050" dirty="0">
                <a:solidFill>
                  <a:srgbClr val="374151"/>
                </a:solidFill>
                <a:latin typeface="Calibri" pitchFamily="34" charset="0"/>
                <a:ea typeface="Calibri" pitchFamily="34" charset="-122"/>
                <a:cs typeface="Calibri" pitchFamily="34" charset="-120"/>
              </a:rPr>
              <a:t>+65pp task completion · −93% time · −89% errors · +44.5 SUS points (Poor → Excellent). Every metric improved across every task — exceeding all non-functional requirements set at the outset.</a:t>
            </a:r>
            <a:endParaRPr lang="en-US" sz="10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01168"/>
            <a:ext cx="8321040" cy="201168"/>
          </a:xfrm>
          <a:prstGeom prst="rect">
            <a:avLst/>
          </a:prstGeom>
          <a:noFill/>
          <a:ln/>
        </p:spPr>
        <p:txBody>
          <a:bodyPr wrap="square" lIns="0" tIns="0" rIns="0" bIns="0" rtlCol="0" anchor="ctr"/>
          <a:lstStyle/>
          <a:p>
            <a:pPr indent="0" marL="0">
              <a:buNone/>
            </a:pPr>
            <a:r>
              <a:rPr lang="en-US" sz="900" b="1" spc="300" kern="0" dirty="0">
                <a:solidFill>
                  <a:srgbClr val="E87722"/>
                </a:solidFill>
                <a:latin typeface="Calibri" pitchFamily="34" charset="0"/>
                <a:ea typeface="Calibri" pitchFamily="34" charset="-122"/>
                <a:cs typeface="Calibri" pitchFamily="34" charset="-120"/>
              </a:rPr>
              <a:t>06 · CONCLUSION</a:t>
            </a:r>
            <a:endParaRPr lang="en-US" sz="900" dirty="0"/>
          </a:p>
        </p:txBody>
      </p:sp>
      <p:sp>
        <p:nvSpPr>
          <p:cNvPr id="3" name="Shape 1"/>
          <p:cNvSpPr/>
          <p:nvPr/>
        </p:nvSpPr>
        <p:spPr>
          <a:xfrm>
            <a:off x="384048" y="274320"/>
            <a:ext cx="64008" cy="502920"/>
          </a:xfrm>
          <a:prstGeom prst="rect">
            <a:avLst/>
          </a:prstGeom>
          <a:solidFill>
            <a:srgbClr val="E87722"/>
          </a:solidFill>
          <a:ln w="12700">
            <a:solidFill>
              <a:srgbClr val="E87722"/>
            </a:solidFill>
            <a:prstDash val="solid"/>
          </a:ln>
        </p:spPr>
      </p:sp>
      <p:sp>
        <p:nvSpPr>
          <p:cNvPr id="4" name="Text 2"/>
          <p:cNvSpPr/>
          <p:nvPr/>
        </p:nvSpPr>
        <p:spPr>
          <a:xfrm>
            <a:off x="548640" y="274320"/>
            <a:ext cx="8321040" cy="502920"/>
          </a:xfrm>
          <a:prstGeom prst="rect">
            <a:avLst/>
          </a:prstGeom>
          <a:noFill/>
          <a:ln/>
        </p:spPr>
        <p:txBody>
          <a:bodyPr wrap="square" lIns="0" tIns="0" rIns="0" bIns="0" rtlCol="0" anchor="ctr"/>
          <a:lstStyle/>
          <a:p>
            <a:pPr indent="0" marL="0">
              <a:buNone/>
            </a:pPr>
            <a:r>
              <a:rPr lang="en-US" sz="2400" b="1" dirty="0">
                <a:solidFill>
                  <a:srgbClr val="1B2A4A"/>
                </a:solidFill>
                <a:latin typeface="Georgia" pitchFamily="34" charset="0"/>
                <a:ea typeface="Georgia" pitchFamily="34" charset="-122"/>
                <a:cs typeface="Georgia" pitchFamily="34" charset="-120"/>
              </a:rPr>
              <a:t>Research Contributions</a:t>
            </a:r>
            <a:endParaRPr lang="en-US" sz="2400" dirty="0"/>
          </a:p>
        </p:txBody>
      </p:sp>
      <p:sp>
        <p:nvSpPr>
          <p:cNvPr id="5" name="Text 3"/>
          <p:cNvSpPr/>
          <p:nvPr/>
        </p:nvSpPr>
        <p:spPr>
          <a:xfrm>
            <a:off x="7772400" y="4846320"/>
            <a:ext cx="1097280" cy="182880"/>
          </a:xfrm>
          <a:prstGeom prst="rect">
            <a:avLst/>
          </a:prstGeom>
          <a:noFill/>
          <a:ln/>
        </p:spPr>
        <p:txBody>
          <a:bodyPr wrap="square" lIns="0" tIns="0" rIns="0" bIns="0"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18 / 24</a:t>
            </a:r>
            <a:endParaRPr lang="en-US" sz="800" dirty="0"/>
          </a:p>
        </p:txBody>
      </p:sp>
      <p:sp>
        <p:nvSpPr>
          <p:cNvPr id="6" name="Text 4"/>
          <p:cNvSpPr/>
          <p:nvPr/>
        </p:nvSpPr>
        <p:spPr>
          <a:xfrm>
            <a:off x="411480" y="1005840"/>
            <a:ext cx="8321040" cy="347472"/>
          </a:xfrm>
          <a:prstGeom prst="rect">
            <a:avLst/>
          </a:prstGeom>
          <a:noFill/>
          <a:ln/>
        </p:spPr>
        <p:txBody>
          <a:bodyPr wrap="square" lIns="0" tIns="0" rIns="0" bIns="0" rtlCol="0" anchor="ctr"/>
          <a:lstStyle/>
          <a:p>
            <a:pPr indent="0" marL="0">
              <a:buNone/>
            </a:pPr>
            <a:r>
              <a:rPr lang="en-US" sz="1250" dirty="0">
                <a:solidFill>
                  <a:srgbClr val="374151"/>
                </a:solidFill>
                <a:latin typeface="Calibri" pitchFamily="34" charset="0"/>
                <a:ea typeface="Calibri" pitchFamily="34" charset="-122"/>
                <a:cs typeface="Calibri" pitchFamily="34" charset="-120"/>
              </a:rPr>
              <a:t>This thesis makes five distinct contributions to software engineering and educational technology:</a:t>
            </a:r>
            <a:endParaRPr lang="en-US" sz="1250" dirty="0"/>
          </a:p>
        </p:txBody>
      </p:sp>
      <p:sp>
        <p:nvSpPr>
          <p:cNvPr id="7" name="Shape 5"/>
          <p:cNvSpPr/>
          <p:nvPr/>
        </p:nvSpPr>
        <p:spPr>
          <a:xfrm>
            <a:off x="411480" y="1463040"/>
            <a:ext cx="502920" cy="594360"/>
          </a:xfrm>
          <a:prstGeom prst="rect">
            <a:avLst/>
          </a:prstGeom>
          <a:solidFill>
            <a:srgbClr val="E87722"/>
          </a:solidFill>
          <a:ln w="12700">
            <a:solidFill>
              <a:srgbClr val="E87722"/>
            </a:solidFill>
            <a:prstDash val="solid"/>
          </a:ln>
        </p:spPr>
      </p:sp>
      <p:sp>
        <p:nvSpPr>
          <p:cNvPr id="8" name="Text 6"/>
          <p:cNvSpPr/>
          <p:nvPr/>
        </p:nvSpPr>
        <p:spPr>
          <a:xfrm>
            <a:off x="411480" y="1463040"/>
            <a:ext cx="502920" cy="594360"/>
          </a:xfrm>
          <a:prstGeom prst="rect">
            <a:avLst/>
          </a:prstGeom>
          <a:noFill/>
          <a:ln/>
        </p:spPr>
        <p:txBody>
          <a:bodyPr wrap="square" lIns="0" tIns="0" rIns="0" bIns="0" rtlCol="0" anchor="ctr"/>
          <a:lstStyle/>
          <a:p>
            <a:pPr algn="ctr" indent="0" marL="0">
              <a:buNone/>
            </a:pPr>
            <a:r>
              <a:rPr lang="en-US" sz="1200" b="1" dirty="0">
                <a:solidFill>
                  <a:srgbClr val="FFFFFF"/>
                </a:solidFill>
                <a:latin typeface="Georgia" pitchFamily="34" charset="0"/>
                <a:ea typeface="Georgia" pitchFamily="34" charset="-122"/>
                <a:cs typeface="Georgia" pitchFamily="34" charset="-120"/>
              </a:rPr>
              <a:t>01</a:t>
            </a:r>
            <a:endParaRPr lang="en-US" sz="1200" dirty="0"/>
          </a:p>
        </p:txBody>
      </p:sp>
      <p:sp>
        <p:nvSpPr>
          <p:cNvPr id="9" name="Text 7"/>
          <p:cNvSpPr/>
          <p:nvPr/>
        </p:nvSpPr>
        <p:spPr>
          <a:xfrm>
            <a:off x="1024128" y="1499616"/>
            <a:ext cx="7680960" cy="256032"/>
          </a:xfrm>
          <a:prstGeom prst="rect">
            <a:avLst/>
          </a:prstGeom>
          <a:noFill/>
          <a:ln/>
        </p:spPr>
        <p:txBody>
          <a:bodyPr wrap="square" lIns="0" tIns="0" rIns="0" bIns="0" rtlCol="0" anchor="ctr"/>
          <a:lstStyle/>
          <a:p>
            <a:pPr indent="0" marL="0">
              <a:buNone/>
            </a:pPr>
            <a:r>
              <a:rPr lang="en-US" sz="1150" b="1" dirty="0">
                <a:solidFill>
                  <a:srgbClr val="1B2A4A"/>
                </a:solidFill>
                <a:latin typeface="Calibri" pitchFamily="34" charset="0"/>
                <a:ea typeface="Calibri" pitchFamily="34" charset="-122"/>
                <a:cs typeface="Calibri" pitchFamily="34" charset="-120"/>
              </a:rPr>
              <a:t>Production-Ready Authoring Platform</a:t>
            </a:r>
            <a:endParaRPr lang="en-US" sz="1150" dirty="0"/>
          </a:p>
        </p:txBody>
      </p:sp>
      <p:sp>
        <p:nvSpPr>
          <p:cNvPr id="10" name="Text 8"/>
          <p:cNvSpPr/>
          <p:nvPr/>
        </p:nvSpPr>
        <p:spPr>
          <a:xfrm>
            <a:off x="1024128" y="1764792"/>
            <a:ext cx="7680960" cy="256032"/>
          </a:xfrm>
          <a:prstGeom prst="rect">
            <a:avLst/>
          </a:prstGeom>
          <a:noFill/>
          <a:ln/>
        </p:spPr>
        <p:txBody>
          <a:bodyPr wrap="square" lIns="0" tIns="0" rIns="0" bIns="0" rtlCol="0" anchor="ctr"/>
          <a:lstStyle/>
          <a:p>
            <a:pPr indent="0" marL="0">
              <a:buNone/>
            </a:pPr>
            <a:r>
              <a:rPr lang="en-US" sz="1050" dirty="0">
                <a:solidFill>
                  <a:srgbClr val="6B7280"/>
                </a:solidFill>
                <a:latin typeface="Calibri" pitchFamily="34" charset="0"/>
                <a:ea typeface="Calibri" pitchFamily="34" charset="-122"/>
                <a:cs typeface="Calibri" pitchFamily="34" charset="-120"/>
              </a:rPr>
              <a:t>A complete, open-source, CMS-free H5P authoring environment engineered specifically for institutional deployment at VNU-HCM.</a:t>
            </a:r>
            <a:endParaRPr lang="en-US" sz="1050" dirty="0"/>
          </a:p>
        </p:txBody>
      </p:sp>
      <p:sp>
        <p:nvSpPr>
          <p:cNvPr id="11" name="Shape 9"/>
          <p:cNvSpPr/>
          <p:nvPr/>
        </p:nvSpPr>
        <p:spPr>
          <a:xfrm>
            <a:off x="411480" y="2103120"/>
            <a:ext cx="8321040" cy="0"/>
          </a:xfrm>
          <a:prstGeom prst="line">
            <a:avLst/>
          </a:prstGeom>
          <a:noFill/>
          <a:ln w="6350">
            <a:solidFill>
              <a:srgbClr val="E5E7EB"/>
            </a:solidFill>
            <a:prstDash val="solid"/>
          </a:ln>
        </p:spPr>
      </p:sp>
      <p:sp>
        <p:nvSpPr>
          <p:cNvPr id="12" name="Shape 10"/>
          <p:cNvSpPr/>
          <p:nvPr/>
        </p:nvSpPr>
        <p:spPr>
          <a:xfrm>
            <a:off x="411480" y="2176272"/>
            <a:ext cx="502920" cy="594360"/>
          </a:xfrm>
          <a:prstGeom prst="rect">
            <a:avLst/>
          </a:prstGeom>
          <a:solidFill>
            <a:srgbClr val="E87722"/>
          </a:solidFill>
          <a:ln w="12700">
            <a:solidFill>
              <a:srgbClr val="E87722"/>
            </a:solidFill>
            <a:prstDash val="solid"/>
          </a:ln>
        </p:spPr>
      </p:sp>
      <p:sp>
        <p:nvSpPr>
          <p:cNvPr id="13" name="Text 11"/>
          <p:cNvSpPr/>
          <p:nvPr/>
        </p:nvSpPr>
        <p:spPr>
          <a:xfrm>
            <a:off x="411480" y="2176272"/>
            <a:ext cx="502920" cy="594360"/>
          </a:xfrm>
          <a:prstGeom prst="rect">
            <a:avLst/>
          </a:prstGeom>
          <a:noFill/>
          <a:ln/>
        </p:spPr>
        <p:txBody>
          <a:bodyPr wrap="square" lIns="0" tIns="0" rIns="0" bIns="0" rtlCol="0" anchor="ctr"/>
          <a:lstStyle/>
          <a:p>
            <a:pPr algn="ctr" indent="0" marL="0">
              <a:buNone/>
            </a:pPr>
            <a:r>
              <a:rPr lang="en-US" sz="1200" b="1" dirty="0">
                <a:solidFill>
                  <a:srgbClr val="FFFFFF"/>
                </a:solidFill>
                <a:latin typeface="Georgia" pitchFamily="34" charset="0"/>
                <a:ea typeface="Georgia" pitchFamily="34" charset="-122"/>
                <a:cs typeface="Georgia" pitchFamily="34" charset="-120"/>
              </a:rPr>
              <a:t>02</a:t>
            </a:r>
            <a:endParaRPr lang="en-US" sz="1200" dirty="0"/>
          </a:p>
        </p:txBody>
      </p:sp>
      <p:sp>
        <p:nvSpPr>
          <p:cNvPr id="14" name="Text 12"/>
          <p:cNvSpPr/>
          <p:nvPr/>
        </p:nvSpPr>
        <p:spPr>
          <a:xfrm>
            <a:off x="1024128" y="2212848"/>
            <a:ext cx="7680960" cy="256032"/>
          </a:xfrm>
          <a:prstGeom prst="rect">
            <a:avLst/>
          </a:prstGeom>
          <a:noFill/>
          <a:ln/>
        </p:spPr>
        <p:txBody>
          <a:bodyPr wrap="square" lIns="0" tIns="0" rIns="0" bIns="0" rtlCol="0" anchor="ctr"/>
          <a:lstStyle/>
          <a:p>
            <a:pPr indent="0" marL="0">
              <a:buNone/>
            </a:pPr>
            <a:r>
              <a:rPr lang="en-US" sz="1150" b="1" dirty="0">
                <a:solidFill>
                  <a:srgbClr val="1B2A4A"/>
                </a:solidFill>
                <a:latin typeface="Calibri" pitchFamily="34" charset="0"/>
                <a:ea typeface="Calibri" pitchFamily="34" charset="-122"/>
                <a:cs typeface="Calibri" pitchFamily="34" charset="-120"/>
              </a:rPr>
              <a:t>Novel AI-to-H5P Generation Pipeline</a:t>
            </a:r>
            <a:endParaRPr lang="en-US" sz="1150" dirty="0"/>
          </a:p>
        </p:txBody>
      </p:sp>
      <p:sp>
        <p:nvSpPr>
          <p:cNvPr id="15" name="Text 13"/>
          <p:cNvSpPr/>
          <p:nvPr/>
        </p:nvSpPr>
        <p:spPr>
          <a:xfrm>
            <a:off x="1024128" y="2478024"/>
            <a:ext cx="7680960" cy="256032"/>
          </a:xfrm>
          <a:prstGeom prst="rect">
            <a:avLst/>
          </a:prstGeom>
          <a:noFill/>
          <a:ln/>
        </p:spPr>
        <p:txBody>
          <a:bodyPr wrap="square" lIns="0" tIns="0" rIns="0" bIns="0" rtlCol="0" anchor="ctr"/>
          <a:lstStyle/>
          <a:p>
            <a:pPr indent="0" marL="0">
              <a:buNone/>
            </a:pPr>
            <a:r>
              <a:rPr lang="en-US" sz="1050" dirty="0">
                <a:solidFill>
                  <a:srgbClr val="6B7280"/>
                </a:solidFill>
                <a:latin typeface="Calibri" pitchFamily="34" charset="0"/>
                <a:ea typeface="Calibri" pitchFamily="34" charset="-122"/>
                <a:cs typeface="Calibri" pitchFamily="34" charset="-120"/>
              </a:rPr>
              <a:t>The first documented, fully functional integration of a production-grade LLM pipeline directly generating schema-compliant H5P content types classified by Bloom's taxonomy.</a:t>
            </a:r>
            <a:endParaRPr lang="en-US" sz="1050" dirty="0"/>
          </a:p>
        </p:txBody>
      </p:sp>
      <p:sp>
        <p:nvSpPr>
          <p:cNvPr id="16" name="Shape 14"/>
          <p:cNvSpPr/>
          <p:nvPr/>
        </p:nvSpPr>
        <p:spPr>
          <a:xfrm>
            <a:off x="411480" y="2816352"/>
            <a:ext cx="8321040" cy="0"/>
          </a:xfrm>
          <a:prstGeom prst="line">
            <a:avLst/>
          </a:prstGeom>
          <a:noFill/>
          <a:ln w="6350">
            <a:solidFill>
              <a:srgbClr val="E5E7EB"/>
            </a:solidFill>
            <a:prstDash val="solid"/>
          </a:ln>
        </p:spPr>
      </p:sp>
      <p:sp>
        <p:nvSpPr>
          <p:cNvPr id="17" name="Shape 15"/>
          <p:cNvSpPr/>
          <p:nvPr/>
        </p:nvSpPr>
        <p:spPr>
          <a:xfrm>
            <a:off x="411480" y="2889504"/>
            <a:ext cx="502920" cy="594360"/>
          </a:xfrm>
          <a:prstGeom prst="rect">
            <a:avLst/>
          </a:prstGeom>
          <a:solidFill>
            <a:srgbClr val="E87722"/>
          </a:solidFill>
          <a:ln w="12700">
            <a:solidFill>
              <a:srgbClr val="E87722"/>
            </a:solidFill>
            <a:prstDash val="solid"/>
          </a:ln>
        </p:spPr>
      </p:sp>
      <p:sp>
        <p:nvSpPr>
          <p:cNvPr id="18" name="Text 16"/>
          <p:cNvSpPr/>
          <p:nvPr/>
        </p:nvSpPr>
        <p:spPr>
          <a:xfrm>
            <a:off x="411480" y="2889504"/>
            <a:ext cx="502920" cy="594360"/>
          </a:xfrm>
          <a:prstGeom prst="rect">
            <a:avLst/>
          </a:prstGeom>
          <a:noFill/>
          <a:ln/>
        </p:spPr>
        <p:txBody>
          <a:bodyPr wrap="square" lIns="0" tIns="0" rIns="0" bIns="0" rtlCol="0" anchor="ctr"/>
          <a:lstStyle/>
          <a:p>
            <a:pPr algn="ctr" indent="0" marL="0">
              <a:buNone/>
            </a:pPr>
            <a:r>
              <a:rPr lang="en-US" sz="1200" b="1" dirty="0">
                <a:solidFill>
                  <a:srgbClr val="FFFFFF"/>
                </a:solidFill>
                <a:latin typeface="Georgia" pitchFamily="34" charset="0"/>
                <a:ea typeface="Georgia" pitchFamily="34" charset="-122"/>
                <a:cs typeface="Georgia" pitchFamily="34" charset="-120"/>
              </a:rPr>
              <a:t>03</a:t>
            </a:r>
            <a:endParaRPr lang="en-US" sz="1200" dirty="0"/>
          </a:p>
        </p:txBody>
      </p:sp>
      <p:sp>
        <p:nvSpPr>
          <p:cNvPr id="19" name="Text 17"/>
          <p:cNvSpPr/>
          <p:nvPr/>
        </p:nvSpPr>
        <p:spPr>
          <a:xfrm>
            <a:off x="1024128" y="2926080"/>
            <a:ext cx="7680960" cy="256032"/>
          </a:xfrm>
          <a:prstGeom prst="rect">
            <a:avLst/>
          </a:prstGeom>
          <a:noFill/>
          <a:ln/>
        </p:spPr>
        <p:txBody>
          <a:bodyPr wrap="square" lIns="0" tIns="0" rIns="0" bIns="0" rtlCol="0" anchor="ctr"/>
          <a:lstStyle/>
          <a:p>
            <a:pPr indent="0" marL="0">
              <a:buNone/>
            </a:pPr>
            <a:r>
              <a:rPr lang="en-US" sz="1150" b="1" dirty="0">
                <a:solidFill>
                  <a:srgbClr val="1B2A4A"/>
                </a:solidFill>
                <a:latin typeface="Calibri" pitchFamily="34" charset="0"/>
                <a:ea typeface="Calibri" pitchFamily="34" charset="-122"/>
                <a:cs typeface="Calibri" pitchFamily="34" charset="-120"/>
              </a:rPr>
              <a:t>Structured Output Prompt Engineering</a:t>
            </a:r>
            <a:endParaRPr lang="en-US" sz="1150" dirty="0"/>
          </a:p>
        </p:txBody>
      </p:sp>
      <p:sp>
        <p:nvSpPr>
          <p:cNvPr id="20" name="Text 18"/>
          <p:cNvSpPr/>
          <p:nvPr/>
        </p:nvSpPr>
        <p:spPr>
          <a:xfrm>
            <a:off x="1024128" y="3191256"/>
            <a:ext cx="7680960" cy="256032"/>
          </a:xfrm>
          <a:prstGeom prst="rect">
            <a:avLst/>
          </a:prstGeom>
          <a:noFill/>
          <a:ln/>
        </p:spPr>
        <p:txBody>
          <a:bodyPr wrap="square" lIns="0" tIns="0" rIns="0" bIns="0" rtlCol="0" anchor="ctr"/>
          <a:lstStyle/>
          <a:p>
            <a:pPr indent="0" marL="0">
              <a:buNone/>
            </a:pPr>
            <a:r>
              <a:rPr lang="en-US" sz="1050" dirty="0">
                <a:solidFill>
                  <a:srgbClr val="6B7280"/>
                </a:solidFill>
                <a:latin typeface="Calibri" pitchFamily="34" charset="0"/>
                <a:ea typeface="Calibri" pitchFamily="34" charset="-122"/>
                <a:cs typeface="Calibri" pitchFamily="34" charset="-120"/>
              </a:rPr>
              <a:t>Reusable prompt matrices and Zod validation strategies that force LLMs to generate deeply nested, structurally valid instructional JSON — solving a known hallucination problem.</a:t>
            </a:r>
            <a:endParaRPr lang="en-US" sz="1050" dirty="0"/>
          </a:p>
        </p:txBody>
      </p:sp>
      <p:sp>
        <p:nvSpPr>
          <p:cNvPr id="21" name="Shape 19"/>
          <p:cNvSpPr/>
          <p:nvPr/>
        </p:nvSpPr>
        <p:spPr>
          <a:xfrm>
            <a:off x="411480" y="3529584"/>
            <a:ext cx="8321040" cy="0"/>
          </a:xfrm>
          <a:prstGeom prst="line">
            <a:avLst/>
          </a:prstGeom>
          <a:noFill/>
          <a:ln w="6350">
            <a:solidFill>
              <a:srgbClr val="E5E7EB"/>
            </a:solidFill>
            <a:prstDash val="solid"/>
          </a:ln>
        </p:spPr>
      </p:sp>
      <p:sp>
        <p:nvSpPr>
          <p:cNvPr id="22" name="Shape 20"/>
          <p:cNvSpPr/>
          <p:nvPr/>
        </p:nvSpPr>
        <p:spPr>
          <a:xfrm>
            <a:off x="411480" y="3602736"/>
            <a:ext cx="502920" cy="594360"/>
          </a:xfrm>
          <a:prstGeom prst="rect">
            <a:avLst/>
          </a:prstGeom>
          <a:solidFill>
            <a:srgbClr val="E87722"/>
          </a:solidFill>
          <a:ln w="12700">
            <a:solidFill>
              <a:srgbClr val="E87722"/>
            </a:solidFill>
            <a:prstDash val="solid"/>
          </a:ln>
        </p:spPr>
      </p:sp>
      <p:sp>
        <p:nvSpPr>
          <p:cNvPr id="23" name="Text 21"/>
          <p:cNvSpPr/>
          <p:nvPr/>
        </p:nvSpPr>
        <p:spPr>
          <a:xfrm>
            <a:off x="411480" y="3602736"/>
            <a:ext cx="502920" cy="594360"/>
          </a:xfrm>
          <a:prstGeom prst="rect">
            <a:avLst/>
          </a:prstGeom>
          <a:noFill/>
          <a:ln/>
        </p:spPr>
        <p:txBody>
          <a:bodyPr wrap="square" lIns="0" tIns="0" rIns="0" bIns="0" rtlCol="0" anchor="ctr"/>
          <a:lstStyle/>
          <a:p>
            <a:pPr algn="ctr" indent="0" marL="0">
              <a:buNone/>
            </a:pPr>
            <a:r>
              <a:rPr lang="en-US" sz="1200" b="1" dirty="0">
                <a:solidFill>
                  <a:srgbClr val="FFFFFF"/>
                </a:solidFill>
                <a:latin typeface="Georgia" pitchFamily="34" charset="0"/>
                <a:ea typeface="Georgia" pitchFamily="34" charset="-122"/>
                <a:cs typeface="Georgia" pitchFamily="34" charset="-120"/>
              </a:rPr>
              <a:t>04</a:t>
            </a:r>
            <a:endParaRPr lang="en-US" sz="1200" dirty="0"/>
          </a:p>
        </p:txBody>
      </p:sp>
      <p:sp>
        <p:nvSpPr>
          <p:cNvPr id="24" name="Text 22"/>
          <p:cNvSpPr/>
          <p:nvPr/>
        </p:nvSpPr>
        <p:spPr>
          <a:xfrm>
            <a:off x="1024128" y="3639312"/>
            <a:ext cx="7680960" cy="256032"/>
          </a:xfrm>
          <a:prstGeom prst="rect">
            <a:avLst/>
          </a:prstGeom>
          <a:noFill/>
          <a:ln/>
        </p:spPr>
        <p:txBody>
          <a:bodyPr wrap="square" lIns="0" tIns="0" rIns="0" bIns="0" rtlCol="0" anchor="ctr"/>
          <a:lstStyle/>
          <a:p>
            <a:pPr indent="0" marL="0">
              <a:buNone/>
            </a:pPr>
            <a:r>
              <a:rPr lang="en-US" sz="1150" b="1" dirty="0">
                <a:solidFill>
                  <a:srgbClr val="1B2A4A"/>
                </a:solidFill>
                <a:latin typeface="Calibri" pitchFamily="34" charset="0"/>
                <a:ea typeface="Calibri" pitchFamily="34" charset="-122"/>
                <a:cs typeface="Calibri" pitchFamily="34" charset="-120"/>
              </a:rPr>
              <a:t>Empirical Evidence for UCD in EdTech</a:t>
            </a:r>
            <a:endParaRPr lang="en-US" sz="1150" dirty="0"/>
          </a:p>
        </p:txBody>
      </p:sp>
      <p:sp>
        <p:nvSpPr>
          <p:cNvPr id="25" name="Text 23"/>
          <p:cNvSpPr/>
          <p:nvPr/>
        </p:nvSpPr>
        <p:spPr>
          <a:xfrm>
            <a:off x="1024128" y="3904488"/>
            <a:ext cx="7680960" cy="256032"/>
          </a:xfrm>
          <a:prstGeom prst="rect">
            <a:avLst/>
          </a:prstGeom>
          <a:noFill/>
          <a:ln/>
        </p:spPr>
        <p:txBody>
          <a:bodyPr wrap="square" lIns="0" tIns="0" rIns="0" bIns="0" rtlCol="0" anchor="ctr"/>
          <a:lstStyle/>
          <a:p>
            <a:pPr indent="0" marL="0">
              <a:buNone/>
            </a:pPr>
            <a:r>
              <a:rPr lang="en-US" sz="1050" dirty="0">
                <a:solidFill>
                  <a:srgbClr val="6B7280"/>
                </a:solidFill>
                <a:latin typeface="Calibri" pitchFamily="34" charset="0"/>
                <a:ea typeface="Calibri" pitchFamily="34" charset="-122"/>
                <a:cs typeface="Calibri" pitchFamily="34" charset="-120"/>
              </a:rPr>
              <a:t>Stark quantitative proof that a purpose-built, user-centred interface dramatically outperforms a general-purpose CMS workflow for specific educational authoring tasks.</a:t>
            </a:r>
            <a:endParaRPr lang="en-US" sz="1050" dirty="0"/>
          </a:p>
        </p:txBody>
      </p:sp>
      <p:sp>
        <p:nvSpPr>
          <p:cNvPr id="26" name="Shape 24"/>
          <p:cNvSpPr/>
          <p:nvPr/>
        </p:nvSpPr>
        <p:spPr>
          <a:xfrm>
            <a:off x="411480" y="4242816"/>
            <a:ext cx="8321040" cy="0"/>
          </a:xfrm>
          <a:prstGeom prst="line">
            <a:avLst/>
          </a:prstGeom>
          <a:noFill/>
          <a:ln w="6350">
            <a:solidFill>
              <a:srgbClr val="E5E7EB"/>
            </a:solidFill>
            <a:prstDash val="solid"/>
          </a:ln>
        </p:spPr>
      </p:sp>
      <p:sp>
        <p:nvSpPr>
          <p:cNvPr id="27" name="Shape 25"/>
          <p:cNvSpPr/>
          <p:nvPr/>
        </p:nvSpPr>
        <p:spPr>
          <a:xfrm>
            <a:off x="411480" y="4315968"/>
            <a:ext cx="502920" cy="594360"/>
          </a:xfrm>
          <a:prstGeom prst="rect">
            <a:avLst/>
          </a:prstGeom>
          <a:solidFill>
            <a:srgbClr val="E87722"/>
          </a:solidFill>
          <a:ln w="12700">
            <a:solidFill>
              <a:srgbClr val="E87722"/>
            </a:solidFill>
            <a:prstDash val="solid"/>
          </a:ln>
        </p:spPr>
      </p:sp>
      <p:sp>
        <p:nvSpPr>
          <p:cNvPr id="28" name="Text 26"/>
          <p:cNvSpPr/>
          <p:nvPr/>
        </p:nvSpPr>
        <p:spPr>
          <a:xfrm>
            <a:off x="411480" y="4315968"/>
            <a:ext cx="502920" cy="594360"/>
          </a:xfrm>
          <a:prstGeom prst="rect">
            <a:avLst/>
          </a:prstGeom>
          <a:noFill/>
          <a:ln/>
        </p:spPr>
        <p:txBody>
          <a:bodyPr wrap="square" lIns="0" tIns="0" rIns="0" bIns="0" rtlCol="0" anchor="ctr"/>
          <a:lstStyle/>
          <a:p>
            <a:pPr algn="ctr" indent="0" marL="0">
              <a:buNone/>
            </a:pPr>
            <a:r>
              <a:rPr lang="en-US" sz="1200" b="1" dirty="0">
                <a:solidFill>
                  <a:srgbClr val="FFFFFF"/>
                </a:solidFill>
                <a:latin typeface="Georgia" pitchFamily="34" charset="0"/>
                <a:ea typeface="Georgia" pitchFamily="34" charset="-122"/>
                <a:cs typeface="Georgia" pitchFamily="34" charset="-120"/>
              </a:rPr>
              <a:t>05</a:t>
            </a:r>
            <a:endParaRPr lang="en-US" sz="1200" dirty="0"/>
          </a:p>
        </p:txBody>
      </p:sp>
      <p:sp>
        <p:nvSpPr>
          <p:cNvPr id="29" name="Text 27"/>
          <p:cNvSpPr/>
          <p:nvPr/>
        </p:nvSpPr>
        <p:spPr>
          <a:xfrm>
            <a:off x="1024128" y="4352544"/>
            <a:ext cx="7680960" cy="256032"/>
          </a:xfrm>
          <a:prstGeom prst="rect">
            <a:avLst/>
          </a:prstGeom>
          <a:noFill/>
          <a:ln/>
        </p:spPr>
        <p:txBody>
          <a:bodyPr wrap="square" lIns="0" tIns="0" rIns="0" bIns="0" rtlCol="0" anchor="ctr"/>
          <a:lstStyle/>
          <a:p>
            <a:pPr indent="0" marL="0">
              <a:buNone/>
            </a:pPr>
            <a:r>
              <a:rPr lang="en-US" sz="1150" b="1" dirty="0">
                <a:solidFill>
                  <a:srgbClr val="1B2A4A"/>
                </a:solidFill>
                <a:latin typeface="Calibri" pitchFamily="34" charset="0"/>
                <a:ea typeface="Calibri" pitchFamily="34" charset="-122"/>
                <a:cs typeface="Calibri" pitchFamily="34" charset="-120"/>
              </a:rPr>
              <a:t>Strategic Alignment with Digital Policy</a:t>
            </a:r>
            <a:endParaRPr lang="en-US" sz="1150" dirty="0"/>
          </a:p>
        </p:txBody>
      </p:sp>
      <p:sp>
        <p:nvSpPr>
          <p:cNvPr id="30" name="Text 28"/>
          <p:cNvSpPr/>
          <p:nvPr/>
        </p:nvSpPr>
        <p:spPr>
          <a:xfrm>
            <a:off x="1024128" y="4617720"/>
            <a:ext cx="7680960" cy="256032"/>
          </a:xfrm>
          <a:prstGeom prst="rect">
            <a:avLst/>
          </a:prstGeom>
          <a:noFill/>
          <a:ln/>
        </p:spPr>
        <p:txBody>
          <a:bodyPr wrap="square" lIns="0" tIns="0" rIns="0" bIns="0" rtlCol="0" anchor="ctr"/>
          <a:lstStyle/>
          <a:p>
            <a:pPr indent="0" marL="0">
              <a:buNone/>
            </a:pPr>
            <a:r>
              <a:rPr lang="en-US" sz="1050" dirty="0">
                <a:solidFill>
                  <a:srgbClr val="6B7280"/>
                </a:solidFill>
                <a:latin typeface="Calibri" pitchFamily="34" charset="0"/>
                <a:ea typeface="Calibri" pitchFamily="34" charset="-122"/>
                <a:cs typeface="Calibri" pitchFamily="34" charset="-120"/>
              </a:rPr>
              <a:t>A locally deployable, open-source tool that supports VNU-HCM's National Education Strategy 2021-2030 without commercial licensing costs.</a:t>
            </a:r>
            <a:endParaRPr lang="en-US" sz="10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01168"/>
            <a:ext cx="8321040" cy="201168"/>
          </a:xfrm>
          <a:prstGeom prst="rect">
            <a:avLst/>
          </a:prstGeom>
          <a:noFill/>
          <a:ln/>
        </p:spPr>
        <p:txBody>
          <a:bodyPr wrap="square" lIns="0" tIns="0" rIns="0" bIns="0" rtlCol="0" anchor="ctr"/>
          <a:lstStyle/>
          <a:p>
            <a:pPr indent="0" marL="0">
              <a:buNone/>
            </a:pPr>
            <a:r>
              <a:rPr lang="en-US" sz="900" b="1" spc="300" kern="0" dirty="0">
                <a:solidFill>
                  <a:srgbClr val="E87722"/>
                </a:solidFill>
                <a:latin typeface="Calibri" pitchFamily="34" charset="0"/>
                <a:ea typeface="Calibri" pitchFamily="34" charset="-122"/>
                <a:cs typeface="Calibri" pitchFamily="34" charset="-120"/>
              </a:rPr>
              <a:t>06 · CONCLUSION</a:t>
            </a:r>
            <a:endParaRPr lang="en-US" sz="900" dirty="0"/>
          </a:p>
        </p:txBody>
      </p:sp>
      <p:sp>
        <p:nvSpPr>
          <p:cNvPr id="3" name="Shape 1"/>
          <p:cNvSpPr/>
          <p:nvPr/>
        </p:nvSpPr>
        <p:spPr>
          <a:xfrm>
            <a:off x="384048" y="274320"/>
            <a:ext cx="64008" cy="502920"/>
          </a:xfrm>
          <a:prstGeom prst="rect">
            <a:avLst/>
          </a:prstGeom>
          <a:solidFill>
            <a:srgbClr val="E87722"/>
          </a:solidFill>
          <a:ln w="12700">
            <a:solidFill>
              <a:srgbClr val="E87722"/>
            </a:solidFill>
            <a:prstDash val="solid"/>
          </a:ln>
        </p:spPr>
      </p:sp>
      <p:sp>
        <p:nvSpPr>
          <p:cNvPr id="4" name="Text 2"/>
          <p:cNvSpPr/>
          <p:nvPr/>
        </p:nvSpPr>
        <p:spPr>
          <a:xfrm>
            <a:off x="548640" y="274320"/>
            <a:ext cx="8321040" cy="502920"/>
          </a:xfrm>
          <a:prstGeom prst="rect">
            <a:avLst/>
          </a:prstGeom>
          <a:noFill/>
          <a:ln/>
        </p:spPr>
        <p:txBody>
          <a:bodyPr wrap="square" lIns="0" tIns="0" rIns="0" bIns="0" rtlCol="0" anchor="ctr"/>
          <a:lstStyle/>
          <a:p>
            <a:pPr indent="0" marL="0">
              <a:buNone/>
            </a:pPr>
            <a:r>
              <a:rPr lang="en-US" sz="2400" b="1" dirty="0">
                <a:solidFill>
                  <a:srgbClr val="1B2A4A"/>
                </a:solidFill>
                <a:latin typeface="Georgia" pitchFamily="34" charset="0"/>
                <a:ea typeface="Georgia" pitchFamily="34" charset="-122"/>
                <a:cs typeface="Georgia" pitchFamily="34" charset="-120"/>
              </a:rPr>
              <a:t>Limitations &amp; Future Work</a:t>
            </a:r>
            <a:endParaRPr lang="en-US" sz="2400" dirty="0"/>
          </a:p>
        </p:txBody>
      </p:sp>
      <p:sp>
        <p:nvSpPr>
          <p:cNvPr id="5" name="Text 3"/>
          <p:cNvSpPr/>
          <p:nvPr/>
        </p:nvSpPr>
        <p:spPr>
          <a:xfrm>
            <a:off x="7772400" y="4846320"/>
            <a:ext cx="1097280" cy="182880"/>
          </a:xfrm>
          <a:prstGeom prst="rect">
            <a:avLst/>
          </a:prstGeom>
          <a:noFill/>
          <a:ln/>
        </p:spPr>
        <p:txBody>
          <a:bodyPr wrap="square" lIns="0" tIns="0" rIns="0" bIns="0"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19 / 24</a:t>
            </a:r>
            <a:endParaRPr lang="en-US" sz="800" dirty="0"/>
          </a:p>
        </p:txBody>
      </p:sp>
      <p:sp>
        <p:nvSpPr>
          <p:cNvPr id="6" name="Text 4"/>
          <p:cNvSpPr/>
          <p:nvPr/>
        </p:nvSpPr>
        <p:spPr>
          <a:xfrm>
            <a:off x="411480" y="1005840"/>
            <a:ext cx="4114800" cy="292608"/>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Current Limitations</a:t>
            </a:r>
            <a:endParaRPr lang="en-US" sz="1300" dirty="0"/>
          </a:p>
        </p:txBody>
      </p:sp>
      <p:sp>
        <p:nvSpPr>
          <p:cNvPr id="7" name="Shape 5"/>
          <p:cNvSpPr/>
          <p:nvPr/>
        </p:nvSpPr>
        <p:spPr>
          <a:xfrm>
            <a:off x="411480" y="1417320"/>
            <a:ext cx="4114800" cy="777240"/>
          </a:xfrm>
          <a:prstGeom prst="rect">
            <a:avLst/>
          </a:prstGeom>
          <a:solidFill>
            <a:srgbClr val="F8F9FA"/>
          </a:solidFill>
          <a:ln w="12700">
            <a:solidFill>
              <a:srgbClr val="E5E7EB"/>
            </a:solidFill>
            <a:prstDash val="solid"/>
          </a:ln>
        </p:spPr>
      </p:sp>
      <p:sp>
        <p:nvSpPr>
          <p:cNvPr id="8" name="Text 6"/>
          <p:cNvSpPr/>
          <p:nvPr/>
        </p:nvSpPr>
        <p:spPr>
          <a:xfrm>
            <a:off x="530352" y="1490472"/>
            <a:ext cx="3931920" cy="237744"/>
          </a:xfrm>
          <a:prstGeom prst="rect">
            <a:avLst/>
          </a:prstGeom>
          <a:noFill/>
          <a:ln/>
        </p:spPr>
        <p:txBody>
          <a:bodyPr wrap="square" lIns="0" tIns="0" rIns="0" bIns="0"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Sample size</a:t>
            </a:r>
            <a:endParaRPr lang="en-US" sz="1100" dirty="0"/>
          </a:p>
        </p:txBody>
      </p:sp>
      <p:sp>
        <p:nvSpPr>
          <p:cNvPr id="9" name="Text 7"/>
          <p:cNvSpPr/>
          <p:nvPr/>
        </p:nvSpPr>
        <p:spPr>
          <a:xfrm>
            <a:off x="530352" y="1746504"/>
            <a:ext cx="3931920" cy="384048"/>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10 participants satisfies Nielsen's heuristic threshold but lacks power for parametric hypothesis testing. Real faculty may exhibit different error-recovery patterns.</a:t>
            </a:r>
            <a:endParaRPr lang="en-US" sz="1000" dirty="0"/>
          </a:p>
        </p:txBody>
      </p:sp>
      <p:sp>
        <p:nvSpPr>
          <p:cNvPr id="10" name="Shape 8"/>
          <p:cNvSpPr/>
          <p:nvPr/>
        </p:nvSpPr>
        <p:spPr>
          <a:xfrm>
            <a:off x="411480" y="2313432"/>
            <a:ext cx="4114800" cy="777240"/>
          </a:xfrm>
          <a:prstGeom prst="rect">
            <a:avLst/>
          </a:prstGeom>
          <a:solidFill>
            <a:srgbClr val="F8F9FA"/>
          </a:solidFill>
          <a:ln w="12700">
            <a:solidFill>
              <a:srgbClr val="E5E7EB"/>
            </a:solidFill>
            <a:prstDash val="solid"/>
          </a:ln>
        </p:spPr>
      </p:sp>
      <p:sp>
        <p:nvSpPr>
          <p:cNvPr id="11" name="Text 9"/>
          <p:cNvSpPr/>
          <p:nvPr/>
        </p:nvSpPr>
        <p:spPr>
          <a:xfrm>
            <a:off x="530352" y="2386584"/>
            <a:ext cx="3931920" cy="237744"/>
          </a:xfrm>
          <a:prstGeom prst="rect">
            <a:avLst/>
          </a:prstGeom>
          <a:noFill/>
          <a:ln/>
        </p:spPr>
        <p:txBody>
          <a:bodyPr wrap="square" lIns="0" tIns="0" rIns="0" bIns="0"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Proxy participants</a:t>
            </a:r>
            <a:endParaRPr lang="en-US" sz="1100" dirty="0"/>
          </a:p>
        </p:txBody>
      </p:sp>
      <p:sp>
        <p:nvSpPr>
          <p:cNvPr id="12" name="Text 10"/>
          <p:cNvSpPr/>
          <p:nvPr/>
        </p:nvSpPr>
        <p:spPr>
          <a:xfrm>
            <a:off x="530352" y="2642616"/>
            <a:ext cx="3931920" cy="384048"/>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IT students acted as educator proxies. Non-technical humanities faculty — the most underserved group — were not directly evaluated.</a:t>
            </a:r>
            <a:endParaRPr lang="en-US" sz="1000" dirty="0"/>
          </a:p>
        </p:txBody>
      </p:sp>
      <p:sp>
        <p:nvSpPr>
          <p:cNvPr id="13" name="Shape 11"/>
          <p:cNvSpPr/>
          <p:nvPr/>
        </p:nvSpPr>
        <p:spPr>
          <a:xfrm>
            <a:off x="411480" y="3209544"/>
            <a:ext cx="4114800" cy="777240"/>
          </a:xfrm>
          <a:prstGeom prst="rect">
            <a:avLst/>
          </a:prstGeom>
          <a:solidFill>
            <a:srgbClr val="F8F9FA"/>
          </a:solidFill>
          <a:ln w="12700">
            <a:solidFill>
              <a:srgbClr val="E5E7EB"/>
            </a:solidFill>
            <a:prstDash val="solid"/>
          </a:ln>
        </p:spPr>
      </p:sp>
      <p:sp>
        <p:nvSpPr>
          <p:cNvPr id="14" name="Text 12"/>
          <p:cNvSpPr/>
          <p:nvPr/>
        </p:nvSpPr>
        <p:spPr>
          <a:xfrm>
            <a:off x="530352" y="3282696"/>
            <a:ext cx="3931920" cy="237744"/>
          </a:xfrm>
          <a:prstGeom prst="rect">
            <a:avLst/>
          </a:prstGeom>
          <a:noFill/>
          <a:ln/>
        </p:spPr>
        <p:txBody>
          <a:bodyPr wrap="square" lIns="0" tIns="0" rIns="0" bIns="0"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English-only AI evaluation</a:t>
            </a:r>
            <a:endParaRPr lang="en-US" sz="1100" dirty="0"/>
          </a:p>
        </p:txBody>
      </p:sp>
      <p:sp>
        <p:nvSpPr>
          <p:cNvPr id="15" name="Text 13"/>
          <p:cNvSpPr/>
          <p:nvPr/>
        </p:nvSpPr>
        <p:spPr>
          <a:xfrm>
            <a:off x="530352" y="3538728"/>
            <a:ext cx="3931920" cy="384048"/>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The AI quality assessment used English transcripts only. Effectiveness with complex Vietnamese academic speech via Whisper remains unvalidated.</a:t>
            </a:r>
            <a:endParaRPr lang="en-US" sz="1000" dirty="0"/>
          </a:p>
        </p:txBody>
      </p:sp>
      <p:sp>
        <p:nvSpPr>
          <p:cNvPr id="16" name="Shape 14"/>
          <p:cNvSpPr/>
          <p:nvPr/>
        </p:nvSpPr>
        <p:spPr>
          <a:xfrm>
            <a:off x="411480" y="4105656"/>
            <a:ext cx="4114800" cy="777240"/>
          </a:xfrm>
          <a:prstGeom prst="rect">
            <a:avLst/>
          </a:prstGeom>
          <a:solidFill>
            <a:srgbClr val="F8F9FA"/>
          </a:solidFill>
          <a:ln w="12700">
            <a:solidFill>
              <a:srgbClr val="E5E7EB"/>
            </a:solidFill>
            <a:prstDash val="solid"/>
          </a:ln>
        </p:spPr>
      </p:sp>
      <p:sp>
        <p:nvSpPr>
          <p:cNvPr id="17" name="Text 15"/>
          <p:cNvSpPr/>
          <p:nvPr/>
        </p:nvSpPr>
        <p:spPr>
          <a:xfrm>
            <a:off x="530352" y="4178808"/>
            <a:ext cx="3931920" cy="237744"/>
          </a:xfrm>
          <a:prstGeom prst="rect">
            <a:avLst/>
          </a:prstGeom>
          <a:noFill/>
          <a:ln/>
        </p:spPr>
        <p:txBody>
          <a:bodyPr wrap="square" lIns="0" tIns="0" rIns="0" bIns="0"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No longitudinal data</a:t>
            </a:r>
            <a:endParaRPr lang="en-US" sz="1100" dirty="0"/>
          </a:p>
        </p:txBody>
      </p:sp>
      <p:sp>
        <p:nvSpPr>
          <p:cNvPr id="18" name="Text 16"/>
          <p:cNvSpPr/>
          <p:nvPr/>
        </p:nvSpPr>
        <p:spPr>
          <a:xfrm>
            <a:off x="530352" y="4434840"/>
            <a:ext cx="3931920" cy="384048"/>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Short-term usability study only. Long-term adoption rates and impact on actual student learning outcomes are outside this thesis's scope.</a:t>
            </a:r>
            <a:endParaRPr lang="en-US" sz="1000" dirty="0"/>
          </a:p>
        </p:txBody>
      </p:sp>
      <p:sp>
        <p:nvSpPr>
          <p:cNvPr id="19" name="Shape 17"/>
          <p:cNvSpPr/>
          <p:nvPr/>
        </p:nvSpPr>
        <p:spPr>
          <a:xfrm>
            <a:off x="4754880" y="969264"/>
            <a:ext cx="0" cy="3931920"/>
          </a:xfrm>
          <a:prstGeom prst="line">
            <a:avLst/>
          </a:prstGeom>
          <a:noFill/>
          <a:ln w="12700">
            <a:solidFill>
              <a:srgbClr val="E5E7EB"/>
            </a:solidFill>
            <a:prstDash val="solid"/>
          </a:ln>
        </p:spPr>
      </p:sp>
      <p:sp>
        <p:nvSpPr>
          <p:cNvPr id="20" name="Text 18"/>
          <p:cNvSpPr/>
          <p:nvPr/>
        </p:nvSpPr>
        <p:spPr>
          <a:xfrm>
            <a:off x="4983480" y="1005840"/>
            <a:ext cx="3794760" cy="292608"/>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Priority Future Directions</a:t>
            </a:r>
            <a:endParaRPr lang="en-US" sz="1300" dirty="0"/>
          </a:p>
        </p:txBody>
      </p:sp>
      <p:sp>
        <p:nvSpPr>
          <p:cNvPr id="21" name="Shape 19"/>
          <p:cNvSpPr/>
          <p:nvPr/>
        </p:nvSpPr>
        <p:spPr>
          <a:xfrm>
            <a:off x="4983480" y="1417320"/>
            <a:ext cx="3794760" cy="777240"/>
          </a:xfrm>
          <a:prstGeom prst="rect">
            <a:avLst/>
          </a:prstGeom>
          <a:solidFill>
            <a:srgbClr val="FFFFFF"/>
          </a:solidFill>
          <a:ln w="12700">
            <a:solidFill>
              <a:srgbClr val="E5E7EB"/>
            </a:solidFill>
            <a:prstDash val="solid"/>
          </a:ln>
          <a:effectLst>
            <a:outerShdw sx="100000" sy="100000" kx="0" ky="0" algn="bl" rotWithShape="0" blurRad="76200" dist="25400" dir="8100000">
              <a:srgbClr val="000000">
                <a:alpha val="9000"/>
              </a:srgbClr>
            </a:outerShdw>
          </a:effectLst>
        </p:spPr>
      </p:sp>
      <p:sp>
        <p:nvSpPr>
          <p:cNvPr id="22" name="Shape 20"/>
          <p:cNvSpPr/>
          <p:nvPr/>
        </p:nvSpPr>
        <p:spPr>
          <a:xfrm>
            <a:off x="4983480" y="1417320"/>
            <a:ext cx="54864" cy="777240"/>
          </a:xfrm>
          <a:prstGeom prst="rect">
            <a:avLst/>
          </a:prstGeom>
          <a:solidFill>
            <a:srgbClr val="E87722"/>
          </a:solidFill>
          <a:ln w="12700">
            <a:solidFill>
              <a:srgbClr val="E87722"/>
            </a:solidFill>
            <a:prstDash val="solid"/>
          </a:ln>
        </p:spPr>
      </p:sp>
      <p:sp>
        <p:nvSpPr>
          <p:cNvPr id="23" name="Text 21"/>
          <p:cNvSpPr/>
          <p:nvPr/>
        </p:nvSpPr>
        <p:spPr>
          <a:xfrm>
            <a:off x="5120640" y="1490472"/>
            <a:ext cx="3611880" cy="237744"/>
          </a:xfrm>
          <a:prstGeom prst="rect">
            <a:avLst/>
          </a:prstGeom>
          <a:noFill/>
          <a:ln/>
        </p:spPr>
        <p:txBody>
          <a:bodyPr wrap="square" lIns="0" tIns="0" rIns="0" bIns="0" rtlCol="0" anchor="ctr"/>
          <a:lstStyle/>
          <a:p>
            <a:pPr indent="0" marL="0">
              <a:buNone/>
            </a:pPr>
            <a:r>
              <a:rPr lang="en-US" sz="1100" b="1" dirty="0">
                <a:solidFill>
                  <a:srgbClr val="E87722"/>
                </a:solidFill>
                <a:latin typeface="Calibri" pitchFamily="34" charset="0"/>
                <a:ea typeface="Calibri" pitchFamily="34" charset="-122"/>
                <a:cs typeface="Calibri" pitchFamily="34" charset="-120"/>
              </a:rPr>
              <a:t>Longitudinal Faculty Study</a:t>
            </a:r>
            <a:endParaRPr lang="en-US" sz="1100" dirty="0"/>
          </a:p>
        </p:txBody>
      </p:sp>
      <p:sp>
        <p:nvSpPr>
          <p:cNvPr id="24" name="Text 22"/>
          <p:cNvSpPr/>
          <p:nvPr/>
        </p:nvSpPr>
        <p:spPr>
          <a:xfrm>
            <a:off x="5120640" y="1746504"/>
            <a:ext cx="3611880" cy="384048"/>
          </a:xfrm>
          <a:prstGeom prst="rect">
            <a:avLst/>
          </a:prstGeom>
          <a:noFill/>
          <a:ln/>
        </p:spPr>
        <p:txBody>
          <a:bodyPr wrap="square" lIns="0" tIns="0" rIns="0" bIns="0" rtlCol="0" anchor="ctr"/>
          <a:lstStyle/>
          <a:p>
            <a:pPr indent="0" marL="0">
              <a:buNone/>
            </a:pPr>
            <a:r>
              <a:rPr lang="en-US" sz="1000" dirty="0">
                <a:solidFill>
                  <a:srgbClr val="374151"/>
                </a:solidFill>
                <a:latin typeface="Calibri" pitchFamily="34" charset="0"/>
                <a:ea typeface="Calibri" pitchFamily="34" charset="-122"/>
                <a:cs typeface="Calibri" pitchFamily="34" charset="-120"/>
              </a:rPr>
              <a:t>Semester-long study with real VNU-HCM faculty across disciplines — measuring organic adoption and content production volume.</a:t>
            </a:r>
            <a:endParaRPr lang="en-US" sz="1000" dirty="0"/>
          </a:p>
        </p:txBody>
      </p:sp>
      <p:sp>
        <p:nvSpPr>
          <p:cNvPr id="25" name="Shape 23"/>
          <p:cNvSpPr/>
          <p:nvPr/>
        </p:nvSpPr>
        <p:spPr>
          <a:xfrm>
            <a:off x="4983480" y="2313432"/>
            <a:ext cx="3794760" cy="777240"/>
          </a:xfrm>
          <a:prstGeom prst="rect">
            <a:avLst/>
          </a:prstGeom>
          <a:solidFill>
            <a:srgbClr val="FFFFFF"/>
          </a:solidFill>
          <a:ln w="12700">
            <a:solidFill>
              <a:srgbClr val="E5E7EB"/>
            </a:solidFill>
            <a:prstDash val="solid"/>
          </a:ln>
          <a:effectLst>
            <a:outerShdw sx="100000" sy="100000" kx="0" ky="0" algn="bl" rotWithShape="0" blurRad="76200" dist="25400" dir="8100000">
              <a:srgbClr val="000000">
                <a:alpha val="9000"/>
              </a:srgbClr>
            </a:outerShdw>
          </a:effectLst>
        </p:spPr>
      </p:sp>
      <p:sp>
        <p:nvSpPr>
          <p:cNvPr id="26" name="Shape 24"/>
          <p:cNvSpPr/>
          <p:nvPr/>
        </p:nvSpPr>
        <p:spPr>
          <a:xfrm>
            <a:off x="4983480" y="2313432"/>
            <a:ext cx="54864" cy="777240"/>
          </a:xfrm>
          <a:prstGeom prst="rect">
            <a:avLst/>
          </a:prstGeom>
          <a:solidFill>
            <a:srgbClr val="E87722"/>
          </a:solidFill>
          <a:ln w="12700">
            <a:solidFill>
              <a:srgbClr val="E87722"/>
            </a:solidFill>
            <a:prstDash val="solid"/>
          </a:ln>
        </p:spPr>
      </p:sp>
      <p:sp>
        <p:nvSpPr>
          <p:cNvPr id="27" name="Text 25"/>
          <p:cNvSpPr/>
          <p:nvPr/>
        </p:nvSpPr>
        <p:spPr>
          <a:xfrm>
            <a:off x="5120640" y="2386584"/>
            <a:ext cx="3611880" cy="237744"/>
          </a:xfrm>
          <a:prstGeom prst="rect">
            <a:avLst/>
          </a:prstGeom>
          <a:noFill/>
          <a:ln/>
        </p:spPr>
        <p:txBody>
          <a:bodyPr wrap="square" lIns="0" tIns="0" rIns="0" bIns="0" rtlCol="0" anchor="ctr"/>
          <a:lstStyle/>
          <a:p>
            <a:pPr indent="0" marL="0">
              <a:buNone/>
            </a:pPr>
            <a:r>
              <a:rPr lang="en-US" sz="1100" b="1" dirty="0">
                <a:solidFill>
                  <a:srgbClr val="E87722"/>
                </a:solidFill>
                <a:latin typeface="Calibri" pitchFamily="34" charset="0"/>
                <a:ea typeface="Calibri" pitchFamily="34" charset="-122"/>
                <a:cs typeface="Calibri" pitchFamily="34" charset="-120"/>
              </a:rPr>
              <a:t>Vietnamese Language Validation</a:t>
            </a:r>
            <a:endParaRPr lang="en-US" sz="1100" dirty="0"/>
          </a:p>
        </p:txBody>
      </p:sp>
      <p:sp>
        <p:nvSpPr>
          <p:cNvPr id="28" name="Text 26"/>
          <p:cNvSpPr/>
          <p:nvPr/>
        </p:nvSpPr>
        <p:spPr>
          <a:xfrm>
            <a:off x="5120640" y="2642616"/>
            <a:ext cx="3611880" cy="384048"/>
          </a:xfrm>
          <a:prstGeom prst="rect">
            <a:avLst/>
          </a:prstGeom>
          <a:noFill/>
          <a:ln/>
        </p:spPr>
        <p:txBody>
          <a:bodyPr wrap="square" lIns="0" tIns="0" rIns="0" bIns="0" rtlCol="0" anchor="ctr"/>
          <a:lstStyle/>
          <a:p>
            <a:pPr indent="0" marL="0">
              <a:buNone/>
            </a:pPr>
            <a:r>
              <a:rPr lang="en-US" sz="1000" dirty="0">
                <a:solidFill>
                  <a:srgbClr val="374151"/>
                </a:solidFill>
                <a:latin typeface="Calibri" pitchFamily="34" charset="0"/>
                <a:ea typeface="Calibri" pitchFamily="34" charset="-122"/>
                <a:cs typeface="Calibri" pitchFamily="34" charset="-120"/>
              </a:rPr>
              <a:t>Dedicated AI evaluation using Vietnamese lecture transcripts and bilingual instructional designers to rate pedagogical quality.</a:t>
            </a:r>
            <a:endParaRPr lang="en-US" sz="1000" dirty="0"/>
          </a:p>
        </p:txBody>
      </p:sp>
      <p:sp>
        <p:nvSpPr>
          <p:cNvPr id="29" name="Shape 27"/>
          <p:cNvSpPr/>
          <p:nvPr/>
        </p:nvSpPr>
        <p:spPr>
          <a:xfrm>
            <a:off x="4983480" y="3209544"/>
            <a:ext cx="3794760" cy="777240"/>
          </a:xfrm>
          <a:prstGeom prst="rect">
            <a:avLst/>
          </a:prstGeom>
          <a:solidFill>
            <a:srgbClr val="FFFFFF"/>
          </a:solidFill>
          <a:ln w="12700">
            <a:solidFill>
              <a:srgbClr val="E5E7EB"/>
            </a:solidFill>
            <a:prstDash val="solid"/>
          </a:ln>
          <a:effectLst>
            <a:outerShdw sx="100000" sy="100000" kx="0" ky="0" algn="bl" rotWithShape="0" blurRad="76200" dist="25400" dir="8100000">
              <a:srgbClr val="000000">
                <a:alpha val="9000"/>
              </a:srgbClr>
            </a:outerShdw>
          </a:effectLst>
        </p:spPr>
      </p:sp>
      <p:sp>
        <p:nvSpPr>
          <p:cNvPr id="30" name="Shape 28"/>
          <p:cNvSpPr/>
          <p:nvPr/>
        </p:nvSpPr>
        <p:spPr>
          <a:xfrm>
            <a:off x="4983480" y="3209544"/>
            <a:ext cx="54864" cy="777240"/>
          </a:xfrm>
          <a:prstGeom prst="rect">
            <a:avLst/>
          </a:prstGeom>
          <a:solidFill>
            <a:srgbClr val="E87722"/>
          </a:solidFill>
          <a:ln w="12700">
            <a:solidFill>
              <a:srgbClr val="E87722"/>
            </a:solidFill>
            <a:prstDash val="solid"/>
          </a:ln>
        </p:spPr>
      </p:sp>
      <p:sp>
        <p:nvSpPr>
          <p:cNvPr id="31" name="Text 29"/>
          <p:cNvSpPr/>
          <p:nvPr/>
        </p:nvSpPr>
        <p:spPr>
          <a:xfrm>
            <a:off x="5120640" y="3282696"/>
            <a:ext cx="3611880" cy="237744"/>
          </a:xfrm>
          <a:prstGeom prst="rect">
            <a:avLst/>
          </a:prstGeom>
          <a:noFill/>
          <a:ln/>
        </p:spPr>
        <p:txBody>
          <a:bodyPr wrap="square" lIns="0" tIns="0" rIns="0" bIns="0" rtlCol="0" anchor="ctr"/>
          <a:lstStyle/>
          <a:p>
            <a:pPr indent="0" marL="0">
              <a:buNone/>
            </a:pPr>
            <a:r>
              <a:rPr lang="en-US" sz="1100" b="1" dirty="0">
                <a:solidFill>
                  <a:srgbClr val="E87722"/>
                </a:solidFill>
                <a:latin typeface="Calibri" pitchFamily="34" charset="0"/>
                <a:ea typeface="Calibri" pitchFamily="34" charset="-122"/>
                <a:cs typeface="Calibri" pitchFamily="34" charset="-120"/>
              </a:rPr>
              <a:t>xAPI / LRS Integration</a:t>
            </a:r>
            <a:endParaRPr lang="en-US" sz="1100" dirty="0"/>
          </a:p>
        </p:txBody>
      </p:sp>
      <p:sp>
        <p:nvSpPr>
          <p:cNvPr id="32" name="Text 30"/>
          <p:cNvSpPr/>
          <p:nvPr/>
        </p:nvSpPr>
        <p:spPr>
          <a:xfrm>
            <a:off x="5120640" y="3538728"/>
            <a:ext cx="3611880" cy="384048"/>
          </a:xfrm>
          <a:prstGeom prst="rect">
            <a:avLst/>
          </a:prstGeom>
          <a:noFill/>
          <a:ln/>
        </p:spPr>
        <p:txBody>
          <a:bodyPr wrap="square" lIns="0" tIns="0" rIns="0" bIns="0" rtlCol="0" anchor="ctr"/>
          <a:lstStyle/>
          <a:p>
            <a:pPr indent="0" marL="0">
              <a:buNone/>
            </a:pPr>
            <a:r>
              <a:rPr lang="en-US" sz="1000" dirty="0">
                <a:solidFill>
                  <a:srgbClr val="374151"/>
                </a:solidFill>
                <a:latin typeface="Calibri" pitchFamily="34" charset="0"/>
                <a:ea typeface="Calibri" pitchFamily="34" charset="-122"/>
                <a:cs typeface="Calibri" pitchFamily="34" charset="-120"/>
              </a:rPr>
              <a:t>Full Experience API tracking layer to report learner interaction data to an institutional LRS — enabling evidence-based course improvement.</a:t>
            </a:r>
            <a:endParaRPr lang="en-US" sz="1000" dirty="0"/>
          </a:p>
        </p:txBody>
      </p:sp>
      <p:sp>
        <p:nvSpPr>
          <p:cNvPr id="33" name="Shape 31"/>
          <p:cNvSpPr/>
          <p:nvPr/>
        </p:nvSpPr>
        <p:spPr>
          <a:xfrm>
            <a:off x="4983480" y="4105656"/>
            <a:ext cx="3794760" cy="777240"/>
          </a:xfrm>
          <a:prstGeom prst="rect">
            <a:avLst/>
          </a:prstGeom>
          <a:solidFill>
            <a:srgbClr val="FFFFFF"/>
          </a:solidFill>
          <a:ln w="12700">
            <a:solidFill>
              <a:srgbClr val="E5E7EB"/>
            </a:solidFill>
            <a:prstDash val="solid"/>
          </a:ln>
          <a:effectLst>
            <a:outerShdw sx="100000" sy="100000" kx="0" ky="0" algn="bl" rotWithShape="0" blurRad="76200" dist="25400" dir="8100000">
              <a:srgbClr val="000000">
                <a:alpha val="9000"/>
              </a:srgbClr>
            </a:outerShdw>
          </a:effectLst>
        </p:spPr>
      </p:sp>
      <p:sp>
        <p:nvSpPr>
          <p:cNvPr id="34" name="Shape 32"/>
          <p:cNvSpPr/>
          <p:nvPr/>
        </p:nvSpPr>
        <p:spPr>
          <a:xfrm>
            <a:off x="4983480" y="4105656"/>
            <a:ext cx="54864" cy="777240"/>
          </a:xfrm>
          <a:prstGeom prst="rect">
            <a:avLst/>
          </a:prstGeom>
          <a:solidFill>
            <a:srgbClr val="E87722"/>
          </a:solidFill>
          <a:ln w="12700">
            <a:solidFill>
              <a:srgbClr val="E87722"/>
            </a:solidFill>
            <a:prstDash val="solid"/>
          </a:ln>
        </p:spPr>
      </p:sp>
      <p:sp>
        <p:nvSpPr>
          <p:cNvPr id="35" name="Text 33"/>
          <p:cNvSpPr/>
          <p:nvPr/>
        </p:nvSpPr>
        <p:spPr>
          <a:xfrm>
            <a:off x="5120640" y="4178808"/>
            <a:ext cx="3611880" cy="237744"/>
          </a:xfrm>
          <a:prstGeom prst="rect">
            <a:avLst/>
          </a:prstGeom>
          <a:noFill/>
          <a:ln/>
        </p:spPr>
        <p:txBody>
          <a:bodyPr wrap="square" lIns="0" tIns="0" rIns="0" bIns="0" rtlCol="0" anchor="ctr"/>
          <a:lstStyle/>
          <a:p>
            <a:pPr indent="0" marL="0">
              <a:buNone/>
            </a:pPr>
            <a:r>
              <a:rPr lang="en-US" sz="1100" b="1" dirty="0">
                <a:solidFill>
                  <a:srgbClr val="E87722"/>
                </a:solidFill>
                <a:latin typeface="Calibri" pitchFamily="34" charset="0"/>
                <a:ea typeface="Calibri" pitchFamily="34" charset="-122"/>
                <a:cs typeface="Calibri" pitchFamily="34" charset="-120"/>
              </a:rPr>
              <a:t>Async Worker Queue (BullMQ + Redis)</a:t>
            </a:r>
            <a:endParaRPr lang="en-US" sz="1100" dirty="0"/>
          </a:p>
        </p:txBody>
      </p:sp>
      <p:sp>
        <p:nvSpPr>
          <p:cNvPr id="36" name="Text 34"/>
          <p:cNvSpPr/>
          <p:nvPr/>
        </p:nvSpPr>
        <p:spPr>
          <a:xfrm>
            <a:off x="5120640" y="4434840"/>
            <a:ext cx="3611880" cy="384048"/>
          </a:xfrm>
          <a:prstGeom prst="rect">
            <a:avLst/>
          </a:prstGeom>
          <a:noFill/>
          <a:ln/>
        </p:spPr>
        <p:txBody>
          <a:bodyPr wrap="square" lIns="0" tIns="0" rIns="0" bIns="0" rtlCol="0" anchor="ctr"/>
          <a:lstStyle/>
          <a:p>
            <a:pPr indent="0" marL="0">
              <a:buNone/>
            </a:pPr>
            <a:r>
              <a:rPr lang="en-US" sz="1000" dirty="0">
                <a:solidFill>
                  <a:srgbClr val="374151"/>
                </a:solidFill>
                <a:latin typeface="Calibri" pitchFamily="34" charset="0"/>
                <a:ea typeface="Calibri" pitchFamily="34" charset="-122"/>
                <a:cs typeface="Calibri" pitchFamily="34" charset="-120"/>
              </a:rPr>
              <a:t>Decouple heavy FFmpeg and Whisper processing from the API thread to eliminate 400ms latency spikes under institutional load.</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B2A4A"/>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87722"/>
          </a:solidFill>
          <a:ln w="12700">
            <a:solidFill>
              <a:srgbClr val="E87722"/>
            </a:solidFill>
            <a:prstDash val="solid"/>
          </a:ln>
        </p:spPr>
      </p:sp>
      <p:sp>
        <p:nvSpPr>
          <p:cNvPr id="3" name="Shape 1"/>
          <p:cNvSpPr/>
          <p:nvPr/>
        </p:nvSpPr>
        <p:spPr>
          <a:xfrm>
            <a:off x="6858000" y="-457200"/>
            <a:ext cx="4114800" cy="4114800"/>
          </a:xfrm>
          <a:prstGeom prst="ellipse">
            <a:avLst/>
          </a:prstGeom>
          <a:solidFill>
            <a:srgbClr val="E87722">
              <a:alpha val="7000"/>
            </a:srgbClr>
          </a:solidFill>
          <a:ln w="12700">
            <a:solidFill>
              <a:srgbClr val="E87722"/>
            </a:solidFill>
            <a:prstDash val="solid"/>
          </a:ln>
        </p:spPr>
      </p:sp>
      <p:sp>
        <p:nvSpPr>
          <p:cNvPr id="4" name="Text 2"/>
          <p:cNvSpPr/>
          <p:nvPr/>
        </p:nvSpPr>
        <p:spPr>
          <a:xfrm>
            <a:off x="594360" y="640080"/>
            <a:ext cx="7315200" cy="320040"/>
          </a:xfrm>
          <a:prstGeom prst="rect">
            <a:avLst/>
          </a:prstGeom>
          <a:noFill/>
          <a:ln/>
        </p:spPr>
        <p:txBody>
          <a:bodyPr wrap="square" lIns="0" tIns="0" rIns="0" bIns="0" rtlCol="0" anchor="ctr"/>
          <a:lstStyle/>
          <a:p>
            <a:pPr indent="0" marL="0">
              <a:buNone/>
            </a:pPr>
            <a:r>
              <a:rPr lang="en-US" sz="1100" b="1" spc="400" kern="0" dirty="0">
                <a:solidFill>
                  <a:srgbClr val="E87722"/>
                </a:solidFill>
                <a:latin typeface="Calibri" pitchFamily="34" charset="0"/>
                <a:ea typeface="Calibri" pitchFamily="34" charset="-122"/>
                <a:cs typeface="Calibri" pitchFamily="34" charset="-120"/>
              </a:rPr>
              <a:t>CONCLUSION</a:t>
            </a:r>
            <a:endParaRPr lang="en-US" sz="1100" dirty="0"/>
          </a:p>
        </p:txBody>
      </p:sp>
      <p:sp>
        <p:nvSpPr>
          <p:cNvPr id="5" name="Text 3"/>
          <p:cNvSpPr/>
          <p:nvPr/>
        </p:nvSpPr>
        <p:spPr>
          <a:xfrm>
            <a:off x="594360" y="1024128"/>
            <a:ext cx="7955280" cy="1188720"/>
          </a:xfrm>
          <a:prstGeom prst="rect">
            <a:avLst/>
          </a:prstGeom>
          <a:noFill/>
          <a:ln/>
        </p:spPr>
        <p:txBody>
          <a:bodyPr wrap="square" lIns="0" tIns="0" rIns="0" bIns="0" rtlCol="0" anchor="ctr"/>
          <a:lstStyle/>
          <a:p>
            <a:pPr indent="0" marL="0">
              <a:buNone/>
            </a:pPr>
            <a:r>
              <a:rPr lang="en-US" sz="1900" dirty="0">
                <a:solidFill>
                  <a:srgbClr val="FFFFFF"/>
                </a:solidFill>
                <a:latin typeface="Georgia" pitchFamily="34" charset="0"/>
                <a:ea typeface="Georgia" pitchFamily="34" charset="-122"/>
                <a:cs typeface="Georgia" pitchFamily="34" charset="-120"/>
              </a:rPr>
              <a:t>This thesis demonstrates that a purpose-built, user-centred platform — combining a clean React SPA, a headless H5P engine, and a resilient multi-provider AI pipeline — can transform interactive video authoring from a 45-minute ordeal into a 3-minute workflow.</a:t>
            </a:r>
            <a:endParaRPr lang="en-US" sz="1900" dirty="0"/>
          </a:p>
        </p:txBody>
      </p:sp>
      <p:sp>
        <p:nvSpPr>
          <p:cNvPr id="6" name="Shape 4"/>
          <p:cNvSpPr/>
          <p:nvPr/>
        </p:nvSpPr>
        <p:spPr>
          <a:xfrm>
            <a:off x="594360" y="2395728"/>
            <a:ext cx="3200400" cy="0"/>
          </a:xfrm>
          <a:prstGeom prst="line">
            <a:avLst/>
          </a:prstGeom>
          <a:noFill/>
          <a:ln w="19050">
            <a:solidFill>
              <a:srgbClr val="E87722"/>
            </a:solidFill>
            <a:prstDash val="solid"/>
          </a:ln>
        </p:spPr>
      </p:sp>
      <p:sp>
        <p:nvSpPr>
          <p:cNvPr id="7" name="Text 5"/>
          <p:cNvSpPr/>
          <p:nvPr/>
        </p:nvSpPr>
        <p:spPr>
          <a:xfrm>
            <a:off x="594360" y="2578608"/>
            <a:ext cx="7955280" cy="1143000"/>
          </a:xfrm>
          <a:prstGeom prst="rect">
            <a:avLst/>
          </a:prstGeom>
          <a:noFill/>
          <a:ln/>
        </p:spPr>
        <p:txBody>
          <a:bodyPr wrap="square" lIns="0" tIns="0" rIns="0" bIns="0" rtlCol="0" anchor="ctr"/>
          <a:lstStyle/>
          <a:p>
            <a:pPr indent="0" marL="0">
              <a:buNone/>
            </a:pPr>
            <a:r>
              <a:rPr lang="en-US" sz="1450" dirty="0">
                <a:solidFill>
                  <a:srgbClr val="D4E4F0"/>
                </a:solidFill>
                <a:latin typeface="Calibri" pitchFamily="34" charset="0"/>
                <a:ea typeface="Calibri" pitchFamily="34" charset="-122"/>
                <a:cs typeface="Calibri" pitchFamily="34" charset="-120"/>
              </a:rPr>
              <a:t>The platform achieves 95% task completion, 82.5 SUS score, and a 93% reduction in creation time — moving H5P authoring from 'Poor' to 'Excellent' on Brooke's usability scale. It opens interactive video creation to the full diversity of the VNU-HCM faculty, not just the technically proficient few.</a:t>
            </a:r>
            <a:endParaRPr lang="en-US" sz="1450" dirty="0"/>
          </a:p>
        </p:txBody>
      </p:sp>
      <p:sp>
        <p:nvSpPr>
          <p:cNvPr id="8" name="Text 6"/>
          <p:cNvSpPr/>
          <p:nvPr/>
        </p:nvSpPr>
        <p:spPr>
          <a:xfrm>
            <a:off x="594360" y="3858768"/>
            <a:ext cx="7955280" cy="411480"/>
          </a:xfrm>
          <a:prstGeom prst="rect">
            <a:avLst/>
          </a:prstGeom>
          <a:noFill/>
          <a:ln/>
        </p:spPr>
        <p:txBody>
          <a:bodyPr wrap="square" lIns="0" tIns="0" rIns="0" bIns="0" rtlCol="0" anchor="ctr"/>
          <a:lstStyle/>
          <a:p>
            <a:pPr indent="0" marL="0">
              <a:buNone/>
            </a:pPr>
            <a:r>
              <a:rPr lang="en-US" sz="1400" i="1" dirty="0">
                <a:solidFill>
                  <a:srgbClr val="E87722"/>
                </a:solidFill>
                <a:latin typeface="Calibri" pitchFamily="34" charset="0"/>
                <a:ea typeface="Calibri" pitchFamily="34" charset="-122"/>
                <a:cs typeface="Calibri" pitchFamily="34" charset="-120"/>
              </a:rPr>
              <a:t>The bottleneck was never educator willingness. It was the tool.</a:t>
            </a:r>
            <a:endParaRPr lang="en-US" sz="1400" dirty="0"/>
          </a:p>
        </p:txBody>
      </p:sp>
      <p:sp>
        <p:nvSpPr>
          <p:cNvPr id="9" name="Shape 7"/>
          <p:cNvSpPr/>
          <p:nvPr/>
        </p:nvSpPr>
        <p:spPr>
          <a:xfrm>
            <a:off x="0" y="4892040"/>
            <a:ext cx="9144000" cy="251460"/>
          </a:xfrm>
          <a:prstGeom prst="rect">
            <a:avLst/>
          </a:prstGeom>
          <a:solidFill>
            <a:srgbClr val="111D33"/>
          </a:solidFill>
          <a:ln w="12700">
            <a:solidFill>
              <a:srgbClr val="111D33"/>
            </a:solidFill>
            <a:prstDash val="solid"/>
          </a:ln>
        </p:spPr>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01168"/>
            <a:ext cx="8321040" cy="201168"/>
          </a:xfrm>
          <a:prstGeom prst="rect">
            <a:avLst/>
          </a:prstGeom>
          <a:noFill/>
          <a:ln/>
        </p:spPr>
        <p:txBody>
          <a:bodyPr wrap="square" lIns="0" tIns="0" rIns="0" bIns="0" rtlCol="0" anchor="ctr"/>
          <a:lstStyle/>
          <a:p>
            <a:pPr indent="0" marL="0">
              <a:buNone/>
            </a:pPr>
            <a:r>
              <a:rPr lang="en-US" sz="900" b="1" spc="300" kern="0" dirty="0">
                <a:solidFill>
                  <a:srgbClr val="E87722"/>
                </a:solidFill>
                <a:latin typeface="Calibri" pitchFamily="34" charset="0"/>
                <a:ea typeface="Calibri" pitchFamily="34" charset="-122"/>
                <a:cs typeface="Calibri" pitchFamily="34" charset="-120"/>
              </a:rPr>
              <a:t>REFERENCES</a:t>
            </a:r>
            <a:endParaRPr lang="en-US" sz="900" dirty="0"/>
          </a:p>
        </p:txBody>
      </p:sp>
      <p:sp>
        <p:nvSpPr>
          <p:cNvPr id="3" name="Shape 1"/>
          <p:cNvSpPr/>
          <p:nvPr/>
        </p:nvSpPr>
        <p:spPr>
          <a:xfrm>
            <a:off x="384048" y="274320"/>
            <a:ext cx="64008" cy="502920"/>
          </a:xfrm>
          <a:prstGeom prst="rect">
            <a:avLst/>
          </a:prstGeom>
          <a:solidFill>
            <a:srgbClr val="E87722"/>
          </a:solidFill>
          <a:ln w="12700">
            <a:solidFill>
              <a:srgbClr val="E87722"/>
            </a:solidFill>
            <a:prstDash val="solid"/>
          </a:ln>
        </p:spPr>
      </p:sp>
      <p:sp>
        <p:nvSpPr>
          <p:cNvPr id="4" name="Text 2"/>
          <p:cNvSpPr/>
          <p:nvPr/>
        </p:nvSpPr>
        <p:spPr>
          <a:xfrm>
            <a:off x="548640" y="274320"/>
            <a:ext cx="8321040" cy="502920"/>
          </a:xfrm>
          <a:prstGeom prst="rect">
            <a:avLst/>
          </a:prstGeom>
          <a:noFill/>
          <a:ln/>
        </p:spPr>
        <p:txBody>
          <a:bodyPr wrap="square" lIns="0" tIns="0" rIns="0" bIns="0" rtlCol="0" anchor="ctr"/>
          <a:lstStyle/>
          <a:p>
            <a:pPr indent="0" marL="0">
              <a:buNone/>
            </a:pPr>
            <a:r>
              <a:rPr lang="en-US" sz="2400" b="1" dirty="0">
                <a:solidFill>
                  <a:srgbClr val="1B2A4A"/>
                </a:solidFill>
                <a:latin typeface="Georgia" pitchFamily="34" charset="0"/>
                <a:ea typeface="Georgia" pitchFamily="34" charset="-122"/>
                <a:cs typeface="Georgia" pitchFamily="34" charset="-120"/>
              </a:rPr>
              <a:t>Key References</a:t>
            </a:r>
            <a:endParaRPr lang="en-US" sz="2400" dirty="0"/>
          </a:p>
        </p:txBody>
      </p:sp>
      <p:sp>
        <p:nvSpPr>
          <p:cNvPr id="5" name="Text 3"/>
          <p:cNvSpPr/>
          <p:nvPr/>
        </p:nvSpPr>
        <p:spPr>
          <a:xfrm>
            <a:off x="7772400" y="4846320"/>
            <a:ext cx="1097280" cy="182880"/>
          </a:xfrm>
          <a:prstGeom prst="rect">
            <a:avLst/>
          </a:prstGeom>
          <a:noFill/>
          <a:ln/>
        </p:spPr>
        <p:txBody>
          <a:bodyPr wrap="square" lIns="0" tIns="0" rIns="0" bIns="0"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21 / 24</a:t>
            </a:r>
            <a:endParaRPr lang="en-US" sz="800" dirty="0"/>
          </a:p>
        </p:txBody>
      </p:sp>
      <p:sp>
        <p:nvSpPr>
          <p:cNvPr id="6" name="Shape 4"/>
          <p:cNvSpPr/>
          <p:nvPr/>
        </p:nvSpPr>
        <p:spPr>
          <a:xfrm>
            <a:off x="411480" y="1005840"/>
            <a:ext cx="54864" cy="502920"/>
          </a:xfrm>
          <a:prstGeom prst="rect">
            <a:avLst/>
          </a:prstGeom>
          <a:solidFill>
            <a:srgbClr val="E87722"/>
          </a:solidFill>
          <a:ln w="12700">
            <a:solidFill>
              <a:srgbClr val="E87722"/>
            </a:solidFill>
            <a:prstDash val="solid"/>
          </a:ln>
        </p:spPr>
      </p:sp>
      <p:sp>
        <p:nvSpPr>
          <p:cNvPr id="7" name="Text 5"/>
          <p:cNvSpPr/>
          <p:nvPr/>
        </p:nvSpPr>
        <p:spPr>
          <a:xfrm>
            <a:off x="557784" y="1005840"/>
            <a:ext cx="4160520" cy="566928"/>
          </a:xfrm>
          <a:prstGeom prst="rect">
            <a:avLst/>
          </a:prstGeom>
          <a:noFill/>
          <a:ln/>
        </p:spPr>
        <p:txBody>
          <a:bodyPr wrap="square" lIns="0" tIns="0" rIns="0" bIns="0" rtlCol="0" anchor="ctr"/>
          <a:lstStyle/>
          <a:p>
            <a:pPr indent="0" marL="0">
              <a:buNone/>
            </a:pPr>
            <a:r>
              <a:rPr lang="en-US" sz="900" dirty="0">
                <a:solidFill>
                  <a:srgbClr val="374151"/>
                </a:solidFill>
                <a:latin typeface="Calibri" pitchFamily="34" charset="0"/>
                <a:ea typeface="Calibri" pitchFamily="34" charset="-122"/>
                <a:cs typeface="Calibri" pitchFamily="34" charset="-120"/>
              </a:rPr>
              <a:t>Anderson, L. W. &amp; Krathwohl, D. R. (2001). A Taxonomy for Learning, Teaching, and Assessing. Longman.</a:t>
            </a:r>
            <a:endParaRPr lang="en-US" sz="900" dirty="0"/>
          </a:p>
        </p:txBody>
      </p:sp>
      <p:sp>
        <p:nvSpPr>
          <p:cNvPr id="8" name="Shape 6"/>
          <p:cNvSpPr/>
          <p:nvPr/>
        </p:nvSpPr>
        <p:spPr>
          <a:xfrm>
            <a:off x="411480" y="1664208"/>
            <a:ext cx="54864" cy="502920"/>
          </a:xfrm>
          <a:prstGeom prst="rect">
            <a:avLst/>
          </a:prstGeom>
          <a:solidFill>
            <a:srgbClr val="E87722"/>
          </a:solidFill>
          <a:ln w="12700">
            <a:solidFill>
              <a:srgbClr val="E87722"/>
            </a:solidFill>
            <a:prstDash val="solid"/>
          </a:ln>
        </p:spPr>
      </p:sp>
      <p:sp>
        <p:nvSpPr>
          <p:cNvPr id="9" name="Text 7"/>
          <p:cNvSpPr/>
          <p:nvPr/>
        </p:nvSpPr>
        <p:spPr>
          <a:xfrm>
            <a:off x="557784" y="1664208"/>
            <a:ext cx="4160520" cy="566928"/>
          </a:xfrm>
          <a:prstGeom prst="rect">
            <a:avLst/>
          </a:prstGeom>
          <a:noFill/>
          <a:ln/>
        </p:spPr>
        <p:txBody>
          <a:bodyPr wrap="square" lIns="0" tIns="0" rIns="0" bIns="0" rtlCol="0" anchor="ctr"/>
          <a:lstStyle/>
          <a:p>
            <a:pPr indent="0" marL="0">
              <a:buNone/>
            </a:pPr>
            <a:r>
              <a:rPr lang="en-US" sz="900" dirty="0">
                <a:solidFill>
                  <a:srgbClr val="374151"/>
                </a:solidFill>
                <a:latin typeface="Calibri" pitchFamily="34" charset="0"/>
                <a:ea typeface="Calibri" pitchFamily="34" charset="-122"/>
                <a:cs typeface="Calibri" pitchFamily="34" charset="-120"/>
              </a:rPr>
              <a:t>Brooke, J. (1996). SUS — A quick and dirty usability scale. Usability Evaluation in Industry, 189(194), 4–7.</a:t>
            </a:r>
            <a:endParaRPr lang="en-US" sz="900" dirty="0"/>
          </a:p>
        </p:txBody>
      </p:sp>
      <p:sp>
        <p:nvSpPr>
          <p:cNvPr id="10" name="Shape 8"/>
          <p:cNvSpPr/>
          <p:nvPr/>
        </p:nvSpPr>
        <p:spPr>
          <a:xfrm>
            <a:off x="411480" y="2322576"/>
            <a:ext cx="54864" cy="502920"/>
          </a:xfrm>
          <a:prstGeom prst="rect">
            <a:avLst/>
          </a:prstGeom>
          <a:solidFill>
            <a:srgbClr val="E87722"/>
          </a:solidFill>
          <a:ln w="12700">
            <a:solidFill>
              <a:srgbClr val="E87722"/>
            </a:solidFill>
            <a:prstDash val="solid"/>
          </a:ln>
        </p:spPr>
      </p:sp>
      <p:sp>
        <p:nvSpPr>
          <p:cNvPr id="11" name="Text 9"/>
          <p:cNvSpPr/>
          <p:nvPr/>
        </p:nvSpPr>
        <p:spPr>
          <a:xfrm>
            <a:off x="557784" y="2322576"/>
            <a:ext cx="4160520" cy="566928"/>
          </a:xfrm>
          <a:prstGeom prst="rect">
            <a:avLst/>
          </a:prstGeom>
          <a:noFill/>
          <a:ln/>
        </p:spPr>
        <p:txBody>
          <a:bodyPr wrap="square" lIns="0" tIns="0" rIns="0" bIns="0" rtlCol="0" anchor="ctr"/>
          <a:lstStyle/>
          <a:p>
            <a:pPr indent="0" marL="0">
              <a:buNone/>
            </a:pPr>
            <a:r>
              <a:rPr lang="en-US" sz="900" dirty="0">
                <a:solidFill>
                  <a:srgbClr val="374151"/>
                </a:solidFill>
                <a:latin typeface="Calibri" pitchFamily="34" charset="0"/>
                <a:ea typeface="Calibri" pitchFamily="34" charset="-122"/>
                <a:cs typeface="Calibri" pitchFamily="34" charset="-120"/>
              </a:rPr>
              <a:t>Chandler, P. &amp; Sweller, J. (1991). Cognitive load theory and the format of instruction. Cognition and Instruction, 8(4), 293–332.</a:t>
            </a:r>
            <a:endParaRPr lang="en-US" sz="900" dirty="0"/>
          </a:p>
        </p:txBody>
      </p:sp>
      <p:sp>
        <p:nvSpPr>
          <p:cNvPr id="12" name="Shape 10"/>
          <p:cNvSpPr/>
          <p:nvPr/>
        </p:nvSpPr>
        <p:spPr>
          <a:xfrm>
            <a:off x="411480" y="2980944"/>
            <a:ext cx="54864" cy="502920"/>
          </a:xfrm>
          <a:prstGeom prst="rect">
            <a:avLst/>
          </a:prstGeom>
          <a:solidFill>
            <a:srgbClr val="E87722"/>
          </a:solidFill>
          <a:ln w="12700">
            <a:solidFill>
              <a:srgbClr val="E87722"/>
            </a:solidFill>
            <a:prstDash val="solid"/>
          </a:ln>
        </p:spPr>
      </p:sp>
      <p:sp>
        <p:nvSpPr>
          <p:cNvPr id="13" name="Text 11"/>
          <p:cNvSpPr/>
          <p:nvPr/>
        </p:nvSpPr>
        <p:spPr>
          <a:xfrm>
            <a:off x="557784" y="2980944"/>
            <a:ext cx="4160520" cy="566928"/>
          </a:xfrm>
          <a:prstGeom prst="rect">
            <a:avLst/>
          </a:prstGeom>
          <a:noFill/>
          <a:ln/>
        </p:spPr>
        <p:txBody>
          <a:bodyPr wrap="square" lIns="0" tIns="0" rIns="0" bIns="0" rtlCol="0" anchor="ctr"/>
          <a:lstStyle/>
          <a:p>
            <a:pPr indent="0" marL="0">
              <a:buNone/>
            </a:pPr>
            <a:r>
              <a:rPr lang="en-US" sz="900" dirty="0">
                <a:solidFill>
                  <a:srgbClr val="374151"/>
                </a:solidFill>
                <a:latin typeface="Calibri" pitchFamily="34" charset="0"/>
                <a:ea typeface="Calibri" pitchFamily="34" charset="-122"/>
                <a:cs typeface="Calibri" pitchFamily="34" charset="-120"/>
              </a:rPr>
              <a:t>Davis, F. D. (1989). Perceived usefulness, perceived ease of use, and user acceptance of information technology. MIS Quarterly, 13(3), 319–340.</a:t>
            </a:r>
            <a:endParaRPr lang="en-US" sz="900" dirty="0"/>
          </a:p>
        </p:txBody>
      </p:sp>
      <p:sp>
        <p:nvSpPr>
          <p:cNvPr id="14" name="Shape 12"/>
          <p:cNvSpPr/>
          <p:nvPr/>
        </p:nvSpPr>
        <p:spPr>
          <a:xfrm>
            <a:off x="411480" y="3639312"/>
            <a:ext cx="54864" cy="502920"/>
          </a:xfrm>
          <a:prstGeom prst="rect">
            <a:avLst/>
          </a:prstGeom>
          <a:solidFill>
            <a:srgbClr val="E87722"/>
          </a:solidFill>
          <a:ln w="12700">
            <a:solidFill>
              <a:srgbClr val="E87722"/>
            </a:solidFill>
            <a:prstDash val="solid"/>
          </a:ln>
        </p:spPr>
      </p:sp>
      <p:sp>
        <p:nvSpPr>
          <p:cNvPr id="15" name="Text 13"/>
          <p:cNvSpPr/>
          <p:nvPr/>
        </p:nvSpPr>
        <p:spPr>
          <a:xfrm>
            <a:off x="557784" y="3639312"/>
            <a:ext cx="4160520" cy="566928"/>
          </a:xfrm>
          <a:prstGeom prst="rect">
            <a:avLst/>
          </a:prstGeom>
          <a:noFill/>
          <a:ln/>
        </p:spPr>
        <p:txBody>
          <a:bodyPr wrap="square" lIns="0" tIns="0" rIns="0" bIns="0" rtlCol="0" anchor="ctr"/>
          <a:lstStyle/>
          <a:p>
            <a:pPr indent="0" marL="0">
              <a:buNone/>
            </a:pPr>
            <a:r>
              <a:rPr lang="en-US" sz="900" dirty="0">
                <a:solidFill>
                  <a:srgbClr val="374151"/>
                </a:solidFill>
                <a:latin typeface="Calibri" pitchFamily="34" charset="0"/>
                <a:ea typeface="Calibri" pitchFamily="34" charset="-122"/>
                <a:cs typeface="Calibri" pitchFamily="34" charset="-120"/>
              </a:rPr>
              <a:t>Freeman, S. et al. (2014). Active learning increases student performance in science, engineering, and mathematics. PNAS, 111(23), 8410–8415.</a:t>
            </a:r>
            <a:endParaRPr lang="en-US" sz="900" dirty="0"/>
          </a:p>
        </p:txBody>
      </p:sp>
      <p:sp>
        <p:nvSpPr>
          <p:cNvPr id="16" name="Shape 14"/>
          <p:cNvSpPr/>
          <p:nvPr/>
        </p:nvSpPr>
        <p:spPr>
          <a:xfrm>
            <a:off x="411480" y="4297680"/>
            <a:ext cx="54864" cy="502920"/>
          </a:xfrm>
          <a:prstGeom prst="rect">
            <a:avLst/>
          </a:prstGeom>
          <a:solidFill>
            <a:srgbClr val="E87722"/>
          </a:solidFill>
          <a:ln w="12700">
            <a:solidFill>
              <a:srgbClr val="E87722"/>
            </a:solidFill>
            <a:prstDash val="solid"/>
          </a:ln>
        </p:spPr>
      </p:sp>
      <p:sp>
        <p:nvSpPr>
          <p:cNvPr id="17" name="Text 15"/>
          <p:cNvSpPr/>
          <p:nvPr/>
        </p:nvSpPr>
        <p:spPr>
          <a:xfrm>
            <a:off x="557784" y="4297680"/>
            <a:ext cx="4160520" cy="566928"/>
          </a:xfrm>
          <a:prstGeom prst="rect">
            <a:avLst/>
          </a:prstGeom>
          <a:noFill/>
          <a:ln/>
        </p:spPr>
        <p:txBody>
          <a:bodyPr wrap="square" lIns="0" tIns="0" rIns="0" bIns="0" rtlCol="0" anchor="ctr"/>
          <a:lstStyle/>
          <a:p>
            <a:pPr indent="0" marL="0">
              <a:buNone/>
            </a:pPr>
            <a:r>
              <a:rPr lang="en-US" sz="900" dirty="0">
                <a:solidFill>
                  <a:srgbClr val="374151"/>
                </a:solidFill>
                <a:latin typeface="Calibri" pitchFamily="34" charset="0"/>
                <a:ea typeface="Calibri" pitchFamily="34" charset="-122"/>
                <a:cs typeface="Calibri" pitchFamily="34" charset="-120"/>
              </a:rPr>
              <a:t>H5P Group (2023). H5P — Create and Share Rich HTML5 Content and Applications. https://h5p.org</a:t>
            </a:r>
            <a:endParaRPr lang="en-US" sz="900" dirty="0"/>
          </a:p>
        </p:txBody>
      </p:sp>
      <p:sp>
        <p:nvSpPr>
          <p:cNvPr id="18" name="Shape 16"/>
          <p:cNvSpPr/>
          <p:nvPr/>
        </p:nvSpPr>
        <p:spPr>
          <a:xfrm>
            <a:off x="4818888" y="1005840"/>
            <a:ext cx="54864" cy="502920"/>
          </a:xfrm>
          <a:prstGeom prst="rect">
            <a:avLst/>
          </a:prstGeom>
          <a:solidFill>
            <a:srgbClr val="E87722"/>
          </a:solidFill>
          <a:ln w="12700">
            <a:solidFill>
              <a:srgbClr val="E87722"/>
            </a:solidFill>
            <a:prstDash val="solid"/>
          </a:ln>
        </p:spPr>
      </p:sp>
      <p:sp>
        <p:nvSpPr>
          <p:cNvPr id="19" name="Text 17"/>
          <p:cNvSpPr/>
          <p:nvPr/>
        </p:nvSpPr>
        <p:spPr>
          <a:xfrm>
            <a:off x="4965192" y="1005840"/>
            <a:ext cx="4160520" cy="566928"/>
          </a:xfrm>
          <a:prstGeom prst="rect">
            <a:avLst/>
          </a:prstGeom>
          <a:noFill/>
          <a:ln/>
        </p:spPr>
        <p:txBody>
          <a:bodyPr wrap="square" lIns="0" tIns="0" rIns="0" bIns="0" rtlCol="0" anchor="ctr"/>
          <a:lstStyle/>
          <a:p>
            <a:pPr indent="0" marL="0">
              <a:buNone/>
            </a:pPr>
            <a:r>
              <a:rPr lang="en-US" sz="900" dirty="0">
                <a:solidFill>
                  <a:srgbClr val="374151"/>
                </a:solidFill>
                <a:latin typeface="Calibri" pitchFamily="34" charset="0"/>
                <a:ea typeface="Calibri" pitchFamily="34" charset="-122"/>
                <a:cs typeface="Calibri" pitchFamily="34" charset="-120"/>
              </a:rPr>
              <a:t>Lumieducation (2023). @lumieducation/h5p-server Node.js library. https://github.com/Lumieducation/H5P-Nodejs-library</a:t>
            </a:r>
            <a:endParaRPr lang="en-US" sz="900" dirty="0"/>
          </a:p>
        </p:txBody>
      </p:sp>
      <p:sp>
        <p:nvSpPr>
          <p:cNvPr id="20" name="Shape 18"/>
          <p:cNvSpPr/>
          <p:nvPr/>
        </p:nvSpPr>
        <p:spPr>
          <a:xfrm>
            <a:off x="4818888" y="1664208"/>
            <a:ext cx="54864" cy="502920"/>
          </a:xfrm>
          <a:prstGeom prst="rect">
            <a:avLst/>
          </a:prstGeom>
          <a:solidFill>
            <a:srgbClr val="E87722"/>
          </a:solidFill>
          <a:ln w="12700">
            <a:solidFill>
              <a:srgbClr val="E87722"/>
            </a:solidFill>
            <a:prstDash val="solid"/>
          </a:ln>
        </p:spPr>
      </p:sp>
      <p:sp>
        <p:nvSpPr>
          <p:cNvPr id="21" name="Text 19"/>
          <p:cNvSpPr/>
          <p:nvPr/>
        </p:nvSpPr>
        <p:spPr>
          <a:xfrm>
            <a:off x="4965192" y="1664208"/>
            <a:ext cx="4160520" cy="566928"/>
          </a:xfrm>
          <a:prstGeom prst="rect">
            <a:avLst/>
          </a:prstGeom>
          <a:noFill/>
          <a:ln/>
        </p:spPr>
        <p:txBody>
          <a:bodyPr wrap="square" lIns="0" tIns="0" rIns="0" bIns="0" rtlCol="0" anchor="ctr"/>
          <a:lstStyle/>
          <a:p>
            <a:pPr indent="0" marL="0">
              <a:buNone/>
            </a:pPr>
            <a:r>
              <a:rPr lang="en-US" sz="900" dirty="0">
                <a:solidFill>
                  <a:srgbClr val="374151"/>
                </a:solidFill>
                <a:latin typeface="Calibri" pitchFamily="34" charset="0"/>
                <a:ea typeface="Calibri" pitchFamily="34" charset="-122"/>
                <a:cs typeface="Calibri" pitchFamily="34" charset="-120"/>
              </a:rPr>
              <a:t>Merkt, M. et al. (2011). Learning with videos vs. learning with print. Learning and Instruction, 21(5), 687–704.</a:t>
            </a:r>
            <a:endParaRPr lang="en-US" sz="900" dirty="0"/>
          </a:p>
        </p:txBody>
      </p:sp>
      <p:sp>
        <p:nvSpPr>
          <p:cNvPr id="22" name="Shape 20"/>
          <p:cNvSpPr/>
          <p:nvPr/>
        </p:nvSpPr>
        <p:spPr>
          <a:xfrm>
            <a:off x="4818888" y="2322576"/>
            <a:ext cx="54864" cy="502920"/>
          </a:xfrm>
          <a:prstGeom prst="rect">
            <a:avLst/>
          </a:prstGeom>
          <a:solidFill>
            <a:srgbClr val="E87722"/>
          </a:solidFill>
          <a:ln w="12700">
            <a:solidFill>
              <a:srgbClr val="E87722"/>
            </a:solidFill>
            <a:prstDash val="solid"/>
          </a:ln>
        </p:spPr>
      </p:sp>
      <p:sp>
        <p:nvSpPr>
          <p:cNvPr id="23" name="Text 21"/>
          <p:cNvSpPr/>
          <p:nvPr/>
        </p:nvSpPr>
        <p:spPr>
          <a:xfrm>
            <a:off x="4965192" y="2322576"/>
            <a:ext cx="4160520" cy="566928"/>
          </a:xfrm>
          <a:prstGeom prst="rect">
            <a:avLst/>
          </a:prstGeom>
          <a:noFill/>
          <a:ln/>
        </p:spPr>
        <p:txBody>
          <a:bodyPr wrap="square" lIns="0" tIns="0" rIns="0" bIns="0" rtlCol="0" anchor="ctr"/>
          <a:lstStyle/>
          <a:p>
            <a:pPr indent="0" marL="0">
              <a:buNone/>
            </a:pPr>
            <a:r>
              <a:rPr lang="en-US" sz="900" dirty="0">
                <a:solidFill>
                  <a:srgbClr val="374151"/>
                </a:solidFill>
                <a:latin typeface="Calibri" pitchFamily="34" charset="0"/>
                <a:ea typeface="Calibri" pitchFamily="34" charset="-122"/>
                <a:cs typeface="Calibri" pitchFamily="34" charset="-120"/>
              </a:rPr>
              <a:t>Nielsen, J. (1994). Usability Engineering. Morgan Kaufmann.</a:t>
            </a:r>
            <a:endParaRPr lang="en-US" sz="900" dirty="0"/>
          </a:p>
        </p:txBody>
      </p:sp>
      <p:sp>
        <p:nvSpPr>
          <p:cNvPr id="24" name="Shape 22"/>
          <p:cNvSpPr/>
          <p:nvPr/>
        </p:nvSpPr>
        <p:spPr>
          <a:xfrm>
            <a:off x="4818888" y="2980944"/>
            <a:ext cx="54864" cy="502920"/>
          </a:xfrm>
          <a:prstGeom prst="rect">
            <a:avLst/>
          </a:prstGeom>
          <a:solidFill>
            <a:srgbClr val="E87722"/>
          </a:solidFill>
          <a:ln w="12700">
            <a:solidFill>
              <a:srgbClr val="E87722"/>
            </a:solidFill>
            <a:prstDash val="solid"/>
          </a:ln>
        </p:spPr>
      </p:sp>
      <p:sp>
        <p:nvSpPr>
          <p:cNvPr id="25" name="Text 23"/>
          <p:cNvSpPr/>
          <p:nvPr/>
        </p:nvSpPr>
        <p:spPr>
          <a:xfrm>
            <a:off x="4965192" y="2980944"/>
            <a:ext cx="4160520" cy="566928"/>
          </a:xfrm>
          <a:prstGeom prst="rect">
            <a:avLst/>
          </a:prstGeom>
          <a:noFill/>
          <a:ln/>
        </p:spPr>
        <p:txBody>
          <a:bodyPr wrap="square" lIns="0" tIns="0" rIns="0" bIns="0" rtlCol="0" anchor="ctr"/>
          <a:lstStyle/>
          <a:p>
            <a:pPr indent="0" marL="0">
              <a:buNone/>
            </a:pPr>
            <a:r>
              <a:rPr lang="en-US" sz="900" dirty="0">
                <a:solidFill>
                  <a:srgbClr val="374151"/>
                </a:solidFill>
                <a:latin typeface="Calibri" pitchFamily="34" charset="0"/>
                <a:ea typeface="Calibri" pitchFamily="34" charset="-122"/>
                <a:cs typeface="Calibri" pitchFamily="34" charset="-120"/>
              </a:rPr>
              <a:t>Vietnam Government (2021). National Education Development Strategy 2021–2030. Decision No. 1373/QD-TTg.</a:t>
            </a:r>
            <a:endParaRPr lang="en-US" sz="900" dirty="0"/>
          </a:p>
        </p:txBody>
      </p:sp>
      <p:sp>
        <p:nvSpPr>
          <p:cNvPr id="26" name="Shape 24"/>
          <p:cNvSpPr/>
          <p:nvPr/>
        </p:nvSpPr>
        <p:spPr>
          <a:xfrm>
            <a:off x="4818888" y="3639312"/>
            <a:ext cx="54864" cy="502920"/>
          </a:xfrm>
          <a:prstGeom prst="rect">
            <a:avLst/>
          </a:prstGeom>
          <a:solidFill>
            <a:srgbClr val="E87722"/>
          </a:solidFill>
          <a:ln w="12700">
            <a:solidFill>
              <a:srgbClr val="E87722"/>
            </a:solidFill>
            <a:prstDash val="solid"/>
          </a:ln>
        </p:spPr>
      </p:sp>
      <p:sp>
        <p:nvSpPr>
          <p:cNvPr id="27" name="Text 25"/>
          <p:cNvSpPr/>
          <p:nvPr/>
        </p:nvSpPr>
        <p:spPr>
          <a:xfrm>
            <a:off x="4965192" y="3639312"/>
            <a:ext cx="4160520" cy="566928"/>
          </a:xfrm>
          <a:prstGeom prst="rect">
            <a:avLst/>
          </a:prstGeom>
          <a:noFill/>
          <a:ln/>
        </p:spPr>
        <p:txBody>
          <a:bodyPr wrap="square" lIns="0" tIns="0" rIns="0" bIns="0" rtlCol="0" anchor="ctr"/>
          <a:lstStyle/>
          <a:p>
            <a:pPr indent="0" marL="0">
              <a:buNone/>
            </a:pPr>
            <a:r>
              <a:rPr lang="en-US" sz="900" dirty="0">
                <a:solidFill>
                  <a:srgbClr val="374151"/>
                </a:solidFill>
                <a:latin typeface="Calibri" pitchFamily="34" charset="0"/>
                <a:ea typeface="Calibri" pitchFamily="34" charset="-122"/>
                <a:cs typeface="Calibri" pitchFamily="34" charset="-120"/>
              </a:rPr>
              <a:t>Zhang, D. et al. (2006). Instructional video in e-learning: Assessing the impact of interactive video. Information &amp; Management, 43(1), 15–27.</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B2A4A"/>
        </a:solidFill>
      </p:bgPr>
    </p:bg>
    <p:spTree>
      <p:nvGrpSpPr>
        <p:cNvPr id="1" name=""/>
        <p:cNvGrpSpPr/>
        <p:nvPr/>
      </p:nvGrpSpPr>
      <p:grpSpPr>
        <a:xfrm>
          <a:off x="0" y="0"/>
          <a:ext cx="0" cy="0"/>
          <a:chOff x="0" y="0"/>
          <a:chExt cx="0" cy="0"/>
        </a:xfrm>
      </p:grpSpPr>
      <p:sp>
        <p:nvSpPr>
          <p:cNvPr id="2" name="Shape 0"/>
          <p:cNvSpPr/>
          <p:nvPr/>
        </p:nvSpPr>
        <p:spPr>
          <a:xfrm>
            <a:off x="-1828800" y="457200"/>
            <a:ext cx="5029200" cy="5029200"/>
          </a:xfrm>
          <a:prstGeom prst="ellipse">
            <a:avLst/>
          </a:prstGeom>
          <a:solidFill>
            <a:srgbClr val="E87722">
              <a:alpha val="8000"/>
            </a:srgbClr>
          </a:solidFill>
          <a:ln w="12700">
            <a:solidFill>
              <a:srgbClr val="E87722"/>
            </a:solidFill>
            <a:prstDash val="solid"/>
          </a:ln>
        </p:spPr>
      </p:sp>
      <p:sp>
        <p:nvSpPr>
          <p:cNvPr id="3" name="Shape 1"/>
          <p:cNvSpPr/>
          <p:nvPr/>
        </p:nvSpPr>
        <p:spPr>
          <a:xfrm>
            <a:off x="6400800" y="914400"/>
            <a:ext cx="4572000" cy="4572000"/>
          </a:xfrm>
          <a:prstGeom prst="ellipse">
            <a:avLst/>
          </a:prstGeom>
          <a:solidFill>
            <a:srgbClr val="E87722">
              <a:alpha val="8000"/>
            </a:srgbClr>
          </a:solidFill>
          <a:ln w="12700">
            <a:solidFill>
              <a:srgbClr val="E87722"/>
            </a:solidFill>
            <a:prstDash val="solid"/>
          </a:ln>
        </p:spPr>
      </p:sp>
      <p:sp>
        <p:nvSpPr>
          <p:cNvPr id="4" name="Text 2"/>
          <p:cNvSpPr/>
          <p:nvPr/>
        </p:nvSpPr>
        <p:spPr>
          <a:xfrm>
            <a:off x="0" y="868680"/>
            <a:ext cx="9144000" cy="2743200"/>
          </a:xfrm>
          <a:prstGeom prst="rect">
            <a:avLst/>
          </a:prstGeom>
          <a:noFill/>
          <a:ln/>
        </p:spPr>
        <p:txBody>
          <a:bodyPr wrap="square" lIns="0" tIns="0" rIns="0" bIns="0" rtlCol="0" anchor="ctr"/>
          <a:lstStyle/>
          <a:p>
            <a:pPr algn="ctr" indent="0" marL="0">
              <a:buNone/>
            </a:pPr>
            <a:r>
              <a:rPr lang="en-US" sz="14000" b="1" dirty="0">
                <a:solidFill>
                  <a:srgbClr val="FFFFFF"/>
                </a:solidFill>
                <a:latin typeface="Georgia" pitchFamily="34" charset="0"/>
                <a:ea typeface="Georgia" pitchFamily="34" charset="-122"/>
                <a:cs typeface="Georgia" pitchFamily="34" charset="-120"/>
              </a:rPr>
              <a:t>DEMO</a:t>
            </a:r>
            <a:endParaRPr lang="en-US" sz="14000" dirty="0"/>
          </a:p>
        </p:txBody>
      </p:sp>
      <p:sp>
        <p:nvSpPr>
          <p:cNvPr id="5" name="Text 3"/>
          <p:cNvSpPr/>
          <p:nvPr/>
        </p:nvSpPr>
        <p:spPr>
          <a:xfrm>
            <a:off x="0" y="3822192"/>
            <a:ext cx="9144000" cy="457200"/>
          </a:xfrm>
          <a:prstGeom prst="rect">
            <a:avLst/>
          </a:prstGeom>
          <a:noFill/>
          <a:ln/>
        </p:spPr>
        <p:txBody>
          <a:bodyPr wrap="square" lIns="0" tIns="0" rIns="0" bIns="0" rtlCol="0" anchor="ctr"/>
          <a:lstStyle/>
          <a:p>
            <a:pPr algn="ctr" indent="0" marL="0">
              <a:buNone/>
            </a:pPr>
            <a:r>
              <a:rPr lang="en-US" sz="1800" i="1" dirty="0">
                <a:solidFill>
                  <a:srgbClr val="A8C5DA"/>
                </a:solidFill>
                <a:latin typeface="Calibri" pitchFamily="34" charset="0"/>
                <a:ea typeface="Calibri" pitchFamily="34" charset="-122"/>
                <a:cs typeface="Calibri" pitchFamily="34" charset="-120"/>
              </a:rPr>
              <a:t>Live walkthrough</a:t>
            </a:r>
            <a:endParaRPr lang="en-US" sz="1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B2A4A"/>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87722"/>
          </a:solidFill>
          <a:ln w="12700">
            <a:solidFill>
              <a:srgbClr val="E87722"/>
            </a:solidFill>
            <a:prstDash val="solid"/>
          </a:ln>
        </p:spPr>
      </p:sp>
      <p:sp>
        <p:nvSpPr>
          <p:cNvPr id="3" name="Shape 1"/>
          <p:cNvSpPr/>
          <p:nvPr/>
        </p:nvSpPr>
        <p:spPr>
          <a:xfrm>
            <a:off x="-1371600" y="2286000"/>
            <a:ext cx="4572000" cy="4572000"/>
          </a:xfrm>
          <a:prstGeom prst="ellipse">
            <a:avLst/>
          </a:prstGeom>
          <a:solidFill>
            <a:srgbClr val="E87722">
              <a:alpha val="7000"/>
            </a:srgbClr>
          </a:solidFill>
          <a:ln w="12700">
            <a:solidFill>
              <a:srgbClr val="E87722"/>
            </a:solidFill>
            <a:prstDash val="solid"/>
          </a:ln>
        </p:spPr>
      </p:sp>
      <p:sp>
        <p:nvSpPr>
          <p:cNvPr id="4" name="Shape 2"/>
          <p:cNvSpPr/>
          <p:nvPr/>
        </p:nvSpPr>
        <p:spPr>
          <a:xfrm>
            <a:off x="6858000" y="-1371600"/>
            <a:ext cx="5029200" cy="5029200"/>
          </a:xfrm>
          <a:prstGeom prst="ellipse">
            <a:avLst/>
          </a:prstGeom>
          <a:solidFill>
            <a:srgbClr val="E87722">
              <a:alpha val="7000"/>
            </a:srgbClr>
          </a:solidFill>
          <a:ln w="12700">
            <a:solidFill>
              <a:srgbClr val="E87722"/>
            </a:solidFill>
            <a:prstDash val="solid"/>
          </a:ln>
        </p:spPr>
      </p:sp>
      <p:sp>
        <p:nvSpPr>
          <p:cNvPr id="5" name="Text 3"/>
          <p:cNvSpPr/>
          <p:nvPr/>
        </p:nvSpPr>
        <p:spPr>
          <a:xfrm>
            <a:off x="0" y="914400"/>
            <a:ext cx="9144000" cy="1554480"/>
          </a:xfrm>
          <a:prstGeom prst="rect">
            <a:avLst/>
          </a:prstGeom>
          <a:noFill/>
          <a:ln/>
        </p:spPr>
        <p:txBody>
          <a:bodyPr wrap="square" lIns="0" tIns="0" rIns="0" bIns="0" rtlCol="0" anchor="ctr"/>
          <a:lstStyle/>
          <a:p>
            <a:pPr algn="ctr" indent="0" marL="0">
              <a:buNone/>
            </a:pPr>
            <a:r>
              <a:rPr lang="en-US" sz="7200" b="1" dirty="0">
                <a:solidFill>
                  <a:srgbClr val="FFFFFF"/>
                </a:solidFill>
                <a:latin typeface="Georgia" pitchFamily="34" charset="0"/>
                <a:ea typeface="Georgia" pitchFamily="34" charset="-122"/>
                <a:cs typeface="Georgia" pitchFamily="34" charset="-120"/>
              </a:rPr>
              <a:t>Thank You</a:t>
            </a:r>
            <a:endParaRPr lang="en-US" sz="7200" dirty="0"/>
          </a:p>
        </p:txBody>
      </p:sp>
      <p:sp>
        <p:nvSpPr>
          <p:cNvPr id="6" name="Shape 4"/>
          <p:cNvSpPr/>
          <p:nvPr/>
        </p:nvSpPr>
        <p:spPr>
          <a:xfrm>
            <a:off x="3200400" y="2633472"/>
            <a:ext cx="2743200" cy="0"/>
          </a:xfrm>
          <a:prstGeom prst="line">
            <a:avLst/>
          </a:prstGeom>
          <a:noFill/>
          <a:ln w="25400">
            <a:solidFill>
              <a:srgbClr val="E87722"/>
            </a:solidFill>
            <a:prstDash val="solid"/>
          </a:ln>
        </p:spPr>
      </p:sp>
      <p:sp>
        <p:nvSpPr>
          <p:cNvPr id="7" name="Text 5"/>
          <p:cNvSpPr/>
          <p:nvPr/>
        </p:nvSpPr>
        <p:spPr>
          <a:xfrm>
            <a:off x="0" y="2788920"/>
            <a:ext cx="9144000" cy="685800"/>
          </a:xfrm>
          <a:prstGeom prst="rect">
            <a:avLst/>
          </a:prstGeom>
          <a:noFill/>
          <a:ln/>
        </p:spPr>
        <p:txBody>
          <a:bodyPr wrap="square" lIns="0" tIns="0" rIns="0" bIns="0" rtlCol="0" anchor="ctr"/>
          <a:lstStyle/>
          <a:p>
            <a:pPr algn="ctr" indent="0" marL="0">
              <a:buNone/>
            </a:pPr>
            <a:r>
              <a:rPr lang="en-US" sz="3000" dirty="0">
                <a:solidFill>
                  <a:srgbClr val="E87722"/>
                </a:solidFill>
                <a:latin typeface="Calibri" pitchFamily="34" charset="0"/>
                <a:ea typeface="Calibri" pitchFamily="34" charset="-122"/>
                <a:cs typeface="Calibri" pitchFamily="34" charset="-120"/>
              </a:rPr>
              <a:t>Questions?</a:t>
            </a:r>
            <a:endParaRPr lang="en-US" sz="3000" dirty="0"/>
          </a:p>
        </p:txBody>
      </p:sp>
      <p:sp>
        <p:nvSpPr>
          <p:cNvPr id="8" name="Text 6"/>
          <p:cNvSpPr/>
          <p:nvPr/>
        </p:nvSpPr>
        <p:spPr>
          <a:xfrm>
            <a:off x="0" y="3931920"/>
            <a:ext cx="9144000" cy="594360"/>
          </a:xfrm>
          <a:prstGeom prst="rect">
            <a:avLst/>
          </a:prstGeom>
          <a:noFill/>
          <a:ln/>
        </p:spPr>
        <p:txBody>
          <a:bodyPr wrap="square" lIns="0" tIns="0" rIns="0" bIns="0" rtlCol="0" anchor="ctr"/>
          <a:lstStyle/>
          <a:p>
            <a:pPr algn="ctr" indent="0" marL="0">
              <a:buNone/>
            </a:pPr>
            <a:r>
              <a:rPr lang="en-US" sz="1100" dirty="0">
                <a:solidFill>
                  <a:srgbClr val="7A9BB5"/>
                </a:solidFill>
                <a:latin typeface="Calibri" pitchFamily="34" charset="0"/>
                <a:ea typeface="Calibri" pitchFamily="34" charset="-122"/>
                <a:cs typeface="Calibri" pitchFamily="34" charset="-120"/>
              </a:rPr>
              <a:t>Nguyen Toan Phuc  |  ITITIU21093  |  toanphuc02@gmail.com</a:t>
            </a:r>
            <a:endParaRPr lang="en-US" sz="1100" dirty="0"/>
          </a:p>
          <a:p>
            <a:pPr algn="ctr" indent="0" marL="0">
              <a:buNone/>
            </a:pPr>
            <a:r>
              <a:rPr lang="en-US" sz="1100" dirty="0">
                <a:solidFill>
                  <a:srgbClr val="7A9BB5"/>
                </a:solidFill>
                <a:latin typeface="Calibri" pitchFamily="34" charset="0"/>
                <a:ea typeface="Calibri" pitchFamily="34" charset="-122"/>
                <a:cs typeface="Calibri" pitchFamily="34" charset="-120"/>
              </a:rPr>
              <a:t>VNU-HCM · The International University · School of Computer Science and Engineering  |  2026</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Autonomous AI-Based Generation of Interactive Questions for MOOC Videos</dc:title>
  <dc:subject>PptxGenJS Presentation</dc:subject>
  <dc:creator>Nguyen Toan Phuc</dc:creator>
  <cp:lastModifiedBy>Nguyen Toan Phuc</cp:lastModifiedBy>
  <cp:revision>1</cp:revision>
  <dcterms:created xsi:type="dcterms:W3CDTF">2026-05-12T07:57:43Z</dcterms:created>
  <dcterms:modified xsi:type="dcterms:W3CDTF">2026-05-12T07:57:43Z</dcterms:modified>
</cp:coreProperties>
</file>