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Today I'm presenting AI-ActivEdu — an AI-assisted web platform for creating H5P interactive video content.
The core problem I set out to solve: instructors at Vietnamese universities currently spend 18 minutes creating just 5 H5P interactions using WordPress, and 70% fail to complete the task at all.
This platform changes that. Let me walk you through the problem, what we built, and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H5P stands for HTML5 Package. It's an open-source standard for creating interactive web content.
A .h5p file is a self-contained ZIP archive. Upload it to any compatible LMS and it works immediately — no extra configuration.
Today it's used everywhere: Moodle, Canvas, Blackboard, Coursera, and here in Vietnam at VNU-HCM's MOOC platform. The authoring experience matters enormously: if the tool to CREATE these files is broken, the educational benefit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put the market in context.
WordPress H5P plugin is the most deployed — free, web-based, but zero AI assistance. Lumi Desktop requires local installation. Commercial tools like Articulate and Adobe cost over $1,300 per user per year, aren't H5P-compatible, and their evaluations are vendor-reported only.
Most critically: none of them have been independently evaluated in a controlled study.
AI-ActivEdu is the only tool that is web-based, free and open-source, AI-powered with Bloom's taxonomy labeling, AND empirically tested. This combination is the gap this project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put concrete numbers on the problem.
The WordPress H5P workflow requires 47 separate interface interactions to create just 5 questions. Participants navigated across 6 different screens, forced to hold the video timestamp in memory every time they switched.
The median time for participants who actually finished was 18 minutes. But the more telling number: 7 out of 10 participants never finished at all. They ran out of time or gave up due to errors.
These numbers come from our own controlled study — direct observation, not a survey. The four root causes we observed are listed here. The biggest: every time you switch screens to fill in a form, you lose context of where you are in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anything, we ran semi-structured interviews with 5 instructors at HCMIU across technical and non-technical departments.
Four themes emerged consistently across every interview.
Theme 1: The CMS feels disconnected. Instructors are forced to manage WordPress posts, shortcodes, and plugin settings that have nothing to do with creating educational content.
Theme 2: Fear of losing work. The WordPress plugin can time out mid-session with no warning and no recovery path.
Theme 3: Manual work is the bottleneck. Not the thinking — the mechanical steps. Finding the timestamp, switching screens, retyping everything from memory.
Theme 4: Strong, unprompted interest in AI help. Instructors don't just want AI to generate questions automatically — they want a draft to react to. That's a key insight we designed around.
These four themes became our four design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AI-ActivEdu was built specifically to address the four pain themes we heard in interviews.
It's a web-based, open-source platform — no WordPress, no CMS, no local installation. Instructors open a browser and work entirely within one screen.
The research follows a Design Science paradigm: we build a novel software artefact, then validate its utility through empirical comparison against the existing baseline.
Development used 2–3 week agile sprints. This was essential because the interaction between the AI pipeline, H5P schemas, and user experience couldn't be fully specified in advance.
Now let's go inside the technical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going into the system architecture, I want to explain what a .h5p file actually IS — because it's central to everything we built.
A .h5p file is a ZIP archive. Inside: h5p.json declaring the title and main library; content.json with the full interactions array including each question's type, parameters, and timestamp; the video file if it's a local upload; and the JavaScript library folders for each interaction type.
The right side shows exactly how AI-ActivEdu generates this file. When the instructor clicks Export, the backend calls createH5PPackage(), which assembles the entire ZIP in memory using adm-zip. h5p.json and content.json are constructed directly from database records.
The resulting package is structurally identical to those produced by the official WordPress H5P plugin — 100% compatible with Moodle, Canvas, and Blackboard.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uses a standard three-tier architecture designed for separation of concerns and a clear path to horizontal scaling.
Presentation tier: a React 18 SPA built with Vite and TypeScript. Zustand manages global state — the authenticated user, the active video, and the array of AI suggestions.
Application tier: an Express.js REST API on Node.js. All business logic lives here — video processing, H5P library integration, and AI pipeline routing. The API is versioned at /api/v1/ with JWT middleware on every protected route.
Data tier: SQLite via Sequelize ORM. Fast for local and departmental deployment, with a clear migration path to PostgreSQL for institutional scale.
External dependencies are minimal: the Groq API for cloud AI inference, a local Ollama instance as fallback, and the YouTube API for caption extraction. All H5P processing runs entirely within the local server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editor — the most consequential design decision in the project.
Everything is on one screen. Three vertically-scrolling panels side by side.
The left panel handles video management — upload a file or paste a YouTube URL. FFmpeg extracts the thumbnail and metadata automatically.
The centre panel has the video player and the H5P timeline below it. The Capture Timestamp button grabs the exact current playback position with one click — no manual note-taking required.
The right panel shows AI suggestions streaming in one by one as they're generated, and the manual authoring form below.
This single-screen design reduced interface interactions from 47 to 8. Cognitive load theory calls this eliminating the split-attention effect: when related information is split across separate locations, the instructor wastes mental effort tracking context instead of doing the actual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supports six H5P interaction types, each matched to specific cognitive demands.
Multiple Choice — for comparisons and lists. Four options, one correct. Understand and Analyze level.
True/False — for binary facts. Remember level.
Fill in the Blanks — for definitions. The learner supplies the key term from context.
Drag the Words — for ordered sequences. Apply level: learner reconstructs the order rather than recognizing it.
Mark the Words — for vocabulary identification within a passage.
Matching — for end-of-video recap. Pairs concepts from across the whole video with definitions.
Each type maps to a specific content pattern. The AI pipeline uses this mapping deterministically — explained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pipeline transforms a raw video into validated H5P interaction JSON in five stages.
Stage 1: Transcript extraction. Three sources: YouTube captions, uploaded VTT/SRT files, or Whisper local transcription. All produce the same normalized segment array.
Stage 2: Smart segment selection. Each segment is scored by information density and topic-transition markers. For a 10-minute video, this selects 80–100 high-value segments from 300+ total, preserving topic boundaries.
Stage 3: Two-step prompt engineering. First, the model produces a hierarchical topic outline. Then it applies the pattern matrix to generate one question per topic. Detailed on the next slide.
Stage 4: Zod validation. The raw JSON is parsed and validated against strict schemas. Missing or malformed fields fall back to safe defaults — maximizing usable suggestions recovered from a partial LLM response.
Stage 5: Instructor review. Suggestions stream to the UI via SSE. The instructor accepts, edits, or rejects. Accepted suggestions are written to the database in a single batch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innovation in the prompt engineering is the pattern matrix.
Rather than asking the LLM what type of question to generate — which produces inconsistent results — the prompt includes an explicit mapping from content type to H5P type. The model's job is classification plus JSON generation, not open-ended decision making.
A definition maps to Fill in the Blanks. A binary fact maps to True/False. A comparison maps to Multiple Choice. An ordered sequence maps to Drag the Words. Vocabulary maps to Mark the Words. The final recap always maps to Matching.
This matrix is why the pipeline achieves 93% pedagogical relevance and 100% factual accuracy on expert rating, across 30 randomly sampled suggestions from three diverse videos.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critical engineering constraint: provider selection must complete BEFORE any SSE headers are committed to the HTTP response. Once headers are sent, switching providers is impossible.
So the system initiates the Groq API call synchronously before writing anything to the response. If Groq throws immediately — invalid key, quota exhausted, network error — no headers have been written yet, and the code can cleanly route to Ollama.
Tier 1: Groq with LLaMA 3.3-70b. 8.4 second median, 6.4 suggestions per run, zero schema validation failures across all 20 test runs.
Tier 2: smaller Groq model on rate limits or payload size limits.
Tier 3: locally-running Ollama. No API key needed, no rate limits. Essential for environments without reliable internet.
Tier 4: graceful failure. Structured SSE error event sent to browser. Server never crashes.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important features: streaming and export.
On streaming: the frontend uses the native EventSource API rather than a blocking HTTP request. The first suggestion appears in 1.2 seconds even though total generation takes 8.4 seconds. Participants see progress immediately — all ten explicitly preferred this over waiting in silence. This is a direct application of Nielsen's Visibility of System Status heuristic.
On export: the entire .h5p archive is assembled in memory. The createH5PPackage function constructs h5p.json and content.json from database records, distributes interaction buttons across the video frame using index-based position offsets to prevent stacking, and returns the buffer as a binary download.
The exported packages are structurally identical to those from the official WordPress H5P plugin, confirming 100% LMS importability.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evaluation, we recruited 10 senior IT students from HCMIU — all novices to H5P.
Within-subjects design: each participant used both platforms. Order was counterbalanced to reduce learning transfer effects.
The task was identical on both platforms: manually create five H5P interactions on a five-minute technical lecture video, choosing interaction types and timestamps freely, then export the resulting .h5p package. 20-minute ceiling. Baseline: WordPress + H5P plugin v1.15.8.
Three metrics: task completion rate, time-on-task, and SUS score. SUS above 68 is above average; above 80 is classified as excellent.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are unambiguous, and they converge across every metric.
Task completion rose from 30% to 95%. Seven of ten participants failed to finish on WordPress; only one failed on AI-ActivEdu.
Median time-on-task fell from 18 minutes to 5 minutes — a 72% reduction. WordPress completers were close to the 20-minute ceiling even when they succeeded. AI-ActivEdu completers finished in about a quarter of the time.
Mean SUS score moved from 38.0 — Brooke's scale classifies this as Poor — to 82.5, classified as Excellent. A 44.5-point improvement on a 100-point scale.
A single favorable metric can be a fluke. But completion rate, time efficiency, and subjective usability all moved dramatically in the same direction. This makes sampling bias an unlikely explanation even with n=10.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quantitative results tell us the platform is faster and more usable. The qualitative data explains why.
Theme 1: AI as scaffolding. Participants didn't want AI to make decisions for them — they wanted something to react to. This matches what the literature calls cognitive scaffolding rather than autonomous replacement.
Theme 2: one-click timestamp capture was the single most praised feature. Multiple participants said they no longer worried about getting the timestamp wrong because they didn't have to remember it anymore.
Theme 3: progressive streaming. At 1.2 seconds to first token, participants verbalized relief even though generation continued for 7 more seconds. The psychology of perceived responsiveness matters as much as actual speed.
Theme 4: imperfect AI is still valuable. The accept/edit/reject workflow lets instructors apply judgment easily. The 60–70% direct acceptance rate confirms output quality was high enough.
Theme 5: the most important finding. No single feature accounts for the 13-minute reduction. It's the combination of keeping everything on one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captures the fundamental difference in one visual.
The WordPress workflow is 47 interactions across 6 screens. The most damaging part is the loop between steps 5 and 11: every time an instructor needs to add a question, they must play the video, mentally note the timestamp, navigate to a different screen, type it from memory, and fill in the form — then repeat. Chandler and Sweller called this the split-attention effect in 1992: when related information is split across separate locations, the learner wastes cognitive resources tracking context instead of doing the actual task.
AI-ActivEdu requires 8 interactions, all on one screen. The timestamp capture button eliminates the memory requirement. The AI suggestion review eliminates blank-slate authoring. The export button replaces the entire WordPress publish workflow.
No individual change accounts for the 13-minute reduction. It's the combination — and the combination only works because everything is in the same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thesis set out to reduce the complexity of H5P authoring through user-centred design, and to make AI-assisted question generation viable for production use at a Vietnamese university. Both aims were achieved.
Five contributions: a production-ready open-source platform; the first transcript-to-H5P AI pipeline; reusable structured output prompt engineering; empirical confirmation that purpose-built UCD interfaces substantially outperform CMS workflows; and an open-source tool aligned with VNU-HCM's digital transformation goals.
The bottom line is in the summary bar: every metric moved, in the same direction, by large margins. The combination of co-located UI design and AI scaffolding is responsible — not any single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clear directions for future work.
First: async media processing. FFmpeg and Whisper currently run synchronously in the Express handler, blocking the event loop under concurrent uploads. Moving to BullMQ with Redis is the highest-priority architectural improvement before wider deployment.
Second: PostgreSQL migration. The Sequelize ORM abstraction means this is mostly a configuration change. Removes the SQLite write-lock bottleneck for institutional deployments.
Third: improving Vietnamese quality. Whisper fine-tuning on Vietnamese academic speech and evaluation of Vietnamese-optimized LLMs are the planned path.
Fourth: a longitudinal study with actual faculty. Our n=10 sample satisfies formative evaluation thresholds but the sample of IT student proxies limits generalizability.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B98E0"/>
          </a:solidFill>
          <a:ln w="12700">
            <a:solidFill>
              <a:srgbClr val="1B98E0"/>
            </a:solidFill>
            <a:prstDash val="solid"/>
          </a:ln>
        </p:spPr>
      </p:sp>
      <p:sp>
        <p:nvSpPr>
          <p:cNvPr id="3" name="Shape 1"/>
          <p:cNvSpPr/>
          <p:nvPr/>
        </p:nvSpPr>
        <p:spPr>
          <a:xfrm>
            <a:off x="0" y="5070348"/>
            <a:ext cx="9144000" cy="73152"/>
          </a:xfrm>
          <a:prstGeom prst="rect">
            <a:avLst/>
          </a:prstGeom>
          <a:solidFill>
            <a:srgbClr val="1B98E0"/>
          </a:solidFill>
          <a:ln w="12700">
            <a:solidFill>
              <a:srgbClr val="1B98E0"/>
            </a:solidFill>
            <a:prstDash val="solid"/>
          </a:ln>
        </p:spPr>
      </p:sp>
      <p:sp>
        <p:nvSpPr>
          <p:cNvPr id="4" name="Text 2"/>
          <p:cNvSpPr/>
          <p:nvPr/>
        </p:nvSpPr>
        <p:spPr>
          <a:xfrm>
            <a:off x="457200" y="502920"/>
            <a:ext cx="8229600" cy="365760"/>
          </a:xfrm>
          <a:prstGeom prst="rect">
            <a:avLst/>
          </a:prstGeom>
          <a:noFill/>
          <a:ln/>
        </p:spPr>
        <p:txBody>
          <a:bodyPr wrap="square" rtlCol="0" anchor="ctr"/>
          <a:lstStyle/>
          <a:p>
            <a:pPr algn="ctr" indent="0" marL="0">
              <a:buNone/>
            </a:pPr>
            <a:r>
              <a:rPr lang="en-US" sz="1000" spc="300" kern="0" dirty="0">
                <a:solidFill>
                  <a:srgbClr val="A8C5DA"/>
                </a:solidFill>
                <a:latin typeface="Calibri" pitchFamily="34" charset="0"/>
                <a:ea typeface="Calibri" pitchFamily="34" charset="-122"/>
                <a:cs typeface="Calibri" pitchFamily="34" charset="-120"/>
              </a:rPr>
              <a:t>UNDERGRADUATE THESIS  ·  HCMIU  ·  2024–2025</a:t>
            </a:r>
            <a:endParaRPr lang="en-US" sz="1000" dirty="0"/>
          </a:p>
        </p:txBody>
      </p:sp>
      <p:sp>
        <p:nvSpPr>
          <p:cNvPr id="5" name="Text 3"/>
          <p:cNvSpPr/>
          <p:nvPr/>
        </p:nvSpPr>
        <p:spPr>
          <a:xfrm>
            <a:off x="457200" y="1097280"/>
            <a:ext cx="8229600" cy="1051560"/>
          </a:xfrm>
          <a:prstGeom prst="rect">
            <a:avLst/>
          </a:prstGeom>
          <a:noFill/>
          <a:ln/>
        </p:spPr>
        <p:txBody>
          <a:bodyPr wrap="square" rtlCol="0" anchor="ctr"/>
          <a:lstStyle/>
          <a:p>
            <a:pPr algn="ctr" indent="0" marL="0">
              <a:buNone/>
            </a:pPr>
            <a:r>
              <a:rPr lang="en-US" sz="6400" b="1" dirty="0">
                <a:solidFill>
                  <a:srgbClr val="FFFFFF"/>
                </a:solidFill>
                <a:latin typeface="Calibri" pitchFamily="34" charset="0"/>
                <a:ea typeface="Calibri" pitchFamily="34" charset="-122"/>
                <a:cs typeface="Calibri" pitchFamily="34" charset="-120"/>
              </a:rPr>
              <a:t>AI-ActivEdu</a:t>
            </a:r>
            <a:endParaRPr lang="en-US" sz="6400" dirty="0"/>
          </a:p>
        </p:txBody>
      </p:sp>
      <p:sp>
        <p:nvSpPr>
          <p:cNvPr id="6" name="Text 4"/>
          <p:cNvSpPr/>
          <p:nvPr/>
        </p:nvSpPr>
        <p:spPr>
          <a:xfrm>
            <a:off x="457200" y="2240280"/>
            <a:ext cx="8229600" cy="594360"/>
          </a:xfrm>
          <a:prstGeom prst="rect">
            <a:avLst/>
          </a:prstGeom>
          <a:noFill/>
          <a:ln/>
        </p:spPr>
        <p:txBody>
          <a:bodyPr wrap="square" rtlCol="0" anchor="ctr"/>
          <a:lstStyle/>
          <a:p>
            <a:pPr algn="ctr" indent="0" marL="0">
              <a:buNone/>
            </a:pPr>
            <a:r>
              <a:rPr lang="en-US" sz="2200" dirty="0">
                <a:solidFill>
                  <a:srgbClr val="1B98E0"/>
                </a:solidFill>
                <a:latin typeface="Calibri" pitchFamily="34" charset="0"/>
                <a:ea typeface="Calibri" pitchFamily="34" charset="-122"/>
                <a:cs typeface="Calibri" pitchFamily="34" charset="-120"/>
              </a:rPr>
              <a:t>AI-Assisted H5P Interactive Video Authoring Platform</a:t>
            </a:r>
            <a:endParaRPr lang="en-US" sz="2200" dirty="0"/>
          </a:p>
        </p:txBody>
      </p:sp>
      <p:sp>
        <p:nvSpPr>
          <p:cNvPr id="7" name="Shape 5"/>
          <p:cNvSpPr/>
          <p:nvPr/>
        </p:nvSpPr>
        <p:spPr>
          <a:xfrm>
            <a:off x="3474720" y="2999232"/>
            <a:ext cx="2194560" cy="36576"/>
          </a:xfrm>
          <a:prstGeom prst="rect">
            <a:avLst/>
          </a:prstGeom>
          <a:solidFill>
            <a:srgbClr val="1273A8"/>
          </a:solidFill>
          <a:ln w="12700">
            <a:solidFill>
              <a:srgbClr val="1273A8"/>
            </a:solidFill>
            <a:prstDash val="solid"/>
          </a:ln>
        </p:spPr>
      </p:sp>
      <p:sp>
        <p:nvSpPr>
          <p:cNvPr id="8" name="Text 6"/>
          <p:cNvSpPr/>
          <p:nvPr/>
        </p:nvSpPr>
        <p:spPr>
          <a:xfrm>
            <a:off x="457200" y="3154680"/>
            <a:ext cx="8229600" cy="365760"/>
          </a:xfrm>
          <a:prstGeom prst="rect">
            <a:avLst/>
          </a:prstGeom>
          <a:noFill/>
          <a:ln/>
        </p:spPr>
        <p:txBody>
          <a:bodyPr wrap="square" rtlCol="0" anchor="ctr"/>
          <a:lstStyle/>
          <a:p>
            <a:pPr algn="ctr" indent="0" marL="0">
              <a:buNone/>
            </a:pPr>
            <a:r>
              <a:rPr lang="en-US" sz="1200" dirty="0">
                <a:solidFill>
                  <a:srgbClr val="A8C5DA"/>
                </a:solidFill>
                <a:latin typeface="Calibri" pitchFamily="34" charset="0"/>
                <a:ea typeface="Calibri" pitchFamily="34" charset="-122"/>
                <a:cs typeface="Calibri" pitchFamily="34" charset="-120"/>
              </a:rPr>
              <a:t>Nguyen Toan Phuc  ·  Faculty of Information Technology  ·  HCMIU  ·  2025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Is H5P?</a:t>
            </a:r>
            <a:endParaRPr lang="en-US" sz="2400" dirty="0"/>
          </a:p>
        </p:txBody>
      </p:sp>
      <p:sp>
        <p:nvSpPr>
          <p:cNvPr id="4" name="Text 2"/>
          <p:cNvSpPr/>
          <p:nvPr/>
        </p:nvSpPr>
        <p:spPr>
          <a:xfrm>
            <a:off x="411480" y="1005840"/>
            <a:ext cx="4572000" cy="384048"/>
          </a:xfrm>
          <a:prstGeom prst="rect">
            <a:avLst/>
          </a:prstGeom>
          <a:noFill/>
          <a:ln/>
        </p:spPr>
        <p:txBody>
          <a:bodyPr wrap="square"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HTML5 Package — Open Standard for Interactive Learning Content</a:t>
            </a:r>
            <a:endParaRPr lang="en-US" sz="1400" dirty="0"/>
          </a:p>
        </p:txBody>
      </p:sp>
      <p:sp>
        <p:nvSpPr>
          <p:cNvPr id="5" name="Text 3"/>
          <p:cNvSpPr/>
          <p:nvPr/>
        </p:nvSpPr>
        <p:spPr>
          <a:xfrm>
            <a:off x="411480" y="1444752"/>
            <a:ext cx="4480560" cy="685800"/>
          </a:xfrm>
          <a:prstGeom prst="rect">
            <a:avLst/>
          </a:prstGeom>
          <a:noFill/>
          <a:ln/>
        </p:spPr>
        <p:txBody>
          <a:bodyPr wrap="square" rtlCol="0" anchor="ctr"/>
          <a:lstStyle/>
          <a:p>
            <a:pPr indent="0" marL="0">
              <a:buNone/>
            </a:pPr>
            <a:r>
              <a:rPr lang="en-US" sz="1200" dirty="0">
                <a:solidFill>
                  <a:srgbClr val="1A2B3C"/>
                </a:solidFill>
                <a:latin typeface="Calibri" pitchFamily="34" charset="0"/>
                <a:ea typeface="Calibri" pitchFamily="34" charset="-122"/>
                <a:cs typeface="Calibri" pitchFamily="34" charset="-120"/>
              </a:rPr>
              <a:t>H5P is an open-source format for creating rich interactive content — quizzes, videos, games — that runs inside any modern LMS without plugins or special software.</a:t>
            </a:r>
            <a:endParaRPr lang="en-US" sz="1200" dirty="0"/>
          </a:p>
        </p:txBody>
      </p:sp>
      <p:sp>
        <p:nvSpPr>
          <p:cNvPr id="6" name="Shape 4"/>
          <p:cNvSpPr/>
          <p:nvPr/>
        </p:nvSpPr>
        <p:spPr>
          <a:xfrm>
            <a:off x="411480" y="2194560"/>
            <a:ext cx="4480560" cy="2633472"/>
          </a:xfrm>
          <a:prstGeom prst="rect">
            <a:avLst/>
          </a:prstGeom>
          <a:solidFill>
            <a:srgbClr val="EEF6FB"/>
          </a:solidFill>
          <a:ln w="12700">
            <a:solidFill>
              <a:srgbClr val="C8E2F4"/>
            </a:solidFill>
            <a:prstDash val="solid"/>
          </a:ln>
        </p:spPr>
      </p:sp>
      <p:sp>
        <p:nvSpPr>
          <p:cNvPr id="7" name="Shape 5"/>
          <p:cNvSpPr/>
          <p:nvPr/>
        </p:nvSpPr>
        <p:spPr>
          <a:xfrm>
            <a:off x="411480" y="2194560"/>
            <a:ext cx="64008" cy="2633472"/>
          </a:xfrm>
          <a:prstGeom prst="rect">
            <a:avLst/>
          </a:prstGeom>
          <a:solidFill>
            <a:srgbClr val="1273A8"/>
          </a:solidFill>
          <a:ln w="12700">
            <a:solidFill>
              <a:srgbClr val="1273A8"/>
            </a:solidFill>
            <a:prstDash val="solid"/>
          </a:ln>
        </p:spPr>
      </p:sp>
      <p:sp>
        <p:nvSpPr>
          <p:cNvPr id="8" name="Text 6"/>
          <p:cNvSpPr/>
          <p:nvPr/>
        </p:nvSpPr>
        <p:spPr>
          <a:xfrm>
            <a:off x="594360" y="2286000"/>
            <a:ext cx="411480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A .h5p file is simply a ZIP archive containing:</a:t>
            </a:r>
            <a:endParaRPr lang="en-US" sz="1200" dirty="0"/>
          </a:p>
        </p:txBody>
      </p:sp>
      <p:sp>
        <p:nvSpPr>
          <p:cNvPr id="9" name="Text 7"/>
          <p:cNvSpPr/>
          <p:nvPr/>
        </p:nvSpPr>
        <p:spPr>
          <a:xfrm>
            <a:off x="594360" y="2679192"/>
            <a:ext cx="2331720" cy="338328"/>
          </a:xfrm>
          <a:prstGeom prst="rect">
            <a:avLst/>
          </a:prstGeom>
          <a:noFill/>
          <a:ln/>
        </p:spPr>
        <p:txBody>
          <a:bodyPr wrap="square" lIns="0" tIns="0" rIns="0" bIns="0" rtlCol="0" anchor="ctr"/>
          <a:lstStyle/>
          <a:p>
            <a:pPr indent="0" marL="0">
              <a:buNone/>
            </a:pPr>
            <a:r>
              <a:rPr lang="en-US" sz="1000" b="1" dirty="0">
                <a:solidFill>
                  <a:srgbClr val="065A82"/>
                </a:solidFill>
                <a:latin typeface="Consolas" pitchFamily="34" charset="0"/>
                <a:ea typeface="Consolas" pitchFamily="34" charset="-122"/>
                <a:cs typeface="Consolas" pitchFamily="34" charset="-120"/>
              </a:rPr>
              <a:t>h5p.json</a:t>
            </a:r>
            <a:endParaRPr lang="en-US" sz="1000" dirty="0"/>
          </a:p>
        </p:txBody>
      </p:sp>
      <p:sp>
        <p:nvSpPr>
          <p:cNvPr id="10" name="Text 8"/>
          <p:cNvSpPr/>
          <p:nvPr/>
        </p:nvSpPr>
        <p:spPr>
          <a:xfrm>
            <a:off x="2926080" y="2679192"/>
            <a:ext cx="1828800" cy="338328"/>
          </a:xfrm>
          <a:prstGeom prst="rect">
            <a:avLst/>
          </a:prstGeom>
          <a:noFill/>
          <a:ln/>
        </p:spPr>
        <p:txBody>
          <a:bodyPr wrap="square" lIns="0" tIns="0" rIns="0" bIns="0" rtlCol="0" anchor="ctr"/>
          <a:lstStyle/>
          <a:p>
            <a:pPr indent="0" marL="0">
              <a:buNone/>
            </a:pPr>
            <a:r>
              <a:rPr lang="en-US" sz="1000" dirty="0">
                <a:solidFill>
                  <a:srgbClr val="4A6B8C"/>
                </a:solidFill>
                <a:latin typeface="Calibri" pitchFamily="34" charset="0"/>
                <a:ea typeface="Calibri" pitchFamily="34" charset="-122"/>
                <a:cs typeface="Calibri" pitchFamily="34" charset="-120"/>
              </a:rPr>
              <a:t>— package manifest, title, main library</a:t>
            </a:r>
            <a:endParaRPr lang="en-US" sz="1000" dirty="0"/>
          </a:p>
        </p:txBody>
      </p:sp>
      <p:sp>
        <p:nvSpPr>
          <p:cNvPr id="11" name="Text 9"/>
          <p:cNvSpPr/>
          <p:nvPr/>
        </p:nvSpPr>
        <p:spPr>
          <a:xfrm>
            <a:off x="594360" y="3072384"/>
            <a:ext cx="2331720" cy="338328"/>
          </a:xfrm>
          <a:prstGeom prst="rect">
            <a:avLst/>
          </a:prstGeom>
          <a:noFill/>
          <a:ln/>
        </p:spPr>
        <p:txBody>
          <a:bodyPr wrap="square" lIns="0" tIns="0" rIns="0" bIns="0" rtlCol="0" anchor="ctr"/>
          <a:lstStyle/>
          <a:p>
            <a:pPr indent="0" marL="0">
              <a:buNone/>
            </a:pPr>
            <a:r>
              <a:rPr lang="en-US" sz="1000" b="1" dirty="0">
                <a:solidFill>
                  <a:srgbClr val="065A82"/>
                </a:solidFill>
                <a:latin typeface="Consolas" pitchFamily="34" charset="0"/>
                <a:ea typeface="Consolas" pitchFamily="34" charset="-122"/>
                <a:cs typeface="Consolas" pitchFamily="34" charset="-120"/>
              </a:rPr>
              <a:t>content/content.json</a:t>
            </a:r>
            <a:endParaRPr lang="en-US" sz="1000" dirty="0"/>
          </a:p>
        </p:txBody>
      </p:sp>
      <p:sp>
        <p:nvSpPr>
          <p:cNvPr id="12" name="Text 10"/>
          <p:cNvSpPr/>
          <p:nvPr/>
        </p:nvSpPr>
        <p:spPr>
          <a:xfrm>
            <a:off x="2926080" y="3072384"/>
            <a:ext cx="1828800" cy="338328"/>
          </a:xfrm>
          <a:prstGeom prst="rect">
            <a:avLst/>
          </a:prstGeom>
          <a:noFill/>
          <a:ln/>
        </p:spPr>
        <p:txBody>
          <a:bodyPr wrap="square" lIns="0" tIns="0" rIns="0" bIns="0" rtlCol="0" anchor="ctr"/>
          <a:lstStyle/>
          <a:p>
            <a:pPr indent="0" marL="0">
              <a:buNone/>
            </a:pPr>
            <a:r>
              <a:rPr lang="en-US" sz="1000" dirty="0">
                <a:solidFill>
                  <a:srgbClr val="4A6B8C"/>
                </a:solidFill>
                <a:latin typeface="Calibri" pitchFamily="34" charset="0"/>
                <a:ea typeface="Calibri" pitchFamily="34" charset="-122"/>
                <a:cs typeface="Calibri" pitchFamily="34" charset="-120"/>
              </a:rPr>
              <a:t>— all interaction definitions + timestamps</a:t>
            </a:r>
            <a:endParaRPr lang="en-US" sz="1000" dirty="0"/>
          </a:p>
        </p:txBody>
      </p:sp>
      <p:sp>
        <p:nvSpPr>
          <p:cNvPr id="13" name="Text 11"/>
          <p:cNvSpPr/>
          <p:nvPr/>
        </p:nvSpPr>
        <p:spPr>
          <a:xfrm>
            <a:off x="594360" y="3465576"/>
            <a:ext cx="2331720" cy="338328"/>
          </a:xfrm>
          <a:prstGeom prst="rect">
            <a:avLst/>
          </a:prstGeom>
          <a:noFill/>
          <a:ln/>
        </p:spPr>
        <p:txBody>
          <a:bodyPr wrap="square" lIns="0" tIns="0" rIns="0" bIns="0" rtlCol="0" anchor="ctr"/>
          <a:lstStyle/>
          <a:p>
            <a:pPr indent="0" marL="0">
              <a:buNone/>
            </a:pPr>
            <a:r>
              <a:rPr lang="en-US" sz="1000" b="1" dirty="0">
                <a:solidFill>
                  <a:srgbClr val="065A82"/>
                </a:solidFill>
                <a:latin typeface="Consolas" pitchFamily="34" charset="0"/>
                <a:ea typeface="Consolas" pitchFamily="34" charset="-122"/>
                <a:cs typeface="Consolas" pitchFamily="34" charset="-120"/>
              </a:rPr>
              <a:t>content/videos/video.mp4</a:t>
            </a:r>
            <a:endParaRPr lang="en-US" sz="1000" dirty="0"/>
          </a:p>
        </p:txBody>
      </p:sp>
      <p:sp>
        <p:nvSpPr>
          <p:cNvPr id="14" name="Text 12"/>
          <p:cNvSpPr/>
          <p:nvPr/>
        </p:nvSpPr>
        <p:spPr>
          <a:xfrm>
            <a:off x="2926080" y="3465576"/>
            <a:ext cx="1828800" cy="338328"/>
          </a:xfrm>
          <a:prstGeom prst="rect">
            <a:avLst/>
          </a:prstGeom>
          <a:noFill/>
          <a:ln/>
        </p:spPr>
        <p:txBody>
          <a:bodyPr wrap="square" lIns="0" tIns="0" rIns="0" bIns="0" rtlCol="0" anchor="ctr"/>
          <a:lstStyle/>
          <a:p>
            <a:pPr indent="0" marL="0">
              <a:buNone/>
            </a:pPr>
            <a:r>
              <a:rPr lang="en-US" sz="1000" dirty="0">
                <a:solidFill>
                  <a:srgbClr val="4A6B8C"/>
                </a:solidFill>
                <a:latin typeface="Calibri" pitchFamily="34" charset="0"/>
                <a:ea typeface="Calibri" pitchFamily="34" charset="-122"/>
                <a:cs typeface="Calibri" pitchFamily="34" charset="-120"/>
              </a:rPr>
              <a:t>— bundled local video (or YouTube URL)</a:t>
            </a:r>
            <a:endParaRPr lang="en-US" sz="1000" dirty="0"/>
          </a:p>
        </p:txBody>
      </p:sp>
      <p:sp>
        <p:nvSpPr>
          <p:cNvPr id="15" name="Text 13"/>
          <p:cNvSpPr/>
          <p:nvPr/>
        </p:nvSpPr>
        <p:spPr>
          <a:xfrm>
            <a:off x="594360" y="3858768"/>
            <a:ext cx="2331720" cy="338328"/>
          </a:xfrm>
          <a:prstGeom prst="rect">
            <a:avLst/>
          </a:prstGeom>
          <a:noFill/>
          <a:ln/>
        </p:spPr>
        <p:txBody>
          <a:bodyPr wrap="square" lIns="0" tIns="0" rIns="0" bIns="0" rtlCol="0" anchor="ctr"/>
          <a:lstStyle/>
          <a:p>
            <a:pPr indent="0" marL="0">
              <a:buNone/>
            </a:pPr>
            <a:r>
              <a:rPr lang="en-US" sz="1000" b="1" dirty="0">
                <a:solidFill>
                  <a:srgbClr val="065A82"/>
                </a:solidFill>
                <a:latin typeface="Consolas" pitchFamily="34" charset="0"/>
                <a:ea typeface="Consolas" pitchFamily="34" charset="-122"/>
                <a:cs typeface="Consolas" pitchFamily="34" charset="-120"/>
              </a:rPr>
              <a:t>H5P.InteractiveVideo-1.24/</a:t>
            </a:r>
            <a:endParaRPr lang="en-US" sz="1000" dirty="0"/>
          </a:p>
        </p:txBody>
      </p:sp>
      <p:sp>
        <p:nvSpPr>
          <p:cNvPr id="16" name="Text 14"/>
          <p:cNvSpPr/>
          <p:nvPr/>
        </p:nvSpPr>
        <p:spPr>
          <a:xfrm>
            <a:off x="2926080" y="3858768"/>
            <a:ext cx="1828800" cy="338328"/>
          </a:xfrm>
          <a:prstGeom prst="rect">
            <a:avLst/>
          </a:prstGeom>
          <a:noFill/>
          <a:ln/>
        </p:spPr>
        <p:txBody>
          <a:bodyPr wrap="square" lIns="0" tIns="0" rIns="0" bIns="0" rtlCol="0" anchor="ctr"/>
          <a:lstStyle/>
          <a:p>
            <a:pPr indent="0" marL="0">
              <a:buNone/>
            </a:pPr>
            <a:r>
              <a:rPr lang="en-US" sz="1000" dirty="0">
                <a:solidFill>
                  <a:srgbClr val="4A6B8C"/>
                </a:solidFill>
                <a:latin typeface="Calibri" pitchFamily="34" charset="0"/>
                <a:ea typeface="Calibri" pitchFamily="34" charset="-122"/>
                <a:cs typeface="Calibri" pitchFamily="34" charset="-120"/>
              </a:rPr>
              <a:t>— main JavaScript player library</a:t>
            </a:r>
            <a:endParaRPr lang="en-US" sz="1000" dirty="0"/>
          </a:p>
        </p:txBody>
      </p:sp>
      <p:sp>
        <p:nvSpPr>
          <p:cNvPr id="17" name="Text 15"/>
          <p:cNvSpPr/>
          <p:nvPr/>
        </p:nvSpPr>
        <p:spPr>
          <a:xfrm>
            <a:off x="594360" y="4251960"/>
            <a:ext cx="2331720" cy="338328"/>
          </a:xfrm>
          <a:prstGeom prst="rect">
            <a:avLst/>
          </a:prstGeom>
          <a:noFill/>
          <a:ln/>
        </p:spPr>
        <p:txBody>
          <a:bodyPr wrap="square" lIns="0" tIns="0" rIns="0" bIns="0" rtlCol="0" anchor="ctr"/>
          <a:lstStyle/>
          <a:p>
            <a:pPr indent="0" marL="0">
              <a:buNone/>
            </a:pPr>
            <a:r>
              <a:rPr lang="en-US" sz="1000" b="1" dirty="0">
                <a:solidFill>
                  <a:srgbClr val="065A82"/>
                </a:solidFill>
                <a:latin typeface="Consolas" pitchFamily="34" charset="0"/>
                <a:ea typeface="Consolas" pitchFamily="34" charset="-122"/>
                <a:cs typeface="Consolas" pitchFamily="34" charset="-120"/>
              </a:rPr>
              <a:t>H5P.MultiChoice-1.16/</a:t>
            </a:r>
            <a:endParaRPr lang="en-US" sz="1000" dirty="0"/>
          </a:p>
        </p:txBody>
      </p:sp>
      <p:sp>
        <p:nvSpPr>
          <p:cNvPr id="18" name="Text 16"/>
          <p:cNvSpPr/>
          <p:nvPr/>
        </p:nvSpPr>
        <p:spPr>
          <a:xfrm>
            <a:off x="2926080" y="4251960"/>
            <a:ext cx="1828800" cy="338328"/>
          </a:xfrm>
          <a:prstGeom prst="rect">
            <a:avLst/>
          </a:prstGeom>
          <a:noFill/>
          <a:ln/>
        </p:spPr>
        <p:txBody>
          <a:bodyPr wrap="square" lIns="0" tIns="0" rIns="0" bIns="0" rtlCol="0" anchor="ctr"/>
          <a:lstStyle/>
          <a:p>
            <a:pPr indent="0" marL="0">
              <a:buNone/>
            </a:pPr>
            <a:r>
              <a:rPr lang="en-US" sz="1000" dirty="0">
                <a:solidFill>
                  <a:srgbClr val="4A6B8C"/>
                </a:solidFill>
                <a:latin typeface="Calibri" pitchFamily="34" charset="0"/>
                <a:ea typeface="Calibri" pitchFamily="34" charset="-122"/>
                <a:cs typeface="Calibri" pitchFamily="34" charset="-120"/>
              </a:rPr>
              <a:t>— question-type JS libraries</a:t>
            </a:r>
            <a:endParaRPr lang="en-US" sz="1000" dirty="0"/>
          </a:p>
        </p:txBody>
      </p:sp>
      <p:sp>
        <p:nvSpPr>
          <p:cNvPr id="19" name="Shape 17"/>
          <p:cNvSpPr/>
          <p:nvPr/>
        </p:nvSpPr>
        <p:spPr>
          <a:xfrm>
            <a:off x="5120640" y="1005840"/>
            <a:ext cx="0" cy="3794760"/>
          </a:xfrm>
          <a:prstGeom prst="line">
            <a:avLst/>
          </a:prstGeom>
          <a:noFill/>
          <a:ln w="12700">
            <a:solidFill>
              <a:srgbClr val="C8E2F4"/>
            </a:solidFill>
            <a:prstDash val="dash"/>
          </a:ln>
        </p:spPr>
      </p:sp>
      <p:sp>
        <p:nvSpPr>
          <p:cNvPr id="20" name="Text 18"/>
          <p:cNvSpPr/>
          <p:nvPr/>
        </p:nvSpPr>
        <p:spPr>
          <a:xfrm>
            <a:off x="5257800" y="1005840"/>
            <a:ext cx="3566160" cy="384048"/>
          </a:xfrm>
          <a:prstGeom prst="rect">
            <a:avLst/>
          </a:prstGeom>
          <a:noFill/>
          <a:ln/>
        </p:spPr>
        <p:txBody>
          <a:bodyPr wrap="square"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Used worldwide by:</a:t>
            </a:r>
            <a:endParaRPr lang="en-US" sz="1400" dirty="0"/>
          </a:p>
        </p:txBody>
      </p:sp>
      <p:sp>
        <p:nvSpPr>
          <p:cNvPr id="21" name="Shape 19"/>
          <p:cNvSpPr/>
          <p:nvPr/>
        </p:nvSpPr>
        <p:spPr>
          <a:xfrm>
            <a:off x="5257800" y="1463040"/>
            <a:ext cx="3566160" cy="621792"/>
          </a:xfrm>
          <a:prstGeom prst="rect">
            <a:avLst/>
          </a:prstGeom>
          <a:solidFill>
            <a:srgbClr val="EEF6FB"/>
          </a:solidFill>
          <a:ln w="12700">
            <a:solidFill>
              <a:srgbClr val="C8E2F4"/>
            </a:solidFill>
            <a:prstDash val="solid"/>
          </a:ln>
        </p:spPr>
      </p:sp>
      <p:sp>
        <p:nvSpPr>
          <p:cNvPr id="22" name="Shape 20"/>
          <p:cNvSpPr/>
          <p:nvPr/>
        </p:nvSpPr>
        <p:spPr>
          <a:xfrm>
            <a:off x="5257800" y="1463040"/>
            <a:ext cx="64008" cy="621792"/>
          </a:xfrm>
          <a:prstGeom prst="rect">
            <a:avLst/>
          </a:prstGeom>
          <a:solidFill>
            <a:srgbClr val="1B98E0"/>
          </a:solidFill>
          <a:ln w="12700">
            <a:solidFill>
              <a:srgbClr val="1B98E0"/>
            </a:solidFill>
            <a:prstDash val="solid"/>
          </a:ln>
        </p:spPr>
      </p:sp>
      <p:sp>
        <p:nvSpPr>
          <p:cNvPr id="23" name="Text 21"/>
          <p:cNvSpPr/>
          <p:nvPr/>
        </p:nvSpPr>
        <p:spPr>
          <a:xfrm>
            <a:off x="5449824" y="1517904"/>
            <a:ext cx="32461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Moodle</a:t>
            </a:r>
            <a:endParaRPr lang="en-US" sz="1200" dirty="0"/>
          </a:p>
        </p:txBody>
      </p:sp>
      <p:sp>
        <p:nvSpPr>
          <p:cNvPr id="24" name="Text 22"/>
          <p:cNvSpPr/>
          <p:nvPr/>
        </p:nvSpPr>
        <p:spPr>
          <a:xfrm>
            <a:off x="5449824" y="1801368"/>
            <a:ext cx="3246120" cy="237744"/>
          </a:xfrm>
          <a:prstGeom prst="rect">
            <a:avLst/>
          </a:prstGeom>
          <a:noFill/>
          <a:ln/>
        </p:spPr>
        <p:txBody>
          <a:bodyPr wrap="square" lIns="0" tIns="0" rIns="0" bIns="0" rtlCol="0" anchor="ctr"/>
          <a:lstStyle/>
          <a:p>
            <a:pPr indent="0" marL="0">
              <a:buNone/>
            </a:pPr>
            <a:r>
              <a:rPr lang="en-US" sz="1000" dirty="0">
                <a:solidFill>
                  <a:srgbClr val="4A6B8C"/>
                </a:solidFill>
                <a:latin typeface="Calibri" pitchFamily="34" charset="0"/>
                <a:ea typeface="Calibri" pitchFamily="34" charset="-122"/>
                <a:cs typeface="Calibri" pitchFamily="34" charset="-120"/>
              </a:rPr>
              <a:t>World's #1 open-source LMS — native H5P support built-in</a:t>
            </a:r>
            <a:endParaRPr lang="en-US" sz="1000" dirty="0"/>
          </a:p>
        </p:txBody>
      </p:sp>
      <p:sp>
        <p:nvSpPr>
          <p:cNvPr id="25" name="Shape 23"/>
          <p:cNvSpPr/>
          <p:nvPr/>
        </p:nvSpPr>
        <p:spPr>
          <a:xfrm>
            <a:off x="5257800" y="2176272"/>
            <a:ext cx="3566160" cy="621792"/>
          </a:xfrm>
          <a:prstGeom prst="rect">
            <a:avLst/>
          </a:prstGeom>
          <a:solidFill>
            <a:srgbClr val="EEF6FB"/>
          </a:solidFill>
          <a:ln w="12700">
            <a:solidFill>
              <a:srgbClr val="C8E2F4"/>
            </a:solidFill>
            <a:prstDash val="solid"/>
          </a:ln>
        </p:spPr>
      </p:sp>
      <p:sp>
        <p:nvSpPr>
          <p:cNvPr id="26" name="Shape 24"/>
          <p:cNvSpPr/>
          <p:nvPr/>
        </p:nvSpPr>
        <p:spPr>
          <a:xfrm>
            <a:off x="5257800" y="2176272"/>
            <a:ext cx="64008" cy="621792"/>
          </a:xfrm>
          <a:prstGeom prst="rect">
            <a:avLst/>
          </a:prstGeom>
          <a:solidFill>
            <a:srgbClr val="1B98E0"/>
          </a:solidFill>
          <a:ln w="12700">
            <a:solidFill>
              <a:srgbClr val="1B98E0"/>
            </a:solidFill>
            <a:prstDash val="solid"/>
          </a:ln>
        </p:spPr>
      </p:sp>
      <p:sp>
        <p:nvSpPr>
          <p:cNvPr id="27" name="Text 25"/>
          <p:cNvSpPr/>
          <p:nvPr/>
        </p:nvSpPr>
        <p:spPr>
          <a:xfrm>
            <a:off x="5449824" y="2231136"/>
            <a:ext cx="32461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Canvas LMS</a:t>
            </a:r>
            <a:endParaRPr lang="en-US" sz="1200" dirty="0"/>
          </a:p>
        </p:txBody>
      </p:sp>
      <p:sp>
        <p:nvSpPr>
          <p:cNvPr id="28" name="Text 26"/>
          <p:cNvSpPr/>
          <p:nvPr/>
        </p:nvSpPr>
        <p:spPr>
          <a:xfrm>
            <a:off x="5449824" y="2514600"/>
            <a:ext cx="3246120" cy="237744"/>
          </a:xfrm>
          <a:prstGeom prst="rect">
            <a:avLst/>
          </a:prstGeom>
          <a:noFill/>
          <a:ln/>
        </p:spPr>
        <p:txBody>
          <a:bodyPr wrap="square" lIns="0" tIns="0" rIns="0" bIns="0" rtlCol="0" anchor="ctr"/>
          <a:lstStyle/>
          <a:p>
            <a:pPr indent="0" marL="0">
              <a:buNone/>
            </a:pPr>
            <a:r>
              <a:rPr lang="en-US" sz="1000" dirty="0">
                <a:solidFill>
                  <a:srgbClr val="4A6B8C"/>
                </a:solidFill>
                <a:latin typeface="Calibri" pitchFamily="34" charset="0"/>
                <a:ea typeface="Calibri" pitchFamily="34" charset="-122"/>
                <a:cs typeface="Calibri" pitchFamily="34" charset="-120"/>
              </a:rPr>
              <a:t>Used by 40%+ of US universities; LTI-compatible</a:t>
            </a:r>
            <a:endParaRPr lang="en-US" sz="1000" dirty="0"/>
          </a:p>
        </p:txBody>
      </p:sp>
      <p:sp>
        <p:nvSpPr>
          <p:cNvPr id="29" name="Shape 27"/>
          <p:cNvSpPr/>
          <p:nvPr/>
        </p:nvSpPr>
        <p:spPr>
          <a:xfrm>
            <a:off x="5257800" y="2889504"/>
            <a:ext cx="3566160" cy="621792"/>
          </a:xfrm>
          <a:prstGeom prst="rect">
            <a:avLst/>
          </a:prstGeom>
          <a:solidFill>
            <a:srgbClr val="EEF6FB"/>
          </a:solidFill>
          <a:ln w="12700">
            <a:solidFill>
              <a:srgbClr val="C8E2F4"/>
            </a:solidFill>
            <a:prstDash val="solid"/>
          </a:ln>
        </p:spPr>
      </p:sp>
      <p:sp>
        <p:nvSpPr>
          <p:cNvPr id="30" name="Shape 28"/>
          <p:cNvSpPr/>
          <p:nvPr/>
        </p:nvSpPr>
        <p:spPr>
          <a:xfrm>
            <a:off x="5257800" y="2889504"/>
            <a:ext cx="64008" cy="621792"/>
          </a:xfrm>
          <a:prstGeom prst="rect">
            <a:avLst/>
          </a:prstGeom>
          <a:solidFill>
            <a:srgbClr val="1B98E0"/>
          </a:solidFill>
          <a:ln w="12700">
            <a:solidFill>
              <a:srgbClr val="1B98E0"/>
            </a:solidFill>
            <a:prstDash val="solid"/>
          </a:ln>
        </p:spPr>
      </p:sp>
      <p:sp>
        <p:nvSpPr>
          <p:cNvPr id="31" name="Text 29"/>
          <p:cNvSpPr/>
          <p:nvPr/>
        </p:nvSpPr>
        <p:spPr>
          <a:xfrm>
            <a:off x="5449824" y="2944368"/>
            <a:ext cx="32461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Blackboard</a:t>
            </a:r>
            <a:endParaRPr lang="en-US" sz="1200" dirty="0"/>
          </a:p>
        </p:txBody>
      </p:sp>
      <p:sp>
        <p:nvSpPr>
          <p:cNvPr id="32" name="Text 30"/>
          <p:cNvSpPr/>
          <p:nvPr/>
        </p:nvSpPr>
        <p:spPr>
          <a:xfrm>
            <a:off x="5449824" y="3227832"/>
            <a:ext cx="3246120" cy="237744"/>
          </a:xfrm>
          <a:prstGeom prst="rect">
            <a:avLst/>
          </a:prstGeom>
          <a:noFill/>
          <a:ln/>
        </p:spPr>
        <p:txBody>
          <a:bodyPr wrap="square" lIns="0" tIns="0" rIns="0" bIns="0" rtlCol="0" anchor="ctr"/>
          <a:lstStyle/>
          <a:p>
            <a:pPr indent="0" marL="0">
              <a:buNone/>
            </a:pPr>
            <a:r>
              <a:rPr lang="en-US" sz="1000" dirty="0">
                <a:solidFill>
                  <a:srgbClr val="4A6B8C"/>
                </a:solidFill>
                <a:latin typeface="Calibri" pitchFamily="34" charset="0"/>
                <a:ea typeface="Calibri" pitchFamily="34" charset="-122"/>
                <a:cs typeface="Calibri" pitchFamily="34" charset="-120"/>
              </a:rPr>
              <a:t>Enterprise LMS with full H5P package import</a:t>
            </a:r>
            <a:endParaRPr lang="en-US" sz="1000" dirty="0"/>
          </a:p>
        </p:txBody>
      </p:sp>
      <p:sp>
        <p:nvSpPr>
          <p:cNvPr id="33" name="Shape 31"/>
          <p:cNvSpPr/>
          <p:nvPr/>
        </p:nvSpPr>
        <p:spPr>
          <a:xfrm>
            <a:off x="5257800" y="3602736"/>
            <a:ext cx="3566160" cy="621792"/>
          </a:xfrm>
          <a:prstGeom prst="rect">
            <a:avLst/>
          </a:prstGeom>
          <a:solidFill>
            <a:srgbClr val="EEF6FB"/>
          </a:solidFill>
          <a:ln w="12700">
            <a:solidFill>
              <a:srgbClr val="C8E2F4"/>
            </a:solidFill>
            <a:prstDash val="solid"/>
          </a:ln>
        </p:spPr>
      </p:sp>
      <p:sp>
        <p:nvSpPr>
          <p:cNvPr id="34" name="Shape 32"/>
          <p:cNvSpPr/>
          <p:nvPr/>
        </p:nvSpPr>
        <p:spPr>
          <a:xfrm>
            <a:off x="5257800" y="3602736"/>
            <a:ext cx="64008" cy="621792"/>
          </a:xfrm>
          <a:prstGeom prst="rect">
            <a:avLst/>
          </a:prstGeom>
          <a:solidFill>
            <a:srgbClr val="1B98E0"/>
          </a:solidFill>
          <a:ln w="12700">
            <a:solidFill>
              <a:srgbClr val="1B98E0"/>
            </a:solidFill>
            <a:prstDash val="solid"/>
          </a:ln>
        </p:spPr>
      </p:sp>
      <p:sp>
        <p:nvSpPr>
          <p:cNvPr id="35" name="Text 33"/>
          <p:cNvSpPr/>
          <p:nvPr/>
        </p:nvSpPr>
        <p:spPr>
          <a:xfrm>
            <a:off x="5449824" y="3657600"/>
            <a:ext cx="32461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Coursera / edX</a:t>
            </a:r>
            <a:endParaRPr lang="en-US" sz="1200" dirty="0"/>
          </a:p>
        </p:txBody>
      </p:sp>
      <p:sp>
        <p:nvSpPr>
          <p:cNvPr id="36" name="Text 34"/>
          <p:cNvSpPr/>
          <p:nvPr/>
        </p:nvSpPr>
        <p:spPr>
          <a:xfrm>
            <a:off x="5449824" y="3941064"/>
            <a:ext cx="3246120" cy="237744"/>
          </a:xfrm>
          <a:prstGeom prst="rect">
            <a:avLst/>
          </a:prstGeom>
          <a:noFill/>
          <a:ln/>
        </p:spPr>
        <p:txBody>
          <a:bodyPr wrap="square" lIns="0" tIns="0" rIns="0" bIns="0" rtlCol="0" anchor="ctr"/>
          <a:lstStyle/>
          <a:p>
            <a:pPr indent="0" marL="0">
              <a:buNone/>
            </a:pPr>
            <a:r>
              <a:rPr lang="en-US" sz="1000" dirty="0">
                <a:solidFill>
                  <a:srgbClr val="4A6B8C"/>
                </a:solidFill>
                <a:latin typeface="Calibri" pitchFamily="34" charset="0"/>
                <a:ea typeface="Calibri" pitchFamily="34" charset="-122"/>
                <a:cs typeface="Calibri" pitchFamily="34" charset="-120"/>
              </a:rPr>
              <a:t>Mass open online course providers</a:t>
            </a:r>
            <a:endParaRPr lang="en-US" sz="1000" dirty="0"/>
          </a:p>
        </p:txBody>
      </p:sp>
      <p:sp>
        <p:nvSpPr>
          <p:cNvPr id="37" name="Shape 35"/>
          <p:cNvSpPr/>
          <p:nvPr/>
        </p:nvSpPr>
        <p:spPr>
          <a:xfrm>
            <a:off x="5257800" y="4315968"/>
            <a:ext cx="3566160" cy="621792"/>
          </a:xfrm>
          <a:prstGeom prst="rect">
            <a:avLst/>
          </a:prstGeom>
          <a:solidFill>
            <a:srgbClr val="EEF6FB"/>
          </a:solidFill>
          <a:ln w="12700">
            <a:solidFill>
              <a:srgbClr val="C8E2F4"/>
            </a:solidFill>
            <a:prstDash val="solid"/>
          </a:ln>
        </p:spPr>
      </p:sp>
      <p:sp>
        <p:nvSpPr>
          <p:cNvPr id="38" name="Shape 36"/>
          <p:cNvSpPr/>
          <p:nvPr/>
        </p:nvSpPr>
        <p:spPr>
          <a:xfrm>
            <a:off x="5257800" y="4315968"/>
            <a:ext cx="64008" cy="621792"/>
          </a:xfrm>
          <a:prstGeom prst="rect">
            <a:avLst/>
          </a:prstGeom>
          <a:solidFill>
            <a:srgbClr val="1B98E0"/>
          </a:solidFill>
          <a:ln w="12700">
            <a:solidFill>
              <a:srgbClr val="1B98E0"/>
            </a:solidFill>
            <a:prstDash val="solid"/>
          </a:ln>
        </p:spPr>
      </p:sp>
      <p:sp>
        <p:nvSpPr>
          <p:cNvPr id="39" name="Text 37"/>
          <p:cNvSpPr/>
          <p:nvPr/>
        </p:nvSpPr>
        <p:spPr>
          <a:xfrm>
            <a:off x="5449824" y="4370832"/>
            <a:ext cx="32461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VNU-HCM MOOC</a:t>
            </a:r>
            <a:endParaRPr lang="en-US" sz="1200" dirty="0"/>
          </a:p>
        </p:txBody>
      </p:sp>
      <p:sp>
        <p:nvSpPr>
          <p:cNvPr id="40" name="Text 38"/>
          <p:cNvSpPr/>
          <p:nvPr/>
        </p:nvSpPr>
        <p:spPr>
          <a:xfrm>
            <a:off x="5449824" y="4654296"/>
            <a:ext cx="3246120" cy="237744"/>
          </a:xfrm>
          <a:prstGeom prst="rect">
            <a:avLst/>
          </a:prstGeom>
          <a:noFill/>
          <a:ln/>
        </p:spPr>
        <p:txBody>
          <a:bodyPr wrap="square" lIns="0" tIns="0" rIns="0" bIns="0" rtlCol="0" anchor="ctr"/>
          <a:lstStyle/>
          <a:p>
            <a:pPr indent="0" marL="0">
              <a:buNone/>
            </a:pPr>
            <a:r>
              <a:rPr lang="en-US" sz="1000" dirty="0">
                <a:solidFill>
                  <a:srgbClr val="4A6B8C"/>
                </a:solidFill>
                <a:latin typeface="Calibri" pitchFamily="34" charset="0"/>
                <a:ea typeface="Calibri" pitchFamily="34" charset="-122"/>
                <a:cs typeface="Calibri" pitchFamily="34" charset="-120"/>
              </a:rPr>
              <a:t>Vietnamese national e-learning platform — our target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Market Reality: WordPress Has No Real Competition</a:t>
            </a:r>
            <a:endParaRPr lang="en-US" sz="2400" dirty="0"/>
          </a:p>
        </p:txBody>
      </p:sp>
      <p:sp>
        <p:nvSpPr>
          <p:cNvPr id="4" name="Text 2"/>
          <p:cNvSpPr/>
          <p:nvPr/>
        </p:nvSpPr>
        <p:spPr>
          <a:xfrm>
            <a:off x="411480" y="960120"/>
            <a:ext cx="8321040" cy="329184"/>
          </a:xfrm>
          <a:prstGeom prst="rect">
            <a:avLst/>
          </a:prstGeom>
          <a:noFill/>
          <a:ln/>
        </p:spPr>
        <p:txBody>
          <a:bodyPr wrap="square" rtlCol="0" anchor="ctr"/>
          <a:lstStyle/>
          <a:p>
            <a:pPr indent="0" marL="0">
              <a:buNone/>
            </a:pPr>
            <a:r>
              <a:rPr lang="en-US" sz="1300" i="1" dirty="0">
                <a:solidFill>
                  <a:srgbClr val="4A6B8C"/>
                </a:solidFill>
                <a:latin typeface="Calibri" pitchFamily="34" charset="0"/>
                <a:ea typeface="Calibri" pitchFamily="34" charset="-122"/>
                <a:cs typeface="Calibri" pitchFamily="34" charset="-120"/>
              </a:rPr>
              <a:t>No existing tool satisfies all four criteria that matter to instructors at open universities.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1353312"/>
          <a:ext cx="8595360" cy="3520440"/>
        </p:xfrm>
        <a:graphic>
          <a:graphicData uri="http://schemas.openxmlformats.org/drawingml/2006/table">
            <a:tbl>
              <a:tblPr/>
              <a:tblGrid>
                <a:gridCol w="2103120"/>
                <a:gridCol w="1188720"/>
                <a:gridCol w="1188720"/>
                <a:gridCol w="1417320"/>
                <a:gridCol w="1234440"/>
                <a:gridCol w="1463040"/>
              </a:tblGrid>
              <a:tr h="493776">
                <a:tc>
                  <a:txBody>
                    <a:bodyPr/>
                    <a:lstStyle/>
                    <a:p>
                      <a:pPr algn="l" indent="0" marL="0">
                        <a:buNone/>
                      </a:pPr>
                      <a:r>
                        <a:rPr lang="en-US" sz="1100" b="1" dirty="0">
                          <a:solidFill>
                            <a:srgbClr val="FFFFFF"/>
                          </a:solidFill>
                        </a:rPr>
                        <a:t>Tool</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rPr>
                        <a:t>Web-based</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rPr>
                        <a:t>Free &amp; Open</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rPr>
                        <a:t>AI Question Gen</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rPr>
                        <a:t>Bloom's Labels</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rPr>
                        <a:t>Empirically Evaluated</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065A82"/>
                    </a:solidFill>
                  </a:tcPr>
                </a:tc>
              </a:tr>
              <a:tr h="493776">
                <a:tc>
                  <a:txBody>
                    <a:bodyPr/>
                    <a:lstStyle/>
                    <a:p>
                      <a:pPr algn="l" indent="0" marL="0">
                        <a:buNone/>
                      </a:pPr>
                      <a:r>
                        <a:rPr lang="en-US" sz="1100" dirty="0">
                          <a:solidFill>
                            <a:srgbClr val="1A2B3C"/>
                          </a:solidFill>
                        </a:rPr>
                        <a:t>WordPress H5P Plugin</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7D32"/>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7D32"/>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r>
              <a:tr h="493776">
                <a:tc>
                  <a:txBody>
                    <a:bodyPr/>
                    <a:lstStyle/>
                    <a:p>
                      <a:pPr algn="l" indent="0" marL="0">
                        <a:buNone/>
                      </a:pPr>
                      <a:r>
                        <a:rPr lang="en-US" sz="1100" dirty="0">
                          <a:solidFill>
                            <a:srgbClr val="1A2B3C"/>
                          </a:solidFill>
                        </a:rPr>
                        <a:t>Lumi Desktop Editor</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7D32"/>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r>
              <a:tr h="493776">
                <a:tc>
                  <a:txBody>
                    <a:bodyPr/>
                    <a:lstStyle/>
                    <a:p>
                      <a:pPr algn="l" indent="0" marL="0">
                        <a:buNone/>
                      </a:pPr>
                      <a:r>
                        <a:rPr lang="en-US" sz="1100" dirty="0">
                          <a:solidFill>
                            <a:srgbClr val="1A2B3C"/>
                          </a:solidFill>
                        </a:rPr>
                        <a:t>Moodle Native H5P</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7D32"/>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7D32"/>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r>
              <a:tr h="493776">
                <a:tc>
                  <a:txBody>
                    <a:bodyPr/>
                    <a:lstStyle/>
                    <a:p>
                      <a:pPr algn="l" indent="0" marL="0">
                        <a:buNone/>
                      </a:pPr>
                      <a:r>
                        <a:rPr lang="en-US" sz="1100" dirty="0">
                          <a:solidFill>
                            <a:srgbClr val="1A2B3C"/>
                          </a:solidFill>
                        </a:rPr>
                        <a:t>Articulate Storyline</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7D32"/>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E65100"/>
                          </a:solidFill>
                        </a:rPr>
                        <a:t>Partial</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r>
              <a:tr h="493776">
                <a:tc>
                  <a:txBody>
                    <a:bodyPr/>
                    <a:lstStyle/>
                    <a:p>
                      <a:pPr algn="l" indent="0" marL="0">
                        <a:buNone/>
                      </a:pPr>
                      <a:r>
                        <a:rPr lang="en-US" sz="1100" dirty="0">
                          <a:solidFill>
                            <a:srgbClr val="1A2B3C"/>
                          </a:solidFill>
                        </a:rPr>
                        <a:t>Adobe Captivate</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E7D32"/>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E65100"/>
                          </a:solidFill>
                        </a:rPr>
                        <a:t>Partial</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62828"/>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r>
              <a:tr h="493776">
                <a:tc>
                  <a:txBody>
                    <a:bodyPr/>
                    <a:lstStyle/>
                    <a:p>
                      <a:pPr algn="l" indent="0" marL="0">
                        <a:buNone/>
                      </a:pPr>
                      <a:r>
                        <a:rPr lang="en-US" sz="1100" b="1" dirty="0">
                          <a:solidFill>
                            <a:srgbClr val="1B5E20"/>
                          </a:solidFill>
                        </a:rPr>
                        <a:t>AI-ActivEdu (this project)</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E8F5E9"/>
                    </a:solidFill>
                  </a:tcPr>
                </a:tc>
                <a:tc>
                  <a:txBody>
                    <a:bodyPr/>
                    <a:lstStyle/>
                    <a:p>
                      <a:pPr algn="ctr" indent="0" marL="0">
                        <a:buNone/>
                      </a:pPr>
                      <a:r>
                        <a:rPr lang="en-US" sz="1400" b="1" dirty="0">
                          <a:solidFill>
                            <a:srgbClr val="1B5E20"/>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E8F5E9"/>
                    </a:solidFill>
                  </a:tcPr>
                </a:tc>
                <a:tc>
                  <a:txBody>
                    <a:bodyPr/>
                    <a:lstStyle/>
                    <a:p>
                      <a:pPr algn="ctr" indent="0" marL="0">
                        <a:buNone/>
                      </a:pPr>
                      <a:r>
                        <a:rPr lang="en-US" sz="1400" b="1" dirty="0">
                          <a:solidFill>
                            <a:srgbClr val="1B5E20"/>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E8F5E9"/>
                    </a:solidFill>
                  </a:tcPr>
                </a:tc>
                <a:tc>
                  <a:txBody>
                    <a:bodyPr/>
                    <a:lstStyle/>
                    <a:p>
                      <a:pPr algn="ctr" indent="0" marL="0">
                        <a:buNone/>
                      </a:pPr>
                      <a:r>
                        <a:rPr lang="en-US" sz="1400" b="1" dirty="0">
                          <a:solidFill>
                            <a:srgbClr val="1B5E20"/>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E8F5E9"/>
                    </a:solidFill>
                  </a:tcPr>
                </a:tc>
                <a:tc>
                  <a:txBody>
                    <a:bodyPr/>
                    <a:lstStyle/>
                    <a:p>
                      <a:pPr algn="ctr" indent="0" marL="0">
                        <a:buNone/>
                      </a:pPr>
                      <a:r>
                        <a:rPr lang="en-US" sz="1400" b="1" dirty="0">
                          <a:solidFill>
                            <a:srgbClr val="1B5E20"/>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E8F5E9"/>
                    </a:solidFill>
                  </a:tcPr>
                </a:tc>
                <a:tc>
                  <a:txBody>
                    <a:bodyPr/>
                    <a:lstStyle/>
                    <a:p>
                      <a:pPr algn="ctr" indent="0" marL="0">
                        <a:buNone/>
                      </a:pPr>
                      <a:r>
                        <a:rPr lang="en-US" sz="1400" b="1" dirty="0">
                          <a:solidFill>
                            <a:srgbClr val="1B5E20"/>
                          </a:solidFill>
                        </a:rPr>
                        <a:t>✓</a:t>
                      </a:r>
                      <a:endParaRPr lang="en-US" sz="14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E8F5E9"/>
                    </a:solidFill>
                  </a:tcPr>
                </a:tc>
              </a:tr>
            </a:tbl>
          </a:graphicData>
        </a:graphic>
      </p:graphicFrame>
      <p:sp>
        <p:nvSpPr>
          <p:cNvPr id="6" name="Text 3"/>
          <p:cNvSpPr/>
          <p:nvPr/>
        </p:nvSpPr>
        <p:spPr>
          <a:xfrm>
            <a:off x="274320" y="4919472"/>
            <a:ext cx="8595360" cy="201168"/>
          </a:xfrm>
          <a:prstGeom prst="rect">
            <a:avLst/>
          </a:prstGeom>
          <a:noFill/>
          <a:ln/>
        </p:spPr>
        <p:txBody>
          <a:bodyPr wrap="square" rtlCol="0" anchor="ctr"/>
          <a:lstStyle/>
          <a:p>
            <a:pPr indent="0" marL="0">
              <a:buNone/>
            </a:pPr>
            <a:r>
              <a:rPr lang="en-US" sz="1050" i="1" dirty="0">
                <a:solidFill>
                  <a:srgbClr val="065A82"/>
                </a:solidFill>
                <a:latin typeface="Calibri" pitchFamily="34" charset="0"/>
                <a:ea typeface="Calibri" pitchFamily="34" charset="-122"/>
                <a:cs typeface="Calibri" pitchFamily="34" charset="-120"/>
              </a:rPr>
              <a:t>★  Only AI-ActivEdu satisfies all four requirements simultaneously — and is the only tool with an independent controlled evaluation.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WordPress H5P Workflow: Measured, Not Assumed</a:t>
            </a:r>
            <a:endParaRPr lang="en-US" sz="2400" dirty="0"/>
          </a:p>
        </p:txBody>
      </p:sp>
      <p:sp>
        <p:nvSpPr>
          <p:cNvPr id="4" name="Shape 2"/>
          <p:cNvSpPr/>
          <p:nvPr/>
        </p:nvSpPr>
        <p:spPr>
          <a:xfrm>
            <a:off x="365760" y="1051560"/>
            <a:ext cx="2606040" cy="2377440"/>
          </a:xfrm>
          <a:prstGeom prst="rect">
            <a:avLst/>
          </a:prstGeom>
          <a:solidFill>
            <a:srgbClr val="EEF6FB"/>
          </a:solidFill>
          <a:ln w="12700">
            <a:solidFill>
              <a:srgbClr val="C8E2F4"/>
            </a:solidFill>
            <a:prstDash val="solid"/>
          </a:ln>
        </p:spPr>
      </p:sp>
      <p:sp>
        <p:nvSpPr>
          <p:cNvPr id="5" name="Shape 3"/>
          <p:cNvSpPr/>
          <p:nvPr/>
        </p:nvSpPr>
        <p:spPr>
          <a:xfrm>
            <a:off x="365760" y="1051560"/>
            <a:ext cx="2606040" cy="64008"/>
          </a:xfrm>
          <a:prstGeom prst="rect">
            <a:avLst/>
          </a:prstGeom>
          <a:solidFill>
            <a:srgbClr val="065A82"/>
          </a:solidFill>
          <a:ln w="12700">
            <a:solidFill>
              <a:srgbClr val="065A82"/>
            </a:solidFill>
            <a:prstDash val="solid"/>
          </a:ln>
        </p:spPr>
      </p:sp>
      <p:sp>
        <p:nvSpPr>
          <p:cNvPr id="6" name="Text 4"/>
          <p:cNvSpPr/>
          <p:nvPr/>
        </p:nvSpPr>
        <p:spPr>
          <a:xfrm>
            <a:off x="457200" y="1143000"/>
            <a:ext cx="2423160" cy="914400"/>
          </a:xfrm>
          <a:prstGeom prst="rect">
            <a:avLst/>
          </a:prstGeom>
          <a:noFill/>
          <a:ln/>
        </p:spPr>
        <p:txBody>
          <a:bodyPr wrap="square" rtlCol="0" anchor="ctr"/>
          <a:lstStyle/>
          <a:p>
            <a:pPr algn="ctr" indent="0" marL="0">
              <a:buNone/>
            </a:pPr>
            <a:r>
              <a:rPr lang="en-US" sz="5400" b="1" dirty="0">
                <a:solidFill>
                  <a:srgbClr val="065A82"/>
                </a:solidFill>
                <a:latin typeface="Calibri" pitchFamily="34" charset="0"/>
                <a:ea typeface="Calibri" pitchFamily="34" charset="-122"/>
                <a:cs typeface="Calibri" pitchFamily="34" charset="-120"/>
              </a:rPr>
              <a:t>47</a:t>
            </a:r>
            <a:endParaRPr lang="en-US" sz="5400" dirty="0"/>
          </a:p>
        </p:txBody>
      </p:sp>
      <p:sp>
        <p:nvSpPr>
          <p:cNvPr id="7" name="Text 5"/>
          <p:cNvSpPr/>
          <p:nvPr/>
        </p:nvSpPr>
        <p:spPr>
          <a:xfrm>
            <a:off x="457200" y="2103120"/>
            <a:ext cx="2423160" cy="347472"/>
          </a:xfrm>
          <a:prstGeom prst="rect">
            <a:avLst/>
          </a:prstGeom>
          <a:noFill/>
          <a:ln/>
        </p:spPr>
        <p:txBody>
          <a:bodyPr wrap="square" rtlCol="0" anchor="ctr"/>
          <a:lstStyle/>
          <a:p>
            <a:pPr algn="ctr" indent="0" marL="0">
              <a:buNone/>
            </a:pPr>
            <a:r>
              <a:rPr lang="en-US" sz="1300" b="1" dirty="0">
                <a:solidFill>
                  <a:srgbClr val="1A2B3C"/>
                </a:solidFill>
                <a:latin typeface="Calibri" pitchFamily="34" charset="0"/>
                <a:ea typeface="Calibri" pitchFamily="34" charset="-122"/>
                <a:cs typeface="Calibri" pitchFamily="34" charset="-120"/>
              </a:rPr>
              <a:t>Interface interactions</a:t>
            </a:r>
            <a:endParaRPr lang="en-US" sz="1300" dirty="0"/>
          </a:p>
        </p:txBody>
      </p:sp>
      <p:sp>
        <p:nvSpPr>
          <p:cNvPr id="8" name="Text 6"/>
          <p:cNvSpPr/>
          <p:nvPr/>
        </p:nvSpPr>
        <p:spPr>
          <a:xfrm>
            <a:off x="457200" y="2468880"/>
            <a:ext cx="2423160" cy="822960"/>
          </a:xfrm>
          <a:prstGeom prst="rect">
            <a:avLst/>
          </a:prstGeom>
          <a:noFill/>
          <a:ln/>
        </p:spPr>
        <p:txBody>
          <a:bodyPr wrap="square" rtlCol="0" anchor="ctr"/>
          <a:lstStyle/>
          <a:p>
            <a:pPr algn="ctr" indent="0" marL="0">
              <a:buNone/>
            </a:pPr>
            <a:r>
              <a:rPr lang="en-US" sz="1100" dirty="0">
                <a:solidFill>
                  <a:srgbClr val="4A6B8C"/>
                </a:solidFill>
                <a:latin typeface="Calibri" pitchFamily="34" charset="0"/>
                <a:ea typeface="Calibri" pitchFamily="34" charset="-122"/>
                <a:cs typeface="Calibri" pitchFamily="34" charset="-120"/>
              </a:rPr>
              <a:t>to create 5 questions</a:t>
            </a:r>
            <a:endParaRPr lang="en-US" sz="1100" dirty="0"/>
          </a:p>
          <a:p>
            <a:pPr algn="ctr" indent="0" marL="0">
              <a:buNone/>
            </a:pPr>
            <a:r>
              <a:rPr lang="en-US" sz="1100" dirty="0">
                <a:solidFill>
                  <a:srgbClr val="4A6B8C"/>
                </a:solidFill>
                <a:latin typeface="Calibri" pitchFamily="34" charset="0"/>
                <a:ea typeface="Calibri" pitchFamily="34" charset="-122"/>
                <a:cs typeface="Calibri" pitchFamily="34" charset="-120"/>
              </a:rPr>
              <a:t>and export</a:t>
            </a:r>
            <a:endParaRPr lang="en-US" sz="1100" dirty="0"/>
          </a:p>
        </p:txBody>
      </p:sp>
      <p:sp>
        <p:nvSpPr>
          <p:cNvPr id="9" name="Shape 7"/>
          <p:cNvSpPr/>
          <p:nvPr/>
        </p:nvSpPr>
        <p:spPr>
          <a:xfrm>
            <a:off x="3200400" y="1051560"/>
            <a:ext cx="2606040" cy="2377440"/>
          </a:xfrm>
          <a:prstGeom prst="rect">
            <a:avLst/>
          </a:prstGeom>
          <a:solidFill>
            <a:srgbClr val="EEF6FB"/>
          </a:solidFill>
          <a:ln w="12700">
            <a:solidFill>
              <a:srgbClr val="C8E2F4"/>
            </a:solidFill>
            <a:prstDash val="solid"/>
          </a:ln>
        </p:spPr>
      </p:sp>
      <p:sp>
        <p:nvSpPr>
          <p:cNvPr id="10" name="Shape 8"/>
          <p:cNvSpPr/>
          <p:nvPr/>
        </p:nvSpPr>
        <p:spPr>
          <a:xfrm>
            <a:off x="3200400" y="1051560"/>
            <a:ext cx="2606040" cy="64008"/>
          </a:xfrm>
          <a:prstGeom prst="rect">
            <a:avLst/>
          </a:prstGeom>
          <a:solidFill>
            <a:srgbClr val="B71C1C"/>
          </a:solidFill>
          <a:ln w="12700">
            <a:solidFill>
              <a:srgbClr val="B71C1C"/>
            </a:solidFill>
            <a:prstDash val="solid"/>
          </a:ln>
        </p:spPr>
      </p:sp>
      <p:sp>
        <p:nvSpPr>
          <p:cNvPr id="11" name="Text 9"/>
          <p:cNvSpPr/>
          <p:nvPr/>
        </p:nvSpPr>
        <p:spPr>
          <a:xfrm>
            <a:off x="3291840" y="1143000"/>
            <a:ext cx="2423160" cy="914400"/>
          </a:xfrm>
          <a:prstGeom prst="rect">
            <a:avLst/>
          </a:prstGeom>
          <a:noFill/>
          <a:ln/>
        </p:spPr>
        <p:txBody>
          <a:bodyPr wrap="square" rtlCol="0" anchor="ctr"/>
          <a:lstStyle/>
          <a:p>
            <a:pPr algn="ctr" indent="0" marL="0">
              <a:buNone/>
            </a:pPr>
            <a:r>
              <a:rPr lang="en-US" sz="5400" b="1" dirty="0">
                <a:solidFill>
                  <a:srgbClr val="B71C1C"/>
                </a:solidFill>
                <a:latin typeface="Calibri" pitchFamily="34" charset="0"/>
                <a:ea typeface="Calibri" pitchFamily="34" charset="-122"/>
                <a:cs typeface="Calibri" pitchFamily="34" charset="-120"/>
              </a:rPr>
              <a:t>18 min</a:t>
            </a:r>
            <a:endParaRPr lang="en-US" sz="5400" dirty="0"/>
          </a:p>
        </p:txBody>
      </p:sp>
      <p:sp>
        <p:nvSpPr>
          <p:cNvPr id="12" name="Text 10"/>
          <p:cNvSpPr/>
          <p:nvPr/>
        </p:nvSpPr>
        <p:spPr>
          <a:xfrm>
            <a:off x="3291840" y="2103120"/>
            <a:ext cx="2423160" cy="347472"/>
          </a:xfrm>
          <a:prstGeom prst="rect">
            <a:avLst/>
          </a:prstGeom>
          <a:noFill/>
          <a:ln/>
        </p:spPr>
        <p:txBody>
          <a:bodyPr wrap="square" rtlCol="0" anchor="ctr"/>
          <a:lstStyle/>
          <a:p>
            <a:pPr algn="ctr" indent="0" marL="0">
              <a:buNone/>
            </a:pPr>
            <a:r>
              <a:rPr lang="en-US" sz="1300" b="1" dirty="0">
                <a:solidFill>
                  <a:srgbClr val="1A2B3C"/>
                </a:solidFill>
                <a:latin typeface="Calibri" pitchFamily="34" charset="0"/>
                <a:ea typeface="Calibri" pitchFamily="34" charset="-122"/>
                <a:cs typeface="Calibri" pitchFamily="34" charset="-120"/>
              </a:rPr>
              <a:t>Median time-on-task</a:t>
            </a:r>
            <a:endParaRPr lang="en-US" sz="1300" dirty="0"/>
          </a:p>
        </p:txBody>
      </p:sp>
      <p:sp>
        <p:nvSpPr>
          <p:cNvPr id="13" name="Text 11"/>
          <p:cNvSpPr/>
          <p:nvPr/>
        </p:nvSpPr>
        <p:spPr>
          <a:xfrm>
            <a:off x="3291840" y="2468880"/>
            <a:ext cx="2423160" cy="822960"/>
          </a:xfrm>
          <a:prstGeom prst="rect">
            <a:avLst/>
          </a:prstGeom>
          <a:noFill/>
          <a:ln/>
        </p:spPr>
        <p:txBody>
          <a:bodyPr wrap="square" rtlCol="0" anchor="ctr"/>
          <a:lstStyle/>
          <a:p>
            <a:pPr algn="ctr" indent="0" marL="0">
              <a:buNone/>
            </a:pPr>
            <a:r>
              <a:rPr lang="en-US" sz="1100" dirty="0">
                <a:solidFill>
                  <a:srgbClr val="4A6B8C"/>
                </a:solidFill>
                <a:latin typeface="Calibri" pitchFamily="34" charset="0"/>
                <a:ea typeface="Calibri" pitchFamily="34" charset="-122"/>
                <a:cs typeface="Calibri" pitchFamily="34" charset="-120"/>
              </a:rPr>
              <a:t>for users who</a:t>
            </a:r>
            <a:endParaRPr lang="en-US" sz="1100" dirty="0"/>
          </a:p>
          <a:p>
            <a:pPr algn="ctr" indent="0" marL="0">
              <a:buNone/>
            </a:pPr>
            <a:r>
              <a:rPr lang="en-US" sz="1100" dirty="0">
                <a:solidFill>
                  <a:srgbClr val="4A6B8C"/>
                </a:solidFill>
                <a:latin typeface="Calibri" pitchFamily="34" charset="0"/>
                <a:ea typeface="Calibri" pitchFamily="34" charset="-122"/>
                <a:cs typeface="Calibri" pitchFamily="34" charset="-120"/>
              </a:rPr>
              <a:t>actually succeeded</a:t>
            </a:r>
            <a:endParaRPr lang="en-US" sz="1100" dirty="0"/>
          </a:p>
        </p:txBody>
      </p:sp>
      <p:sp>
        <p:nvSpPr>
          <p:cNvPr id="14" name="Shape 12"/>
          <p:cNvSpPr/>
          <p:nvPr/>
        </p:nvSpPr>
        <p:spPr>
          <a:xfrm>
            <a:off x="6035040" y="1051560"/>
            <a:ext cx="2606040" cy="2377440"/>
          </a:xfrm>
          <a:prstGeom prst="rect">
            <a:avLst/>
          </a:prstGeom>
          <a:solidFill>
            <a:srgbClr val="EEF6FB"/>
          </a:solidFill>
          <a:ln w="12700">
            <a:solidFill>
              <a:srgbClr val="C8E2F4"/>
            </a:solidFill>
            <a:prstDash val="solid"/>
          </a:ln>
        </p:spPr>
      </p:sp>
      <p:sp>
        <p:nvSpPr>
          <p:cNvPr id="15" name="Shape 13"/>
          <p:cNvSpPr/>
          <p:nvPr/>
        </p:nvSpPr>
        <p:spPr>
          <a:xfrm>
            <a:off x="6035040" y="1051560"/>
            <a:ext cx="2606040" cy="64008"/>
          </a:xfrm>
          <a:prstGeom prst="rect">
            <a:avLst/>
          </a:prstGeom>
          <a:solidFill>
            <a:srgbClr val="880000"/>
          </a:solidFill>
          <a:ln w="12700">
            <a:solidFill>
              <a:srgbClr val="880000"/>
            </a:solidFill>
            <a:prstDash val="solid"/>
          </a:ln>
        </p:spPr>
      </p:sp>
      <p:sp>
        <p:nvSpPr>
          <p:cNvPr id="16" name="Text 14"/>
          <p:cNvSpPr/>
          <p:nvPr/>
        </p:nvSpPr>
        <p:spPr>
          <a:xfrm>
            <a:off x="6126480" y="1143000"/>
            <a:ext cx="2423160" cy="914400"/>
          </a:xfrm>
          <a:prstGeom prst="rect">
            <a:avLst/>
          </a:prstGeom>
          <a:noFill/>
          <a:ln/>
        </p:spPr>
        <p:txBody>
          <a:bodyPr wrap="square" rtlCol="0" anchor="ctr"/>
          <a:lstStyle/>
          <a:p>
            <a:pPr algn="ctr" indent="0" marL="0">
              <a:buNone/>
            </a:pPr>
            <a:r>
              <a:rPr lang="en-US" sz="5400" b="1" dirty="0">
                <a:solidFill>
                  <a:srgbClr val="880000"/>
                </a:solidFill>
                <a:latin typeface="Calibri" pitchFamily="34" charset="0"/>
                <a:ea typeface="Calibri" pitchFamily="34" charset="-122"/>
                <a:cs typeface="Calibri" pitchFamily="34" charset="-120"/>
              </a:rPr>
              <a:t>70%</a:t>
            </a:r>
            <a:endParaRPr lang="en-US" sz="5400" dirty="0"/>
          </a:p>
        </p:txBody>
      </p:sp>
      <p:sp>
        <p:nvSpPr>
          <p:cNvPr id="17" name="Text 15"/>
          <p:cNvSpPr/>
          <p:nvPr/>
        </p:nvSpPr>
        <p:spPr>
          <a:xfrm>
            <a:off x="6126480" y="2103120"/>
            <a:ext cx="2423160" cy="347472"/>
          </a:xfrm>
          <a:prstGeom prst="rect">
            <a:avLst/>
          </a:prstGeom>
          <a:noFill/>
          <a:ln/>
        </p:spPr>
        <p:txBody>
          <a:bodyPr wrap="square" rtlCol="0" anchor="ctr"/>
          <a:lstStyle/>
          <a:p>
            <a:pPr algn="ctr" indent="0" marL="0">
              <a:buNone/>
            </a:pPr>
            <a:r>
              <a:rPr lang="en-US" sz="1300" b="1" dirty="0">
                <a:solidFill>
                  <a:srgbClr val="1A2B3C"/>
                </a:solidFill>
                <a:latin typeface="Calibri" pitchFamily="34" charset="0"/>
                <a:ea typeface="Calibri" pitchFamily="34" charset="-122"/>
                <a:cs typeface="Calibri" pitchFamily="34" charset="-120"/>
              </a:rPr>
              <a:t>Could not finish</a:t>
            </a:r>
            <a:endParaRPr lang="en-US" sz="1300" dirty="0"/>
          </a:p>
        </p:txBody>
      </p:sp>
      <p:sp>
        <p:nvSpPr>
          <p:cNvPr id="18" name="Text 16"/>
          <p:cNvSpPr/>
          <p:nvPr/>
        </p:nvSpPr>
        <p:spPr>
          <a:xfrm>
            <a:off x="6126480" y="2468880"/>
            <a:ext cx="2423160" cy="822960"/>
          </a:xfrm>
          <a:prstGeom prst="rect">
            <a:avLst/>
          </a:prstGeom>
          <a:noFill/>
          <a:ln/>
        </p:spPr>
        <p:txBody>
          <a:bodyPr wrap="square" rtlCol="0" anchor="ctr"/>
          <a:lstStyle/>
          <a:p>
            <a:pPr algn="ctr" indent="0" marL="0">
              <a:buNone/>
            </a:pPr>
            <a:r>
              <a:rPr lang="en-US" sz="1100" dirty="0">
                <a:solidFill>
                  <a:srgbClr val="4A6B8C"/>
                </a:solidFill>
                <a:latin typeface="Calibri" pitchFamily="34" charset="0"/>
                <a:ea typeface="Calibri" pitchFamily="34" charset="-122"/>
                <a:cs typeface="Calibri" pitchFamily="34" charset="-120"/>
              </a:rPr>
              <a:t>7 of 10 participants</a:t>
            </a:r>
            <a:endParaRPr lang="en-US" sz="1100" dirty="0"/>
          </a:p>
          <a:p>
            <a:pPr algn="ctr" indent="0" marL="0">
              <a:buNone/>
            </a:pPr>
            <a:r>
              <a:rPr lang="en-US" sz="1100" dirty="0">
                <a:solidFill>
                  <a:srgbClr val="4A6B8C"/>
                </a:solidFill>
                <a:latin typeface="Calibri" pitchFamily="34" charset="0"/>
                <a:ea typeface="Calibri" pitchFamily="34" charset="-122"/>
                <a:cs typeface="Calibri" pitchFamily="34" charset="-120"/>
              </a:rPr>
              <a:t>gave up</a:t>
            </a:r>
            <a:endParaRPr lang="en-US" sz="1100" dirty="0"/>
          </a:p>
        </p:txBody>
      </p:sp>
      <p:sp>
        <p:nvSpPr>
          <p:cNvPr id="19" name="Text 17"/>
          <p:cNvSpPr/>
          <p:nvPr/>
        </p:nvSpPr>
        <p:spPr>
          <a:xfrm>
            <a:off x="365760" y="3547872"/>
            <a:ext cx="8412480" cy="329184"/>
          </a:xfrm>
          <a:prstGeom prst="rect">
            <a:avLst/>
          </a:prstGeom>
          <a:noFill/>
          <a:ln/>
        </p:spPr>
        <p:txBody>
          <a:bodyPr wrap="square" rtlCol="0" anchor="ctr"/>
          <a:lstStyle/>
          <a:p>
            <a:pPr indent="0" marL="0">
              <a:buNone/>
            </a:pPr>
            <a:r>
              <a:rPr lang="en-US" sz="1350" b="1" dirty="0">
                <a:solidFill>
                  <a:srgbClr val="1A2B3C"/>
                </a:solidFill>
                <a:latin typeface="Calibri" pitchFamily="34" charset="0"/>
                <a:ea typeface="Calibri" pitchFamily="34" charset="-122"/>
                <a:cs typeface="Calibri" pitchFamily="34" charset="-120"/>
              </a:rPr>
              <a:t>Root causes — directly observed in the study:</a:t>
            </a:r>
            <a:endParaRPr lang="en-US" sz="1350" dirty="0"/>
          </a:p>
        </p:txBody>
      </p:sp>
      <p:sp>
        <p:nvSpPr>
          <p:cNvPr id="20" name="Text 18"/>
          <p:cNvSpPr/>
          <p:nvPr/>
        </p:nvSpPr>
        <p:spPr>
          <a:xfrm>
            <a:off x="457200" y="3931920"/>
            <a:ext cx="8229600" cy="1097280"/>
          </a:xfrm>
          <a:prstGeom prst="rect">
            <a:avLst/>
          </a:prstGeom>
          <a:noFill/>
          <a:ln/>
        </p:spPr>
        <p:txBody>
          <a:bodyPr wrap="square" rtlCol="0" anchor="ctr"/>
          <a:lstStyle/>
          <a:p>
            <a:pPr marL="342900" indent="-342900">
              <a:buSzPct val="100000"/>
              <a:buChar char="•"/>
            </a:pPr>
            <a:r>
              <a:rPr lang="en-US" sz="1150" dirty="0">
                <a:solidFill>
                  <a:srgbClr val="1A2B3C"/>
                </a:solidFill>
                <a:latin typeface="Calibri" pitchFamily="34" charset="0"/>
                <a:ea typeface="Calibri" pitchFamily="34" charset="-122"/>
                <a:cs typeface="Calibri" pitchFamily="34" charset="-120"/>
              </a:rPr>
              <a:t>6 separate screens to complete one question — instructors lose video context every time they switch</a:t>
            </a:r>
            <a:endParaRPr lang="en-US" sz="1150" dirty="0"/>
          </a:p>
          <a:p>
            <a:pPr marL="342900" indent="-342900">
              <a:buSzPct val="100000"/>
              <a:buChar char="•"/>
            </a:pPr>
            <a:r>
              <a:rPr lang="en-US" sz="1150" dirty="0">
                <a:solidFill>
                  <a:srgbClr val="1A2B3C"/>
                </a:solidFill>
                <a:latin typeface="Calibri" pitchFamily="34" charset="0"/>
                <a:ea typeface="Calibri" pitchFamily="34" charset="-122"/>
                <a:cs typeface="Calibri" pitchFamily="34" charset="-120"/>
              </a:rPr>
              <a:t>Timestamps must be memorized: note the time, navigate away, retype on a different page</a:t>
            </a:r>
            <a:endParaRPr lang="en-US" sz="1150" dirty="0"/>
          </a:p>
          <a:p>
            <a:pPr marL="342900" indent="-342900">
              <a:buSzPct val="100000"/>
              <a:buChar char="•"/>
            </a:pPr>
            <a:r>
              <a:rPr lang="en-US" sz="1150" dirty="0">
                <a:solidFill>
                  <a:srgbClr val="1A2B3C"/>
                </a:solidFill>
                <a:latin typeface="Calibri" pitchFamily="34" charset="0"/>
                <a:ea typeface="Calibri" pitchFamily="34" charset="-122"/>
                <a:cs typeface="Calibri" pitchFamily="34" charset="-120"/>
              </a:rPr>
              <a:t>CMS cognitive overhead: WordPress posts, shortcodes, plugin settings — unrelated to teaching</a:t>
            </a:r>
            <a:endParaRPr lang="en-US" sz="1150" dirty="0"/>
          </a:p>
          <a:p>
            <a:pPr marL="342900" indent="-342900">
              <a:buSzPct val="100000"/>
              <a:buChar char="•"/>
            </a:pPr>
            <a:r>
              <a:rPr lang="en-US" sz="1150" dirty="0">
                <a:solidFill>
                  <a:srgbClr val="1A2B3C"/>
                </a:solidFill>
                <a:latin typeface="Calibri" pitchFamily="34" charset="0"/>
                <a:ea typeface="Calibri" pitchFamily="34" charset="-122"/>
                <a:cs typeface="Calibri" pitchFamily="34" charset="-120"/>
              </a:rPr>
              <a:t>Cryptic plugin save errors with no recovery — participants simply abandoned the task</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Instructors Said: Four Consistent Pain Themes</a:t>
            </a:r>
            <a:endParaRPr lang="en-US" sz="2400" dirty="0"/>
          </a:p>
        </p:txBody>
      </p:sp>
      <p:sp>
        <p:nvSpPr>
          <p:cNvPr id="4" name="Text 2"/>
          <p:cNvSpPr/>
          <p:nvPr/>
        </p:nvSpPr>
        <p:spPr>
          <a:xfrm>
            <a:off x="411480" y="960120"/>
            <a:ext cx="8321040" cy="310896"/>
          </a:xfrm>
          <a:prstGeom prst="rect">
            <a:avLst/>
          </a:prstGeom>
          <a:noFill/>
          <a:ln/>
        </p:spPr>
        <p:txBody>
          <a:bodyPr wrap="square" rtlCol="0" anchor="ctr"/>
          <a:lstStyle/>
          <a:p>
            <a:pPr indent="0" marL="0">
              <a:buNone/>
            </a:pPr>
            <a:r>
              <a:rPr lang="en-US" sz="1200" i="1" dirty="0">
                <a:solidFill>
                  <a:srgbClr val="4A6B8C"/>
                </a:solidFill>
                <a:latin typeface="Calibri" pitchFamily="34" charset="0"/>
                <a:ea typeface="Calibri" pitchFamily="34" charset="-122"/>
                <a:cs typeface="Calibri" pitchFamily="34" charset="-120"/>
              </a:rPr>
              <a:t>Semi-structured interviews with 5 instructors at HCMIU — technical and non-technical disciplines.</a:t>
            </a:r>
            <a:endParaRPr lang="en-US" sz="1200" dirty="0"/>
          </a:p>
        </p:txBody>
      </p:sp>
      <p:sp>
        <p:nvSpPr>
          <p:cNvPr id="5" name="Shape 3"/>
          <p:cNvSpPr/>
          <p:nvPr/>
        </p:nvSpPr>
        <p:spPr>
          <a:xfrm>
            <a:off x="365760" y="1353312"/>
            <a:ext cx="4206240" cy="1691640"/>
          </a:xfrm>
          <a:prstGeom prst="rect">
            <a:avLst/>
          </a:prstGeom>
          <a:solidFill>
            <a:srgbClr val="EEF6FB"/>
          </a:solidFill>
          <a:ln w="12700">
            <a:solidFill>
              <a:srgbClr val="C8E2F4"/>
            </a:solidFill>
            <a:prstDash val="solid"/>
          </a:ln>
        </p:spPr>
      </p:sp>
      <p:sp>
        <p:nvSpPr>
          <p:cNvPr id="6" name="Shape 4"/>
          <p:cNvSpPr/>
          <p:nvPr/>
        </p:nvSpPr>
        <p:spPr>
          <a:xfrm>
            <a:off x="365760" y="1353312"/>
            <a:ext cx="64008" cy="1691640"/>
          </a:xfrm>
          <a:prstGeom prst="rect">
            <a:avLst/>
          </a:prstGeom>
          <a:solidFill>
            <a:srgbClr val="1B98E0"/>
          </a:solidFill>
          <a:ln w="12700">
            <a:solidFill>
              <a:srgbClr val="1B98E0"/>
            </a:solidFill>
            <a:prstDash val="solid"/>
          </a:ln>
        </p:spPr>
      </p:sp>
      <p:sp>
        <p:nvSpPr>
          <p:cNvPr id="7" name="Text 5"/>
          <p:cNvSpPr/>
          <p:nvPr/>
        </p:nvSpPr>
        <p:spPr>
          <a:xfrm>
            <a:off x="530352" y="1444752"/>
            <a:ext cx="3904488" cy="338328"/>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01  Disconnected from teaching</a:t>
            </a:r>
            <a:endParaRPr lang="en-US" sz="1250" dirty="0"/>
          </a:p>
        </p:txBody>
      </p:sp>
      <p:sp>
        <p:nvSpPr>
          <p:cNvPr id="8" name="Text 6"/>
          <p:cNvSpPr/>
          <p:nvPr/>
        </p:nvSpPr>
        <p:spPr>
          <a:xfrm>
            <a:off x="530352" y="1828800"/>
            <a:ext cx="3904488" cy="1115568"/>
          </a:xfrm>
          <a:prstGeom prst="rect">
            <a:avLst/>
          </a:prstGeom>
          <a:noFill/>
          <a:ln/>
        </p:spPr>
        <p:txBody>
          <a:bodyPr wrap="square" lIns="0" tIns="0" rIns="0" bIns="0" rtlCol="0" anchor="ctr"/>
          <a:lstStyle/>
          <a:p>
            <a:pPr indent="0" marL="0">
              <a:buNone/>
            </a:pPr>
            <a:r>
              <a:rPr lang="en-US" sz="1100" i="1" dirty="0">
                <a:solidFill>
                  <a:srgbClr val="1A2B3C"/>
                </a:solidFill>
                <a:latin typeface="Calibri" pitchFamily="34" charset="0"/>
                <a:ea typeface="Calibri" pitchFamily="34" charset="-122"/>
                <a:cs typeface="Calibri" pitchFamily="34" charset="-120"/>
              </a:rPr>
              <a:t>"The H5P editor feels like it was built for web developers, not for someone who just wants to add a question to their lecture video."</a:t>
            </a:r>
            <a:endParaRPr lang="en-US" sz="1100" dirty="0"/>
          </a:p>
        </p:txBody>
      </p:sp>
      <p:sp>
        <p:nvSpPr>
          <p:cNvPr id="9" name="Shape 7"/>
          <p:cNvSpPr/>
          <p:nvPr/>
        </p:nvSpPr>
        <p:spPr>
          <a:xfrm>
            <a:off x="4773168" y="1353312"/>
            <a:ext cx="4206240" cy="1691640"/>
          </a:xfrm>
          <a:prstGeom prst="rect">
            <a:avLst/>
          </a:prstGeom>
          <a:solidFill>
            <a:srgbClr val="EEF6FB"/>
          </a:solidFill>
          <a:ln w="12700">
            <a:solidFill>
              <a:srgbClr val="C8E2F4"/>
            </a:solidFill>
            <a:prstDash val="solid"/>
          </a:ln>
        </p:spPr>
      </p:sp>
      <p:sp>
        <p:nvSpPr>
          <p:cNvPr id="10" name="Shape 8"/>
          <p:cNvSpPr/>
          <p:nvPr/>
        </p:nvSpPr>
        <p:spPr>
          <a:xfrm>
            <a:off x="4773168" y="1353312"/>
            <a:ext cx="64008" cy="1691640"/>
          </a:xfrm>
          <a:prstGeom prst="rect">
            <a:avLst/>
          </a:prstGeom>
          <a:solidFill>
            <a:srgbClr val="1B98E0"/>
          </a:solidFill>
          <a:ln w="12700">
            <a:solidFill>
              <a:srgbClr val="1B98E0"/>
            </a:solidFill>
            <a:prstDash val="solid"/>
          </a:ln>
        </p:spPr>
      </p:sp>
      <p:sp>
        <p:nvSpPr>
          <p:cNvPr id="11" name="Text 9"/>
          <p:cNvSpPr/>
          <p:nvPr/>
        </p:nvSpPr>
        <p:spPr>
          <a:xfrm>
            <a:off x="4937760" y="1444752"/>
            <a:ext cx="3904488" cy="338328"/>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02  Fear of losing work</a:t>
            </a:r>
            <a:endParaRPr lang="en-US" sz="1250" dirty="0"/>
          </a:p>
        </p:txBody>
      </p:sp>
      <p:sp>
        <p:nvSpPr>
          <p:cNvPr id="12" name="Text 10"/>
          <p:cNvSpPr/>
          <p:nvPr/>
        </p:nvSpPr>
        <p:spPr>
          <a:xfrm>
            <a:off x="4937760" y="1828800"/>
            <a:ext cx="3904488" cy="1115568"/>
          </a:xfrm>
          <a:prstGeom prst="rect">
            <a:avLst/>
          </a:prstGeom>
          <a:noFill/>
          <a:ln/>
        </p:spPr>
        <p:txBody>
          <a:bodyPr wrap="square" lIns="0" tIns="0" rIns="0" bIns="0" rtlCol="0" anchor="ctr"/>
          <a:lstStyle/>
          <a:p>
            <a:pPr indent="0" marL="0">
              <a:buNone/>
            </a:pPr>
            <a:r>
              <a:rPr lang="en-US" sz="1100" i="1" dirty="0">
                <a:solidFill>
                  <a:srgbClr val="1A2B3C"/>
                </a:solidFill>
                <a:latin typeface="Calibri" pitchFamily="34" charset="0"/>
                <a:ea typeface="Calibri" pitchFamily="34" charset="-122"/>
                <a:cs typeface="Calibri" pitchFamily="34" charset="-120"/>
              </a:rPr>
              <a:t>"I've lost an entire session's work when the browser reloaded mid-edit. Now I take screenshots of everything just in case."</a:t>
            </a:r>
            <a:endParaRPr lang="en-US" sz="1100" dirty="0"/>
          </a:p>
        </p:txBody>
      </p:sp>
      <p:sp>
        <p:nvSpPr>
          <p:cNvPr id="13" name="Shape 11"/>
          <p:cNvSpPr/>
          <p:nvPr/>
        </p:nvSpPr>
        <p:spPr>
          <a:xfrm>
            <a:off x="365760" y="3182112"/>
            <a:ext cx="4206240" cy="1691640"/>
          </a:xfrm>
          <a:prstGeom prst="rect">
            <a:avLst/>
          </a:prstGeom>
          <a:solidFill>
            <a:srgbClr val="EEF6FB"/>
          </a:solidFill>
          <a:ln w="12700">
            <a:solidFill>
              <a:srgbClr val="C8E2F4"/>
            </a:solidFill>
            <a:prstDash val="solid"/>
          </a:ln>
        </p:spPr>
      </p:sp>
      <p:sp>
        <p:nvSpPr>
          <p:cNvPr id="14" name="Shape 12"/>
          <p:cNvSpPr/>
          <p:nvPr/>
        </p:nvSpPr>
        <p:spPr>
          <a:xfrm>
            <a:off x="365760" y="3182112"/>
            <a:ext cx="64008" cy="1691640"/>
          </a:xfrm>
          <a:prstGeom prst="rect">
            <a:avLst/>
          </a:prstGeom>
          <a:solidFill>
            <a:srgbClr val="1B98E0"/>
          </a:solidFill>
          <a:ln w="12700">
            <a:solidFill>
              <a:srgbClr val="1B98E0"/>
            </a:solidFill>
            <a:prstDash val="solid"/>
          </a:ln>
        </p:spPr>
      </p:sp>
      <p:sp>
        <p:nvSpPr>
          <p:cNvPr id="15" name="Text 13"/>
          <p:cNvSpPr/>
          <p:nvPr/>
        </p:nvSpPr>
        <p:spPr>
          <a:xfrm>
            <a:off x="530352" y="3273552"/>
            <a:ext cx="3904488" cy="338328"/>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03  Manual work takes too long</a:t>
            </a:r>
            <a:endParaRPr lang="en-US" sz="1250" dirty="0"/>
          </a:p>
        </p:txBody>
      </p:sp>
      <p:sp>
        <p:nvSpPr>
          <p:cNvPr id="16" name="Text 14"/>
          <p:cNvSpPr/>
          <p:nvPr/>
        </p:nvSpPr>
        <p:spPr>
          <a:xfrm>
            <a:off x="530352" y="3657600"/>
            <a:ext cx="3904488" cy="1115568"/>
          </a:xfrm>
          <a:prstGeom prst="rect">
            <a:avLst/>
          </a:prstGeom>
          <a:noFill/>
          <a:ln/>
        </p:spPr>
        <p:txBody>
          <a:bodyPr wrap="square" lIns="0" tIns="0" rIns="0" bIns="0" rtlCol="0" anchor="ctr"/>
          <a:lstStyle/>
          <a:p>
            <a:pPr indent="0" marL="0">
              <a:buNone/>
            </a:pPr>
            <a:r>
              <a:rPr lang="en-US" sz="1100" i="1" dirty="0">
                <a:solidFill>
                  <a:srgbClr val="1A2B3C"/>
                </a:solidFill>
                <a:latin typeface="Calibri" pitchFamily="34" charset="0"/>
                <a:ea typeface="Calibri" pitchFamily="34" charset="-122"/>
                <a:cs typeface="Calibri" pitchFamily="34" charset="-120"/>
              </a:rPr>
              <a:t>"Finding the timestamp, switching screens, typing the question, formatting the options — it takes longer than writing the lecture itself."</a:t>
            </a:r>
            <a:endParaRPr lang="en-US" sz="1100" dirty="0"/>
          </a:p>
        </p:txBody>
      </p:sp>
      <p:sp>
        <p:nvSpPr>
          <p:cNvPr id="17" name="Shape 15"/>
          <p:cNvSpPr/>
          <p:nvPr/>
        </p:nvSpPr>
        <p:spPr>
          <a:xfrm>
            <a:off x="4773168" y="3182112"/>
            <a:ext cx="4206240" cy="1691640"/>
          </a:xfrm>
          <a:prstGeom prst="rect">
            <a:avLst/>
          </a:prstGeom>
          <a:solidFill>
            <a:srgbClr val="EEF6FB"/>
          </a:solidFill>
          <a:ln w="12700">
            <a:solidFill>
              <a:srgbClr val="C8E2F4"/>
            </a:solidFill>
            <a:prstDash val="solid"/>
          </a:ln>
        </p:spPr>
      </p:sp>
      <p:sp>
        <p:nvSpPr>
          <p:cNvPr id="18" name="Shape 16"/>
          <p:cNvSpPr/>
          <p:nvPr/>
        </p:nvSpPr>
        <p:spPr>
          <a:xfrm>
            <a:off x="4773168" y="3182112"/>
            <a:ext cx="64008" cy="1691640"/>
          </a:xfrm>
          <a:prstGeom prst="rect">
            <a:avLst/>
          </a:prstGeom>
          <a:solidFill>
            <a:srgbClr val="1B98E0"/>
          </a:solidFill>
          <a:ln w="12700">
            <a:solidFill>
              <a:srgbClr val="1B98E0"/>
            </a:solidFill>
            <a:prstDash val="solid"/>
          </a:ln>
        </p:spPr>
      </p:sp>
      <p:sp>
        <p:nvSpPr>
          <p:cNvPr id="19" name="Text 17"/>
          <p:cNvSpPr/>
          <p:nvPr/>
        </p:nvSpPr>
        <p:spPr>
          <a:xfrm>
            <a:off x="4937760" y="3273552"/>
            <a:ext cx="3904488" cy="338328"/>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04  Strong demand for AI assistance</a:t>
            </a:r>
            <a:endParaRPr lang="en-US" sz="1250" dirty="0"/>
          </a:p>
        </p:txBody>
      </p:sp>
      <p:sp>
        <p:nvSpPr>
          <p:cNvPr id="20" name="Text 18"/>
          <p:cNvSpPr/>
          <p:nvPr/>
        </p:nvSpPr>
        <p:spPr>
          <a:xfrm>
            <a:off x="4937760" y="3657600"/>
            <a:ext cx="3904488" cy="1115568"/>
          </a:xfrm>
          <a:prstGeom prst="rect">
            <a:avLst/>
          </a:prstGeom>
          <a:noFill/>
          <a:ln/>
        </p:spPr>
        <p:txBody>
          <a:bodyPr wrap="square" lIns="0" tIns="0" rIns="0" bIns="0" rtlCol="0" anchor="ctr"/>
          <a:lstStyle/>
          <a:p>
            <a:pPr indent="0" marL="0">
              <a:buNone/>
            </a:pPr>
            <a:r>
              <a:rPr lang="en-US" sz="1100" i="1" dirty="0">
                <a:solidFill>
                  <a:srgbClr val="1A2B3C"/>
                </a:solidFill>
                <a:latin typeface="Calibri" pitchFamily="34" charset="0"/>
                <a:ea typeface="Calibri" pitchFamily="34" charset="-122"/>
                <a:cs typeface="Calibri" pitchFamily="34" charset="-120"/>
              </a:rPr>
              <a:t>"If AI could suggest questions based on what I'm saying in the video, I would use that every single time without question."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B98E0"/>
          </a:solidFill>
          <a:ln w="12700">
            <a:solidFill>
              <a:srgbClr val="1B98E0"/>
            </a:solidFill>
            <a:prstDash val="solid"/>
          </a:ln>
        </p:spPr>
      </p:sp>
      <p:sp>
        <p:nvSpPr>
          <p:cNvPr id="3" name="Text 1"/>
          <p:cNvSpPr/>
          <p:nvPr/>
        </p:nvSpPr>
        <p:spPr>
          <a:xfrm>
            <a:off x="457200" y="502920"/>
            <a:ext cx="8229600" cy="457200"/>
          </a:xfrm>
          <a:prstGeom prst="rect">
            <a:avLst/>
          </a:prstGeom>
          <a:noFill/>
          <a:ln/>
        </p:spPr>
        <p:txBody>
          <a:bodyPr wrap="square" rtlCol="0" anchor="ctr"/>
          <a:lstStyle/>
          <a:p>
            <a:pPr algn="ctr" indent="0" marL="0">
              <a:buNone/>
            </a:pPr>
            <a:r>
              <a:rPr lang="en-US" sz="1500" spc="500" kern="0" dirty="0">
                <a:solidFill>
                  <a:srgbClr val="1B98E0"/>
                </a:solidFill>
                <a:latin typeface="Calibri" pitchFamily="34" charset="0"/>
                <a:ea typeface="Calibri" pitchFamily="34" charset="-122"/>
                <a:cs typeface="Calibri" pitchFamily="34" charset="-120"/>
              </a:rPr>
              <a:t>The Answer</a:t>
            </a:r>
            <a:endParaRPr lang="en-US" sz="1500" dirty="0"/>
          </a:p>
        </p:txBody>
      </p:sp>
      <p:sp>
        <p:nvSpPr>
          <p:cNvPr id="4" name="Text 2"/>
          <p:cNvSpPr/>
          <p:nvPr/>
        </p:nvSpPr>
        <p:spPr>
          <a:xfrm>
            <a:off x="457200" y="987552"/>
            <a:ext cx="8229600" cy="1005840"/>
          </a:xfrm>
          <a:prstGeom prst="rect">
            <a:avLst/>
          </a:prstGeom>
          <a:noFill/>
          <a:ln/>
        </p:spPr>
        <p:txBody>
          <a:bodyPr wrap="square"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AI-ActivEdu</a:t>
            </a:r>
            <a:endParaRPr lang="en-US" sz="6000" dirty="0"/>
          </a:p>
        </p:txBody>
      </p:sp>
      <p:sp>
        <p:nvSpPr>
          <p:cNvPr id="5" name="Text 3"/>
          <p:cNvSpPr/>
          <p:nvPr/>
        </p:nvSpPr>
        <p:spPr>
          <a:xfrm>
            <a:off x="457200" y="2084832"/>
            <a:ext cx="8229600" cy="713232"/>
          </a:xfrm>
          <a:prstGeom prst="rect">
            <a:avLst/>
          </a:prstGeom>
          <a:noFill/>
          <a:ln/>
        </p:spPr>
        <p:txBody>
          <a:bodyPr wrap="square" rtlCol="0" anchor="ctr"/>
          <a:lstStyle/>
          <a:p>
            <a:pPr algn="ctr" indent="0" marL="0">
              <a:buNone/>
            </a:pPr>
            <a:r>
              <a:rPr lang="en-US" sz="1600" dirty="0">
                <a:solidFill>
                  <a:srgbClr val="A8C5DA"/>
                </a:solidFill>
                <a:latin typeface="Calibri" pitchFamily="34" charset="0"/>
                <a:ea typeface="Calibri" pitchFamily="34" charset="-122"/>
                <a:cs typeface="Calibri" pitchFamily="34" charset="-120"/>
              </a:rPr>
              <a:t>A web-based, open-source H5P authoring platform with AI-assisted question generation.</a:t>
            </a:r>
            <a:endParaRPr lang="en-US" sz="1600" dirty="0"/>
          </a:p>
          <a:p>
            <a:pPr algn="ctr" indent="0" marL="0">
              <a:buNone/>
            </a:pPr>
            <a:r>
              <a:rPr lang="en-US" sz="1600" dirty="0">
                <a:solidFill>
                  <a:srgbClr val="A8C5DA"/>
                </a:solidFill>
                <a:latin typeface="Calibri" pitchFamily="34" charset="0"/>
                <a:ea typeface="Calibri" pitchFamily="34" charset="-122"/>
                <a:cs typeface="Calibri" pitchFamily="34" charset="-120"/>
              </a:rPr>
              <a:t>No WordPress. No installation. No context-switching.</a:t>
            </a:r>
            <a:endParaRPr lang="en-US" sz="1600" dirty="0"/>
          </a:p>
        </p:txBody>
      </p:sp>
      <p:sp>
        <p:nvSpPr>
          <p:cNvPr id="6" name="Shape 4"/>
          <p:cNvSpPr/>
          <p:nvPr/>
        </p:nvSpPr>
        <p:spPr>
          <a:xfrm>
            <a:off x="502920" y="2944368"/>
            <a:ext cx="2606040" cy="1719072"/>
          </a:xfrm>
          <a:prstGeom prst="rect">
            <a:avLst/>
          </a:prstGeom>
          <a:solidFill>
            <a:srgbClr val="132233"/>
          </a:solidFill>
          <a:ln w="12700">
            <a:solidFill>
              <a:srgbClr val="1E3A52"/>
            </a:solidFill>
            <a:prstDash val="solid"/>
          </a:ln>
        </p:spPr>
      </p:sp>
      <p:sp>
        <p:nvSpPr>
          <p:cNvPr id="7" name="Shape 5"/>
          <p:cNvSpPr/>
          <p:nvPr/>
        </p:nvSpPr>
        <p:spPr>
          <a:xfrm>
            <a:off x="502920" y="2944368"/>
            <a:ext cx="2606040" cy="64008"/>
          </a:xfrm>
          <a:prstGeom prst="rect">
            <a:avLst/>
          </a:prstGeom>
          <a:solidFill>
            <a:srgbClr val="1B98E0"/>
          </a:solidFill>
          <a:ln w="12700">
            <a:solidFill>
              <a:srgbClr val="1B98E0"/>
            </a:solidFill>
            <a:prstDash val="solid"/>
          </a:ln>
        </p:spPr>
      </p:sp>
      <p:sp>
        <p:nvSpPr>
          <p:cNvPr id="8" name="Text 6"/>
          <p:cNvSpPr/>
          <p:nvPr/>
        </p:nvSpPr>
        <p:spPr>
          <a:xfrm>
            <a:off x="640080" y="3054096"/>
            <a:ext cx="2331720" cy="43891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Design Science Research</a:t>
            </a:r>
            <a:endParaRPr lang="en-US" sz="1250" dirty="0"/>
          </a:p>
        </p:txBody>
      </p:sp>
      <p:sp>
        <p:nvSpPr>
          <p:cNvPr id="9" name="Text 7"/>
          <p:cNvSpPr/>
          <p:nvPr/>
        </p:nvSpPr>
        <p:spPr>
          <a:xfrm>
            <a:off x="640080" y="3520440"/>
            <a:ext cx="2331720" cy="1024128"/>
          </a:xfrm>
          <a:prstGeom prst="rect">
            <a:avLst/>
          </a:prstGeom>
          <a:noFill/>
          <a:ln/>
        </p:spPr>
        <p:txBody>
          <a:bodyPr wrap="square" lIns="0" tIns="0" rIns="0" bIns="0" rtlCol="0" anchor="ctr"/>
          <a:lstStyle/>
          <a:p>
            <a:pPr indent="0" marL="0">
              <a:buNone/>
            </a:pPr>
            <a:r>
              <a:rPr lang="en-US" sz="1050" dirty="0">
                <a:solidFill>
                  <a:srgbClr val="A8C5DA"/>
                </a:solidFill>
                <a:latin typeface="Calibri" pitchFamily="34" charset="0"/>
                <a:ea typeface="Calibri" pitchFamily="34" charset="-122"/>
                <a:cs typeface="Calibri" pitchFamily="34" charset="-120"/>
              </a:rPr>
              <a:t>Build a novel artefact. Validate empirically against the real baseline.</a:t>
            </a:r>
            <a:endParaRPr lang="en-US" sz="1050" dirty="0"/>
          </a:p>
        </p:txBody>
      </p:sp>
      <p:sp>
        <p:nvSpPr>
          <p:cNvPr id="10" name="Shape 8"/>
          <p:cNvSpPr/>
          <p:nvPr/>
        </p:nvSpPr>
        <p:spPr>
          <a:xfrm>
            <a:off x="3291840" y="2944368"/>
            <a:ext cx="2606040" cy="1719072"/>
          </a:xfrm>
          <a:prstGeom prst="rect">
            <a:avLst/>
          </a:prstGeom>
          <a:solidFill>
            <a:srgbClr val="132233"/>
          </a:solidFill>
          <a:ln w="12700">
            <a:solidFill>
              <a:srgbClr val="1E3A52"/>
            </a:solidFill>
            <a:prstDash val="solid"/>
          </a:ln>
        </p:spPr>
      </p:sp>
      <p:sp>
        <p:nvSpPr>
          <p:cNvPr id="11" name="Shape 9"/>
          <p:cNvSpPr/>
          <p:nvPr/>
        </p:nvSpPr>
        <p:spPr>
          <a:xfrm>
            <a:off x="3291840" y="2944368"/>
            <a:ext cx="2606040" cy="64008"/>
          </a:xfrm>
          <a:prstGeom prst="rect">
            <a:avLst/>
          </a:prstGeom>
          <a:solidFill>
            <a:srgbClr val="1B98E0"/>
          </a:solidFill>
          <a:ln w="12700">
            <a:solidFill>
              <a:srgbClr val="1B98E0"/>
            </a:solidFill>
            <a:prstDash val="solid"/>
          </a:ln>
        </p:spPr>
      </p:sp>
      <p:sp>
        <p:nvSpPr>
          <p:cNvPr id="12" name="Text 10"/>
          <p:cNvSpPr/>
          <p:nvPr/>
        </p:nvSpPr>
        <p:spPr>
          <a:xfrm>
            <a:off x="3429000" y="3054096"/>
            <a:ext cx="2331720" cy="43891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User-Centred Design</a:t>
            </a:r>
            <a:endParaRPr lang="en-US" sz="1250" dirty="0"/>
          </a:p>
        </p:txBody>
      </p:sp>
      <p:sp>
        <p:nvSpPr>
          <p:cNvPr id="13" name="Text 11"/>
          <p:cNvSpPr/>
          <p:nvPr/>
        </p:nvSpPr>
        <p:spPr>
          <a:xfrm>
            <a:off x="3429000" y="3520440"/>
            <a:ext cx="2331720" cy="1024128"/>
          </a:xfrm>
          <a:prstGeom prst="rect">
            <a:avLst/>
          </a:prstGeom>
          <a:noFill/>
          <a:ln/>
        </p:spPr>
        <p:txBody>
          <a:bodyPr wrap="square" lIns="0" tIns="0" rIns="0" bIns="0" rtlCol="0" anchor="ctr"/>
          <a:lstStyle/>
          <a:p>
            <a:pPr indent="0" marL="0">
              <a:buNone/>
            </a:pPr>
            <a:r>
              <a:rPr lang="en-US" sz="1050" dirty="0">
                <a:solidFill>
                  <a:srgbClr val="A8C5DA"/>
                </a:solidFill>
                <a:latin typeface="Calibri" pitchFamily="34" charset="0"/>
                <a:ea typeface="Calibri" pitchFamily="34" charset="-122"/>
                <a:cs typeface="Calibri" pitchFamily="34" charset="-120"/>
              </a:rPr>
              <a:t>Requirements from instructor interviews before a single line of code.</a:t>
            </a:r>
            <a:endParaRPr lang="en-US" sz="1050" dirty="0"/>
          </a:p>
        </p:txBody>
      </p:sp>
      <p:sp>
        <p:nvSpPr>
          <p:cNvPr id="14" name="Shape 12"/>
          <p:cNvSpPr/>
          <p:nvPr/>
        </p:nvSpPr>
        <p:spPr>
          <a:xfrm>
            <a:off x="6080760" y="2944368"/>
            <a:ext cx="2606040" cy="1719072"/>
          </a:xfrm>
          <a:prstGeom prst="rect">
            <a:avLst/>
          </a:prstGeom>
          <a:solidFill>
            <a:srgbClr val="132233"/>
          </a:solidFill>
          <a:ln w="12700">
            <a:solidFill>
              <a:srgbClr val="1E3A52"/>
            </a:solidFill>
            <a:prstDash val="solid"/>
          </a:ln>
        </p:spPr>
      </p:sp>
      <p:sp>
        <p:nvSpPr>
          <p:cNvPr id="15" name="Shape 13"/>
          <p:cNvSpPr/>
          <p:nvPr/>
        </p:nvSpPr>
        <p:spPr>
          <a:xfrm>
            <a:off x="6080760" y="2944368"/>
            <a:ext cx="2606040" cy="64008"/>
          </a:xfrm>
          <a:prstGeom prst="rect">
            <a:avLst/>
          </a:prstGeom>
          <a:solidFill>
            <a:srgbClr val="1B98E0"/>
          </a:solidFill>
          <a:ln w="12700">
            <a:solidFill>
              <a:srgbClr val="1B98E0"/>
            </a:solidFill>
            <a:prstDash val="solid"/>
          </a:ln>
        </p:spPr>
      </p:sp>
      <p:sp>
        <p:nvSpPr>
          <p:cNvPr id="16" name="Text 14"/>
          <p:cNvSpPr/>
          <p:nvPr/>
        </p:nvSpPr>
        <p:spPr>
          <a:xfrm>
            <a:off x="6217920" y="3054096"/>
            <a:ext cx="2331720" cy="43891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Agile Development</a:t>
            </a:r>
            <a:endParaRPr lang="en-US" sz="1250" dirty="0"/>
          </a:p>
        </p:txBody>
      </p:sp>
      <p:sp>
        <p:nvSpPr>
          <p:cNvPr id="17" name="Text 15"/>
          <p:cNvSpPr/>
          <p:nvPr/>
        </p:nvSpPr>
        <p:spPr>
          <a:xfrm>
            <a:off x="6217920" y="3520440"/>
            <a:ext cx="2331720" cy="1024128"/>
          </a:xfrm>
          <a:prstGeom prst="rect">
            <a:avLst/>
          </a:prstGeom>
          <a:noFill/>
          <a:ln/>
        </p:spPr>
        <p:txBody>
          <a:bodyPr wrap="square" lIns="0" tIns="0" rIns="0" bIns="0" rtlCol="0" anchor="ctr"/>
          <a:lstStyle/>
          <a:p>
            <a:pPr indent="0" marL="0">
              <a:buNone/>
            </a:pPr>
            <a:r>
              <a:rPr lang="en-US" sz="1050" dirty="0">
                <a:solidFill>
                  <a:srgbClr val="A8C5DA"/>
                </a:solidFill>
                <a:latin typeface="Calibri" pitchFamily="34" charset="0"/>
                <a:ea typeface="Calibri" pitchFamily="34" charset="-122"/>
                <a:cs typeface="Calibri" pitchFamily="34" charset="-120"/>
              </a:rPr>
              <a:t>2–3 week sprints. Critical constraints only emerged during active build.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Technical: How a .h5p File Is Assembled &amp; Downloaded</a:t>
            </a:r>
            <a:endParaRPr lang="en-US" sz="2400" dirty="0"/>
          </a:p>
        </p:txBody>
      </p:sp>
      <p:sp>
        <p:nvSpPr>
          <p:cNvPr id="4" name="Text 2"/>
          <p:cNvSpPr/>
          <p:nvPr/>
        </p:nvSpPr>
        <p:spPr>
          <a:xfrm>
            <a:off x="411480" y="960120"/>
            <a:ext cx="8321040" cy="292608"/>
          </a:xfrm>
          <a:prstGeom prst="rect">
            <a:avLst/>
          </a:prstGeom>
          <a:noFill/>
          <a:ln/>
        </p:spPr>
        <p:txBody>
          <a:bodyPr wrap="square" rtlCol="0" anchor="ctr"/>
          <a:lstStyle/>
          <a:p>
            <a:pPr indent="0" marL="0">
              <a:buNone/>
            </a:pPr>
            <a:r>
              <a:rPr lang="en-US" sz="1250" i="1" dirty="0">
                <a:solidFill>
                  <a:srgbClr val="4A6B8C"/>
                </a:solidFill>
                <a:latin typeface="Calibri" pitchFamily="34" charset="0"/>
                <a:ea typeface="Calibri" pitchFamily="34" charset="-122"/>
                <a:cs typeface="Calibri" pitchFamily="34" charset="-120"/>
              </a:rPr>
              <a:t>Everything AI-ActivEdu generates ends up inside this ZIP archive.</a:t>
            </a:r>
            <a:endParaRPr lang="en-US" sz="1250" dirty="0"/>
          </a:p>
        </p:txBody>
      </p:sp>
      <p:sp>
        <p:nvSpPr>
          <p:cNvPr id="5" name="Shape 3"/>
          <p:cNvSpPr/>
          <p:nvPr/>
        </p:nvSpPr>
        <p:spPr>
          <a:xfrm>
            <a:off x="320040" y="1325880"/>
            <a:ext cx="4160520" cy="3547872"/>
          </a:xfrm>
          <a:prstGeom prst="rect">
            <a:avLst/>
          </a:prstGeom>
          <a:solidFill>
            <a:srgbClr val="EEF6FB"/>
          </a:solidFill>
          <a:ln w="12700">
            <a:solidFill>
              <a:srgbClr val="C8E2F4"/>
            </a:solidFill>
            <a:prstDash val="solid"/>
          </a:ln>
        </p:spPr>
      </p:sp>
      <p:sp>
        <p:nvSpPr>
          <p:cNvPr id="6" name="Shape 4"/>
          <p:cNvSpPr/>
          <p:nvPr/>
        </p:nvSpPr>
        <p:spPr>
          <a:xfrm>
            <a:off x="320040" y="1325880"/>
            <a:ext cx="64008" cy="3547872"/>
          </a:xfrm>
          <a:prstGeom prst="rect">
            <a:avLst/>
          </a:prstGeom>
          <a:solidFill>
            <a:srgbClr val="1273A8"/>
          </a:solidFill>
          <a:ln w="12700">
            <a:solidFill>
              <a:srgbClr val="1273A8"/>
            </a:solidFill>
            <a:prstDash val="solid"/>
          </a:ln>
        </p:spPr>
      </p:sp>
      <p:sp>
        <p:nvSpPr>
          <p:cNvPr id="7" name="Text 5"/>
          <p:cNvSpPr/>
          <p:nvPr/>
        </p:nvSpPr>
        <p:spPr>
          <a:xfrm>
            <a:off x="502920" y="1417320"/>
            <a:ext cx="3840480" cy="347472"/>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ZIP Archive — .h5p Contents</a:t>
            </a:r>
            <a:endParaRPr lang="en-US" sz="1300" dirty="0"/>
          </a:p>
        </p:txBody>
      </p:sp>
      <p:sp>
        <p:nvSpPr>
          <p:cNvPr id="8" name="Text 6"/>
          <p:cNvSpPr/>
          <p:nvPr/>
        </p:nvSpPr>
        <p:spPr>
          <a:xfrm>
            <a:off x="502920" y="1847088"/>
            <a:ext cx="2194560" cy="320040"/>
          </a:xfrm>
          <a:prstGeom prst="rect">
            <a:avLst/>
          </a:prstGeom>
          <a:noFill/>
          <a:ln/>
        </p:spPr>
        <p:txBody>
          <a:bodyPr wrap="square" lIns="0" tIns="0" rIns="0" bIns="0" rtlCol="0" anchor="ctr"/>
          <a:lstStyle/>
          <a:p>
            <a:pPr indent="0" marL="0">
              <a:buNone/>
            </a:pPr>
            <a:r>
              <a:rPr lang="en-US" sz="1000" dirty="0">
                <a:solidFill>
                  <a:srgbClr val="065A82"/>
                </a:solidFill>
                <a:latin typeface="Consolas" pitchFamily="34" charset="0"/>
                <a:ea typeface="Consolas" pitchFamily="34" charset="-122"/>
                <a:cs typeface="Consolas" pitchFamily="34" charset="-120"/>
              </a:rPr>
              <a:t>h5p.json</a:t>
            </a:r>
            <a:endParaRPr lang="en-US" sz="1000" dirty="0"/>
          </a:p>
        </p:txBody>
      </p:sp>
      <p:sp>
        <p:nvSpPr>
          <p:cNvPr id="9" name="Text 7"/>
          <p:cNvSpPr/>
          <p:nvPr/>
        </p:nvSpPr>
        <p:spPr>
          <a:xfrm>
            <a:off x="2715768" y="1847088"/>
            <a:ext cx="1645920" cy="320040"/>
          </a:xfrm>
          <a:prstGeom prst="rect">
            <a:avLst/>
          </a:prstGeom>
          <a:noFill/>
          <a:ln/>
        </p:spPr>
        <p:txBody>
          <a:bodyPr wrap="square" lIns="0" tIns="0" rIns="0" bIns="0" rtlCol="0" anchor="ctr"/>
          <a:lstStyle/>
          <a:p>
            <a:pPr indent="0" marL="0">
              <a:buNone/>
            </a:pPr>
            <a:r>
              <a:rPr lang="en-US" sz="950" dirty="0">
                <a:solidFill>
                  <a:srgbClr val="4A6B8C"/>
                </a:solidFill>
                <a:latin typeface="Calibri" pitchFamily="34" charset="0"/>
                <a:ea typeface="Calibri" pitchFamily="34" charset="-122"/>
                <a:cs typeface="Calibri" pitchFamily="34" charset="-120"/>
              </a:rPr>
              <a:t>Package manifest — title, main library, embedTypes</a:t>
            </a:r>
            <a:endParaRPr lang="en-US" sz="950" dirty="0"/>
          </a:p>
        </p:txBody>
      </p:sp>
      <p:sp>
        <p:nvSpPr>
          <p:cNvPr id="10" name="Text 8"/>
          <p:cNvSpPr/>
          <p:nvPr/>
        </p:nvSpPr>
        <p:spPr>
          <a:xfrm>
            <a:off x="502920" y="2221992"/>
            <a:ext cx="2194560" cy="320040"/>
          </a:xfrm>
          <a:prstGeom prst="rect">
            <a:avLst/>
          </a:prstGeom>
          <a:noFill/>
          <a:ln/>
        </p:spPr>
        <p:txBody>
          <a:bodyPr wrap="square" lIns="0" tIns="0" rIns="0" bIns="0" rtlCol="0" anchor="ctr"/>
          <a:lstStyle/>
          <a:p>
            <a:pPr indent="0" marL="0">
              <a:buNone/>
            </a:pPr>
            <a:r>
              <a:rPr lang="en-US" sz="1000" b="1" dirty="0">
                <a:solidFill>
                  <a:srgbClr val="065A82"/>
                </a:solidFill>
                <a:latin typeface="Consolas" pitchFamily="34" charset="0"/>
                <a:ea typeface="Consolas" pitchFamily="34" charset="-122"/>
                <a:cs typeface="Consolas" pitchFamily="34" charset="-120"/>
              </a:rPr>
              <a:t>content/</a:t>
            </a:r>
            <a:endParaRPr lang="en-US" sz="1000" dirty="0"/>
          </a:p>
        </p:txBody>
      </p:sp>
      <p:sp>
        <p:nvSpPr>
          <p:cNvPr id="11" name="Text 9"/>
          <p:cNvSpPr/>
          <p:nvPr/>
        </p:nvSpPr>
        <p:spPr>
          <a:xfrm>
            <a:off x="2715768" y="2221992"/>
            <a:ext cx="1645920" cy="320040"/>
          </a:xfrm>
          <a:prstGeom prst="rect">
            <a:avLst/>
          </a:prstGeom>
          <a:noFill/>
          <a:ln/>
        </p:spPr>
        <p:txBody>
          <a:bodyPr wrap="square" lIns="0" tIns="0" rIns="0" bIns="0" rtlCol="0" anchor="ctr"/>
          <a:lstStyle/>
          <a:p>
            <a:pPr indent="0" marL="0">
              <a:buNone/>
            </a:pPr>
            <a:r>
              <a:rPr lang="en-US" sz="950" dirty="0">
                <a:solidFill>
                  <a:srgbClr val="4A6B8C"/>
                </a:solidFill>
                <a:latin typeface="Calibri" pitchFamily="34" charset="0"/>
                <a:ea typeface="Calibri" pitchFamily="34" charset="-122"/>
                <a:cs typeface="Calibri" pitchFamily="34" charset="-120"/>
              </a:rPr>
              <a:t>Content folder</a:t>
            </a:r>
            <a:endParaRPr lang="en-US" sz="950" dirty="0"/>
          </a:p>
        </p:txBody>
      </p:sp>
      <p:sp>
        <p:nvSpPr>
          <p:cNvPr id="12" name="Text 10"/>
          <p:cNvSpPr/>
          <p:nvPr/>
        </p:nvSpPr>
        <p:spPr>
          <a:xfrm>
            <a:off x="502920" y="2596896"/>
            <a:ext cx="2194560" cy="320040"/>
          </a:xfrm>
          <a:prstGeom prst="rect">
            <a:avLst/>
          </a:prstGeom>
          <a:noFill/>
          <a:ln/>
        </p:spPr>
        <p:txBody>
          <a:bodyPr wrap="square" lIns="0" tIns="0" rIns="0" bIns="0" rtlCol="0" anchor="ctr"/>
          <a:lstStyle/>
          <a:p>
            <a:pPr indent="0" marL="0">
              <a:buNone/>
            </a:pPr>
            <a:r>
              <a:rPr lang="en-US" sz="1000" dirty="0">
                <a:solidFill>
                  <a:srgbClr val="4A6B8C"/>
                </a:solidFill>
                <a:latin typeface="Consolas" pitchFamily="34" charset="0"/>
                <a:ea typeface="Consolas" pitchFamily="34" charset="-122"/>
                <a:cs typeface="Consolas" pitchFamily="34" charset="-120"/>
              </a:rPr>
              <a:t>  content.json</a:t>
            </a:r>
            <a:endParaRPr lang="en-US" sz="1000" dirty="0"/>
          </a:p>
        </p:txBody>
      </p:sp>
      <p:sp>
        <p:nvSpPr>
          <p:cNvPr id="13" name="Text 11"/>
          <p:cNvSpPr/>
          <p:nvPr/>
        </p:nvSpPr>
        <p:spPr>
          <a:xfrm>
            <a:off x="2715768" y="2596896"/>
            <a:ext cx="1645920" cy="320040"/>
          </a:xfrm>
          <a:prstGeom prst="rect">
            <a:avLst/>
          </a:prstGeom>
          <a:noFill/>
          <a:ln/>
        </p:spPr>
        <p:txBody>
          <a:bodyPr wrap="square" lIns="0" tIns="0" rIns="0" bIns="0" rtlCol="0" anchor="ctr"/>
          <a:lstStyle/>
          <a:p>
            <a:pPr indent="0" marL="0">
              <a:buNone/>
            </a:pPr>
            <a:r>
              <a:rPr lang="en-US" sz="950" dirty="0">
                <a:solidFill>
                  <a:srgbClr val="4A6B8C"/>
                </a:solidFill>
                <a:latin typeface="Calibri" pitchFamily="34" charset="0"/>
                <a:ea typeface="Calibri" pitchFamily="34" charset="-122"/>
                <a:cs typeface="Calibri" pitchFamily="34" charset="-120"/>
              </a:rPr>
              <a:t>Interactions array, video source, timestamps</a:t>
            </a:r>
            <a:endParaRPr lang="en-US" sz="950" dirty="0"/>
          </a:p>
        </p:txBody>
      </p:sp>
      <p:sp>
        <p:nvSpPr>
          <p:cNvPr id="14" name="Text 12"/>
          <p:cNvSpPr/>
          <p:nvPr/>
        </p:nvSpPr>
        <p:spPr>
          <a:xfrm>
            <a:off x="502920" y="2971800"/>
            <a:ext cx="2194560" cy="320040"/>
          </a:xfrm>
          <a:prstGeom prst="rect">
            <a:avLst/>
          </a:prstGeom>
          <a:noFill/>
          <a:ln/>
        </p:spPr>
        <p:txBody>
          <a:bodyPr wrap="square" lIns="0" tIns="0" rIns="0" bIns="0" rtlCol="0" anchor="ctr"/>
          <a:lstStyle/>
          <a:p>
            <a:pPr indent="0" marL="0">
              <a:buNone/>
            </a:pPr>
            <a:r>
              <a:rPr lang="en-US" sz="1000" dirty="0">
                <a:solidFill>
                  <a:srgbClr val="4A6B8C"/>
                </a:solidFill>
                <a:latin typeface="Consolas" pitchFamily="34" charset="0"/>
                <a:ea typeface="Consolas" pitchFamily="34" charset="-122"/>
                <a:cs typeface="Consolas" pitchFamily="34" charset="-120"/>
              </a:rPr>
              <a:t>  videos/video.mp4</a:t>
            </a:r>
            <a:endParaRPr lang="en-US" sz="1000" dirty="0"/>
          </a:p>
        </p:txBody>
      </p:sp>
      <p:sp>
        <p:nvSpPr>
          <p:cNvPr id="15" name="Text 13"/>
          <p:cNvSpPr/>
          <p:nvPr/>
        </p:nvSpPr>
        <p:spPr>
          <a:xfrm>
            <a:off x="2715768" y="2971800"/>
            <a:ext cx="1645920" cy="320040"/>
          </a:xfrm>
          <a:prstGeom prst="rect">
            <a:avLst/>
          </a:prstGeom>
          <a:noFill/>
          <a:ln/>
        </p:spPr>
        <p:txBody>
          <a:bodyPr wrap="square" lIns="0" tIns="0" rIns="0" bIns="0" rtlCol="0" anchor="ctr"/>
          <a:lstStyle/>
          <a:p>
            <a:pPr indent="0" marL="0">
              <a:buNone/>
            </a:pPr>
            <a:r>
              <a:rPr lang="en-US" sz="950" dirty="0">
                <a:solidFill>
                  <a:srgbClr val="4A6B8C"/>
                </a:solidFill>
                <a:latin typeface="Calibri" pitchFamily="34" charset="0"/>
                <a:ea typeface="Calibri" pitchFamily="34" charset="-122"/>
                <a:cs typeface="Calibri" pitchFamily="34" charset="-120"/>
              </a:rPr>
              <a:t>Bundled local video (omitted for YouTube)</a:t>
            </a:r>
            <a:endParaRPr lang="en-US" sz="950" dirty="0"/>
          </a:p>
        </p:txBody>
      </p:sp>
      <p:sp>
        <p:nvSpPr>
          <p:cNvPr id="16" name="Text 14"/>
          <p:cNvSpPr/>
          <p:nvPr/>
        </p:nvSpPr>
        <p:spPr>
          <a:xfrm>
            <a:off x="502920" y="3346704"/>
            <a:ext cx="2194560" cy="320040"/>
          </a:xfrm>
          <a:prstGeom prst="rect">
            <a:avLst/>
          </a:prstGeom>
          <a:noFill/>
          <a:ln/>
        </p:spPr>
        <p:txBody>
          <a:bodyPr wrap="square" lIns="0" tIns="0" rIns="0" bIns="0" rtlCol="0" anchor="ctr"/>
          <a:lstStyle/>
          <a:p>
            <a:pPr indent="0" marL="0">
              <a:buNone/>
            </a:pPr>
            <a:r>
              <a:rPr lang="en-US" sz="1000" b="1" dirty="0">
                <a:solidFill>
                  <a:srgbClr val="065A82"/>
                </a:solidFill>
                <a:latin typeface="Consolas" pitchFamily="34" charset="0"/>
                <a:ea typeface="Consolas" pitchFamily="34" charset="-122"/>
                <a:cs typeface="Consolas" pitchFamily="34" charset="-120"/>
              </a:rPr>
              <a:t>H5P.InteractiveVideo-1.24/</a:t>
            </a:r>
            <a:endParaRPr lang="en-US" sz="1000" dirty="0"/>
          </a:p>
        </p:txBody>
      </p:sp>
      <p:sp>
        <p:nvSpPr>
          <p:cNvPr id="17" name="Text 15"/>
          <p:cNvSpPr/>
          <p:nvPr/>
        </p:nvSpPr>
        <p:spPr>
          <a:xfrm>
            <a:off x="2715768" y="3346704"/>
            <a:ext cx="1645920" cy="320040"/>
          </a:xfrm>
          <a:prstGeom prst="rect">
            <a:avLst/>
          </a:prstGeom>
          <a:noFill/>
          <a:ln/>
        </p:spPr>
        <p:txBody>
          <a:bodyPr wrap="square" lIns="0" tIns="0" rIns="0" bIns="0" rtlCol="0" anchor="ctr"/>
          <a:lstStyle/>
          <a:p>
            <a:pPr indent="0" marL="0">
              <a:buNone/>
            </a:pPr>
            <a:r>
              <a:rPr lang="en-US" sz="950" dirty="0">
                <a:solidFill>
                  <a:srgbClr val="4A6B8C"/>
                </a:solidFill>
                <a:latin typeface="Calibri" pitchFamily="34" charset="0"/>
                <a:ea typeface="Calibri" pitchFamily="34" charset="-122"/>
                <a:cs typeface="Calibri" pitchFamily="34" charset="-120"/>
              </a:rPr>
              <a:t>Main player JavaScript library</a:t>
            </a:r>
            <a:endParaRPr lang="en-US" sz="950" dirty="0"/>
          </a:p>
        </p:txBody>
      </p:sp>
      <p:sp>
        <p:nvSpPr>
          <p:cNvPr id="18" name="Text 16"/>
          <p:cNvSpPr/>
          <p:nvPr/>
        </p:nvSpPr>
        <p:spPr>
          <a:xfrm>
            <a:off x="502920" y="3721608"/>
            <a:ext cx="2194560" cy="320040"/>
          </a:xfrm>
          <a:prstGeom prst="rect">
            <a:avLst/>
          </a:prstGeom>
          <a:noFill/>
          <a:ln/>
        </p:spPr>
        <p:txBody>
          <a:bodyPr wrap="square" lIns="0" tIns="0" rIns="0" bIns="0" rtlCol="0" anchor="ctr"/>
          <a:lstStyle/>
          <a:p>
            <a:pPr indent="0" marL="0">
              <a:buNone/>
            </a:pPr>
            <a:r>
              <a:rPr lang="en-US" sz="1000" b="1" dirty="0">
                <a:solidFill>
                  <a:srgbClr val="065A82"/>
                </a:solidFill>
                <a:latin typeface="Consolas" pitchFamily="34" charset="0"/>
                <a:ea typeface="Consolas" pitchFamily="34" charset="-122"/>
                <a:cs typeface="Consolas" pitchFamily="34" charset="-120"/>
              </a:rPr>
              <a:t>H5P.MultiChoice-1.16/</a:t>
            </a:r>
            <a:endParaRPr lang="en-US" sz="1000" dirty="0"/>
          </a:p>
        </p:txBody>
      </p:sp>
      <p:sp>
        <p:nvSpPr>
          <p:cNvPr id="19" name="Text 17"/>
          <p:cNvSpPr/>
          <p:nvPr/>
        </p:nvSpPr>
        <p:spPr>
          <a:xfrm>
            <a:off x="2715768" y="3721608"/>
            <a:ext cx="1645920" cy="320040"/>
          </a:xfrm>
          <a:prstGeom prst="rect">
            <a:avLst/>
          </a:prstGeom>
          <a:noFill/>
          <a:ln/>
        </p:spPr>
        <p:txBody>
          <a:bodyPr wrap="square" lIns="0" tIns="0" rIns="0" bIns="0" rtlCol="0" anchor="ctr"/>
          <a:lstStyle/>
          <a:p>
            <a:pPr indent="0" marL="0">
              <a:buNone/>
            </a:pPr>
            <a:r>
              <a:rPr lang="en-US" sz="950" dirty="0">
                <a:solidFill>
                  <a:srgbClr val="4A6B8C"/>
                </a:solidFill>
                <a:latin typeface="Calibri" pitchFamily="34" charset="0"/>
                <a:ea typeface="Calibri" pitchFamily="34" charset="-122"/>
                <a:cs typeface="Calibri" pitchFamily="34" charset="-120"/>
              </a:rPr>
              <a:t>Multiple choice library</a:t>
            </a:r>
            <a:endParaRPr lang="en-US" sz="950" dirty="0"/>
          </a:p>
        </p:txBody>
      </p:sp>
      <p:sp>
        <p:nvSpPr>
          <p:cNvPr id="20" name="Text 18"/>
          <p:cNvSpPr/>
          <p:nvPr/>
        </p:nvSpPr>
        <p:spPr>
          <a:xfrm>
            <a:off x="502920" y="4096512"/>
            <a:ext cx="2194560" cy="320040"/>
          </a:xfrm>
          <a:prstGeom prst="rect">
            <a:avLst/>
          </a:prstGeom>
          <a:noFill/>
          <a:ln/>
        </p:spPr>
        <p:txBody>
          <a:bodyPr wrap="square" lIns="0" tIns="0" rIns="0" bIns="0" rtlCol="0" anchor="ctr"/>
          <a:lstStyle/>
          <a:p>
            <a:pPr indent="0" marL="0">
              <a:buNone/>
            </a:pPr>
            <a:r>
              <a:rPr lang="en-US" sz="1000" b="1" dirty="0">
                <a:solidFill>
                  <a:srgbClr val="065A82"/>
                </a:solidFill>
                <a:latin typeface="Consolas" pitchFamily="34" charset="0"/>
                <a:ea typeface="Consolas" pitchFamily="34" charset="-122"/>
                <a:cs typeface="Consolas" pitchFamily="34" charset="-120"/>
              </a:rPr>
              <a:t>H5P.TrueFalse-1.6/</a:t>
            </a:r>
            <a:endParaRPr lang="en-US" sz="1000" dirty="0"/>
          </a:p>
        </p:txBody>
      </p:sp>
      <p:sp>
        <p:nvSpPr>
          <p:cNvPr id="21" name="Text 19"/>
          <p:cNvSpPr/>
          <p:nvPr/>
        </p:nvSpPr>
        <p:spPr>
          <a:xfrm>
            <a:off x="2715768" y="4096512"/>
            <a:ext cx="1645920" cy="320040"/>
          </a:xfrm>
          <a:prstGeom prst="rect">
            <a:avLst/>
          </a:prstGeom>
          <a:noFill/>
          <a:ln/>
        </p:spPr>
        <p:txBody>
          <a:bodyPr wrap="square" lIns="0" tIns="0" rIns="0" bIns="0" rtlCol="0" anchor="ctr"/>
          <a:lstStyle/>
          <a:p>
            <a:pPr indent="0" marL="0">
              <a:buNone/>
            </a:pPr>
            <a:r>
              <a:rPr lang="en-US" sz="950" dirty="0">
                <a:solidFill>
                  <a:srgbClr val="4A6B8C"/>
                </a:solidFill>
                <a:latin typeface="Calibri" pitchFamily="34" charset="0"/>
                <a:ea typeface="Calibri" pitchFamily="34" charset="-122"/>
                <a:cs typeface="Calibri" pitchFamily="34" charset="-120"/>
              </a:rPr>
              <a:t>True/false library</a:t>
            </a:r>
            <a:endParaRPr lang="en-US" sz="950" dirty="0"/>
          </a:p>
        </p:txBody>
      </p:sp>
      <p:sp>
        <p:nvSpPr>
          <p:cNvPr id="22" name="Text 20"/>
          <p:cNvSpPr/>
          <p:nvPr/>
        </p:nvSpPr>
        <p:spPr>
          <a:xfrm>
            <a:off x="502920" y="4471416"/>
            <a:ext cx="2194560" cy="320040"/>
          </a:xfrm>
          <a:prstGeom prst="rect">
            <a:avLst/>
          </a:prstGeom>
          <a:noFill/>
          <a:ln/>
        </p:spPr>
        <p:txBody>
          <a:bodyPr wrap="square" lIns="0" tIns="0" rIns="0" bIns="0" rtlCol="0" anchor="ctr"/>
          <a:lstStyle/>
          <a:p>
            <a:pPr indent="0" marL="0">
              <a:buNone/>
            </a:pPr>
            <a:r>
              <a:rPr lang="en-US" sz="1000" b="1" dirty="0">
                <a:solidFill>
                  <a:srgbClr val="065A82"/>
                </a:solidFill>
                <a:latin typeface="Consolas" pitchFamily="34" charset="0"/>
                <a:ea typeface="Consolas" pitchFamily="34" charset="-122"/>
                <a:cs typeface="Consolas" pitchFamily="34" charset="-120"/>
              </a:rPr>
              <a:t>H5P.Blanks-1.14/</a:t>
            </a:r>
            <a:endParaRPr lang="en-US" sz="1000" dirty="0"/>
          </a:p>
        </p:txBody>
      </p:sp>
      <p:sp>
        <p:nvSpPr>
          <p:cNvPr id="23" name="Text 21"/>
          <p:cNvSpPr/>
          <p:nvPr/>
        </p:nvSpPr>
        <p:spPr>
          <a:xfrm>
            <a:off x="2715768" y="4471416"/>
            <a:ext cx="1645920" cy="320040"/>
          </a:xfrm>
          <a:prstGeom prst="rect">
            <a:avLst/>
          </a:prstGeom>
          <a:noFill/>
          <a:ln/>
        </p:spPr>
        <p:txBody>
          <a:bodyPr wrap="square" lIns="0" tIns="0" rIns="0" bIns="0" rtlCol="0" anchor="ctr"/>
          <a:lstStyle/>
          <a:p>
            <a:pPr indent="0" marL="0">
              <a:buNone/>
            </a:pPr>
            <a:r>
              <a:rPr lang="en-US" sz="950" dirty="0">
                <a:solidFill>
                  <a:srgbClr val="4A6B8C"/>
                </a:solidFill>
                <a:latin typeface="Calibri" pitchFamily="34" charset="0"/>
                <a:ea typeface="Calibri" pitchFamily="34" charset="-122"/>
                <a:cs typeface="Calibri" pitchFamily="34" charset="-120"/>
              </a:rPr>
              <a:t>Fill in the blanks library</a:t>
            </a:r>
            <a:endParaRPr lang="en-US" sz="950" dirty="0"/>
          </a:p>
        </p:txBody>
      </p:sp>
      <p:sp>
        <p:nvSpPr>
          <p:cNvPr id="24" name="Shape 22"/>
          <p:cNvSpPr/>
          <p:nvPr/>
        </p:nvSpPr>
        <p:spPr>
          <a:xfrm>
            <a:off x="4663440" y="1325880"/>
            <a:ext cx="4160520" cy="3547872"/>
          </a:xfrm>
          <a:prstGeom prst="rect">
            <a:avLst/>
          </a:prstGeom>
          <a:solidFill>
            <a:srgbClr val="EEF6FB"/>
          </a:solidFill>
          <a:ln w="12700">
            <a:solidFill>
              <a:srgbClr val="C8E2F4"/>
            </a:solidFill>
            <a:prstDash val="solid"/>
          </a:ln>
        </p:spPr>
      </p:sp>
      <p:sp>
        <p:nvSpPr>
          <p:cNvPr id="25" name="Shape 23"/>
          <p:cNvSpPr/>
          <p:nvPr/>
        </p:nvSpPr>
        <p:spPr>
          <a:xfrm>
            <a:off x="4663440" y="1325880"/>
            <a:ext cx="64008" cy="3547872"/>
          </a:xfrm>
          <a:prstGeom prst="rect">
            <a:avLst/>
          </a:prstGeom>
          <a:solidFill>
            <a:srgbClr val="065A82"/>
          </a:solidFill>
          <a:ln w="12700">
            <a:solidFill>
              <a:srgbClr val="065A82"/>
            </a:solidFill>
            <a:prstDash val="solid"/>
          </a:ln>
        </p:spPr>
      </p:sp>
      <p:sp>
        <p:nvSpPr>
          <p:cNvPr id="26" name="Text 24"/>
          <p:cNvSpPr/>
          <p:nvPr/>
        </p:nvSpPr>
        <p:spPr>
          <a:xfrm>
            <a:off x="4846320" y="1417320"/>
            <a:ext cx="3840480" cy="347472"/>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How AI-ActivEdu Builds It</a:t>
            </a:r>
            <a:endParaRPr lang="en-US" sz="1300" dirty="0"/>
          </a:p>
        </p:txBody>
      </p:sp>
      <p:sp>
        <p:nvSpPr>
          <p:cNvPr id="27" name="Shape 25"/>
          <p:cNvSpPr/>
          <p:nvPr/>
        </p:nvSpPr>
        <p:spPr>
          <a:xfrm>
            <a:off x="4754880" y="1901952"/>
            <a:ext cx="320040" cy="320040"/>
          </a:xfrm>
          <a:prstGeom prst="ellipse">
            <a:avLst/>
          </a:prstGeom>
          <a:solidFill>
            <a:srgbClr val="065A82"/>
          </a:solidFill>
          <a:ln w="12700">
            <a:solidFill>
              <a:srgbClr val="065A82"/>
            </a:solidFill>
            <a:prstDash val="solid"/>
          </a:ln>
        </p:spPr>
      </p:sp>
      <p:sp>
        <p:nvSpPr>
          <p:cNvPr id="28" name="Text 26"/>
          <p:cNvSpPr/>
          <p:nvPr/>
        </p:nvSpPr>
        <p:spPr>
          <a:xfrm>
            <a:off x="4754880" y="190195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9" name="Text 27"/>
          <p:cNvSpPr/>
          <p:nvPr/>
        </p:nvSpPr>
        <p:spPr>
          <a:xfrm>
            <a:off x="5166360" y="1883664"/>
            <a:ext cx="3520440" cy="25603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Instructor clicks Export</a:t>
            </a:r>
            <a:endParaRPr lang="en-US" sz="1100" dirty="0"/>
          </a:p>
        </p:txBody>
      </p:sp>
      <p:sp>
        <p:nvSpPr>
          <p:cNvPr id="30" name="Text 28"/>
          <p:cNvSpPr/>
          <p:nvPr/>
        </p:nvSpPr>
        <p:spPr>
          <a:xfrm>
            <a:off x="5166360" y="2148840"/>
            <a:ext cx="3520440" cy="201168"/>
          </a:xfrm>
          <a:prstGeom prst="rect">
            <a:avLst/>
          </a:prstGeom>
          <a:noFill/>
          <a:ln/>
        </p:spPr>
        <p:txBody>
          <a:bodyPr wrap="square" lIns="0" tIns="0" rIns="0" bIns="0" rtlCol="0" anchor="ctr"/>
          <a:lstStyle/>
          <a:p>
            <a:pPr indent="0" marL="0">
              <a:buNone/>
            </a:pPr>
            <a:r>
              <a:rPr lang="en-US" sz="950" dirty="0">
                <a:solidFill>
                  <a:srgbClr val="4A6B8C"/>
                </a:solidFill>
                <a:latin typeface="Calibri" pitchFamily="34" charset="0"/>
                <a:ea typeface="Calibri" pitchFamily="34" charset="-122"/>
                <a:cs typeface="Calibri" pitchFamily="34" charset="-120"/>
              </a:rPr>
              <a:t>Frontend sends POST to /api/h5p/video/:id/export</a:t>
            </a:r>
            <a:endParaRPr lang="en-US" sz="950" dirty="0"/>
          </a:p>
        </p:txBody>
      </p:sp>
      <p:sp>
        <p:nvSpPr>
          <p:cNvPr id="31" name="Shape 29"/>
          <p:cNvSpPr/>
          <p:nvPr/>
        </p:nvSpPr>
        <p:spPr>
          <a:xfrm>
            <a:off x="4754880" y="2414016"/>
            <a:ext cx="320040" cy="320040"/>
          </a:xfrm>
          <a:prstGeom prst="ellipse">
            <a:avLst/>
          </a:prstGeom>
          <a:solidFill>
            <a:srgbClr val="065A82"/>
          </a:solidFill>
          <a:ln w="12700">
            <a:solidFill>
              <a:srgbClr val="065A82"/>
            </a:solidFill>
            <a:prstDash val="solid"/>
          </a:ln>
        </p:spPr>
      </p:sp>
      <p:sp>
        <p:nvSpPr>
          <p:cNvPr id="32" name="Text 30"/>
          <p:cNvSpPr/>
          <p:nvPr/>
        </p:nvSpPr>
        <p:spPr>
          <a:xfrm>
            <a:off x="4754880" y="2414016"/>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1"/>
          <p:cNvSpPr/>
          <p:nvPr/>
        </p:nvSpPr>
        <p:spPr>
          <a:xfrm>
            <a:off x="5166360" y="2395728"/>
            <a:ext cx="3520440" cy="25603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injectAll() writes to DB</a:t>
            </a:r>
            <a:endParaRPr lang="en-US" sz="1100" dirty="0"/>
          </a:p>
        </p:txBody>
      </p:sp>
      <p:sp>
        <p:nvSpPr>
          <p:cNvPr id="34" name="Text 32"/>
          <p:cNvSpPr/>
          <p:nvPr/>
        </p:nvSpPr>
        <p:spPr>
          <a:xfrm>
            <a:off x="5166360" y="2660904"/>
            <a:ext cx="3520440" cy="201168"/>
          </a:xfrm>
          <a:prstGeom prst="rect">
            <a:avLst/>
          </a:prstGeom>
          <a:noFill/>
          <a:ln/>
        </p:spPr>
        <p:txBody>
          <a:bodyPr wrap="square" lIns="0" tIns="0" rIns="0" bIns="0" rtlCol="0" anchor="ctr"/>
          <a:lstStyle/>
          <a:p>
            <a:pPr indent="0" marL="0">
              <a:buNone/>
            </a:pPr>
            <a:r>
              <a:rPr lang="en-US" sz="950" dirty="0">
                <a:solidFill>
                  <a:srgbClr val="4A6B8C"/>
                </a:solidFill>
                <a:latin typeface="Calibri" pitchFamily="34" charset="0"/>
                <a:ea typeface="Calibri" pitchFamily="34" charset="-122"/>
                <a:cs typeface="Calibri" pitchFamily="34" charset="-120"/>
              </a:rPr>
              <a:t>Accepted AI suggestions saved as H5P content records</a:t>
            </a:r>
            <a:endParaRPr lang="en-US" sz="950" dirty="0"/>
          </a:p>
        </p:txBody>
      </p:sp>
      <p:sp>
        <p:nvSpPr>
          <p:cNvPr id="35" name="Shape 33"/>
          <p:cNvSpPr/>
          <p:nvPr/>
        </p:nvSpPr>
        <p:spPr>
          <a:xfrm>
            <a:off x="4754880" y="2926080"/>
            <a:ext cx="320040" cy="320040"/>
          </a:xfrm>
          <a:prstGeom prst="ellipse">
            <a:avLst/>
          </a:prstGeom>
          <a:solidFill>
            <a:srgbClr val="065A82"/>
          </a:solidFill>
          <a:ln w="12700">
            <a:solidFill>
              <a:srgbClr val="065A82"/>
            </a:solidFill>
            <a:prstDash val="solid"/>
          </a:ln>
        </p:spPr>
      </p:sp>
      <p:sp>
        <p:nvSpPr>
          <p:cNvPr id="36" name="Text 34"/>
          <p:cNvSpPr/>
          <p:nvPr/>
        </p:nvSpPr>
        <p:spPr>
          <a:xfrm>
            <a:off x="4754880" y="292608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7" name="Text 35"/>
          <p:cNvSpPr/>
          <p:nvPr/>
        </p:nvSpPr>
        <p:spPr>
          <a:xfrm>
            <a:off x="5166360" y="2907792"/>
            <a:ext cx="3520440" cy="25603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createH5PPackage() called</a:t>
            </a:r>
            <a:endParaRPr lang="en-US" sz="1100" dirty="0"/>
          </a:p>
        </p:txBody>
      </p:sp>
      <p:sp>
        <p:nvSpPr>
          <p:cNvPr id="38" name="Text 36"/>
          <p:cNvSpPr/>
          <p:nvPr/>
        </p:nvSpPr>
        <p:spPr>
          <a:xfrm>
            <a:off x="5166360" y="3172968"/>
            <a:ext cx="3520440" cy="201168"/>
          </a:xfrm>
          <a:prstGeom prst="rect">
            <a:avLst/>
          </a:prstGeom>
          <a:noFill/>
          <a:ln/>
        </p:spPr>
        <p:txBody>
          <a:bodyPr wrap="square" lIns="0" tIns="0" rIns="0" bIns="0" rtlCol="0" anchor="ctr"/>
          <a:lstStyle/>
          <a:p>
            <a:pPr indent="0" marL="0">
              <a:buNone/>
            </a:pPr>
            <a:r>
              <a:rPr lang="en-US" sz="950" dirty="0">
                <a:solidFill>
                  <a:srgbClr val="4A6B8C"/>
                </a:solidFill>
                <a:latin typeface="Calibri" pitchFamily="34" charset="0"/>
                <a:ea typeface="Calibri" pitchFamily="34" charset="-122"/>
                <a:cs typeface="Calibri" pitchFamily="34" charset="-120"/>
              </a:rPr>
              <a:t>adm-zip builds the ZIP archive entirely in memory</a:t>
            </a:r>
            <a:endParaRPr lang="en-US" sz="950" dirty="0"/>
          </a:p>
        </p:txBody>
      </p:sp>
      <p:sp>
        <p:nvSpPr>
          <p:cNvPr id="39" name="Shape 37"/>
          <p:cNvSpPr/>
          <p:nvPr/>
        </p:nvSpPr>
        <p:spPr>
          <a:xfrm>
            <a:off x="4754880" y="3438144"/>
            <a:ext cx="320040" cy="320040"/>
          </a:xfrm>
          <a:prstGeom prst="ellipse">
            <a:avLst/>
          </a:prstGeom>
          <a:solidFill>
            <a:srgbClr val="065A82"/>
          </a:solidFill>
          <a:ln w="12700">
            <a:solidFill>
              <a:srgbClr val="065A82"/>
            </a:solidFill>
            <a:prstDash val="solid"/>
          </a:ln>
        </p:spPr>
      </p:sp>
      <p:sp>
        <p:nvSpPr>
          <p:cNvPr id="40" name="Text 38"/>
          <p:cNvSpPr/>
          <p:nvPr/>
        </p:nvSpPr>
        <p:spPr>
          <a:xfrm>
            <a:off x="4754880" y="3438144"/>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1" name="Text 39"/>
          <p:cNvSpPr/>
          <p:nvPr/>
        </p:nvSpPr>
        <p:spPr>
          <a:xfrm>
            <a:off x="5166360" y="3419856"/>
            <a:ext cx="3520440" cy="25603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Manifests built from DB records</a:t>
            </a:r>
            <a:endParaRPr lang="en-US" sz="1100" dirty="0"/>
          </a:p>
        </p:txBody>
      </p:sp>
      <p:sp>
        <p:nvSpPr>
          <p:cNvPr id="42" name="Text 40"/>
          <p:cNvSpPr/>
          <p:nvPr/>
        </p:nvSpPr>
        <p:spPr>
          <a:xfrm>
            <a:off x="5166360" y="3685032"/>
            <a:ext cx="3520440" cy="201168"/>
          </a:xfrm>
          <a:prstGeom prst="rect">
            <a:avLst/>
          </a:prstGeom>
          <a:noFill/>
          <a:ln/>
        </p:spPr>
        <p:txBody>
          <a:bodyPr wrap="square" lIns="0" tIns="0" rIns="0" bIns="0" rtlCol="0" anchor="ctr"/>
          <a:lstStyle/>
          <a:p>
            <a:pPr indent="0" marL="0">
              <a:buNone/>
            </a:pPr>
            <a:r>
              <a:rPr lang="en-US" sz="950" dirty="0">
                <a:solidFill>
                  <a:srgbClr val="4A6B8C"/>
                </a:solidFill>
                <a:latin typeface="Calibri" pitchFamily="34" charset="0"/>
                <a:ea typeface="Calibri" pitchFamily="34" charset="-122"/>
                <a:cs typeface="Calibri" pitchFamily="34" charset="-120"/>
              </a:rPr>
              <a:t>h5p.json + content/content.json constructed on-the-fly</a:t>
            </a:r>
            <a:endParaRPr lang="en-US" sz="950" dirty="0"/>
          </a:p>
        </p:txBody>
      </p:sp>
      <p:sp>
        <p:nvSpPr>
          <p:cNvPr id="43" name="Shape 41"/>
          <p:cNvSpPr/>
          <p:nvPr/>
        </p:nvSpPr>
        <p:spPr>
          <a:xfrm>
            <a:off x="4754880" y="3950208"/>
            <a:ext cx="320040" cy="320040"/>
          </a:xfrm>
          <a:prstGeom prst="ellipse">
            <a:avLst/>
          </a:prstGeom>
          <a:solidFill>
            <a:srgbClr val="065A82"/>
          </a:solidFill>
          <a:ln w="12700">
            <a:solidFill>
              <a:srgbClr val="065A82"/>
            </a:solidFill>
            <a:prstDash val="solid"/>
          </a:ln>
        </p:spPr>
      </p:sp>
      <p:sp>
        <p:nvSpPr>
          <p:cNvPr id="44" name="Text 42"/>
          <p:cNvSpPr/>
          <p:nvPr/>
        </p:nvSpPr>
        <p:spPr>
          <a:xfrm>
            <a:off x="4754880" y="3950208"/>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Text 43"/>
          <p:cNvSpPr/>
          <p:nvPr/>
        </p:nvSpPr>
        <p:spPr>
          <a:xfrm>
            <a:off x="5166360" y="3931920"/>
            <a:ext cx="3520440" cy="25603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Video bundled (local uploads)</a:t>
            </a:r>
            <a:endParaRPr lang="en-US" sz="1100" dirty="0"/>
          </a:p>
        </p:txBody>
      </p:sp>
      <p:sp>
        <p:nvSpPr>
          <p:cNvPr id="46" name="Text 44"/>
          <p:cNvSpPr/>
          <p:nvPr/>
        </p:nvSpPr>
        <p:spPr>
          <a:xfrm>
            <a:off x="5166360" y="4197096"/>
            <a:ext cx="3520440" cy="201168"/>
          </a:xfrm>
          <a:prstGeom prst="rect">
            <a:avLst/>
          </a:prstGeom>
          <a:noFill/>
          <a:ln/>
        </p:spPr>
        <p:txBody>
          <a:bodyPr wrap="square" lIns="0" tIns="0" rIns="0" bIns="0" rtlCol="0" anchor="ctr"/>
          <a:lstStyle/>
          <a:p>
            <a:pPr indent="0" marL="0">
              <a:buNone/>
            </a:pPr>
            <a:r>
              <a:rPr lang="en-US" sz="950" dirty="0">
                <a:solidFill>
                  <a:srgbClr val="4A6B8C"/>
                </a:solidFill>
                <a:latin typeface="Calibri" pitchFamily="34" charset="0"/>
                <a:ea typeface="Calibri" pitchFamily="34" charset="-122"/>
                <a:cs typeface="Calibri" pitchFamily="34" charset="-120"/>
              </a:rPr>
              <a:t>YouTube content uses URL reference instead</a:t>
            </a:r>
            <a:endParaRPr lang="en-US" sz="950" dirty="0"/>
          </a:p>
        </p:txBody>
      </p:sp>
      <p:sp>
        <p:nvSpPr>
          <p:cNvPr id="47" name="Shape 45"/>
          <p:cNvSpPr/>
          <p:nvPr/>
        </p:nvSpPr>
        <p:spPr>
          <a:xfrm>
            <a:off x="4754880" y="4462272"/>
            <a:ext cx="320040" cy="320040"/>
          </a:xfrm>
          <a:prstGeom prst="ellipse">
            <a:avLst/>
          </a:prstGeom>
          <a:solidFill>
            <a:srgbClr val="065A82"/>
          </a:solidFill>
          <a:ln w="12700">
            <a:solidFill>
              <a:srgbClr val="065A82"/>
            </a:solidFill>
            <a:prstDash val="solid"/>
          </a:ln>
        </p:spPr>
      </p:sp>
      <p:sp>
        <p:nvSpPr>
          <p:cNvPr id="48" name="Text 46"/>
          <p:cNvSpPr/>
          <p:nvPr/>
        </p:nvSpPr>
        <p:spPr>
          <a:xfrm>
            <a:off x="4754880" y="446227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9" name="Text 47"/>
          <p:cNvSpPr/>
          <p:nvPr/>
        </p:nvSpPr>
        <p:spPr>
          <a:xfrm>
            <a:off x="5166360" y="4443984"/>
            <a:ext cx="3520440" cy="25603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ZIP returned as download</a:t>
            </a:r>
            <a:endParaRPr lang="en-US" sz="1100" dirty="0"/>
          </a:p>
        </p:txBody>
      </p:sp>
      <p:sp>
        <p:nvSpPr>
          <p:cNvPr id="50" name="Text 48"/>
          <p:cNvSpPr/>
          <p:nvPr/>
        </p:nvSpPr>
        <p:spPr>
          <a:xfrm>
            <a:off x="5166360" y="4709160"/>
            <a:ext cx="3520440" cy="201168"/>
          </a:xfrm>
          <a:prstGeom prst="rect">
            <a:avLst/>
          </a:prstGeom>
          <a:noFill/>
          <a:ln/>
        </p:spPr>
        <p:txBody>
          <a:bodyPr wrap="square" lIns="0" tIns="0" rIns="0" bIns="0" rtlCol="0" anchor="ctr"/>
          <a:lstStyle/>
          <a:p>
            <a:pPr indent="0" marL="0">
              <a:buNone/>
            </a:pPr>
            <a:r>
              <a:rPr lang="en-US" sz="950" dirty="0">
                <a:solidFill>
                  <a:srgbClr val="4A6B8C"/>
                </a:solidFill>
                <a:latin typeface="Calibri" pitchFamily="34" charset="0"/>
                <a:ea typeface="Calibri" pitchFamily="34" charset="-122"/>
                <a:cs typeface="Calibri" pitchFamily="34" charset="-120"/>
              </a:rPr>
              <a:t>Browser save dialog → instructor imports into Moodle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System Architecture: Three-Tier Design</a:t>
            </a:r>
            <a:endParaRPr lang="en-US" sz="2400" dirty="0"/>
          </a:p>
        </p:txBody>
      </p:sp>
      <p:pic>
        <p:nvPicPr>
          <p:cNvPr id="4" name="Image 0" descr="/sessions/tender-wonderful-sagan/mnt/itp-h5p/thesis 3/images/three-tier-system.jpeg">    </p:cNvPr>
          <p:cNvPicPr>
            <a:picLocks noChangeAspect="1"/>
          </p:cNvPicPr>
          <p:nvPr/>
        </p:nvPicPr>
        <p:blipFill>
          <a:blip r:embed="rId1"/>
          <a:srcRect l="0" r="0" t="0" b="0"/>
          <a:stretch/>
        </p:blipFill>
        <p:spPr>
          <a:xfrm>
            <a:off x="274320" y="987552"/>
            <a:ext cx="5577840" cy="3886200"/>
          </a:xfrm>
          <a:prstGeom prst="rect">
            <a:avLst/>
          </a:prstGeom>
        </p:spPr>
      </p:pic>
      <p:sp>
        <p:nvSpPr>
          <p:cNvPr id="5" name="Shape 2"/>
          <p:cNvSpPr/>
          <p:nvPr/>
        </p:nvSpPr>
        <p:spPr>
          <a:xfrm>
            <a:off x="6080760" y="1051560"/>
            <a:ext cx="2788920" cy="1115568"/>
          </a:xfrm>
          <a:prstGeom prst="rect">
            <a:avLst/>
          </a:prstGeom>
          <a:solidFill>
            <a:srgbClr val="EEF6FB"/>
          </a:solidFill>
          <a:ln w="12700">
            <a:solidFill>
              <a:srgbClr val="C8E2F4"/>
            </a:solidFill>
            <a:prstDash val="solid"/>
          </a:ln>
        </p:spPr>
      </p:sp>
      <p:sp>
        <p:nvSpPr>
          <p:cNvPr id="6" name="Shape 3"/>
          <p:cNvSpPr/>
          <p:nvPr/>
        </p:nvSpPr>
        <p:spPr>
          <a:xfrm>
            <a:off x="6080760" y="1051560"/>
            <a:ext cx="64008" cy="1115568"/>
          </a:xfrm>
          <a:prstGeom prst="rect">
            <a:avLst/>
          </a:prstGeom>
          <a:solidFill>
            <a:srgbClr val="065A82"/>
          </a:solidFill>
          <a:ln w="12700">
            <a:solidFill>
              <a:srgbClr val="065A82"/>
            </a:solidFill>
            <a:prstDash val="solid"/>
          </a:ln>
        </p:spPr>
      </p:sp>
      <p:sp>
        <p:nvSpPr>
          <p:cNvPr id="7" name="Text 4"/>
          <p:cNvSpPr/>
          <p:nvPr/>
        </p:nvSpPr>
        <p:spPr>
          <a:xfrm>
            <a:off x="6263640" y="1124712"/>
            <a:ext cx="246888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Presentation Tier</a:t>
            </a:r>
            <a:endParaRPr lang="en-US" sz="1200" dirty="0"/>
          </a:p>
        </p:txBody>
      </p:sp>
      <p:sp>
        <p:nvSpPr>
          <p:cNvPr id="8" name="Text 5"/>
          <p:cNvSpPr/>
          <p:nvPr/>
        </p:nvSpPr>
        <p:spPr>
          <a:xfrm>
            <a:off x="6263640" y="1472184"/>
            <a:ext cx="2468880" cy="603504"/>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React 18 SPA · Vite · TypeScript · Zustand state management</a:t>
            </a:r>
            <a:endParaRPr lang="en-US" sz="1000" dirty="0"/>
          </a:p>
        </p:txBody>
      </p:sp>
      <p:sp>
        <p:nvSpPr>
          <p:cNvPr id="9" name="Shape 6"/>
          <p:cNvSpPr/>
          <p:nvPr/>
        </p:nvSpPr>
        <p:spPr>
          <a:xfrm>
            <a:off x="6080760" y="2313432"/>
            <a:ext cx="2788920" cy="1115568"/>
          </a:xfrm>
          <a:prstGeom prst="rect">
            <a:avLst/>
          </a:prstGeom>
          <a:solidFill>
            <a:srgbClr val="EEF6FB"/>
          </a:solidFill>
          <a:ln w="12700">
            <a:solidFill>
              <a:srgbClr val="C8E2F4"/>
            </a:solidFill>
            <a:prstDash val="solid"/>
          </a:ln>
        </p:spPr>
      </p:sp>
      <p:sp>
        <p:nvSpPr>
          <p:cNvPr id="10" name="Shape 7"/>
          <p:cNvSpPr/>
          <p:nvPr/>
        </p:nvSpPr>
        <p:spPr>
          <a:xfrm>
            <a:off x="6080760" y="2313432"/>
            <a:ext cx="64008" cy="1115568"/>
          </a:xfrm>
          <a:prstGeom prst="rect">
            <a:avLst/>
          </a:prstGeom>
          <a:solidFill>
            <a:srgbClr val="1273A8"/>
          </a:solidFill>
          <a:ln w="12700">
            <a:solidFill>
              <a:srgbClr val="1273A8"/>
            </a:solidFill>
            <a:prstDash val="solid"/>
          </a:ln>
        </p:spPr>
      </p:sp>
      <p:sp>
        <p:nvSpPr>
          <p:cNvPr id="11" name="Text 8"/>
          <p:cNvSpPr/>
          <p:nvPr/>
        </p:nvSpPr>
        <p:spPr>
          <a:xfrm>
            <a:off x="6263640" y="2386584"/>
            <a:ext cx="2468880" cy="320040"/>
          </a:xfrm>
          <a:prstGeom prst="rect">
            <a:avLst/>
          </a:prstGeom>
          <a:noFill/>
          <a:ln/>
        </p:spPr>
        <p:txBody>
          <a:bodyPr wrap="square" lIns="0" tIns="0" rIns="0" bIns="0" rtlCol="0" anchor="ctr"/>
          <a:lstStyle/>
          <a:p>
            <a:pPr indent="0" marL="0">
              <a:buNone/>
            </a:pPr>
            <a:r>
              <a:rPr lang="en-US" sz="1200" b="1" dirty="0">
                <a:solidFill>
                  <a:srgbClr val="1273A8"/>
                </a:solidFill>
                <a:latin typeface="Calibri" pitchFamily="34" charset="0"/>
                <a:ea typeface="Calibri" pitchFamily="34" charset="-122"/>
                <a:cs typeface="Calibri" pitchFamily="34" charset="-120"/>
              </a:rPr>
              <a:t>Application Tier</a:t>
            </a:r>
            <a:endParaRPr lang="en-US" sz="1200" dirty="0"/>
          </a:p>
        </p:txBody>
      </p:sp>
      <p:sp>
        <p:nvSpPr>
          <p:cNvPr id="12" name="Text 9"/>
          <p:cNvSpPr/>
          <p:nvPr/>
        </p:nvSpPr>
        <p:spPr>
          <a:xfrm>
            <a:off x="6263640" y="2734056"/>
            <a:ext cx="2468880" cy="603504"/>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Express.js REST API (Node.js) · JWT auth · AI pipeline routing</a:t>
            </a:r>
            <a:endParaRPr lang="en-US" sz="1000" dirty="0"/>
          </a:p>
        </p:txBody>
      </p:sp>
      <p:sp>
        <p:nvSpPr>
          <p:cNvPr id="13" name="Shape 10"/>
          <p:cNvSpPr/>
          <p:nvPr/>
        </p:nvSpPr>
        <p:spPr>
          <a:xfrm>
            <a:off x="6080760" y="3575304"/>
            <a:ext cx="2788920" cy="1115568"/>
          </a:xfrm>
          <a:prstGeom prst="rect">
            <a:avLst/>
          </a:prstGeom>
          <a:solidFill>
            <a:srgbClr val="EEF6FB"/>
          </a:solidFill>
          <a:ln w="12700">
            <a:solidFill>
              <a:srgbClr val="C8E2F4"/>
            </a:solidFill>
            <a:prstDash val="solid"/>
          </a:ln>
        </p:spPr>
      </p:sp>
      <p:sp>
        <p:nvSpPr>
          <p:cNvPr id="14" name="Shape 11"/>
          <p:cNvSpPr/>
          <p:nvPr/>
        </p:nvSpPr>
        <p:spPr>
          <a:xfrm>
            <a:off x="6080760" y="3575304"/>
            <a:ext cx="64008" cy="1115568"/>
          </a:xfrm>
          <a:prstGeom prst="rect">
            <a:avLst/>
          </a:prstGeom>
          <a:solidFill>
            <a:srgbClr val="1B98E0"/>
          </a:solidFill>
          <a:ln w="12700">
            <a:solidFill>
              <a:srgbClr val="1B98E0"/>
            </a:solidFill>
            <a:prstDash val="solid"/>
          </a:ln>
        </p:spPr>
      </p:sp>
      <p:sp>
        <p:nvSpPr>
          <p:cNvPr id="15" name="Text 12"/>
          <p:cNvSpPr/>
          <p:nvPr/>
        </p:nvSpPr>
        <p:spPr>
          <a:xfrm>
            <a:off x="6263640" y="3648456"/>
            <a:ext cx="2468880" cy="320040"/>
          </a:xfrm>
          <a:prstGeom prst="rect">
            <a:avLst/>
          </a:prstGeom>
          <a:noFill/>
          <a:ln/>
        </p:spPr>
        <p:txBody>
          <a:bodyPr wrap="square" lIns="0" tIns="0" rIns="0" bIns="0" rtlCol="0" anchor="ctr"/>
          <a:lstStyle/>
          <a:p>
            <a:pPr indent="0" marL="0">
              <a:buNone/>
            </a:pPr>
            <a:r>
              <a:rPr lang="en-US" sz="1200" b="1" dirty="0">
                <a:solidFill>
                  <a:srgbClr val="1B98E0"/>
                </a:solidFill>
                <a:latin typeface="Calibri" pitchFamily="34" charset="0"/>
                <a:ea typeface="Calibri" pitchFamily="34" charset="-122"/>
                <a:cs typeface="Calibri" pitchFamily="34" charset="-120"/>
              </a:rPr>
              <a:t>Data Tier</a:t>
            </a:r>
            <a:endParaRPr lang="en-US" sz="1200" dirty="0"/>
          </a:p>
        </p:txBody>
      </p:sp>
      <p:sp>
        <p:nvSpPr>
          <p:cNvPr id="16" name="Text 13"/>
          <p:cNvSpPr/>
          <p:nvPr/>
        </p:nvSpPr>
        <p:spPr>
          <a:xfrm>
            <a:off x="6263640" y="3995928"/>
            <a:ext cx="2468880" cy="603504"/>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SQLite via Sequelize ORM · H5P content store (JSON + files)</a:t>
            </a:r>
            <a:endParaRPr lang="en-US" sz="1000" dirty="0"/>
          </a:p>
        </p:txBody>
      </p:sp>
      <p:sp>
        <p:nvSpPr>
          <p:cNvPr id="17" name="Shape 14"/>
          <p:cNvSpPr/>
          <p:nvPr/>
        </p:nvSpPr>
        <p:spPr>
          <a:xfrm>
            <a:off x="6080760" y="3931920"/>
            <a:ext cx="2788920" cy="932688"/>
          </a:xfrm>
          <a:prstGeom prst="rect">
            <a:avLst/>
          </a:prstGeom>
          <a:solidFill>
            <a:srgbClr val="FFF8E7"/>
          </a:solidFill>
          <a:ln w="12700">
            <a:solidFill>
              <a:srgbClr val="FFD54F"/>
            </a:solidFill>
            <a:prstDash val="solid"/>
          </a:ln>
        </p:spPr>
      </p:sp>
      <p:sp>
        <p:nvSpPr>
          <p:cNvPr id="18" name="Shape 15"/>
          <p:cNvSpPr/>
          <p:nvPr/>
        </p:nvSpPr>
        <p:spPr>
          <a:xfrm>
            <a:off x="6080760" y="3931920"/>
            <a:ext cx="64008" cy="932688"/>
          </a:xfrm>
          <a:prstGeom prst="rect">
            <a:avLst/>
          </a:prstGeom>
          <a:solidFill>
            <a:srgbClr val="E65100"/>
          </a:solidFill>
          <a:ln w="12700">
            <a:solidFill>
              <a:srgbClr val="E65100"/>
            </a:solidFill>
            <a:prstDash val="solid"/>
          </a:ln>
        </p:spPr>
      </p:sp>
      <p:sp>
        <p:nvSpPr>
          <p:cNvPr id="19" name="Text 16"/>
          <p:cNvSpPr/>
          <p:nvPr/>
        </p:nvSpPr>
        <p:spPr>
          <a:xfrm>
            <a:off x="6263640" y="4005072"/>
            <a:ext cx="2468880" cy="292608"/>
          </a:xfrm>
          <a:prstGeom prst="rect">
            <a:avLst/>
          </a:prstGeom>
          <a:noFill/>
          <a:ln/>
        </p:spPr>
        <p:txBody>
          <a:bodyPr wrap="square" lIns="0" tIns="0" rIns="0" bIns="0" rtlCol="0" anchor="ctr"/>
          <a:lstStyle/>
          <a:p>
            <a:pPr indent="0" marL="0">
              <a:buNone/>
            </a:pPr>
            <a:r>
              <a:rPr lang="en-US" sz="1100" b="1" dirty="0">
                <a:solidFill>
                  <a:srgbClr val="7B5800"/>
                </a:solidFill>
                <a:latin typeface="Calibri" pitchFamily="34" charset="0"/>
                <a:ea typeface="Calibri" pitchFamily="34" charset="-122"/>
                <a:cs typeface="Calibri" pitchFamily="34" charset="-120"/>
              </a:rPr>
              <a:t>External Dependencies</a:t>
            </a:r>
            <a:endParaRPr lang="en-US" sz="1100" dirty="0"/>
          </a:p>
        </p:txBody>
      </p:sp>
      <p:sp>
        <p:nvSpPr>
          <p:cNvPr id="20" name="Text 17"/>
          <p:cNvSpPr/>
          <p:nvPr/>
        </p:nvSpPr>
        <p:spPr>
          <a:xfrm>
            <a:off x="6263640" y="4315968"/>
            <a:ext cx="2468880" cy="475488"/>
          </a:xfrm>
          <a:prstGeom prst="rect">
            <a:avLst/>
          </a:prstGeom>
          <a:noFill/>
          <a:ln/>
        </p:spPr>
        <p:txBody>
          <a:bodyPr wrap="square" lIns="0" tIns="0" rIns="0" bIns="0" rtlCol="0" anchor="ctr"/>
          <a:lstStyle/>
          <a:p>
            <a:pPr indent="0" marL="0">
              <a:buNone/>
            </a:pPr>
            <a:r>
              <a:rPr lang="en-US" sz="950" dirty="0">
                <a:solidFill>
                  <a:srgbClr val="5D4037"/>
                </a:solidFill>
                <a:latin typeface="Calibri" pitchFamily="34" charset="0"/>
                <a:ea typeface="Calibri" pitchFamily="34" charset="-122"/>
                <a:cs typeface="Calibri" pitchFamily="34" charset="-120"/>
              </a:rPr>
              <a:t>Groq API (LLaMA 3.3-70b)  ·  Ollama (local fallback)  ·  YouTube Data API</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Editor: Everything on One Screen</a:t>
            </a:r>
            <a:endParaRPr lang="en-US" sz="2400" dirty="0"/>
          </a:p>
        </p:txBody>
      </p:sp>
      <p:pic>
        <p:nvPicPr>
          <p:cNvPr id="4" name="Image 0" descr="/sessions/tender-wonderful-sagan/mnt/itp-h5p/thesis 3/images/editor-lightmode.png">    </p:cNvPr>
          <p:cNvPicPr>
            <a:picLocks noChangeAspect="1"/>
          </p:cNvPicPr>
          <p:nvPr/>
        </p:nvPicPr>
        <p:blipFill>
          <a:blip r:embed="rId1"/>
          <a:srcRect l="0" r="0" t="0" b="0"/>
          <a:stretch/>
        </p:blipFill>
        <p:spPr>
          <a:xfrm>
            <a:off x="274320" y="987552"/>
            <a:ext cx="5577840" cy="3886200"/>
          </a:xfrm>
          <a:prstGeom prst="rect">
            <a:avLst/>
          </a:prstGeom>
        </p:spPr>
      </p:pic>
      <p:sp>
        <p:nvSpPr>
          <p:cNvPr id="5" name="Shape 2"/>
          <p:cNvSpPr/>
          <p:nvPr/>
        </p:nvSpPr>
        <p:spPr>
          <a:xfrm>
            <a:off x="6080760" y="1051560"/>
            <a:ext cx="2788920" cy="1115568"/>
          </a:xfrm>
          <a:prstGeom prst="rect">
            <a:avLst/>
          </a:prstGeom>
          <a:solidFill>
            <a:srgbClr val="EEF6FB"/>
          </a:solidFill>
          <a:ln w="12700">
            <a:solidFill>
              <a:srgbClr val="C8E2F4"/>
            </a:solidFill>
            <a:prstDash val="solid"/>
          </a:ln>
        </p:spPr>
      </p:sp>
      <p:sp>
        <p:nvSpPr>
          <p:cNvPr id="6" name="Shape 3"/>
          <p:cNvSpPr/>
          <p:nvPr/>
        </p:nvSpPr>
        <p:spPr>
          <a:xfrm>
            <a:off x="6080760" y="1051560"/>
            <a:ext cx="64008" cy="1115568"/>
          </a:xfrm>
          <a:prstGeom prst="rect">
            <a:avLst/>
          </a:prstGeom>
          <a:solidFill>
            <a:srgbClr val="1B98E0"/>
          </a:solidFill>
          <a:ln w="12700">
            <a:solidFill>
              <a:srgbClr val="1B98E0"/>
            </a:solidFill>
            <a:prstDash val="solid"/>
          </a:ln>
        </p:spPr>
      </p:sp>
      <p:sp>
        <p:nvSpPr>
          <p:cNvPr id="7" name="Text 4"/>
          <p:cNvSpPr/>
          <p:nvPr/>
        </p:nvSpPr>
        <p:spPr>
          <a:xfrm>
            <a:off x="6263640" y="1124712"/>
            <a:ext cx="246888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Left Panel</a:t>
            </a:r>
            <a:endParaRPr lang="en-US" sz="1200" dirty="0"/>
          </a:p>
        </p:txBody>
      </p:sp>
      <p:sp>
        <p:nvSpPr>
          <p:cNvPr id="8" name="Text 5"/>
          <p:cNvSpPr/>
          <p:nvPr/>
        </p:nvSpPr>
        <p:spPr>
          <a:xfrm>
            <a:off x="6263640" y="1472184"/>
            <a:ext cx="2468880" cy="603504"/>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Video upload (up to 500MB) or YouTube URL. FFmpeg extracts thumbnail and metadata automatically.</a:t>
            </a:r>
            <a:endParaRPr lang="en-US" sz="1000" dirty="0"/>
          </a:p>
        </p:txBody>
      </p:sp>
      <p:sp>
        <p:nvSpPr>
          <p:cNvPr id="9" name="Shape 6"/>
          <p:cNvSpPr/>
          <p:nvPr/>
        </p:nvSpPr>
        <p:spPr>
          <a:xfrm>
            <a:off x="6080760" y="2313432"/>
            <a:ext cx="2788920" cy="1115568"/>
          </a:xfrm>
          <a:prstGeom prst="rect">
            <a:avLst/>
          </a:prstGeom>
          <a:solidFill>
            <a:srgbClr val="EEF6FB"/>
          </a:solidFill>
          <a:ln w="12700">
            <a:solidFill>
              <a:srgbClr val="C8E2F4"/>
            </a:solidFill>
            <a:prstDash val="solid"/>
          </a:ln>
        </p:spPr>
      </p:sp>
      <p:sp>
        <p:nvSpPr>
          <p:cNvPr id="10" name="Shape 7"/>
          <p:cNvSpPr/>
          <p:nvPr/>
        </p:nvSpPr>
        <p:spPr>
          <a:xfrm>
            <a:off x="6080760" y="2313432"/>
            <a:ext cx="64008" cy="1115568"/>
          </a:xfrm>
          <a:prstGeom prst="rect">
            <a:avLst/>
          </a:prstGeom>
          <a:solidFill>
            <a:srgbClr val="1B98E0"/>
          </a:solidFill>
          <a:ln w="12700">
            <a:solidFill>
              <a:srgbClr val="1B98E0"/>
            </a:solidFill>
            <a:prstDash val="solid"/>
          </a:ln>
        </p:spPr>
      </p:sp>
      <p:sp>
        <p:nvSpPr>
          <p:cNvPr id="11" name="Text 8"/>
          <p:cNvSpPr/>
          <p:nvPr/>
        </p:nvSpPr>
        <p:spPr>
          <a:xfrm>
            <a:off x="6263640" y="2386584"/>
            <a:ext cx="246888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Centre Panel</a:t>
            </a:r>
            <a:endParaRPr lang="en-US" sz="1200" dirty="0"/>
          </a:p>
        </p:txBody>
      </p:sp>
      <p:sp>
        <p:nvSpPr>
          <p:cNvPr id="12" name="Text 9"/>
          <p:cNvSpPr/>
          <p:nvPr/>
        </p:nvSpPr>
        <p:spPr>
          <a:xfrm>
            <a:off x="6263640" y="2734056"/>
            <a:ext cx="2468880" cy="603504"/>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Video player + H5P interaction timeline. 'Capture Timestamp' grabs exact playback position with one click.</a:t>
            </a:r>
            <a:endParaRPr lang="en-US" sz="1000" dirty="0"/>
          </a:p>
        </p:txBody>
      </p:sp>
      <p:sp>
        <p:nvSpPr>
          <p:cNvPr id="13" name="Shape 10"/>
          <p:cNvSpPr/>
          <p:nvPr/>
        </p:nvSpPr>
        <p:spPr>
          <a:xfrm>
            <a:off x="6080760" y="3575304"/>
            <a:ext cx="2788920" cy="1115568"/>
          </a:xfrm>
          <a:prstGeom prst="rect">
            <a:avLst/>
          </a:prstGeom>
          <a:solidFill>
            <a:srgbClr val="EEF6FB"/>
          </a:solidFill>
          <a:ln w="12700">
            <a:solidFill>
              <a:srgbClr val="C8E2F4"/>
            </a:solidFill>
            <a:prstDash val="solid"/>
          </a:ln>
        </p:spPr>
      </p:sp>
      <p:sp>
        <p:nvSpPr>
          <p:cNvPr id="14" name="Shape 11"/>
          <p:cNvSpPr/>
          <p:nvPr/>
        </p:nvSpPr>
        <p:spPr>
          <a:xfrm>
            <a:off x="6080760" y="3575304"/>
            <a:ext cx="64008" cy="1115568"/>
          </a:xfrm>
          <a:prstGeom prst="rect">
            <a:avLst/>
          </a:prstGeom>
          <a:solidFill>
            <a:srgbClr val="1B98E0"/>
          </a:solidFill>
          <a:ln w="12700">
            <a:solidFill>
              <a:srgbClr val="1B98E0"/>
            </a:solidFill>
            <a:prstDash val="solid"/>
          </a:ln>
        </p:spPr>
      </p:sp>
      <p:sp>
        <p:nvSpPr>
          <p:cNvPr id="15" name="Text 12"/>
          <p:cNvSpPr/>
          <p:nvPr/>
        </p:nvSpPr>
        <p:spPr>
          <a:xfrm>
            <a:off x="6263640" y="3648456"/>
            <a:ext cx="2468880" cy="32004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Right Panel</a:t>
            </a:r>
            <a:endParaRPr lang="en-US" sz="1200" dirty="0"/>
          </a:p>
        </p:txBody>
      </p:sp>
      <p:sp>
        <p:nvSpPr>
          <p:cNvPr id="16" name="Text 13"/>
          <p:cNvSpPr/>
          <p:nvPr/>
        </p:nvSpPr>
        <p:spPr>
          <a:xfrm>
            <a:off x="6263640" y="3995928"/>
            <a:ext cx="2468880" cy="603504"/>
          </a:xfrm>
          <a:prstGeom prst="rect">
            <a:avLst/>
          </a:prstGeom>
          <a:noFill/>
          <a:ln/>
        </p:spPr>
        <p:txBody>
          <a:bodyPr wrap="square" lIns="0" tIns="0" rIns="0" bIns="0" rtlCol="0" anchor="ctr"/>
          <a:lstStyle/>
          <a:p>
            <a:pPr indent="0" marL="0">
              <a:buNone/>
            </a:pPr>
            <a:r>
              <a:rPr lang="en-US" sz="1000" dirty="0">
                <a:solidFill>
                  <a:srgbClr val="1A2B3C"/>
                </a:solidFill>
                <a:latin typeface="Calibri" pitchFamily="34" charset="0"/>
                <a:ea typeface="Calibri" pitchFamily="34" charset="-122"/>
                <a:cs typeface="Calibri" pitchFamily="34" charset="-120"/>
              </a:rPr>
              <a:t>AI suggestions stream in real-time via SSE. Manual authoring form below. Accept / edit / reject.</a:t>
            </a:r>
            <a:endParaRPr lang="en-US" sz="1000" dirty="0"/>
          </a:p>
        </p:txBody>
      </p:sp>
      <p:sp>
        <p:nvSpPr>
          <p:cNvPr id="17" name="Shape 14"/>
          <p:cNvSpPr/>
          <p:nvPr/>
        </p:nvSpPr>
        <p:spPr>
          <a:xfrm>
            <a:off x="6080760" y="3931920"/>
            <a:ext cx="2788920" cy="932688"/>
          </a:xfrm>
          <a:prstGeom prst="rect">
            <a:avLst/>
          </a:prstGeom>
          <a:solidFill>
            <a:srgbClr val="E8F5E9"/>
          </a:solidFill>
          <a:ln w="12700">
            <a:solidFill>
              <a:srgbClr val="A5D6A7"/>
            </a:solidFill>
            <a:prstDash val="solid"/>
          </a:ln>
        </p:spPr>
      </p:sp>
      <p:sp>
        <p:nvSpPr>
          <p:cNvPr id="18" name="Shape 15"/>
          <p:cNvSpPr/>
          <p:nvPr/>
        </p:nvSpPr>
        <p:spPr>
          <a:xfrm>
            <a:off x="6080760" y="3931920"/>
            <a:ext cx="64008" cy="932688"/>
          </a:xfrm>
          <a:prstGeom prst="rect">
            <a:avLst/>
          </a:prstGeom>
          <a:solidFill>
            <a:srgbClr val="1B5E20"/>
          </a:solidFill>
          <a:ln w="12700">
            <a:solidFill>
              <a:srgbClr val="1B5E20"/>
            </a:solidFill>
            <a:prstDash val="solid"/>
          </a:ln>
        </p:spPr>
      </p:sp>
      <p:sp>
        <p:nvSpPr>
          <p:cNvPr id="19" name="Text 16"/>
          <p:cNvSpPr/>
          <p:nvPr/>
        </p:nvSpPr>
        <p:spPr>
          <a:xfrm>
            <a:off x="6263640" y="4005072"/>
            <a:ext cx="2468880" cy="347472"/>
          </a:xfrm>
          <a:prstGeom prst="rect">
            <a:avLst/>
          </a:prstGeom>
          <a:noFill/>
          <a:ln/>
        </p:spPr>
        <p:txBody>
          <a:bodyPr wrap="square" lIns="0" tIns="0" rIns="0" bIns="0" rtlCol="0" anchor="ctr"/>
          <a:lstStyle/>
          <a:p>
            <a:pPr indent="0" marL="0">
              <a:buNone/>
            </a:pPr>
            <a:r>
              <a:rPr lang="en-US" sz="1400" b="1" dirty="0">
                <a:solidFill>
                  <a:srgbClr val="1B5E20"/>
                </a:solidFill>
                <a:latin typeface="Calibri" pitchFamily="34" charset="0"/>
                <a:ea typeface="Calibri" pitchFamily="34" charset="-122"/>
                <a:cs typeface="Calibri" pitchFamily="34" charset="-120"/>
              </a:rPr>
              <a:t>47 steps → 8 steps</a:t>
            </a:r>
            <a:endParaRPr lang="en-US" sz="1400" dirty="0"/>
          </a:p>
        </p:txBody>
      </p:sp>
      <p:sp>
        <p:nvSpPr>
          <p:cNvPr id="20" name="Text 17"/>
          <p:cNvSpPr/>
          <p:nvPr/>
        </p:nvSpPr>
        <p:spPr>
          <a:xfrm>
            <a:off x="6263640" y="4370832"/>
            <a:ext cx="2468880" cy="420624"/>
          </a:xfrm>
          <a:prstGeom prst="rect">
            <a:avLst/>
          </a:prstGeom>
          <a:noFill/>
          <a:ln/>
        </p:spPr>
        <p:txBody>
          <a:bodyPr wrap="square" lIns="0" tIns="0" rIns="0" bIns="0" rtlCol="0" anchor="ctr"/>
          <a:lstStyle/>
          <a:p>
            <a:pPr indent="0" marL="0">
              <a:buNone/>
            </a:pPr>
            <a:r>
              <a:rPr lang="en-US" sz="950" dirty="0">
                <a:solidFill>
                  <a:srgbClr val="2E7D32"/>
                </a:solidFill>
                <a:latin typeface="Calibri" pitchFamily="34" charset="0"/>
                <a:ea typeface="Calibri" pitchFamily="34" charset="-122"/>
                <a:cs typeface="Calibri" pitchFamily="34" charset="-120"/>
              </a:rPr>
              <a:t>No page navigation. One continuous flow from upload to .h5p export.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Six Ways to Make a Video Interactive</a:t>
            </a:r>
            <a:endParaRPr lang="en-US" sz="2400" dirty="0"/>
          </a:p>
        </p:txBody>
      </p:sp>
      <p:sp>
        <p:nvSpPr>
          <p:cNvPr id="4" name="Shape 2"/>
          <p:cNvSpPr/>
          <p:nvPr/>
        </p:nvSpPr>
        <p:spPr>
          <a:xfrm>
            <a:off x="292608" y="1024128"/>
            <a:ext cx="2743200" cy="1828800"/>
          </a:xfrm>
          <a:prstGeom prst="rect">
            <a:avLst/>
          </a:prstGeom>
          <a:solidFill>
            <a:srgbClr val="EEF6FB"/>
          </a:solidFill>
          <a:ln w="12700">
            <a:solidFill>
              <a:srgbClr val="C8E2F4"/>
            </a:solidFill>
            <a:prstDash val="solid"/>
          </a:ln>
        </p:spPr>
      </p:sp>
      <p:sp>
        <p:nvSpPr>
          <p:cNvPr id="5" name="Shape 3"/>
          <p:cNvSpPr/>
          <p:nvPr/>
        </p:nvSpPr>
        <p:spPr>
          <a:xfrm>
            <a:off x="292608" y="1024128"/>
            <a:ext cx="2743200" cy="64008"/>
          </a:xfrm>
          <a:prstGeom prst="rect">
            <a:avLst/>
          </a:prstGeom>
          <a:solidFill>
            <a:srgbClr val="065A82"/>
          </a:solidFill>
          <a:ln w="12700">
            <a:solidFill>
              <a:srgbClr val="065A82"/>
            </a:solidFill>
            <a:prstDash val="solid"/>
          </a:ln>
        </p:spPr>
      </p:sp>
      <p:sp>
        <p:nvSpPr>
          <p:cNvPr id="6" name="Text 4"/>
          <p:cNvSpPr/>
          <p:nvPr/>
        </p:nvSpPr>
        <p:spPr>
          <a:xfrm>
            <a:off x="402336" y="1133856"/>
            <a:ext cx="2523744" cy="32918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Multiple Choice</a:t>
            </a:r>
            <a:endParaRPr lang="en-US" sz="1300" dirty="0"/>
          </a:p>
        </p:txBody>
      </p:sp>
      <p:sp>
        <p:nvSpPr>
          <p:cNvPr id="7" name="Text 5"/>
          <p:cNvSpPr/>
          <p:nvPr/>
        </p:nvSpPr>
        <p:spPr>
          <a:xfrm>
            <a:off x="402336" y="1472184"/>
            <a:ext cx="2523744" cy="256032"/>
          </a:xfrm>
          <a:prstGeom prst="rect">
            <a:avLst/>
          </a:prstGeom>
          <a:noFill/>
          <a:ln/>
        </p:spPr>
        <p:txBody>
          <a:bodyPr wrap="square" lIns="0" tIns="0" rIns="0" bIns="0" rtlCol="0" anchor="ctr"/>
          <a:lstStyle/>
          <a:p>
            <a:pPr indent="0" marL="0">
              <a:buNone/>
            </a:pPr>
            <a:r>
              <a:rPr lang="en-US" sz="950" dirty="0">
                <a:solidFill>
                  <a:srgbClr val="4A6B8C"/>
                </a:solidFill>
                <a:latin typeface="Consolas" pitchFamily="34" charset="0"/>
                <a:ea typeface="Consolas" pitchFamily="34" charset="-122"/>
                <a:cs typeface="Consolas" pitchFamily="34" charset="-120"/>
              </a:rPr>
              <a:t>H5P.MultiChoice</a:t>
            </a:r>
            <a:endParaRPr lang="en-US" sz="950" dirty="0"/>
          </a:p>
        </p:txBody>
      </p:sp>
      <p:sp>
        <p:nvSpPr>
          <p:cNvPr id="8" name="Text 6"/>
          <p:cNvSpPr/>
          <p:nvPr/>
        </p:nvSpPr>
        <p:spPr>
          <a:xfrm>
            <a:off x="402336" y="1746504"/>
            <a:ext cx="2523744" cy="731520"/>
          </a:xfrm>
          <a:prstGeom prst="rect">
            <a:avLst/>
          </a:prstGeom>
          <a:noFill/>
          <a:ln/>
        </p:spPr>
        <p:txBody>
          <a:bodyPr wrap="square" lIns="0" tIns="0" rIns="0" bIns="0" rtlCol="0" anchor="ctr"/>
          <a:lstStyle/>
          <a:p>
            <a:pPr indent="0" marL="0">
              <a:buNone/>
            </a:pPr>
            <a:r>
              <a:rPr lang="en-US" sz="1000" i="1" dirty="0">
                <a:solidFill>
                  <a:srgbClr val="1A2B3C"/>
                </a:solidFill>
                <a:latin typeface="Calibri" pitchFamily="34" charset="0"/>
                <a:ea typeface="Calibri" pitchFamily="34" charset="-122"/>
                <a:cs typeface="Calibri" pitchFamily="34" charset="-120"/>
              </a:rPr>
              <a:t>"Which OSI layer handles routing? → Network (correct)"</a:t>
            </a:r>
            <a:endParaRPr lang="en-US" sz="1000" dirty="0"/>
          </a:p>
        </p:txBody>
      </p:sp>
      <p:sp>
        <p:nvSpPr>
          <p:cNvPr id="9" name="Text 7"/>
          <p:cNvSpPr/>
          <p:nvPr/>
        </p:nvSpPr>
        <p:spPr>
          <a:xfrm>
            <a:off x="402336" y="2578608"/>
            <a:ext cx="2523744" cy="228600"/>
          </a:xfrm>
          <a:prstGeom prst="rect">
            <a:avLst/>
          </a:prstGeom>
          <a:noFill/>
          <a:ln/>
        </p:spPr>
        <p:txBody>
          <a:bodyPr wrap="square" lIns="0" tIns="0" rIns="0" bIns="0" rtlCol="0" anchor="ctr"/>
          <a:lstStyle/>
          <a:p>
            <a:pPr indent="0" marL="0">
              <a:buNone/>
            </a:pPr>
            <a:r>
              <a:rPr lang="en-US" sz="950" dirty="0">
                <a:solidFill>
                  <a:srgbClr val="1B98E0"/>
                </a:solidFill>
                <a:latin typeface="Calibri" pitchFamily="34" charset="0"/>
                <a:ea typeface="Calibri" pitchFamily="34" charset="-122"/>
                <a:cs typeface="Calibri" pitchFamily="34" charset="-120"/>
              </a:rPr>
              <a:t>Bloom's: Understand / Analyze</a:t>
            </a:r>
            <a:endParaRPr lang="en-US" sz="950" dirty="0"/>
          </a:p>
        </p:txBody>
      </p:sp>
      <p:sp>
        <p:nvSpPr>
          <p:cNvPr id="10" name="Shape 8"/>
          <p:cNvSpPr/>
          <p:nvPr/>
        </p:nvSpPr>
        <p:spPr>
          <a:xfrm>
            <a:off x="3172968" y="1024128"/>
            <a:ext cx="2743200" cy="1828800"/>
          </a:xfrm>
          <a:prstGeom prst="rect">
            <a:avLst/>
          </a:prstGeom>
          <a:solidFill>
            <a:srgbClr val="EEF6FB"/>
          </a:solidFill>
          <a:ln w="12700">
            <a:solidFill>
              <a:srgbClr val="C8E2F4"/>
            </a:solidFill>
            <a:prstDash val="solid"/>
          </a:ln>
        </p:spPr>
      </p:sp>
      <p:sp>
        <p:nvSpPr>
          <p:cNvPr id="11" name="Shape 9"/>
          <p:cNvSpPr/>
          <p:nvPr/>
        </p:nvSpPr>
        <p:spPr>
          <a:xfrm>
            <a:off x="3172968" y="1024128"/>
            <a:ext cx="2743200" cy="64008"/>
          </a:xfrm>
          <a:prstGeom prst="rect">
            <a:avLst/>
          </a:prstGeom>
          <a:solidFill>
            <a:srgbClr val="065A82"/>
          </a:solidFill>
          <a:ln w="12700">
            <a:solidFill>
              <a:srgbClr val="065A82"/>
            </a:solidFill>
            <a:prstDash val="solid"/>
          </a:ln>
        </p:spPr>
      </p:sp>
      <p:sp>
        <p:nvSpPr>
          <p:cNvPr id="12" name="Text 10"/>
          <p:cNvSpPr/>
          <p:nvPr/>
        </p:nvSpPr>
        <p:spPr>
          <a:xfrm>
            <a:off x="3282696" y="1133856"/>
            <a:ext cx="2523744" cy="32918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True / False</a:t>
            </a:r>
            <a:endParaRPr lang="en-US" sz="1300" dirty="0"/>
          </a:p>
        </p:txBody>
      </p:sp>
      <p:sp>
        <p:nvSpPr>
          <p:cNvPr id="13" name="Text 11"/>
          <p:cNvSpPr/>
          <p:nvPr/>
        </p:nvSpPr>
        <p:spPr>
          <a:xfrm>
            <a:off x="3282696" y="1472184"/>
            <a:ext cx="2523744" cy="256032"/>
          </a:xfrm>
          <a:prstGeom prst="rect">
            <a:avLst/>
          </a:prstGeom>
          <a:noFill/>
          <a:ln/>
        </p:spPr>
        <p:txBody>
          <a:bodyPr wrap="square" lIns="0" tIns="0" rIns="0" bIns="0" rtlCol="0" anchor="ctr"/>
          <a:lstStyle/>
          <a:p>
            <a:pPr indent="0" marL="0">
              <a:buNone/>
            </a:pPr>
            <a:r>
              <a:rPr lang="en-US" sz="950" dirty="0">
                <a:solidFill>
                  <a:srgbClr val="4A6B8C"/>
                </a:solidFill>
                <a:latin typeface="Consolas" pitchFamily="34" charset="0"/>
                <a:ea typeface="Consolas" pitchFamily="34" charset="-122"/>
                <a:cs typeface="Consolas" pitchFamily="34" charset="-120"/>
              </a:rPr>
              <a:t>H5P.TrueFalse</a:t>
            </a:r>
            <a:endParaRPr lang="en-US" sz="950" dirty="0"/>
          </a:p>
        </p:txBody>
      </p:sp>
      <p:sp>
        <p:nvSpPr>
          <p:cNvPr id="14" name="Text 12"/>
          <p:cNvSpPr/>
          <p:nvPr/>
        </p:nvSpPr>
        <p:spPr>
          <a:xfrm>
            <a:off x="3282696" y="1746504"/>
            <a:ext cx="2523744" cy="731520"/>
          </a:xfrm>
          <a:prstGeom prst="rect">
            <a:avLst/>
          </a:prstGeom>
          <a:noFill/>
          <a:ln/>
        </p:spPr>
        <p:txBody>
          <a:bodyPr wrap="square" lIns="0" tIns="0" rIns="0" bIns="0" rtlCol="0" anchor="ctr"/>
          <a:lstStyle/>
          <a:p>
            <a:pPr indent="0" marL="0">
              <a:buNone/>
            </a:pPr>
            <a:r>
              <a:rPr lang="en-US" sz="1000" i="1" dirty="0">
                <a:solidFill>
                  <a:srgbClr val="1A2B3C"/>
                </a:solidFill>
                <a:latin typeface="Calibri" pitchFamily="34" charset="0"/>
                <a:ea typeface="Calibri" pitchFamily="34" charset="-122"/>
                <a:cs typeface="Calibri" pitchFamily="34" charset="-120"/>
              </a:rPr>
              <a:t>"UDP guarantees delivery order. → False"</a:t>
            </a:r>
            <a:endParaRPr lang="en-US" sz="1000" dirty="0"/>
          </a:p>
        </p:txBody>
      </p:sp>
      <p:sp>
        <p:nvSpPr>
          <p:cNvPr id="15" name="Text 13"/>
          <p:cNvSpPr/>
          <p:nvPr/>
        </p:nvSpPr>
        <p:spPr>
          <a:xfrm>
            <a:off x="3282696" y="2578608"/>
            <a:ext cx="2523744" cy="228600"/>
          </a:xfrm>
          <a:prstGeom prst="rect">
            <a:avLst/>
          </a:prstGeom>
          <a:noFill/>
          <a:ln/>
        </p:spPr>
        <p:txBody>
          <a:bodyPr wrap="square" lIns="0" tIns="0" rIns="0" bIns="0" rtlCol="0" anchor="ctr"/>
          <a:lstStyle/>
          <a:p>
            <a:pPr indent="0" marL="0">
              <a:buNone/>
            </a:pPr>
            <a:r>
              <a:rPr lang="en-US" sz="950" dirty="0">
                <a:solidFill>
                  <a:srgbClr val="1B98E0"/>
                </a:solidFill>
                <a:latin typeface="Calibri" pitchFamily="34" charset="0"/>
                <a:ea typeface="Calibri" pitchFamily="34" charset="-122"/>
                <a:cs typeface="Calibri" pitchFamily="34" charset="-120"/>
              </a:rPr>
              <a:t>Bloom's: Remember</a:t>
            </a:r>
            <a:endParaRPr lang="en-US" sz="950" dirty="0"/>
          </a:p>
        </p:txBody>
      </p:sp>
      <p:sp>
        <p:nvSpPr>
          <p:cNvPr id="16" name="Shape 14"/>
          <p:cNvSpPr/>
          <p:nvPr/>
        </p:nvSpPr>
        <p:spPr>
          <a:xfrm>
            <a:off x="6053328" y="1024128"/>
            <a:ext cx="2743200" cy="1828800"/>
          </a:xfrm>
          <a:prstGeom prst="rect">
            <a:avLst/>
          </a:prstGeom>
          <a:solidFill>
            <a:srgbClr val="EEF6FB"/>
          </a:solidFill>
          <a:ln w="12700">
            <a:solidFill>
              <a:srgbClr val="C8E2F4"/>
            </a:solidFill>
            <a:prstDash val="solid"/>
          </a:ln>
        </p:spPr>
      </p:sp>
      <p:sp>
        <p:nvSpPr>
          <p:cNvPr id="17" name="Shape 15"/>
          <p:cNvSpPr/>
          <p:nvPr/>
        </p:nvSpPr>
        <p:spPr>
          <a:xfrm>
            <a:off x="6053328" y="1024128"/>
            <a:ext cx="2743200" cy="64008"/>
          </a:xfrm>
          <a:prstGeom prst="rect">
            <a:avLst/>
          </a:prstGeom>
          <a:solidFill>
            <a:srgbClr val="065A82"/>
          </a:solidFill>
          <a:ln w="12700">
            <a:solidFill>
              <a:srgbClr val="065A82"/>
            </a:solidFill>
            <a:prstDash val="solid"/>
          </a:ln>
        </p:spPr>
      </p:sp>
      <p:sp>
        <p:nvSpPr>
          <p:cNvPr id="18" name="Text 16"/>
          <p:cNvSpPr/>
          <p:nvPr/>
        </p:nvSpPr>
        <p:spPr>
          <a:xfrm>
            <a:off x="6163056" y="1133856"/>
            <a:ext cx="2523744" cy="32918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Fill in the Blanks</a:t>
            </a:r>
            <a:endParaRPr lang="en-US" sz="1300" dirty="0"/>
          </a:p>
        </p:txBody>
      </p:sp>
      <p:sp>
        <p:nvSpPr>
          <p:cNvPr id="19" name="Text 17"/>
          <p:cNvSpPr/>
          <p:nvPr/>
        </p:nvSpPr>
        <p:spPr>
          <a:xfrm>
            <a:off x="6163056" y="1472184"/>
            <a:ext cx="2523744" cy="256032"/>
          </a:xfrm>
          <a:prstGeom prst="rect">
            <a:avLst/>
          </a:prstGeom>
          <a:noFill/>
          <a:ln/>
        </p:spPr>
        <p:txBody>
          <a:bodyPr wrap="square" lIns="0" tIns="0" rIns="0" bIns="0" rtlCol="0" anchor="ctr"/>
          <a:lstStyle/>
          <a:p>
            <a:pPr indent="0" marL="0">
              <a:buNone/>
            </a:pPr>
            <a:r>
              <a:rPr lang="en-US" sz="950" dirty="0">
                <a:solidFill>
                  <a:srgbClr val="4A6B8C"/>
                </a:solidFill>
                <a:latin typeface="Consolas" pitchFamily="34" charset="0"/>
                <a:ea typeface="Consolas" pitchFamily="34" charset="-122"/>
                <a:cs typeface="Consolas" pitchFamily="34" charset="-120"/>
              </a:rPr>
              <a:t>H5P.Blanks</a:t>
            </a:r>
            <a:endParaRPr lang="en-US" sz="950" dirty="0"/>
          </a:p>
        </p:txBody>
      </p:sp>
      <p:sp>
        <p:nvSpPr>
          <p:cNvPr id="20" name="Text 18"/>
          <p:cNvSpPr/>
          <p:nvPr/>
        </p:nvSpPr>
        <p:spPr>
          <a:xfrm>
            <a:off x="6163056" y="1746504"/>
            <a:ext cx="2523744" cy="731520"/>
          </a:xfrm>
          <a:prstGeom prst="rect">
            <a:avLst/>
          </a:prstGeom>
          <a:noFill/>
          <a:ln/>
        </p:spPr>
        <p:txBody>
          <a:bodyPr wrap="square" lIns="0" tIns="0" rIns="0" bIns="0" rtlCol="0" anchor="ctr"/>
          <a:lstStyle/>
          <a:p>
            <a:pPr indent="0" marL="0">
              <a:buNone/>
            </a:pPr>
            <a:r>
              <a:rPr lang="en-US" sz="1000" i="1" dirty="0">
                <a:solidFill>
                  <a:srgbClr val="1A2B3C"/>
                </a:solidFill>
                <a:latin typeface="Calibri" pitchFamily="34" charset="0"/>
                <a:ea typeface="Calibri" pitchFamily="34" charset="-122"/>
                <a:cs typeface="Calibri" pitchFamily="34" charset="-120"/>
              </a:rPr>
              <a:t>"The *TCP/IP* model has four layers."</a:t>
            </a:r>
            <a:endParaRPr lang="en-US" sz="1000" dirty="0"/>
          </a:p>
        </p:txBody>
      </p:sp>
      <p:sp>
        <p:nvSpPr>
          <p:cNvPr id="21" name="Text 19"/>
          <p:cNvSpPr/>
          <p:nvPr/>
        </p:nvSpPr>
        <p:spPr>
          <a:xfrm>
            <a:off x="6163056" y="2578608"/>
            <a:ext cx="2523744" cy="228600"/>
          </a:xfrm>
          <a:prstGeom prst="rect">
            <a:avLst/>
          </a:prstGeom>
          <a:noFill/>
          <a:ln/>
        </p:spPr>
        <p:txBody>
          <a:bodyPr wrap="square" lIns="0" tIns="0" rIns="0" bIns="0" rtlCol="0" anchor="ctr"/>
          <a:lstStyle/>
          <a:p>
            <a:pPr indent="0" marL="0">
              <a:buNone/>
            </a:pPr>
            <a:r>
              <a:rPr lang="en-US" sz="950" dirty="0">
                <a:solidFill>
                  <a:srgbClr val="1B98E0"/>
                </a:solidFill>
                <a:latin typeface="Calibri" pitchFamily="34" charset="0"/>
                <a:ea typeface="Calibri" pitchFamily="34" charset="-122"/>
                <a:cs typeface="Calibri" pitchFamily="34" charset="-120"/>
              </a:rPr>
              <a:t>Bloom's: Remember / Understand</a:t>
            </a:r>
            <a:endParaRPr lang="en-US" sz="950" dirty="0"/>
          </a:p>
        </p:txBody>
      </p:sp>
      <p:sp>
        <p:nvSpPr>
          <p:cNvPr id="22" name="Shape 20"/>
          <p:cNvSpPr/>
          <p:nvPr/>
        </p:nvSpPr>
        <p:spPr>
          <a:xfrm>
            <a:off x="292608" y="3035808"/>
            <a:ext cx="2743200" cy="1828800"/>
          </a:xfrm>
          <a:prstGeom prst="rect">
            <a:avLst/>
          </a:prstGeom>
          <a:solidFill>
            <a:srgbClr val="EEF6FB"/>
          </a:solidFill>
          <a:ln w="12700">
            <a:solidFill>
              <a:srgbClr val="C8E2F4"/>
            </a:solidFill>
            <a:prstDash val="solid"/>
          </a:ln>
        </p:spPr>
      </p:sp>
      <p:sp>
        <p:nvSpPr>
          <p:cNvPr id="23" name="Shape 21"/>
          <p:cNvSpPr/>
          <p:nvPr/>
        </p:nvSpPr>
        <p:spPr>
          <a:xfrm>
            <a:off x="292608" y="3035808"/>
            <a:ext cx="2743200" cy="64008"/>
          </a:xfrm>
          <a:prstGeom prst="rect">
            <a:avLst/>
          </a:prstGeom>
          <a:solidFill>
            <a:srgbClr val="065A82"/>
          </a:solidFill>
          <a:ln w="12700">
            <a:solidFill>
              <a:srgbClr val="065A82"/>
            </a:solidFill>
            <a:prstDash val="solid"/>
          </a:ln>
        </p:spPr>
      </p:sp>
      <p:sp>
        <p:nvSpPr>
          <p:cNvPr id="24" name="Text 22"/>
          <p:cNvSpPr/>
          <p:nvPr/>
        </p:nvSpPr>
        <p:spPr>
          <a:xfrm>
            <a:off x="402336" y="3145536"/>
            <a:ext cx="2523744" cy="32918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Drag the Words</a:t>
            </a:r>
            <a:endParaRPr lang="en-US" sz="1300" dirty="0"/>
          </a:p>
        </p:txBody>
      </p:sp>
      <p:sp>
        <p:nvSpPr>
          <p:cNvPr id="25" name="Text 23"/>
          <p:cNvSpPr/>
          <p:nvPr/>
        </p:nvSpPr>
        <p:spPr>
          <a:xfrm>
            <a:off x="402336" y="3483864"/>
            <a:ext cx="2523744" cy="256032"/>
          </a:xfrm>
          <a:prstGeom prst="rect">
            <a:avLst/>
          </a:prstGeom>
          <a:noFill/>
          <a:ln/>
        </p:spPr>
        <p:txBody>
          <a:bodyPr wrap="square" lIns="0" tIns="0" rIns="0" bIns="0" rtlCol="0" anchor="ctr"/>
          <a:lstStyle/>
          <a:p>
            <a:pPr indent="0" marL="0">
              <a:buNone/>
            </a:pPr>
            <a:r>
              <a:rPr lang="en-US" sz="950" dirty="0">
                <a:solidFill>
                  <a:srgbClr val="4A6B8C"/>
                </a:solidFill>
                <a:latin typeface="Consolas" pitchFamily="34" charset="0"/>
                <a:ea typeface="Consolas" pitchFamily="34" charset="-122"/>
                <a:cs typeface="Consolas" pitchFamily="34" charset="-120"/>
              </a:rPr>
              <a:t>H5P.DragText</a:t>
            </a:r>
            <a:endParaRPr lang="en-US" sz="950" dirty="0"/>
          </a:p>
        </p:txBody>
      </p:sp>
      <p:sp>
        <p:nvSpPr>
          <p:cNvPr id="26" name="Text 24"/>
          <p:cNvSpPr/>
          <p:nvPr/>
        </p:nvSpPr>
        <p:spPr>
          <a:xfrm>
            <a:off x="402336" y="3758184"/>
            <a:ext cx="2523744" cy="731520"/>
          </a:xfrm>
          <a:prstGeom prst="rect">
            <a:avLst/>
          </a:prstGeom>
          <a:noFill/>
          <a:ln/>
        </p:spPr>
        <p:txBody>
          <a:bodyPr wrap="square" lIns="0" tIns="0" rIns="0" bIns="0" rtlCol="0" anchor="ctr"/>
          <a:lstStyle/>
          <a:p>
            <a:pPr indent="0" marL="0">
              <a:buNone/>
            </a:pPr>
            <a:r>
              <a:rPr lang="en-US" sz="1000" i="1" dirty="0">
                <a:solidFill>
                  <a:srgbClr val="1A2B3C"/>
                </a:solidFill>
                <a:latin typeface="Calibri" pitchFamily="34" charset="0"/>
                <a:ea typeface="Calibri" pitchFamily="34" charset="-122"/>
                <a:cs typeface="Calibri" pitchFamily="34" charset="-120"/>
              </a:rPr>
              <a:t>"Order: *SYN* → *SYN-ACK* → *ACK*"</a:t>
            </a:r>
            <a:endParaRPr lang="en-US" sz="1000" dirty="0"/>
          </a:p>
        </p:txBody>
      </p:sp>
      <p:sp>
        <p:nvSpPr>
          <p:cNvPr id="27" name="Text 25"/>
          <p:cNvSpPr/>
          <p:nvPr/>
        </p:nvSpPr>
        <p:spPr>
          <a:xfrm>
            <a:off x="402336" y="4590288"/>
            <a:ext cx="2523744" cy="228600"/>
          </a:xfrm>
          <a:prstGeom prst="rect">
            <a:avLst/>
          </a:prstGeom>
          <a:noFill/>
          <a:ln/>
        </p:spPr>
        <p:txBody>
          <a:bodyPr wrap="square" lIns="0" tIns="0" rIns="0" bIns="0" rtlCol="0" anchor="ctr"/>
          <a:lstStyle/>
          <a:p>
            <a:pPr indent="0" marL="0">
              <a:buNone/>
            </a:pPr>
            <a:r>
              <a:rPr lang="en-US" sz="950" dirty="0">
                <a:solidFill>
                  <a:srgbClr val="1B98E0"/>
                </a:solidFill>
                <a:latin typeface="Calibri" pitchFamily="34" charset="0"/>
                <a:ea typeface="Calibri" pitchFamily="34" charset="-122"/>
                <a:cs typeface="Calibri" pitchFamily="34" charset="-120"/>
              </a:rPr>
              <a:t>Bloom's: Apply</a:t>
            </a:r>
            <a:endParaRPr lang="en-US" sz="950" dirty="0"/>
          </a:p>
        </p:txBody>
      </p:sp>
      <p:sp>
        <p:nvSpPr>
          <p:cNvPr id="28" name="Shape 26"/>
          <p:cNvSpPr/>
          <p:nvPr/>
        </p:nvSpPr>
        <p:spPr>
          <a:xfrm>
            <a:off x="3172968" y="3035808"/>
            <a:ext cx="2743200" cy="1828800"/>
          </a:xfrm>
          <a:prstGeom prst="rect">
            <a:avLst/>
          </a:prstGeom>
          <a:solidFill>
            <a:srgbClr val="EEF6FB"/>
          </a:solidFill>
          <a:ln w="12700">
            <a:solidFill>
              <a:srgbClr val="C8E2F4"/>
            </a:solidFill>
            <a:prstDash val="solid"/>
          </a:ln>
        </p:spPr>
      </p:sp>
      <p:sp>
        <p:nvSpPr>
          <p:cNvPr id="29" name="Shape 27"/>
          <p:cNvSpPr/>
          <p:nvPr/>
        </p:nvSpPr>
        <p:spPr>
          <a:xfrm>
            <a:off x="3172968" y="3035808"/>
            <a:ext cx="2743200" cy="64008"/>
          </a:xfrm>
          <a:prstGeom prst="rect">
            <a:avLst/>
          </a:prstGeom>
          <a:solidFill>
            <a:srgbClr val="065A82"/>
          </a:solidFill>
          <a:ln w="12700">
            <a:solidFill>
              <a:srgbClr val="065A82"/>
            </a:solidFill>
            <a:prstDash val="solid"/>
          </a:ln>
        </p:spPr>
      </p:sp>
      <p:sp>
        <p:nvSpPr>
          <p:cNvPr id="30" name="Text 28"/>
          <p:cNvSpPr/>
          <p:nvPr/>
        </p:nvSpPr>
        <p:spPr>
          <a:xfrm>
            <a:off x="3282696" y="3145536"/>
            <a:ext cx="2523744" cy="32918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Mark the Words</a:t>
            </a:r>
            <a:endParaRPr lang="en-US" sz="1300" dirty="0"/>
          </a:p>
        </p:txBody>
      </p:sp>
      <p:sp>
        <p:nvSpPr>
          <p:cNvPr id="31" name="Text 29"/>
          <p:cNvSpPr/>
          <p:nvPr/>
        </p:nvSpPr>
        <p:spPr>
          <a:xfrm>
            <a:off x="3282696" y="3483864"/>
            <a:ext cx="2523744" cy="256032"/>
          </a:xfrm>
          <a:prstGeom prst="rect">
            <a:avLst/>
          </a:prstGeom>
          <a:noFill/>
          <a:ln/>
        </p:spPr>
        <p:txBody>
          <a:bodyPr wrap="square" lIns="0" tIns="0" rIns="0" bIns="0" rtlCol="0" anchor="ctr"/>
          <a:lstStyle/>
          <a:p>
            <a:pPr indent="0" marL="0">
              <a:buNone/>
            </a:pPr>
            <a:r>
              <a:rPr lang="en-US" sz="950" dirty="0">
                <a:solidFill>
                  <a:srgbClr val="4A6B8C"/>
                </a:solidFill>
                <a:latin typeface="Consolas" pitchFamily="34" charset="0"/>
                <a:ea typeface="Consolas" pitchFamily="34" charset="-122"/>
                <a:cs typeface="Consolas" pitchFamily="34" charset="-120"/>
              </a:rPr>
              <a:t>H5P.MarkTheWords</a:t>
            </a:r>
            <a:endParaRPr lang="en-US" sz="950" dirty="0"/>
          </a:p>
        </p:txBody>
      </p:sp>
      <p:sp>
        <p:nvSpPr>
          <p:cNvPr id="32" name="Text 30"/>
          <p:cNvSpPr/>
          <p:nvPr/>
        </p:nvSpPr>
        <p:spPr>
          <a:xfrm>
            <a:off x="3282696" y="3758184"/>
            <a:ext cx="2523744" cy="731520"/>
          </a:xfrm>
          <a:prstGeom prst="rect">
            <a:avLst/>
          </a:prstGeom>
          <a:noFill/>
          <a:ln/>
        </p:spPr>
        <p:txBody>
          <a:bodyPr wrap="square" lIns="0" tIns="0" rIns="0" bIns="0" rtlCol="0" anchor="ctr"/>
          <a:lstStyle/>
          <a:p>
            <a:pPr indent="0" marL="0">
              <a:buNone/>
            </a:pPr>
            <a:r>
              <a:rPr lang="en-US" sz="1000" i="1" dirty="0">
                <a:solidFill>
                  <a:srgbClr val="1A2B3C"/>
                </a:solidFill>
                <a:latin typeface="Calibri" pitchFamily="34" charset="0"/>
                <a:ea typeface="Calibri" pitchFamily="34" charset="-122"/>
                <a:cs typeface="Calibri" pitchFamily="34" charset="-120"/>
              </a:rPr>
              <a:t>"Mark key terms: *router*, *datagram*, *IP address*"</a:t>
            </a:r>
            <a:endParaRPr lang="en-US" sz="1000" dirty="0"/>
          </a:p>
        </p:txBody>
      </p:sp>
      <p:sp>
        <p:nvSpPr>
          <p:cNvPr id="33" name="Text 31"/>
          <p:cNvSpPr/>
          <p:nvPr/>
        </p:nvSpPr>
        <p:spPr>
          <a:xfrm>
            <a:off x="3282696" y="4590288"/>
            <a:ext cx="2523744" cy="228600"/>
          </a:xfrm>
          <a:prstGeom prst="rect">
            <a:avLst/>
          </a:prstGeom>
          <a:noFill/>
          <a:ln/>
        </p:spPr>
        <p:txBody>
          <a:bodyPr wrap="square" lIns="0" tIns="0" rIns="0" bIns="0" rtlCol="0" anchor="ctr"/>
          <a:lstStyle/>
          <a:p>
            <a:pPr indent="0" marL="0">
              <a:buNone/>
            </a:pPr>
            <a:r>
              <a:rPr lang="en-US" sz="950" dirty="0">
                <a:solidFill>
                  <a:srgbClr val="1B98E0"/>
                </a:solidFill>
                <a:latin typeface="Calibri" pitchFamily="34" charset="0"/>
                <a:ea typeface="Calibri" pitchFamily="34" charset="-122"/>
                <a:cs typeface="Calibri" pitchFamily="34" charset="-120"/>
              </a:rPr>
              <a:t>Bloom's: Remember / Understand</a:t>
            </a:r>
            <a:endParaRPr lang="en-US" sz="950" dirty="0"/>
          </a:p>
        </p:txBody>
      </p:sp>
      <p:sp>
        <p:nvSpPr>
          <p:cNvPr id="34" name="Shape 32"/>
          <p:cNvSpPr/>
          <p:nvPr/>
        </p:nvSpPr>
        <p:spPr>
          <a:xfrm>
            <a:off x="6053328" y="3035808"/>
            <a:ext cx="2743200" cy="1828800"/>
          </a:xfrm>
          <a:prstGeom prst="rect">
            <a:avLst/>
          </a:prstGeom>
          <a:solidFill>
            <a:srgbClr val="EEF6FB"/>
          </a:solidFill>
          <a:ln w="12700">
            <a:solidFill>
              <a:srgbClr val="C8E2F4"/>
            </a:solidFill>
            <a:prstDash val="solid"/>
          </a:ln>
        </p:spPr>
      </p:sp>
      <p:sp>
        <p:nvSpPr>
          <p:cNvPr id="35" name="Shape 33"/>
          <p:cNvSpPr/>
          <p:nvPr/>
        </p:nvSpPr>
        <p:spPr>
          <a:xfrm>
            <a:off x="6053328" y="3035808"/>
            <a:ext cx="2743200" cy="64008"/>
          </a:xfrm>
          <a:prstGeom prst="rect">
            <a:avLst/>
          </a:prstGeom>
          <a:solidFill>
            <a:srgbClr val="065A82"/>
          </a:solidFill>
          <a:ln w="12700">
            <a:solidFill>
              <a:srgbClr val="065A82"/>
            </a:solidFill>
            <a:prstDash val="solid"/>
          </a:ln>
        </p:spPr>
      </p:sp>
      <p:sp>
        <p:nvSpPr>
          <p:cNvPr id="36" name="Text 34"/>
          <p:cNvSpPr/>
          <p:nvPr/>
        </p:nvSpPr>
        <p:spPr>
          <a:xfrm>
            <a:off x="6163056" y="3145536"/>
            <a:ext cx="2523744" cy="329184"/>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Matching</a:t>
            </a:r>
            <a:endParaRPr lang="en-US" sz="1300" dirty="0"/>
          </a:p>
        </p:txBody>
      </p:sp>
      <p:sp>
        <p:nvSpPr>
          <p:cNvPr id="37" name="Text 35"/>
          <p:cNvSpPr/>
          <p:nvPr/>
        </p:nvSpPr>
        <p:spPr>
          <a:xfrm>
            <a:off x="6163056" y="3483864"/>
            <a:ext cx="2523744" cy="256032"/>
          </a:xfrm>
          <a:prstGeom prst="rect">
            <a:avLst/>
          </a:prstGeom>
          <a:noFill/>
          <a:ln/>
        </p:spPr>
        <p:txBody>
          <a:bodyPr wrap="square" lIns="0" tIns="0" rIns="0" bIns="0" rtlCol="0" anchor="ctr"/>
          <a:lstStyle/>
          <a:p>
            <a:pPr indent="0" marL="0">
              <a:buNone/>
            </a:pPr>
            <a:r>
              <a:rPr lang="en-US" sz="950" dirty="0">
                <a:solidFill>
                  <a:srgbClr val="4A6B8C"/>
                </a:solidFill>
                <a:latin typeface="Consolas" pitchFamily="34" charset="0"/>
                <a:ea typeface="Consolas" pitchFamily="34" charset="-122"/>
                <a:cs typeface="Consolas" pitchFamily="34" charset="-120"/>
              </a:rPr>
              <a:t>H5P.Matching</a:t>
            </a:r>
            <a:endParaRPr lang="en-US" sz="950" dirty="0"/>
          </a:p>
        </p:txBody>
      </p:sp>
      <p:sp>
        <p:nvSpPr>
          <p:cNvPr id="38" name="Text 36"/>
          <p:cNvSpPr/>
          <p:nvPr/>
        </p:nvSpPr>
        <p:spPr>
          <a:xfrm>
            <a:off x="6163056" y="3758184"/>
            <a:ext cx="2523744" cy="731520"/>
          </a:xfrm>
          <a:prstGeom prst="rect">
            <a:avLst/>
          </a:prstGeom>
          <a:noFill/>
          <a:ln/>
        </p:spPr>
        <p:txBody>
          <a:bodyPr wrap="square" lIns="0" tIns="0" rIns="0" bIns="0" rtlCol="0" anchor="ctr"/>
          <a:lstStyle/>
          <a:p>
            <a:pPr indent="0" marL="0">
              <a:buNone/>
            </a:pPr>
            <a:r>
              <a:rPr lang="en-US" sz="1000" i="1" dirty="0">
                <a:solidFill>
                  <a:srgbClr val="1A2B3C"/>
                </a:solidFill>
                <a:latin typeface="Calibri" pitchFamily="34" charset="0"/>
                <a:ea typeface="Calibri" pitchFamily="34" charset="-122"/>
                <a:cs typeface="Calibri" pitchFamily="34" charset="-120"/>
              </a:rPr>
              <a:t>"HTTP ↔ Application; TCP ↔ Transport"</a:t>
            </a:r>
            <a:endParaRPr lang="en-US" sz="1000" dirty="0"/>
          </a:p>
        </p:txBody>
      </p:sp>
      <p:sp>
        <p:nvSpPr>
          <p:cNvPr id="39" name="Text 37"/>
          <p:cNvSpPr/>
          <p:nvPr/>
        </p:nvSpPr>
        <p:spPr>
          <a:xfrm>
            <a:off x="6163056" y="4590288"/>
            <a:ext cx="2523744" cy="228600"/>
          </a:xfrm>
          <a:prstGeom prst="rect">
            <a:avLst/>
          </a:prstGeom>
          <a:noFill/>
          <a:ln/>
        </p:spPr>
        <p:txBody>
          <a:bodyPr wrap="square" lIns="0" tIns="0" rIns="0" bIns="0" rtlCol="0" anchor="ctr"/>
          <a:lstStyle/>
          <a:p>
            <a:pPr indent="0" marL="0">
              <a:buNone/>
            </a:pPr>
            <a:r>
              <a:rPr lang="en-US" sz="950" dirty="0">
                <a:solidFill>
                  <a:srgbClr val="1B98E0"/>
                </a:solidFill>
                <a:latin typeface="Calibri" pitchFamily="34" charset="0"/>
                <a:ea typeface="Calibri" pitchFamily="34" charset="-122"/>
                <a:cs typeface="Calibri" pitchFamily="34" charset="-120"/>
              </a:rPr>
              <a:t>Bloom's: Analyze / Evaluate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AI Pipeline: From Video to Validated H5P Question</a:t>
            </a:r>
            <a:endParaRPr lang="en-US" sz="2400" dirty="0"/>
          </a:p>
        </p:txBody>
      </p:sp>
      <p:sp>
        <p:nvSpPr>
          <p:cNvPr id="4" name="Shape 2"/>
          <p:cNvSpPr/>
          <p:nvPr/>
        </p:nvSpPr>
        <p:spPr>
          <a:xfrm>
            <a:off x="2057400" y="1005840"/>
            <a:ext cx="5029200" cy="420624"/>
          </a:xfrm>
          <a:prstGeom prst="rect">
            <a:avLst/>
          </a:prstGeom>
          <a:solidFill>
            <a:srgbClr val="E3F2FD"/>
          </a:solidFill>
          <a:ln w="12700">
            <a:solidFill>
              <a:srgbClr val="065A82"/>
            </a:solidFill>
            <a:prstDash val="solid"/>
          </a:ln>
        </p:spPr>
      </p:sp>
      <p:sp>
        <p:nvSpPr>
          <p:cNvPr id="5" name="Shape 3"/>
          <p:cNvSpPr/>
          <p:nvPr/>
        </p:nvSpPr>
        <p:spPr>
          <a:xfrm>
            <a:off x="2057400" y="1005840"/>
            <a:ext cx="64008" cy="420624"/>
          </a:xfrm>
          <a:prstGeom prst="rect">
            <a:avLst/>
          </a:prstGeom>
          <a:solidFill>
            <a:srgbClr val="065A82"/>
          </a:solidFill>
          <a:ln w="12700">
            <a:solidFill>
              <a:srgbClr val="065A82"/>
            </a:solidFill>
            <a:prstDash val="solid"/>
          </a:ln>
        </p:spPr>
      </p:sp>
      <p:sp>
        <p:nvSpPr>
          <p:cNvPr id="6" name="Text 4"/>
          <p:cNvSpPr/>
          <p:nvPr/>
        </p:nvSpPr>
        <p:spPr>
          <a:xfrm>
            <a:off x="2221992" y="1042416"/>
            <a:ext cx="4800600" cy="347472"/>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Video Input</a:t>
            </a:r>
            <a:endParaRPr lang="en-US" sz="1300" dirty="0"/>
          </a:p>
        </p:txBody>
      </p:sp>
      <p:sp>
        <p:nvSpPr>
          <p:cNvPr id="7" name="Shape 5"/>
          <p:cNvSpPr/>
          <p:nvPr/>
        </p:nvSpPr>
        <p:spPr>
          <a:xfrm>
            <a:off x="4549140" y="1426464"/>
            <a:ext cx="45720" cy="82296"/>
          </a:xfrm>
          <a:prstGeom prst="rect">
            <a:avLst/>
          </a:prstGeom>
          <a:solidFill>
            <a:srgbClr val="A8C5DA"/>
          </a:solidFill>
          <a:ln w="12700">
            <a:solidFill>
              <a:srgbClr val="A8C5DA"/>
            </a:solidFill>
            <a:prstDash val="solid"/>
          </a:ln>
        </p:spPr>
      </p:sp>
      <p:sp>
        <p:nvSpPr>
          <p:cNvPr id="8" name="Shape 6"/>
          <p:cNvSpPr/>
          <p:nvPr/>
        </p:nvSpPr>
        <p:spPr>
          <a:xfrm>
            <a:off x="2057400" y="1508760"/>
            <a:ext cx="5029200" cy="420624"/>
          </a:xfrm>
          <a:prstGeom prst="rect">
            <a:avLst/>
          </a:prstGeom>
          <a:solidFill>
            <a:srgbClr val="E3F2FD"/>
          </a:solidFill>
          <a:ln w="12700">
            <a:solidFill>
              <a:srgbClr val="065A82"/>
            </a:solidFill>
            <a:prstDash val="solid"/>
          </a:ln>
        </p:spPr>
      </p:sp>
      <p:sp>
        <p:nvSpPr>
          <p:cNvPr id="9" name="Shape 7"/>
          <p:cNvSpPr/>
          <p:nvPr/>
        </p:nvSpPr>
        <p:spPr>
          <a:xfrm>
            <a:off x="2057400" y="1508760"/>
            <a:ext cx="64008" cy="420624"/>
          </a:xfrm>
          <a:prstGeom prst="rect">
            <a:avLst/>
          </a:prstGeom>
          <a:solidFill>
            <a:srgbClr val="065A82"/>
          </a:solidFill>
          <a:ln w="12700">
            <a:solidFill>
              <a:srgbClr val="065A82"/>
            </a:solidFill>
            <a:prstDash val="solid"/>
          </a:ln>
        </p:spPr>
      </p:sp>
      <p:sp>
        <p:nvSpPr>
          <p:cNvPr id="10" name="Text 8"/>
          <p:cNvSpPr/>
          <p:nvPr/>
        </p:nvSpPr>
        <p:spPr>
          <a:xfrm>
            <a:off x="2221992" y="1545336"/>
            <a:ext cx="4800600" cy="347472"/>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Transcript Acquisition</a:t>
            </a:r>
            <a:endParaRPr lang="en-US" sz="1300" dirty="0"/>
          </a:p>
        </p:txBody>
      </p:sp>
      <p:sp>
        <p:nvSpPr>
          <p:cNvPr id="11" name="Shape 9"/>
          <p:cNvSpPr/>
          <p:nvPr/>
        </p:nvSpPr>
        <p:spPr>
          <a:xfrm>
            <a:off x="4549140" y="1929384"/>
            <a:ext cx="45720" cy="82296"/>
          </a:xfrm>
          <a:prstGeom prst="rect">
            <a:avLst/>
          </a:prstGeom>
          <a:solidFill>
            <a:srgbClr val="A8C5DA"/>
          </a:solidFill>
          <a:ln w="12700">
            <a:solidFill>
              <a:srgbClr val="A8C5DA"/>
            </a:solidFill>
            <a:prstDash val="solid"/>
          </a:ln>
        </p:spPr>
      </p:sp>
      <p:sp>
        <p:nvSpPr>
          <p:cNvPr id="12" name="Shape 10"/>
          <p:cNvSpPr/>
          <p:nvPr/>
        </p:nvSpPr>
        <p:spPr>
          <a:xfrm>
            <a:off x="2057400" y="2011680"/>
            <a:ext cx="5029200" cy="420624"/>
          </a:xfrm>
          <a:prstGeom prst="rect">
            <a:avLst/>
          </a:prstGeom>
          <a:solidFill>
            <a:srgbClr val="E8F5E9"/>
          </a:solidFill>
          <a:ln w="12700">
            <a:solidFill>
              <a:srgbClr val="1273A8"/>
            </a:solidFill>
            <a:prstDash val="solid"/>
          </a:ln>
        </p:spPr>
      </p:sp>
      <p:sp>
        <p:nvSpPr>
          <p:cNvPr id="13" name="Shape 11"/>
          <p:cNvSpPr/>
          <p:nvPr/>
        </p:nvSpPr>
        <p:spPr>
          <a:xfrm>
            <a:off x="2057400" y="2011680"/>
            <a:ext cx="64008" cy="420624"/>
          </a:xfrm>
          <a:prstGeom prst="rect">
            <a:avLst/>
          </a:prstGeom>
          <a:solidFill>
            <a:srgbClr val="1273A8"/>
          </a:solidFill>
          <a:ln w="12700">
            <a:solidFill>
              <a:srgbClr val="1273A8"/>
            </a:solidFill>
            <a:prstDash val="solid"/>
          </a:ln>
        </p:spPr>
      </p:sp>
      <p:sp>
        <p:nvSpPr>
          <p:cNvPr id="14" name="Text 12"/>
          <p:cNvSpPr/>
          <p:nvPr/>
        </p:nvSpPr>
        <p:spPr>
          <a:xfrm>
            <a:off x="2221992" y="2048256"/>
            <a:ext cx="4800600" cy="347472"/>
          </a:xfrm>
          <a:prstGeom prst="rect">
            <a:avLst/>
          </a:prstGeom>
          <a:noFill/>
          <a:ln/>
        </p:spPr>
        <p:txBody>
          <a:bodyPr wrap="square" lIns="0" tIns="0" rIns="0" bIns="0" rtlCol="0" anchor="ctr"/>
          <a:lstStyle/>
          <a:p>
            <a:pPr indent="0" marL="0">
              <a:buNone/>
            </a:pPr>
            <a:r>
              <a:rPr lang="en-US" sz="1300" b="1" dirty="0">
                <a:solidFill>
                  <a:srgbClr val="1273A8"/>
                </a:solidFill>
                <a:latin typeface="Calibri" pitchFamily="34" charset="0"/>
                <a:ea typeface="Calibri" pitchFamily="34" charset="-122"/>
                <a:cs typeface="Calibri" pitchFamily="34" charset="-120"/>
              </a:rPr>
              <a:t>Segment Formatting</a:t>
            </a:r>
            <a:endParaRPr lang="en-US" sz="1300" dirty="0"/>
          </a:p>
        </p:txBody>
      </p:sp>
      <p:sp>
        <p:nvSpPr>
          <p:cNvPr id="15" name="Shape 13"/>
          <p:cNvSpPr/>
          <p:nvPr/>
        </p:nvSpPr>
        <p:spPr>
          <a:xfrm>
            <a:off x="4549140" y="2432304"/>
            <a:ext cx="45720" cy="82296"/>
          </a:xfrm>
          <a:prstGeom prst="rect">
            <a:avLst/>
          </a:prstGeom>
          <a:solidFill>
            <a:srgbClr val="A8C5DA"/>
          </a:solidFill>
          <a:ln w="12700">
            <a:solidFill>
              <a:srgbClr val="A8C5DA"/>
            </a:solidFill>
            <a:prstDash val="solid"/>
          </a:ln>
        </p:spPr>
      </p:sp>
      <p:sp>
        <p:nvSpPr>
          <p:cNvPr id="16" name="Shape 14"/>
          <p:cNvSpPr/>
          <p:nvPr/>
        </p:nvSpPr>
        <p:spPr>
          <a:xfrm>
            <a:off x="2057400" y="2514600"/>
            <a:ext cx="5029200" cy="420624"/>
          </a:xfrm>
          <a:prstGeom prst="rect">
            <a:avLst/>
          </a:prstGeom>
          <a:solidFill>
            <a:srgbClr val="E8F5E9"/>
          </a:solidFill>
          <a:ln w="12700">
            <a:solidFill>
              <a:srgbClr val="1273A8"/>
            </a:solidFill>
            <a:prstDash val="solid"/>
          </a:ln>
        </p:spPr>
      </p:sp>
      <p:sp>
        <p:nvSpPr>
          <p:cNvPr id="17" name="Shape 15"/>
          <p:cNvSpPr/>
          <p:nvPr/>
        </p:nvSpPr>
        <p:spPr>
          <a:xfrm>
            <a:off x="2057400" y="2514600"/>
            <a:ext cx="64008" cy="420624"/>
          </a:xfrm>
          <a:prstGeom prst="rect">
            <a:avLst/>
          </a:prstGeom>
          <a:solidFill>
            <a:srgbClr val="1273A8"/>
          </a:solidFill>
          <a:ln w="12700">
            <a:solidFill>
              <a:srgbClr val="1273A8"/>
            </a:solidFill>
            <a:prstDash val="solid"/>
          </a:ln>
        </p:spPr>
      </p:sp>
      <p:sp>
        <p:nvSpPr>
          <p:cNvPr id="18" name="Text 16"/>
          <p:cNvSpPr/>
          <p:nvPr/>
        </p:nvSpPr>
        <p:spPr>
          <a:xfrm>
            <a:off x="2221992" y="2551176"/>
            <a:ext cx="4800600" cy="347472"/>
          </a:xfrm>
          <a:prstGeom prst="rect">
            <a:avLst/>
          </a:prstGeom>
          <a:noFill/>
          <a:ln/>
        </p:spPr>
        <p:txBody>
          <a:bodyPr wrap="square" lIns="0" tIns="0" rIns="0" bIns="0" rtlCol="0" anchor="ctr"/>
          <a:lstStyle/>
          <a:p>
            <a:pPr indent="0" marL="0">
              <a:buNone/>
            </a:pPr>
            <a:r>
              <a:rPr lang="en-US" sz="1300" b="1" dirty="0">
                <a:solidFill>
                  <a:srgbClr val="1273A8"/>
                </a:solidFill>
                <a:latin typeface="Calibri" pitchFamily="34" charset="0"/>
                <a:ea typeface="Calibri" pitchFamily="34" charset="-122"/>
                <a:cs typeface="Calibri" pitchFamily="34" charset="-120"/>
              </a:rPr>
              <a:t>Provider Selection</a:t>
            </a:r>
            <a:endParaRPr lang="en-US" sz="1300" dirty="0"/>
          </a:p>
        </p:txBody>
      </p:sp>
      <p:sp>
        <p:nvSpPr>
          <p:cNvPr id="19" name="Shape 17"/>
          <p:cNvSpPr/>
          <p:nvPr/>
        </p:nvSpPr>
        <p:spPr>
          <a:xfrm>
            <a:off x="4549140" y="2935224"/>
            <a:ext cx="45720" cy="82296"/>
          </a:xfrm>
          <a:prstGeom prst="rect">
            <a:avLst/>
          </a:prstGeom>
          <a:solidFill>
            <a:srgbClr val="A8C5DA"/>
          </a:solidFill>
          <a:ln w="12700">
            <a:solidFill>
              <a:srgbClr val="A8C5DA"/>
            </a:solidFill>
            <a:prstDash val="solid"/>
          </a:ln>
        </p:spPr>
      </p:sp>
      <p:sp>
        <p:nvSpPr>
          <p:cNvPr id="20" name="Shape 18"/>
          <p:cNvSpPr/>
          <p:nvPr/>
        </p:nvSpPr>
        <p:spPr>
          <a:xfrm>
            <a:off x="2057400" y="3017520"/>
            <a:ext cx="5029200" cy="420624"/>
          </a:xfrm>
          <a:prstGeom prst="rect">
            <a:avLst/>
          </a:prstGeom>
          <a:solidFill>
            <a:srgbClr val="F3E5F5"/>
          </a:solidFill>
          <a:ln w="12700">
            <a:solidFill>
              <a:srgbClr val="6A1B9A"/>
            </a:solidFill>
            <a:prstDash val="solid"/>
          </a:ln>
        </p:spPr>
      </p:sp>
      <p:sp>
        <p:nvSpPr>
          <p:cNvPr id="21" name="Shape 19"/>
          <p:cNvSpPr/>
          <p:nvPr/>
        </p:nvSpPr>
        <p:spPr>
          <a:xfrm>
            <a:off x="2057400" y="3017520"/>
            <a:ext cx="64008" cy="420624"/>
          </a:xfrm>
          <a:prstGeom prst="rect">
            <a:avLst/>
          </a:prstGeom>
          <a:solidFill>
            <a:srgbClr val="6A1B9A"/>
          </a:solidFill>
          <a:ln w="12700">
            <a:solidFill>
              <a:srgbClr val="6A1B9A"/>
            </a:solidFill>
            <a:prstDash val="solid"/>
          </a:ln>
        </p:spPr>
      </p:sp>
      <p:sp>
        <p:nvSpPr>
          <p:cNvPr id="22" name="Text 20"/>
          <p:cNvSpPr/>
          <p:nvPr/>
        </p:nvSpPr>
        <p:spPr>
          <a:xfrm>
            <a:off x="2221992" y="3054096"/>
            <a:ext cx="4800600" cy="347472"/>
          </a:xfrm>
          <a:prstGeom prst="rect">
            <a:avLst/>
          </a:prstGeom>
          <a:noFill/>
          <a:ln/>
        </p:spPr>
        <p:txBody>
          <a:bodyPr wrap="square" lIns="0" tIns="0" rIns="0" bIns="0" rtlCol="0" anchor="ctr"/>
          <a:lstStyle/>
          <a:p>
            <a:pPr indent="0" marL="0">
              <a:buNone/>
            </a:pPr>
            <a:r>
              <a:rPr lang="en-US" sz="1300" b="1" dirty="0">
                <a:solidFill>
                  <a:srgbClr val="6A1B9A"/>
                </a:solidFill>
                <a:latin typeface="Calibri" pitchFamily="34" charset="0"/>
                <a:ea typeface="Calibri" pitchFamily="34" charset="-122"/>
                <a:cs typeface="Calibri" pitchFamily="34" charset="-120"/>
              </a:rPr>
              <a:t>LLM Generation</a:t>
            </a:r>
            <a:endParaRPr lang="en-US" sz="1300" dirty="0"/>
          </a:p>
        </p:txBody>
      </p:sp>
      <p:sp>
        <p:nvSpPr>
          <p:cNvPr id="23" name="Shape 21"/>
          <p:cNvSpPr/>
          <p:nvPr/>
        </p:nvSpPr>
        <p:spPr>
          <a:xfrm>
            <a:off x="4549140" y="3438144"/>
            <a:ext cx="45720" cy="82296"/>
          </a:xfrm>
          <a:prstGeom prst="rect">
            <a:avLst/>
          </a:prstGeom>
          <a:solidFill>
            <a:srgbClr val="A8C5DA"/>
          </a:solidFill>
          <a:ln w="12700">
            <a:solidFill>
              <a:srgbClr val="A8C5DA"/>
            </a:solidFill>
            <a:prstDash val="solid"/>
          </a:ln>
        </p:spPr>
      </p:sp>
      <p:sp>
        <p:nvSpPr>
          <p:cNvPr id="24" name="Shape 22"/>
          <p:cNvSpPr/>
          <p:nvPr/>
        </p:nvSpPr>
        <p:spPr>
          <a:xfrm>
            <a:off x="2057400" y="3520440"/>
            <a:ext cx="5029200" cy="420624"/>
          </a:xfrm>
          <a:prstGeom prst="rect">
            <a:avLst/>
          </a:prstGeom>
          <a:solidFill>
            <a:srgbClr val="E8F5E9"/>
          </a:solidFill>
          <a:ln w="12700">
            <a:solidFill>
              <a:srgbClr val="2E7D32"/>
            </a:solidFill>
            <a:prstDash val="solid"/>
          </a:ln>
        </p:spPr>
      </p:sp>
      <p:sp>
        <p:nvSpPr>
          <p:cNvPr id="25" name="Shape 23"/>
          <p:cNvSpPr/>
          <p:nvPr/>
        </p:nvSpPr>
        <p:spPr>
          <a:xfrm>
            <a:off x="2057400" y="3520440"/>
            <a:ext cx="64008" cy="420624"/>
          </a:xfrm>
          <a:prstGeom prst="rect">
            <a:avLst/>
          </a:prstGeom>
          <a:solidFill>
            <a:srgbClr val="2E7D32"/>
          </a:solidFill>
          <a:ln w="12700">
            <a:solidFill>
              <a:srgbClr val="2E7D32"/>
            </a:solidFill>
            <a:prstDash val="solid"/>
          </a:ln>
        </p:spPr>
      </p:sp>
      <p:sp>
        <p:nvSpPr>
          <p:cNvPr id="26" name="Text 24"/>
          <p:cNvSpPr/>
          <p:nvPr/>
        </p:nvSpPr>
        <p:spPr>
          <a:xfrm>
            <a:off x="2221992" y="3557016"/>
            <a:ext cx="4800600" cy="347472"/>
          </a:xfrm>
          <a:prstGeom prst="rect">
            <a:avLst/>
          </a:prstGeom>
          <a:noFill/>
          <a:ln/>
        </p:spPr>
        <p:txBody>
          <a:bodyPr wrap="square" lIns="0" tIns="0" rIns="0" bIns="0" rtlCol="0" anchor="ctr"/>
          <a:lstStyle/>
          <a:p>
            <a:pPr indent="0" marL="0">
              <a:buNone/>
            </a:pPr>
            <a:r>
              <a:rPr lang="en-US" sz="1300" b="1" dirty="0">
                <a:solidFill>
                  <a:srgbClr val="2E7D32"/>
                </a:solidFill>
                <a:latin typeface="Calibri" pitchFamily="34" charset="0"/>
                <a:ea typeface="Calibri" pitchFamily="34" charset="-122"/>
                <a:cs typeface="Calibri" pitchFamily="34" charset="-120"/>
              </a:rPr>
              <a:t>Zod Validation</a:t>
            </a:r>
            <a:endParaRPr lang="en-US" sz="1300" dirty="0"/>
          </a:p>
        </p:txBody>
      </p:sp>
      <p:sp>
        <p:nvSpPr>
          <p:cNvPr id="27" name="Shape 25"/>
          <p:cNvSpPr/>
          <p:nvPr/>
        </p:nvSpPr>
        <p:spPr>
          <a:xfrm>
            <a:off x="4549140" y="3941064"/>
            <a:ext cx="45720" cy="82296"/>
          </a:xfrm>
          <a:prstGeom prst="rect">
            <a:avLst/>
          </a:prstGeom>
          <a:solidFill>
            <a:srgbClr val="A8C5DA"/>
          </a:solidFill>
          <a:ln w="12700">
            <a:solidFill>
              <a:srgbClr val="A8C5DA"/>
            </a:solidFill>
            <a:prstDash val="solid"/>
          </a:ln>
        </p:spPr>
      </p:sp>
      <p:sp>
        <p:nvSpPr>
          <p:cNvPr id="28" name="Shape 26"/>
          <p:cNvSpPr/>
          <p:nvPr/>
        </p:nvSpPr>
        <p:spPr>
          <a:xfrm>
            <a:off x="2057400" y="4023360"/>
            <a:ext cx="5029200" cy="420624"/>
          </a:xfrm>
          <a:prstGeom prst="rect">
            <a:avLst/>
          </a:prstGeom>
          <a:solidFill>
            <a:srgbClr val="E3F2FD"/>
          </a:solidFill>
          <a:ln w="12700">
            <a:solidFill>
              <a:srgbClr val="1565C0"/>
            </a:solidFill>
            <a:prstDash val="solid"/>
          </a:ln>
        </p:spPr>
      </p:sp>
      <p:sp>
        <p:nvSpPr>
          <p:cNvPr id="29" name="Shape 27"/>
          <p:cNvSpPr/>
          <p:nvPr/>
        </p:nvSpPr>
        <p:spPr>
          <a:xfrm>
            <a:off x="2057400" y="4023360"/>
            <a:ext cx="64008" cy="420624"/>
          </a:xfrm>
          <a:prstGeom prst="rect">
            <a:avLst/>
          </a:prstGeom>
          <a:solidFill>
            <a:srgbClr val="1565C0"/>
          </a:solidFill>
          <a:ln w="12700">
            <a:solidFill>
              <a:srgbClr val="1565C0"/>
            </a:solidFill>
            <a:prstDash val="solid"/>
          </a:ln>
        </p:spPr>
      </p:sp>
      <p:sp>
        <p:nvSpPr>
          <p:cNvPr id="30" name="Text 28"/>
          <p:cNvSpPr/>
          <p:nvPr/>
        </p:nvSpPr>
        <p:spPr>
          <a:xfrm>
            <a:off x="2221992" y="4059936"/>
            <a:ext cx="4800600" cy="347472"/>
          </a:xfrm>
          <a:prstGeom prst="rect">
            <a:avLst/>
          </a:prstGeom>
          <a:noFill/>
          <a:ln/>
        </p:spPr>
        <p:txBody>
          <a:bodyPr wrap="square" lIns="0" tIns="0" rIns="0" bIns="0" rtlCol="0" anchor="ctr"/>
          <a:lstStyle/>
          <a:p>
            <a:pPr indent="0" marL="0">
              <a:buNone/>
            </a:pPr>
            <a:r>
              <a:rPr lang="en-US" sz="1300" b="1" dirty="0">
                <a:solidFill>
                  <a:srgbClr val="1565C0"/>
                </a:solidFill>
                <a:latin typeface="Calibri" pitchFamily="34" charset="0"/>
                <a:ea typeface="Calibri" pitchFamily="34" charset="-122"/>
                <a:cs typeface="Calibri" pitchFamily="34" charset="-120"/>
              </a:rPr>
              <a:t>Instructor Review</a:t>
            </a:r>
            <a:endParaRPr lang="en-US" sz="1300" dirty="0"/>
          </a:p>
        </p:txBody>
      </p:sp>
      <p:sp>
        <p:nvSpPr>
          <p:cNvPr id="31" name="Shape 29"/>
          <p:cNvSpPr/>
          <p:nvPr/>
        </p:nvSpPr>
        <p:spPr>
          <a:xfrm>
            <a:off x="4549140" y="4443984"/>
            <a:ext cx="45720" cy="82296"/>
          </a:xfrm>
          <a:prstGeom prst="rect">
            <a:avLst/>
          </a:prstGeom>
          <a:solidFill>
            <a:srgbClr val="A8C5DA"/>
          </a:solidFill>
          <a:ln w="12700">
            <a:solidFill>
              <a:srgbClr val="A8C5DA"/>
            </a:solidFill>
            <a:prstDash val="solid"/>
          </a:ln>
        </p:spPr>
      </p:sp>
      <p:sp>
        <p:nvSpPr>
          <p:cNvPr id="32" name="Shape 30"/>
          <p:cNvSpPr/>
          <p:nvPr/>
        </p:nvSpPr>
        <p:spPr>
          <a:xfrm>
            <a:off x="2057400" y="4526280"/>
            <a:ext cx="5029200" cy="420624"/>
          </a:xfrm>
          <a:prstGeom prst="rect">
            <a:avLst/>
          </a:prstGeom>
          <a:solidFill>
            <a:srgbClr val="F1FFF5"/>
          </a:solidFill>
          <a:ln w="12700">
            <a:solidFill>
              <a:srgbClr val="1B5E20"/>
            </a:solidFill>
            <a:prstDash val="solid"/>
          </a:ln>
        </p:spPr>
      </p:sp>
      <p:sp>
        <p:nvSpPr>
          <p:cNvPr id="33" name="Shape 31"/>
          <p:cNvSpPr/>
          <p:nvPr/>
        </p:nvSpPr>
        <p:spPr>
          <a:xfrm>
            <a:off x="2057400" y="4526280"/>
            <a:ext cx="64008" cy="420624"/>
          </a:xfrm>
          <a:prstGeom prst="rect">
            <a:avLst/>
          </a:prstGeom>
          <a:solidFill>
            <a:srgbClr val="1B5E20"/>
          </a:solidFill>
          <a:ln w="12700">
            <a:solidFill>
              <a:srgbClr val="1B5E20"/>
            </a:solidFill>
            <a:prstDash val="solid"/>
          </a:ln>
        </p:spPr>
      </p:sp>
      <p:sp>
        <p:nvSpPr>
          <p:cNvPr id="34" name="Text 32"/>
          <p:cNvSpPr/>
          <p:nvPr/>
        </p:nvSpPr>
        <p:spPr>
          <a:xfrm>
            <a:off x="2221992" y="4562856"/>
            <a:ext cx="4800600" cy="347472"/>
          </a:xfrm>
          <a:prstGeom prst="rect">
            <a:avLst/>
          </a:prstGeom>
          <a:noFill/>
          <a:ln/>
        </p:spPr>
        <p:txBody>
          <a:bodyPr wrap="square" lIns="0" tIns="0" rIns="0" bIns="0" rtlCol="0" anchor="ctr"/>
          <a:lstStyle/>
          <a:p>
            <a:pPr indent="0" marL="0">
              <a:buNone/>
            </a:pPr>
            <a:r>
              <a:rPr lang="en-US" sz="1300" b="1" dirty="0">
                <a:solidFill>
                  <a:srgbClr val="1B5E20"/>
                </a:solidFill>
                <a:latin typeface="Calibri" pitchFamily="34" charset="0"/>
                <a:ea typeface="Calibri" pitchFamily="34" charset="-122"/>
                <a:cs typeface="Calibri" pitchFamily="34" charset="-120"/>
              </a:rPr>
              <a:t>H5P Injection / Export</a:t>
            </a:r>
            <a:endParaRPr lang="en-US" sz="1300" dirty="0"/>
          </a:p>
        </p:txBody>
      </p:sp>
      <p:sp>
        <p:nvSpPr>
          <p:cNvPr id="35" name="Text 33"/>
          <p:cNvSpPr/>
          <p:nvPr/>
        </p:nvSpPr>
        <p:spPr>
          <a:xfrm>
            <a:off x="6949440" y="1078992"/>
            <a:ext cx="1920240" cy="530352"/>
          </a:xfrm>
          <a:prstGeom prst="rect">
            <a:avLst/>
          </a:prstGeom>
          <a:noFill/>
          <a:ln/>
        </p:spPr>
        <p:txBody>
          <a:bodyPr wrap="square" lIns="0" tIns="0" rIns="0" bIns="0" rtlCol="0" anchor="ctr"/>
          <a:lstStyle/>
          <a:p>
            <a:pPr indent="0" marL="0">
              <a:buNone/>
            </a:pPr>
            <a:r>
              <a:rPr lang="en-US" sz="900" i="1" dirty="0">
                <a:solidFill>
                  <a:srgbClr val="065A82"/>
                </a:solidFill>
                <a:latin typeface="Calibri" pitchFamily="34" charset="0"/>
                <a:ea typeface="Calibri" pitchFamily="34" charset="-122"/>
                <a:cs typeface="Calibri" pitchFamily="34" charset="-120"/>
              </a:rPr>
              <a:t>YouTube captions</a:t>
            </a:r>
            <a:endParaRPr lang="en-US" sz="900" dirty="0"/>
          </a:p>
          <a:p>
            <a:pPr indent="0" marL="0">
              <a:buNone/>
            </a:pPr>
            <a:r>
              <a:rPr lang="en-US" sz="900" i="1" dirty="0">
                <a:solidFill>
                  <a:srgbClr val="065A82"/>
                </a:solidFill>
                <a:latin typeface="Calibri" pitchFamily="34" charset="0"/>
                <a:ea typeface="Calibri" pitchFamily="34" charset="-122"/>
                <a:cs typeface="Calibri" pitchFamily="34" charset="-120"/>
              </a:rPr>
              <a:t>VTT / SRT file</a:t>
            </a:r>
            <a:endParaRPr lang="en-US" sz="900" dirty="0"/>
          </a:p>
          <a:p>
            <a:pPr indent="0" marL="0">
              <a:buNone/>
            </a:pPr>
            <a:r>
              <a:rPr lang="en-US" sz="900" i="1" dirty="0">
                <a:solidFill>
                  <a:srgbClr val="065A82"/>
                </a:solidFill>
                <a:latin typeface="Calibri" pitchFamily="34" charset="0"/>
                <a:ea typeface="Calibri" pitchFamily="34" charset="-122"/>
                <a:cs typeface="Calibri" pitchFamily="34" charset="-120"/>
              </a:rPr>
              <a:t>Whisper (local)</a:t>
            </a:r>
            <a:endParaRPr lang="en-US" sz="900" dirty="0"/>
          </a:p>
        </p:txBody>
      </p:sp>
      <p:sp>
        <p:nvSpPr>
          <p:cNvPr id="36" name="Text 34"/>
          <p:cNvSpPr/>
          <p:nvPr/>
        </p:nvSpPr>
        <p:spPr>
          <a:xfrm>
            <a:off x="6949440" y="2084832"/>
            <a:ext cx="1920240" cy="530352"/>
          </a:xfrm>
          <a:prstGeom prst="rect">
            <a:avLst/>
          </a:prstGeom>
          <a:noFill/>
          <a:ln/>
        </p:spPr>
        <p:txBody>
          <a:bodyPr wrap="square" lIns="0" tIns="0" rIns="0" bIns="0" rtlCol="0" anchor="ctr"/>
          <a:lstStyle/>
          <a:p>
            <a:pPr indent="0" marL="0">
              <a:buNone/>
            </a:pPr>
            <a:r>
              <a:rPr lang="en-US" sz="900" i="1" dirty="0">
                <a:solidFill>
                  <a:srgbClr val="1273A8"/>
                </a:solidFill>
                <a:latin typeface="Calibri" pitchFamily="34" charset="0"/>
                <a:ea typeface="Calibri" pitchFamily="34" charset="-122"/>
                <a:cs typeface="Calibri" pitchFamily="34" charset="-120"/>
              </a:rPr>
              <a:t>Info density scoring</a:t>
            </a:r>
            <a:endParaRPr lang="en-US" sz="900" dirty="0"/>
          </a:p>
          <a:p>
            <a:pPr indent="0" marL="0">
              <a:buNone/>
            </a:pPr>
            <a:r>
              <a:rPr lang="en-US" sz="900" i="1" dirty="0">
                <a:solidFill>
                  <a:srgbClr val="1273A8"/>
                </a:solidFill>
                <a:latin typeface="Calibri" pitchFamily="34" charset="0"/>
                <a:ea typeface="Calibri" pitchFamily="34" charset="-122"/>
                <a:cs typeface="Calibri" pitchFamily="34" charset="-120"/>
              </a:rPr>
              <a:t>+ topic markers</a:t>
            </a:r>
            <a:endParaRPr lang="en-US" sz="900" dirty="0"/>
          </a:p>
        </p:txBody>
      </p:sp>
      <p:sp>
        <p:nvSpPr>
          <p:cNvPr id="37" name="Text 35"/>
          <p:cNvSpPr/>
          <p:nvPr/>
        </p:nvSpPr>
        <p:spPr>
          <a:xfrm>
            <a:off x="6949440" y="3090672"/>
            <a:ext cx="1920240" cy="530352"/>
          </a:xfrm>
          <a:prstGeom prst="rect">
            <a:avLst/>
          </a:prstGeom>
          <a:noFill/>
          <a:ln/>
        </p:spPr>
        <p:txBody>
          <a:bodyPr wrap="square" lIns="0" tIns="0" rIns="0" bIns="0" rtlCol="0" anchor="ctr"/>
          <a:lstStyle/>
          <a:p>
            <a:pPr indent="0" marL="0">
              <a:buNone/>
            </a:pPr>
            <a:r>
              <a:rPr lang="en-US" sz="900" i="1" dirty="0">
                <a:solidFill>
                  <a:srgbClr val="6A1B9A"/>
                </a:solidFill>
                <a:latin typeface="Calibri" pitchFamily="34" charset="0"/>
                <a:ea typeface="Calibri" pitchFamily="34" charset="-122"/>
                <a:cs typeface="Calibri" pitchFamily="34" charset="-120"/>
              </a:rPr>
              <a:t>Topic outline first →</a:t>
            </a:r>
            <a:endParaRPr lang="en-US" sz="900" dirty="0"/>
          </a:p>
          <a:p>
            <a:pPr indent="0" marL="0">
              <a:buNone/>
            </a:pPr>
            <a:r>
              <a:rPr lang="en-US" sz="900" i="1" dirty="0">
                <a:solidFill>
                  <a:srgbClr val="6A1B9A"/>
                </a:solidFill>
                <a:latin typeface="Calibri" pitchFamily="34" charset="0"/>
                <a:ea typeface="Calibri" pitchFamily="34" charset="-122"/>
                <a:cs typeface="Calibri" pitchFamily="34" charset="-120"/>
              </a:rPr>
              <a:t>pattern matrix → JSON</a:t>
            </a:r>
            <a:endParaRPr lang="en-US" sz="900" dirty="0"/>
          </a:p>
        </p:txBody>
      </p:sp>
      <p:sp>
        <p:nvSpPr>
          <p:cNvPr id="38" name="Text 36"/>
          <p:cNvSpPr/>
          <p:nvPr/>
        </p:nvSpPr>
        <p:spPr>
          <a:xfrm>
            <a:off x="6949440" y="4096512"/>
            <a:ext cx="1920240" cy="530352"/>
          </a:xfrm>
          <a:prstGeom prst="rect">
            <a:avLst/>
          </a:prstGeom>
          <a:noFill/>
          <a:ln/>
        </p:spPr>
        <p:txBody>
          <a:bodyPr wrap="square" lIns="0" tIns="0" rIns="0" bIns="0" rtlCol="0" anchor="ctr"/>
          <a:lstStyle/>
          <a:p>
            <a:pPr indent="0" marL="0">
              <a:buNone/>
            </a:pPr>
            <a:r>
              <a:rPr lang="en-US" sz="900" i="1" dirty="0">
                <a:solidFill>
                  <a:srgbClr val="1B5E20"/>
                </a:solidFill>
                <a:latin typeface="Calibri" pitchFamily="34" charset="0"/>
                <a:ea typeface="Calibri" pitchFamily="34" charset="-122"/>
                <a:cs typeface="Calibri" pitchFamily="34" charset="-120"/>
              </a:rPr>
              <a:t>SSE stream →</a:t>
            </a:r>
            <a:endParaRPr lang="en-US" sz="900" dirty="0"/>
          </a:p>
          <a:p>
            <a:pPr indent="0" marL="0">
              <a:buNone/>
            </a:pPr>
            <a:r>
              <a:rPr lang="en-US" sz="900" i="1" dirty="0">
                <a:solidFill>
                  <a:srgbClr val="1B5E20"/>
                </a:solidFill>
                <a:latin typeface="Calibri" pitchFamily="34" charset="0"/>
                <a:ea typeface="Calibri" pitchFamily="34" charset="-122"/>
                <a:cs typeface="Calibri" pitchFamily="34" charset="-120"/>
              </a:rPr>
              <a:t>accept / edit / reject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Pattern Matrix: Content Type → Bloom's Level → H5P Type</a:t>
            </a:r>
            <a:endParaRPr lang="en-US" sz="2400" dirty="0"/>
          </a:p>
        </p:txBody>
      </p:sp>
      <p:sp>
        <p:nvSpPr>
          <p:cNvPr id="4" name="Text 2"/>
          <p:cNvSpPr/>
          <p:nvPr/>
        </p:nvSpPr>
        <p:spPr>
          <a:xfrm>
            <a:off x="411480" y="960120"/>
            <a:ext cx="8321040" cy="310896"/>
          </a:xfrm>
          <a:prstGeom prst="rect">
            <a:avLst/>
          </a:prstGeom>
          <a:noFill/>
          <a:ln/>
        </p:spPr>
        <p:txBody>
          <a:bodyPr wrap="square" rtlCol="0" anchor="ctr"/>
          <a:lstStyle/>
          <a:p>
            <a:pPr indent="0" marL="0">
              <a:buNone/>
            </a:pPr>
            <a:r>
              <a:rPr lang="en-US" sz="1250" i="1" dirty="0">
                <a:solidFill>
                  <a:srgbClr val="4A6B8C"/>
                </a:solidFill>
                <a:latin typeface="Calibri" pitchFamily="34" charset="0"/>
                <a:ea typeface="Calibri" pitchFamily="34" charset="-122"/>
                <a:cs typeface="Calibri" pitchFamily="34" charset="-120"/>
              </a:rPr>
              <a:t>A deterministic mapping eliminates ambiguity — the model classifies content and applies the rule, rather than deciding freely.</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74320" y="1344168"/>
          <a:ext cx="8595360" cy="3520440"/>
        </p:xfrm>
        <a:graphic>
          <a:graphicData uri="http://schemas.openxmlformats.org/drawingml/2006/table">
            <a:tbl>
              <a:tblPr/>
              <a:tblGrid>
                <a:gridCol w="2057400"/>
                <a:gridCol w="1463040"/>
                <a:gridCol w="1371600"/>
                <a:gridCol w="3703320"/>
              </a:tblGrid>
              <a:tr h="493776">
                <a:tc>
                  <a:txBody>
                    <a:bodyPr/>
                    <a:lstStyle/>
                    <a:p>
                      <a:pPr algn="ctr" indent="0" marL="0">
                        <a:buNone/>
                      </a:pPr>
                      <a:r>
                        <a:rPr lang="en-US" sz="1100" b="1" dirty="0">
                          <a:solidFill>
                            <a:srgbClr val="FFFFFF"/>
                          </a:solidFill>
                        </a:rPr>
                        <a:t>Content Type</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rPr>
                        <a:t>Bloom's Level</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rPr>
                        <a:t>H5P Type</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rPr>
                        <a:t>Why This Type?</a:t>
                      </a:r>
                      <a:endParaRPr lang="en-US" sz="11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065A82"/>
                    </a:solidFill>
                  </a:tcPr>
                </a:tc>
              </a:tr>
              <a:tr h="493776">
                <a:tc>
                  <a:txBody>
                    <a:bodyPr/>
                    <a:lstStyle/>
                    <a:p>
                      <a:pPr indent="0" marL="0">
                        <a:buNone/>
                      </a:pPr>
                      <a:r>
                        <a:rPr lang="en-US" sz="1200" dirty="0">
                          <a:solidFill>
                            <a:srgbClr val="000000"/>
                          </a:solidFill>
                        </a:rPr>
                        <a:t>Definition / technical term</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Remember / Understand</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FillBlanks</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Retrieve the specific term from context; surrounding text preserves meaning</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r>
              <a:tr h="493776">
                <a:tc>
                  <a:txBody>
                    <a:bodyPr/>
                    <a:lstStyle/>
                    <a:p>
                      <a:pPr indent="0" marL="0">
                        <a:buNone/>
                      </a:pPr>
                      <a:r>
                        <a:rPr lang="en-US" sz="1200" dirty="0">
                          <a:solidFill>
                            <a:srgbClr val="000000"/>
                          </a:solidFill>
                        </a:rPr>
                        <a:t>Binary fact / absolute rule</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Remember</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TrueFalse</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Decision is binary — the claim is either verifiable or not</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r>
              <a:tr h="493776">
                <a:tc>
                  <a:txBody>
                    <a:bodyPr/>
                    <a:lstStyle/>
                    <a:p>
                      <a:pPr indent="0" marL="0">
                        <a:buNone/>
                      </a:pPr>
                      <a:r>
                        <a:rPr lang="en-US" sz="1200" dirty="0">
                          <a:solidFill>
                            <a:srgbClr val="000000"/>
                          </a:solidFill>
                        </a:rPr>
                        <a:t>Comparison / list / process</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Understand / Analyze</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MultiChoice</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Distinguishing features become options; wrong answers drawn from same category</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r>
              <a:tr h="493776">
                <a:tc>
                  <a:txBody>
                    <a:bodyPr/>
                    <a:lstStyle/>
                    <a:p>
                      <a:pPr indent="0" marL="0">
                        <a:buNone/>
                      </a:pPr>
                      <a:r>
                        <a:rPr lang="en-US" sz="1200" dirty="0">
                          <a:solidFill>
                            <a:srgbClr val="000000"/>
                          </a:solidFill>
                        </a:rPr>
                        <a:t>Ordered sequence / procedure</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Apply</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DragText</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Learner reconstructs order — cannot just recognize it from a list</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r>
              <a:tr h="493776">
                <a:tc>
                  <a:txBody>
                    <a:bodyPr/>
                    <a:lstStyle/>
                    <a:p>
                      <a:pPr indent="0" marL="0">
                        <a:buNone/>
                      </a:pPr>
                      <a:r>
                        <a:rPr lang="en-US" sz="1200" dirty="0">
                          <a:solidFill>
                            <a:srgbClr val="000000"/>
                          </a:solidFill>
                        </a:rPr>
                        <a:t>Vocabulary in a passage</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Remember / Understand</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MarkWords</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Identifies technically significant terms within their context</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r>
              <a:tr h="493776">
                <a:tc>
                  <a:txBody>
                    <a:bodyPr/>
                    <a:lstStyle/>
                    <a:p>
                      <a:pPr indent="0" marL="0">
                        <a:buNone/>
                      </a:pPr>
                      <a:r>
                        <a:rPr lang="en-US" sz="1200" dirty="0">
                          <a:solidFill>
                            <a:srgbClr val="000000"/>
                          </a:solidFill>
                        </a:rPr>
                        <a:t>Cross-topic video recap</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Analyze / Evaluate</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Matching</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Pairs key concepts from across the entire video with definitions</a:t>
                      </a:r>
                      <a:endParaRPr lang="en-US" sz="1200" dirty="0"/>
                    </a:p>
                  </a:txBody>
                  <a:tcPr marL="91440" marR="91440" marT="45720" marB="45720">
                    <a:lnL w="6350" cap="flat" cmpd="sng" algn="ctr">
                      <a:solidFill>
                        <a:srgbClr val="D0E8F5"/>
                      </a:solidFill>
                      <a:prstDash val="solid"/>
                      <a:round/>
                      <a:headEnd type="none" w="med" len="med"/>
                      <a:tailEnd type="none" w="med" len="med"/>
                    </a:lnL>
                    <a:lnR w="6350" cap="flat" cmpd="sng" algn="ctr">
                      <a:solidFill>
                        <a:srgbClr val="D0E8F5"/>
                      </a:solidFill>
                      <a:prstDash val="solid"/>
                      <a:round/>
                      <a:headEnd type="none" w="med" len="med"/>
                      <a:tailEnd type="none" w="med" len="med"/>
                    </a:lnR>
                    <a:lnT w="6350" cap="flat" cmpd="sng" algn="ctr">
                      <a:solidFill>
                        <a:srgbClr val="D0E8F5"/>
                      </a:solidFill>
                      <a:prstDash val="solid"/>
                      <a:round/>
                      <a:headEnd type="none" w="med" len="med"/>
                      <a:tailEnd type="none" w="med" len="med"/>
                    </a:lnT>
                    <a:lnB w="6350" cap="flat" cmpd="sng" algn="ctr">
                      <a:solidFill>
                        <a:srgbClr val="D0E8F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Resilient AI: The Four-Tier Fallback Chain</a:t>
            </a:r>
            <a:endParaRPr lang="en-US" sz="2400" dirty="0"/>
          </a:p>
        </p:txBody>
      </p:sp>
      <p:sp>
        <p:nvSpPr>
          <p:cNvPr id="4" name="Shape 2"/>
          <p:cNvSpPr/>
          <p:nvPr/>
        </p:nvSpPr>
        <p:spPr>
          <a:xfrm>
            <a:off x="274320" y="1005840"/>
            <a:ext cx="8595360" cy="868680"/>
          </a:xfrm>
          <a:prstGeom prst="rect">
            <a:avLst/>
          </a:prstGeom>
          <a:solidFill>
            <a:srgbClr val="E3F2FD"/>
          </a:solidFill>
          <a:ln w="12700">
            <a:solidFill>
              <a:srgbClr val="D0E8F5"/>
            </a:solidFill>
            <a:prstDash val="solid"/>
          </a:ln>
        </p:spPr>
      </p:sp>
      <p:sp>
        <p:nvSpPr>
          <p:cNvPr id="5" name="Shape 3"/>
          <p:cNvSpPr/>
          <p:nvPr/>
        </p:nvSpPr>
        <p:spPr>
          <a:xfrm>
            <a:off x="274320" y="1005840"/>
            <a:ext cx="64008" cy="868680"/>
          </a:xfrm>
          <a:prstGeom prst="rect">
            <a:avLst/>
          </a:prstGeom>
          <a:solidFill>
            <a:srgbClr val="065A82"/>
          </a:solidFill>
          <a:ln w="12700">
            <a:solidFill>
              <a:srgbClr val="065A82"/>
            </a:solidFill>
            <a:prstDash val="solid"/>
          </a:ln>
        </p:spPr>
      </p:sp>
      <p:sp>
        <p:nvSpPr>
          <p:cNvPr id="6" name="Text 4"/>
          <p:cNvSpPr/>
          <p:nvPr/>
        </p:nvSpPr>
        <p:spPr>
          <a:xfrm>
            <a:off x="457200" y="1069848"/>
            <a:ext cx="4663440" cy="292608"/>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Tier 1  ·  Groq — LLaMA 3.3-70b-versatile</a:t>
            </a:r>
            <a:endParaRPr lang="en-US" sz="1200" dirty="0"/>
          </a:p>
        </p:txBody>
      </p:sp>
      <p:sp>
        <p:nvSpPr>
          <p:cNvPr id="7" name="Text 5"/>
          <p:cNvSpPr/>
          <p:nvPr/>
        </p:nvSpPr>
        <p:spPr>
          <a:xfrm>
            <a:off x="457200" y="1399032"/>
            <a:ext cx="4663440" cy="384048"/>
          </a:xfrm>
          <a:prstGeom prst="rect">
            <a:avLst/>
          </a:prstGeom>
          <a:noFill/>
          <a:ln/>
        </p:spPr>
        <p:txBody>
          <a:bodyPr wrap="square" lIns="0" tIns="0" rIns="0" bIns="0" rtlCol="0" anchor="ctr"/>
          <a:lstStyle/>
          <a:p>
            <a:pPr indent="0" marL="0">
              <a:buNone/>
            </a:pPr>
            <a:r>
              <a:rPr lang="en-US" sz="1000" dirty="0">
                <a:solidFill>
                  <a:srgbClr val="4A6B8C"/>
                </a:solidFill>
                <a:latin typeface="Calibri" pitchFamily="34" charset="0"/>
                <a:ea typeface="Calibri" pitchFamily="34" charset="-122"/>
                <a:cs typeface="Calibri" pitchFamily="34" charset="-120"/>
              </a:rPr>
              <a:t>Trigger: Normal operation · API key present · within rate limits</a:t>
            </a:r>
            <a:endParaRPr lang="en-US" sz="1000" dirty="0"/>
          </a:p>
        </p:txBody>
      </p:sp>
      <p:sp>
        <p:nvSpPr>
          <p:cNvPr id="8" name="Text 6"/>
          <p:cNvSpPr/>
          <p:nvPr/>
        </p:nvSpPr>
        <p:spPr>
          <a:xfrm>
            <a:off x="5257800" y="1188720"/>
            <a:ext cx="3474720" cy="502920"/>
          </a:xfrm>
          <a:prstGeom prst="rect">
            <a:avLst/>
          </a:prstGeom>
          <a:noFill/>
          <a:ln/>
        </p:spPr>
        <p:txBody>
          <a:bodyPr wrap="square" lIns="0" tIns="0" rIns="0" bIns="0" rtlCol="0" anchor="ctr"/>
          <a:lstStyle/>
          <a:p>
            <a:pPr indent="0" marL="0">
              <a:buNone/>
            </a:pPr>
            <a:r>
              <a:rPr lang="en-US" sz="1100" i="1" dirty="0">
                <a:solidFill>
                  <a:srgbClr val="1A2B3C"/>
                </a:solidFill>
                <a:latin typeface="Calibri" pitchFamily="34" charset="0"/>
                <a:ea typeface="Calibri" pitchFamily="34" charset="-122"/>
                <a:cs typeface="Calibri" pitchFamily="34" charset="-120"/>
              </a:rPr>
              <a:t>8.4s median  ·  6.4 suggestions per run  ·  0 validation failures / 20 runs</a:t>
            </a:r>
            <a:endParaRPr lang="en-US" sz="1100" dirty="0"/>
          </a:p>
        </p:txBody>
      </p:sp>
      <p:sp>
        <p:nvSpPr>
          <p:cNvPr id="9" name="Shape 7"/>
          <p:cNvSpPr/>
          <p:nvPr/>
        </p:nvSpPr>
        <p:spPr>
          <a:xfrm>
            <a:off x="274320" y="1993392"/>
            <a:ext cx="8595360" cy="868680"/>
          </a:xfrm>
          <a:prstGeom prst="rect">
            <a:avLst/>
          </a:prstGeom>
          <a:solidFill>
            <a:srgbClr val="E8F5E9"/>
          </a:solidFill>
          <a:ln w="12700">
            <a:solidFill>
              <a:srgbClr val="D0E8F5"/>
            </a:solidFill>
            <a:prstDash val="solid"/>
          </a:ln>
        </p:spPr>
      </p:sp>
      <p:sp>
        <p:nvSpPr>
          <p:cNvPr id="10" name="Shape 8"/>
          <p:cNvSpPr/>
          <p:nvPr/>
        </p:nvSpPr>
        <p:spPr>
          <a:xfrm>
            <a:off x="274320" y="1993392"/>
            <a:ext cx="64008" cy="868680"/>
          </a:xfrm>
          <a:prstGeom prst="rect">
            <a:avLst/>
          </a:prstGeom>
          <a:solidFill>
            <a:srgbClr val="1273A8"/>
          </a:solidFill>
          <a:ln w="12700">
            <a:solidFill>
              <a:srgbClr val="1273A8"/>
            </a:solidFill>
            <a:prstDash val="solid"/>
          </a:ln>
        </p:spPr>
      </p:sp>
      <p:sp>
        <p:nvSpPr>
          <p:cNvPr id="11" name="Text 9"/>
          <p:cNvSpPr/>
          <p:nvPr/>
        </p:nvSpPr>
        <p:spPr>
          <a:xfrm>
            <a:off x="457200" y="2057400"/>
            <a:ext cx="4663440" cy="292608"/>
          </a:xfrm>
          <a:prstGeom prst="rect">
            <a:avLst/>
          </a:prstGeom>
          <a:noFill/>
          <a:ln/>
        </p:spPr>
        <p:txBody>
          <a:bodyPr wrap="square" lIns="0" tIns="0" rIns="0" bIns="0" rtlCol="0" anchor="ctr"/>
          <a:lstStyle/>
          <a:p>
            <a:pPr indent="0" marL="0">
              <a:buNone/>
            </a:pPr>
            <a:r>
              <a:rPr lang="en-US" sz="1200" b="1" dirty="0">
                <a:solidFill>
                  <a:srgbClr val="1273A8"/>
                </a:solidFill>
                <a:latin typeface="Calibri" pitchFamily="34" charset="0"/>
                <a:ea typeface="Calibri" pitchFamily="34" charset="-122"/>
                <a:cs typeface="Calibri" pitchFamily="34" charset="-120"/>
              </a:rPr>
              <a:t>Tier 2  ·  Groq — LLaMA 3.1-8b-instant</a:t>
            </a:r>
            <a:endParaRPr lang="en-US" sz="1200" dirty="0"/>
          </a:p>
        </p:txBody>
      </p:sp>
      <p:sp>
        <p:nvSpPr>
          <p:cNvPr id="12" name="Text 10"/>
          <p:cNvSpPr/>
          <p:nvPr/>
        </p:nvSpPr>
        <p:spPr>
          <a:xfrm>
            <a:off x="457200" y="2386584"/>
            <a:ext cx="4663440" cy="384048"/>
          </a:xfrm>
          <a:prstGeom prst="rect">
            <a:avLst/>
          </a:prstGeom>
          <a:noFill/>
          <a:ln/>
        </p:spPr>
        <p:txBody>
          <a:bodyPr wrap="square" lIns="0" tIns="0" rIns="0" bIns="0" rtlCol="0" anchor="ctr"/>
          <a:lstStyle/>
          <a:p>
            <a:pPr indent="0" marL="0">
              <a:buNone/>
            </a:pPr>
            <a:r>
              <a:rPr lang="en-US" sz="1000" dirty="0">
                <a:solidFill>
                  <a:srgbClr val="4A6B8C"/>
                </a:solidFill>
                <a:latin typeface="Calibri" pitchFamily="34" charset="0"/>
                <a:ea typeface="Calibri" pitchFamily="34" charset="-122"/>
                <a:cs typeface="Calibri" pitchFamily="34" charset="-120"/>
              </a:rPr>
              <a:t>Trigger: HTTP 429 rate limited  or  HTTP 413 payload too large on Tier 1</a:t>
            </a:r>
            <a:endParaRPr lang="en-US" sz="1000" dirty="0"/>
          </a:p>
        </p:txBody>
      </p:sp>
      <p:sp>
        <p:nvSpPr>
          <p:cNvPr id="13" name="Text 11"/>
          <p:cNvSpPr/>
          <p:nvPr/>
        </p:nvSpPr>
        <p:spPr>
          <a:xfrm>
            <a:off x="5257800" y="2176272"/>
            <a:ext cx="3474720" cy="502920"/>
          </a:xfrm>
          <a:prstGeom prst="rect">
            <a:avLst/>
          </a:prstGeom>
          <a:noFill/>
          <a:ln/>
        </p:spPr>
        <p:txBody>
          <a:bodyPr wrap="square" lIns="0" tIns="0" rIns="0" bIns="0" rtlCol="0" anchor="ctr"/>
          <a:lstStyle/>
          <a:p>
            <a:pPr indent="0" marL="0">
              <a:buNone/>
            </a:pPr>
            <a:r>
              <a:rPr lang="en-US" sz="1100" i="1" dirty="0">
                <a:solidFill>
                  <a:srgbClr val="1A2B3C"/>
                </a:solidFill>
                <a:latin typeface="Calibri" pitchFamily="34" charset="0"/>
                <a:ea typeface="Calibri" pitchFamily="34" charset="-122"/>
                <a:cs typeface="Calibri" pitchFamily="34" charset="-120"/>
              </a:rPr>
              <a:t>Reduced quality · 50 segments max · 2,500 tokens</a:t>
            </a:r>
            <a:endParaRPr lang="en-US" sz="1100" dirty="0"/>
          </a:p>
        </p:txBody>
      </p:sp>
      <p:sp>
        <p:nvSpPr>
          <p:cNvPr id="14" name="Shape 12"/>
          <p:cNvSpPr/>
          <p:nvPr/>
        </p:nvSpPr>
        <p:spPr>
          <a:xfrm>
            <a:off x="274320" y="2980944"/>
            <a:ext cx="8595360" cy="868680"/>
          </a:xfrm>
          <a:prstGeom prst="rect">
            <a:avLst/>
          </a:prstGeom>
          <a:solidFill>
            <a:srgbClr val="FFF8E7"/>
          </a:solidFill>
          <a:ln w="12700">
            <a:solidFill>
              <a:srgbClr val="D0E8F5"/>
            </a:solidFill>
            <a:prstDash val="solid"/>
          </a:ln>
        </p:spPr>
      </p:sp>
      <p:sp>
        <p:nvSpPr>
          <p:cNvPr id="15" name="Shape 13"/>
          <p:cNvSpPr/>
          <p:nvPr/>
        </p:nvSpPr>
        <p:spPr>
          <a:xfrm>
            <a:off x="274320" y="2980944"/>
            <a:ext cx="64008" cy="868680"/>
          </a:xfrm>
          <a:prstGeom prst="rect">
            <a:avLst/>
          </a:prstGeom>
          <a:solidFill>
            <a:srgbClr val="1B98E0"/>
          </a:solidFill>
          <a:ln w="12700">
            <a:solidFill>
              <a:srgbClr val="1B98E0"/>
            </a:solidFill>
            <a:prstDash val="solid"/>
          </a:ln>
        </p:spPr>
      </p:sp>
      <p:sp>
        <p:nvSpPr>
          <p:cNvPr id="16" name="Text 14"/>
          <p:cNvSpPr/>
          <p:nvPr/>
        </p:nvSpPr>
        <p:spPr>
          <a:xfrm>
            <a:off x="457200" y="3044952"/>
            <a:ext cx="4663440" cy="292608"/>
          </a:xfrm>
          <a:prstGeom prst="rect">
            <a:avLst/>
          </a:prstGeom>
          <a:noFill/>
          <a:ln/>
        </p:spPr>
        <p:txBody>
          <a:bodyPr wrap="square" lIns="0" tIns="0" rIns="0" bIns="0" rtlCol="0" anchor="ctr"/>
          <a:lstStyle/>
          <a:p>
            <a:pPr indent="0" marL="0">
              <a:buNone/>
            </a:pPr>
            <a:r>
              <a:rPr lang="en-US" sz="1200" b="1" dirty="0">
                <a:solidFill>
                  <a:srgbClr val="1B98E0"/>
                </a:solidFill>
                <a:latin typeface="Calibri" pitchFamily="34" charset="0"/>
                <a:ea typeface="Calibri" pitchFamily="34" charset="-122"/>
                <a:cs typeface="Calibri" pitchFamily="34" charset="-120"/>
              </a:rPr>
              <a:t>Tier 3  ·  Local Ollama — llama3.1:8b</a:t>
            </a:r>
            <a:endParaRPr lang="en-US" sz="1200" dirty="0"/>
          </a:p>
        </p:txBody>
      </p:sp>
      <p:sp>
        <p:nvSpPr>
          <p:cNvPr id="17" name="Text 15"/>
          <p:cNvSpPr/>
          <p:nvPr/>
        </p:nvSpPr>
        <p:spPr>
          <a:xfrm>
            <a:off x="457200" y="3374136"/>
            <a:ext cx="4663440" cy="384048"/>
          </a:xfrm>
          <a:prstGeom prst="rect">
            <a:avLst/>
          </a:prstGeom>
          <a:noFill/>
          <a:ln/>
        </p:spPr>
        <p:txBody>
          <a:bodyPr wrap="square" lIns="0" tIns="0" rIns="0" bIns="0" rtlCol="0" anchor="ctr"/>
          <a:lstStyle/>
          <a:p>
            <a:pPr indent="0" marL="0">
              <a:buNone/>
            </a:pPr>
            <a:r>
              <a:rPr lang="en-US" sz="1000" dirty="0">
                <a:solidFill>
                  <a:srgbClr val="4A6B8C"/>
                </a:solidFill>
                <a:latin typeface="Calibri" pitchFamily="34" charset="0"/>
                <a:ea typeface="Calibri" pitchFamily="34" charset="-122"/>
                <a:cs typeface="Calibri" pitchFamily="34" charset="-120"/>
              </a:rPr>
              <a:t>Trigger: Any Groq failure before SSE headers: invalid key, all models rate-limited, network unreachable</a:t>
            </a:r>
            <a:endParaRPr lang="en-US" sz="1000" dirty="0"/>
          </a:p>
        </p:txBody>
      </p:sp>
      <p:sp>
        <p:nvSpPr>
          <p:cNvPr id="18" name="Text 16"/>
          <p:cNvSpPr/>
          <p:nvPr/>
        </p:nvSpPr>
        <p:spPr>
          <a:xfrm>
            <a:off x="5257800" y="3163824"/>
            <a:ext cx="3474720" cy="502920"/>
          </a:xfrm>
          <a:prstGeom prst="rect">
            <a:avLst/>
          </a:prstGeom>
          <a:noFill/>
          <a:ln/>
        </p:spPr>
        <p:txBody>
          <a:bodyPr wrap="square" lIns="0" tIns="0" rIns="0" bIns="0" rtlCol="0" anchor="ctr"/>
          <a:lstStyle/>
          <a:p>
            <a:pPr indent="0" marL="0">
              <a:buNone/>
            </a:pPr>
            <a:r>
              <a:rPr lang="en-US" sz="1100" i="1" dirty="0">
                <a:solidFill>
                  <a:srgbClr val="1A2B3C"/>
                </a:solidFill>
                <a:latin typeface="Calibri" pitchFamily="34" charset="0"/>
                <a:ea typeface="Calibri" pitchFamily="34" charset="-122"/>
                <a:cs typeface="Calibri" pitchFamily="34" charset="-120"/>
              </a:rPr>
              <a:t>No API key · No rate limit · 30–90s generation</a:t>
            </a:r>
            <a:endParaRPr lang="en-US" sz="1100" dirty="0"/>
          </a:p>
        </p:txBody>
      </p:sp>
      <p:sp>
        <p:nvSpPr>
          <p:cNvPr id="19" name="Shape 17"/>
          <p:cNvSpPr/>
          <p:nvPr/>
        </p:nvSpPr>
        <p:spPr>
          <a:xfrm>
            <a:off x="274320" y="3968496"/>
            <a:ext cx="8595360" cy="868680"/>
          </a:xfrm>
          <a:prstGeom prst="rect">
            <a:avLst/>
          </a:prstGeom>
          <a:solidFill>
            <a:srgbClr val="FBE9E7"/>
          </a:solidFill>
          <a:ln w="12700">
            <a:solidFill>
              <a:srgbClr val="D0E8F5"/>
            </a:solidFill>
            <a:prstDash val="solid"/>
          </a:ln>
        </p:spPr>
      </p:sp>
      <p:sp>
        <p:nvSpPr>
          <p:cNvPr id="20" name="Shape 18"/>
          <p:cNvSpPr/>
          <p:nvPr/>
        </p:nvSpPr>
        <p:spPr>
          <a:xfrm>
            <a:off x="274320" y="3968496"/>
            <a:ext cx="64008" cy="868680"/>
          </a:xfrm>
          <a:prstGeom prst="rect">
            <a:avLst/>
          </a:prstGeom>
          <a:solidFill>
            <a:srgbClr val="E65100"/>
          </a:solidFill>
          <a:ln w="12700">
            <a:solidFill>
              <a:srgbClr val="E65100"/>
            </a:solidFill>
            <a:prstDash val="solid"/>
          </a:ln>
        </p:spPr>
      </p:sp>
      <p:sp>
        <p:nvSpPr>
          <p:cNvPr id="21" name="Text 19"/>
          <p:cNvSpPr/>
          <p:nvPr/>
        </p:nvSpPr>
        <p:spPr>
          <a:xfrm>
            <a:off x="457200" y="4032504"/>
            <a:ext cx="4663440" cy="292608"/>
          </a:xfrm>
          <a:prstGeom prst="rect">
            <a:avLst/>
          </a:prstGeom>
          <a:noFill/>
          <a:ln/>
        </p:spPr>
        <p:txBody>
          <a:bodyPr wrap="square" lIns="0" tIns="0" rIns="0" bIns="0" rtlCol="0" anchor="ctr"/>
          <a:lstStyle/>
          <a:p>
            <a:pPr indent="0" marL="0">
              <a:buNone/>
            </a:pPr>
            <a:r>
              <a:rPr lang="en-US" sz="1200" b="1" dirty="0">
                <a:solidFill>
                  <a:srgbClr val="E65100"/>
                </a:solidFill>
                <a:latin typeface="Calibri" pitchFamily="34" charset="0"/>
                <a:ea typeface="Calibri" pitchFamily="34" charset="-122"/>
                <a:cs typeface="Calibri" pitchFamily="34" charset="-120"/>
              </a:rPr>
              <a:t>Tier 4  ·  Graceful structured error event</a:t>
            </a:r>
            <a:endParaRPr lang="en-US" sz="1200" dirty="0"/>
          </a:p>
        </p:txBody>
      </p:sp>
      <p:sp>
        <p:nvSpPr>
          <p:cNvPr id="22" name="Text 20"/>
          <p:cNvSpPr/>
          <p:nvPr/>
        </p:nvSpPr>
        <p:spPr>
          <a:xfrm>
            <a:off x="457200" y="4361688"/>
            <a:ext cx="4663440" cy="384048"/>
          </a:xfrm>
          <a:prstGeom prst="rect">
            <a:avLst/>
          </a:prstGeom>
          <a:noFill/>
          <a:ln/>
        </p:spPr>
        <p:txBody>
          <a:bodyPr wrap="square" lIns="0" tIns="0" rIns="0" bIns="0" rtlCol="0" anchor="ctr"/>
          <a:lstStyle/>
          <a:p>
            <a:pPr indent="0" marL="0">
              <a:buNone/>
            </a:pPr>
            <a:r>
              <a:rPr lang="en-US" sz="1000" dirty="0">
                <a:solidFill>
                  <a:srgbClr val="4A6B8C"/>
                </a:solidFill>
                <a:latin typeface="Calibri" pitchFamily="34" charset="0"/>
                <a:ea typeface="Calibri" pitchFamily="34" charset="-122"/>
                <a:cs typeface="Calibri" pitchFamily="34" charset="-120"/>
              </a:rPr>
              <a:t>Trigger: Ollama also unreachable</a:t>
            </a:r>
            <a:endParaRPr lang="en-US" sz="1000" dirty="0"/>
          </a:p>
        </p:txBody>
      </p:sp>
      <p:sp>
        <p:nvSpPr>
          <p:cNvPr id="23" name="Text 21"/>
          <p:cNvSpPr/>
          <p:nvPr/>
        </p:nvSpPr>
        <p:spPr>
          <a:xfrm>
            <a:off x="5257800" y="4151376"/>
            <a:ext cx="3474720" cy="502920"/>
          </a:xfrm>
          <a:prstGeom prst="rect">
            <a:avLst/>
          </a:prstGeom>
          <a:noFill/>
          <a:ln/>
        </p:spPr>
        <p:txBody>
          <a:bodyPr wrap="square" lIns="0" tIns="0" rIns="0" bIns="0" rtlCol="0" anchor="ctr"/>
          <a:lstStyle/>
          <a:p>
            <a:pPr indent="0" marL="0">
              <a:buNone/>
            </a:pPr>
            <a:r>
              <a:rPr lang="en-US" sz="1100" i="1" dirty="0">
                <a:solidFill>
                  <a:srgbClr val="1A2B3C"/>
                </a:solidFill>
                <a:latin typeface="Calibri" pitchFamily="34" charset="0"/>
                <a:ea typeface="Calibri" pitchFamily="34" charset="-122"/>
                <a:cs typeface="Calibri" pitchFamily="34" charset="-120"/>
              </a:rPr>
              <a:t>SSE error event sent to browser — server never crashes (NFR-07)</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Real-Time Streaming and Package Export</a:t>
            </a:r>
            <a:endParaRPr lang="en-US" sz="2400" dirty="0"/>
          </a:p>
        </p:txBody>
      </p:sp>
      <p:sp>
        <p:nvSpPr>
          <p:cNvPr id="4" name="Text 2"/>
          <p:cNvSpPr/>
          <p:nvPr/>
        </p:nvSpPr>
        <p:spPr>
          <a:xfrm>
            <a:off x="365760" y="1024128"/>
            <a:ext cx="4114800" cy="347472"/>
          </a:xfrm>
          <a:prstGeom prst="rect">
            <a:avLst/>
          </a:prstGeom>
          <a:noFill/>
          <a:ln/>
        </p:spPr>
        <p:txBody>
          <a:bodyPr wrap="square" rtlCol="0" anchor="ctr"/>
          <a:lstStyle/>
          <a:p>
            <a:pPr indent="0" marL="0">
              <a:buNone/>
            </a:pPr>
            <a:r>
              <a:rPr lang="en-US" sz="1500" b="1" dirty="0">
                <a:solidFill>
                  <a:srgbClr val="1A2B3C"/>
                </a:solidFill>
                <a:latin typeface="Calibri" pitchFamily="34" charset="0"/>
                <a:ea typeface="Calibri" pitchFamily="34" charset="-122"/>
                <a:cs typeface="Calibri" pitchFamily="34" charset="-120"/>
              </a:rPr>
              <a:t>SSE Streaming</a:t>
            </a:r>
            <a:endParaRPr lang="en-US" sz="1500" dirty="0"/>
          </a:p>
        </p:txBody>
      </p:sp>
      <p:sp>
        <p:nvSpPr>
          <p:cNvPr id="5" name="Shape 3"/>
          <p:cNvSpPr/>
          <p:nvPr/>
        </p:nvSpPr>
        <p:spPr>
          <a:xfrm>
            <a:off x="365760" y="1444752"/>
            <a:ext cx="2011680" cy="1143000"/>
          </a:xfrm>
          <a:prstGeom prst="rect">
            <a:avLst/>
          </a:prstGeom>
          <a:solidFill>
            <a:srgbClr val="EEF6FB"/>
          </a:solidFill>
          <a:ln w="12700">
            <a:solidFill>
              <a:srgbClr val="C8E2F4"/>
            </a:solidFill>
            <a:prstDash val="solid"/>
          </a:ln>
        </p:spPr>
      </p:sp>
      <p:sp>
        <p:nvSpPr>
          <p:cNvPr id="6" name="Text 4"/>
          <p:cNvSpPr/>
          <p:nvPr/>
        </p:nvSpPr>
        <p:spPr>
          <a:xfrm>
            <a:off x="365760" y="1490472"/>
            <a:ext cx="2011680" cy="658368"/>
          </a:xfrm>
          <a:prstGeom prst="rect">
            <a:avLst/>
          </a:prstGeom>
          <a:noFill/>
          <a:ln/>
        </p:spPr>
        <p:txBody>
          <a:bodyPr wrap="square" rtlCol="0" anchor="ctr"/>
          <a:lstStyle/>
          <a:p>
            <a:pPr algn="ctr" indent="0" marL="0">
              <a:buNone/>
            </a:pPr>
            <a:r>
              <a:rPr lang="en-US" sz="4200" b="1" dirty="0">
                <a:solidFill>
                  <a:srgbClr val="065A82"/>
                </a:solidFill>
                <a:latin typeface="Calibri" pitchFamily="34" charset="0"/>
                <a:ea typeface="Calibri" pitchFamily="34" charset="-122"/>
                <a:cs typeface="Calibri" pitchFamily="34" charset="-120"/>
              </a:rPr>
              <a:t>1.2s</a:t>
            </a:r>
            <a:endParaRPr lang="en-US" sz="4200" dirty="0"/>
          </a:p>
        </p:txBody>
      </p:sp>
      <p:sp>
        <p:nvSpPr>
          <p:cNvPr id="7" name="Text 5"/>
          <p:cNvSpPr/>
          <p:nvPr/>
        </p:nvSpPr>
        <p:spPr>
          <a:xfrm>
            <a:off x="365760" y="2148840"/>
            <a:ext cx="2011680" cy="347472"/>
          </a:xfrm>
          <a:prstGeom prst="rect">
            <a:avLst/>
          </a:prstGeom>
          <a:noFill/>
          <a:ln/>
        </p:spPr>
        <p:txBody>
          <a:bodyPr wrap="square" rtlCol="0" anchor="ctr"/>
          <a:lstStyle/>
          <a:p>
            <a:pPr algn="ctr" indent="0" marL="0">
              <a:buNone/>
            </a:pPr>
            <a:r>
              <a:rPr lang="en-US" sz="1100" dirty="0">
                <a:solidFill>
                  <a:srgbClr val="4A6B8C"/>
                </a:solidFill>
                <a:latin typeface="Calibri" pitchFamily="34" charset="0"/>
                <a:ea typeface="Calibri" pitchFamily="34" charset="-122"/>
                <a:cs typeface="Calibri" pitchFamily="34" charset="-120"/>
              </a:rPr>
              <a:t>Time to first token</a:t>
            </a:r>
            <a:endParaRPr lang="en-US" sz="1100" dirty="0"/>
          </a:p>
        </p:txBody>
      </p:sp>
      <p:sp>
        <p:nvSpPr>
          <p:cNvPr id="8" name="Shape 6"/>
          <p:cNvSpPr/>
          <p:nvPr/>
        </p:nvSpPr>
        <p:spPr>
          <a:xfrm>
            <a:off x="2514600" y="1444752"/>
            <a:ext cx="2011680" cy="1143000"/>
          </a:xfrm>
          <a:prstGeom prst="rect">
            <a:avLst/>
          </a:prstGeom>
          <a:solidFill>
            <a:srgbClr val="EEF6FB"/>
          </a:solidFill>
          <a:ln w="12700">
            <a:solidFill>
              <a:srgbClr val="C8E2F4"/>
            </a:solidFill>
            <a:prstDash val="solid"/>
          </a:ln>
        </p:spPr>
      </p:sp>
      <p:sp>
        <p:nvSpPr>
          <p:cNvPr id="9" name="Text 7"/>
          <p:cNvSpPr/>
          <p:nvPr/>
        </p:nvSpPr>
        <p:spPr>
          <a:xfrm>
            <a:off x="2514600" y="1490472"/>
            <a:ext cx="2011680" cy="658368"/>
          </a:xfrm>
          <a:prstGeom prst="rect">
            <a:avLst/>
          </a:prstGeom>
          <a:noFill/>
          <a:ln/>
        </p:spPr>
        <p:txBody>
          <a:bodyPr wrap="square" rtlCol="0" anchor="ctr"/>
          <a:lstStyle/>
          <a:p>
            <a:pPr algn="ctr" indent="0" marL="0">
              <a:buNone/>
            </a:pPr>
            <a:r>
              <a:rPr lang="en-US" sz="4200" b="1" dirty="0">
                <a:solidFill>
                  <a:srgbClr val="065A82"/>
                </a:solidFill>
                <a:latin typeface="Calibri" pitchFamily="34" charset="0"/>
                <a:ea typeface="Calibri" pitchFamily="34" charset="-122"/>
                <a:cs typeface="Calibri" pitchFamily="34" charset="-120"/>
              </a:rPr>
              <a:t>8.4s</a:t>
            </a:r>
            <a:endParaRPr lang="en-US" sz="4200" dirty="0"/>
          </a:p>
        </p:txBody>
      </p:sp>
      <p:sp>
        <p:nvSpPr>
          <p:cNvPr id="10" name="Text 8"/>
          <p:cNvSpPr/>
          <p:nvPr/>
        </p:nvSpPr>
        <p:spPr>
          <a:xfrm>
            <a:off x="2514600" y="2148840"/>
            <a:ext cx="2011680" cy="347472"/>
          </a:xfrm>
          <a:prstGeom prst="rect">
            <a:avLst/>
          </a:prstGeom>
          <a:noFill/>
          <a:ln/>
        </p:spPr>
        <p:txBody>
          <a:bodyPr wrap="square" rtlCol="0" anchor="ctr"/>
          <a:lstStyle/>
          <a:p>
            <a:pPr algn="ctr" indent="0" marL="0">
              <a:buNone/>
            </a:pPr>
            <a:r>
              <a:rPr lang="en-US" sz="1100" dirty="0">
                <a:solidFill>
                  <a:srgbClr val="4A6B8C"/>
                </a:solidFill>
                <a:latin typeface="Calibri" pitchFamily="34" charset="0"/>
                <a:ea typeface="Calibri" pitchFamily="34" charset="-122"/>
                <a:cs typeface="Calibri" pitchFamily="34" charset="-120"/>
              </a:rPr>
              <a:t>Total generation</a:t>
            </a:r>
            <a:endParaRPr lang="en-US" sz="1100" dirty="0"/>
          </a:p>
        </p:txBody>
      </p:sp>
      <p:sp>
        <p:nvSpPr>
          <p:cNvPr id="11" name="Text 9"/>
          <p:cNvSpPr/>
          <p:nvPr/>
        </p:nvSpPr>
        <p:spPr>
          <a:xfrm>
            <a:off x="365760" y="2697480"/>
            <a:ext cx="4160520" cy="1024128"/>
          </a:xfrm>
          <a:prstGeom prst="rect">
            <a:avLst/>
          </a:prstGeom>
          <a:noFill/>
          <a:ln/>
        </p:spPr>
        <p:txBody>
          <a:bodyPr wrap="square" rtlCol="0" anchor="ctr"/>
          <a:lstStyle/>
          <a:p>
            <a:pPr indent="0" marL="0">
              <a:buNone/>
            </a:pPr>
            <a:r>
              <a:rPr lang="en-US" sz="1150" dirty="0">
                <a:solidFill>
                  <a:srgbClr val="1A2B3C"/>
                </a:solidFill>
                <a:latin typeface="Calibri" pitchFamily="34" charset="0"/>
                <a:ea typeface="Calibri" pitchFamily="34" charset="-122"/>
                <a:cs typeface="Calibri" pitchFamily="34" charset="-120"/>
              </a:rPr>
              <a:t>Instructors see the first suggestion after 1.2 seconds — not after 8.4 seconds of silence. All 10 study participants preferred progressive streaming over waiting for a batch result. Aligns with Nielsen's Visibility of System Status heuristic.</a:t>
            </a:r>
            <a:endParaRPr lang="en-US" sz="1150" dirty="0"/>
          </a:p>
        </p:txBody>
      </p:sp>
      <p:sp>
        <p:nvSpPr>
          <p:cNvPr id="12" name="Text 10"/>
          <p:cNvSpPr/>
          <p:nvPr/>
        </p:nvSpPr>
        <p:spPr>
          <a:xfrm>
            <a:off x="365760" y="3767328"/>
            <a:ext cx="4160520" cy="841248"/>
          </a:xfrm>
          <a:prstGeom prst="rect">
            <a:avLst/>
          </a:prstGeom>
          <a:noFill/>
          <a:ln/>
        </p:spPr>
        <p:txBody>
          <a:bodyPr wrap="square" rtlCol="0" anchor="ctr"/>
          <a:lstStyle/>
          <a:p>
            <a:pPr indent="0" marL="0">
              <a:buNone/>
            </a:pPr>
            <a:r>
              <a:rPr lang="en-US" sz="1000" i="1" dirty="0">
                <a:solidFill>
                  <a:srgbClr val="4A6B8C"/>
                </a:solidFill>
                <a:latin typeface="Calibri" pitchFamily="34" charset="0"/>
                <a:ea typeface="Calibri" pitchFamily="34" charset="-122"/>
                <a:cs typeface="Calibri" pitchFamily="34" charset="-120"/>
              </a:rPr>
              <a:t>Key design constraint: SSE headers must be committed before Groq initiates. See fallback chain — this ordering is why provider selection happens synchronously.</a:t>
            </a:r>
            <a:endParaRPr lang="en-US" sz="1000" dirty="0"/>
          </a:p>
        </p:txBody>
      </p:sp>
      <p:sp>
        <p:nvSpPr>
          <p:cNvPr id="13" name="Shape 11"/>
          <p:cNvSpPr/>
          <p:nvPr/>
        </p:nvSpPr>
        <p:spPr>
          <a:xfrm>
            <a:off x="4754880" y="1005840"/>
            <a:ext cx="0" cy="3886200"/>
          </a:xfrm>
          <a:prstGeom prst="line">
            <a:avLst/>
          </a:prstGeom>
          <a:noFill/>
          <a:ln w="12700">
            <a:solidFill>
              <a:srgbClr val="C8E2F4"/>
            </a:solidFill>
            <a:prstDash val="dash"/>
          </a:ln>
        </p:spPr>
      </p:sp>
      <p:sp>
        <p:nvSpPr>
          <p:cNvPr id="14" name="Text 12"/>
          <p:cNvSpPr/>
          <p:nvPr/>
        </p:nvSpPr>
        <p:spPr>
          <a:xfrm>
            <a:off x="4937760" y="1024128"/>
            <a:ext cx="3931920" cy="347472"/>
          </a:xfrm>
          <a:prstGeom prst="rect">
            <a:avLst/>
          </a:prstGeom>
          <a:noFill/>
          <a:ln/>
        </p:spPr>
        <p:txBody>
          <a:bodyPr wrap="square" rtlCol="0" anchor="ctr"/>
          <a:lstStyle/>
          <a:p>
            <a:pPr indent="0" marL="0">
              <a:buNone/>
            </a:pPr>
            <a:r>
              <a:rPr lang="en-US" sz="1500" b="1" dirty="0">
                <a:solidFill>
                  <a:srgbClr val="1A2B3C"/>
                </a:solidFill>
                <a:latin typeface="Calibri" pitchFamily="34" charset="0"/>
                <a:ea typeface="Calibri" pitchFamily="34" charset="-122"/>
                <a:cs typeface="Calibri" pitchFamily="34" charset="-120"/>
              </a:rPr>
              <a:t>How the .h5p Is Exported</a:t>
            </a:r>
            <a:endParaRPr lang="en-US" sz="1500" dirty="0"/>
          </a:p>
        </p:txBody>
      </p:sp>
      <p:sp>
        <p:nvSpPr>
          <p:cNvPr id="15" name="Text 13"/>
          <p:cNvSpPr/>
          <p:nvPr/>
        </p:nvSpPr>
        <p:spPr>
          <a:xfrm>
            <a:off x="4937760" y="1463040"/>
            <a:ext cx="3886200" cy="3337560"/>
          </a:xfrm>
          <a:prstGeom prst="rect">
            <a:avLst/>
          </a:prstGeom>
          <a:noFill/>
          <a:ln/>
        </p:spPr>
        <p:txBody>
          <a:bodyPr wrap="square" rtlCol="0" anchor="t"/>
          <a:lstStyle/>
          <a:p>
            <a:pPr indent="0" marL="0">
              <a:buNone/>
            </a:pPr>
            <a:r>
              <a:rPr lang="en-US" sz="1150" dirty="0">
                <a:solidFill>
                  <a:srgbClr val="1A2B3C"/>
                </a:solidFill>
                <a:latin typeface="Calibri" pitchFamily="34" charset="0"/>
                <a:ea typeface="Calibri" pitchFamily="34" charset="-122"/>
                <a:cs typeface="Calibri" pitchFamily="34" charset="-120"/>
              </a:rPr>
              <a:t>1.  Instructor clicks 'Export'</a:t>
            </a:r>
            <a:endParaRPr lang="en-US" sz="1150" dirty="0"/>
          </a:p>
          <a:p>
            <a:pPr indent="0" marL="0">
              <a:buNone/>
            </a:pPr>
            <a:r>
              <a:rPr lang="en-US" sz="1150" dirty="0">
                <a:solidFill>
                  <a:srgbClr val="1A2B3C"/>
                </a:solidFill>
                <a:latin typeface="Calibri" pitchFamily="34" charset="0"/>
                <a:ea typeface="Calibri" pitchFamily="34" charset="-122"/>
                <a:cs typeface="Calibri" pitchFamily="34" charset="-120"/>
              </a:rPr>
              <a:t>2.  Backend calls createH5PPackage(videoId)</a:t>
            </a:r>
            <a:endParaRPr lang="en-US" sz="1150" dirty="0"/>
          </a:p>
          <a:p>
            <a:pPr indent="0" marL="0">
              <a:buNone/>
            </a:pPr>
            <a:r>
              <a:rPr lang="en-US" sz="1150" dirty="0">
                <a:solidFill>
                  <a:srgbClr val="1A2B3C"/>
                </a:solidFill>
                <a:latin typeface="Calibri" pitchFamily="34" charset="0"/>
                <a:ea typeface="Calibri" pitchFamily="34" charset="-122"/>
                <a:cs typeface="Calibri" pitchFamily="34" charset="-120"/>
              </a:rPr>
              <a:t>3.  adm-zip builds the archive in memory</a:t>
            </a:r>
            <a:endParaRPr lang="en-US" sz="1150" dirty="0"/>
          </a:p>
          <a:p>
            <a:pPr indent="0" marL="0">
              <a:buNone/>
            </a:pPr>
            <a:r>
              <a:rPr lang="en-US" sz="1150" dirty="0">
                <a:solidFill>
                  <a:srgbClr val="1A2B3C"/>
                </a:solidFill>
                <a:latin typeface="Calibri" pitchFamily="34" charset="0"/>
                <a:ea typeface="Calibri" pitchFamily="34" charset="-122"/>
                <a:cs typeface="Calibri" pitchFamily="34" charset="-120"/>
              </a:rPr>
              <a:t>4.  Adds h5p.json + content/content.json + video</a:t>
            </a:r>
            <a:endParaRPr lang="en-US" sz="1150" dirty="0"/>
          </a:p>
          <a:p>
            <a:pPr indent="0" marL="0">
              <a:buNone/>
            </a:pPr>
            <a:r>
              <a:rPr lang="en-US" sz="1150" dirty="0">
                <a:solidFill>
                  <a:srgbClr val="1A2B3C"/>
                </a:solidFill>
                <a:latin typeface="Calibri" pitchFamily="34" charset="0"/>
                <a:ea typeface="Calibri" pitchFamily="34" charset="-122"/>
                <a:cs typeface="Calibri" pitchFamily="34" charset="-120"/>
              </a:rPr>
              <a:t>5.  Interactions positioned using index-based x/y offsets (prevents stacking)</a:t>
            </a:r>
            <a:endParaRPr lang="en-US" sz="1150" dirty="0"/>
          </a:p>
          <a:p>
            <a:pPr indent="0" marL="0">
              <a:buNone/>
            </a:pPr>
            <a:r>
              <a:rPr lang="en-US" sz="1150" dirty="0">
                <a:solidFill>
                  <a:srgbClr val="1A2B3C"/>
                </a:solidFill>
                <a:latin typeface="Calibri" pitchFamily="34" charset="0"/>
                <a:ea typeface="Calibri" pitchFamily="34" charset="-122"/>
                <a:cs typeface="Calibri" pitchFamily="34" charset="-120"/>
              </a:rPr>
              <a:t>6.  ZIP buffer returned as application/zip download</a:t>
            </a:r>
            <a:endParaRPr lang="en-US" sz="1150" dirty="0"/>
          </a:p>
          <a:p>
            <a:pPr indent="0" marL="0">
              <a:buNone/>
            </a:pPr>
            <a:r>
              <a:rPr lang="en-US" sz="1150" dirty="0">
                <a:solidFill>
                  <a:srgbClr val="1A2B3C"/>
                </a:solidFill>
                <a:latin typeface="Calibri" pitchFamily="34" charset="0"/>
                <a:ea typeface="Calibri" pitchFamily="34" charset="-122"/>
                <a:cs typeface="Calibri" pitchFamily="34" charset="-120"/>
              </a:rPr>
              <a:t>7.  Instructor imports .h5p into Moodle or Canvas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Evaluation: Study Design</a:t>
            </a:r>
            <a:endParaRPr lang="en-US" sz="2400" dirty="0"/>
          </a:p>
        </p:txBody>
      </p:sp>
      <p:sp>
        <p:nvSpPr>
          <p:cNvPr id="4" name="Shape 2"/>
          <p:cNvSpPr/>
          <p:nvPr/>
        </p:nvSpPr>
        <p:spPr>
          <a:xfrm>
            <a:off x="274320" y="1024128"/>
            <a:ext cx="2834640" cy="3858768"/>
          </a:xfrm>
          <a:prstGeom prst="rect">
            <a:avLst/>
          </a:prstGeom>
          <a:solidFill>
            <a:srgbClr val="EEF6FB"/>
          </a:solidFill>
          <a:ln w="12700">
            <a:solidFill>
              <a:srgbClr val="C8E2F4"/>
            </a:solidFill>
            <a:prstDash val="solid"/>
          </a:ln>
        </p:spPr>
      </p:sp>
      <p:sp>
        <p:nvSpPr>
          <p:cNvPr id="5" name="Shape 3"/>
          <p:cNvSpPr/>
          <p:nvPr/>
        </p:nvSpPr>
        <p:spPr>
          <a:xfrm>
            <a:off x="274320" y="1024128"/>
            <a:ext cx="64008" cy="3858768"/>
          </a:xfrm>
          <a:prstGeom prst="rect">
            <a:avLst/>
          </a:prstGeom>
          <a:solidFill>
            <a:srgbClr val="065A82"/>
          </a:solidFill>
          <a:ln w="12700">
            <a:solidFill>
              <a:srgbClr val="065A82"/>
            </a:solidFill>
            <a:prstDash val="solid"/>
          </a:ln>
        </p:spPr>
      </p:sp>
      <p:sp>
        <p:nvSpPr>
          <p:cNvPr id="6" name="Text 4"/>
          <p:cNvSpPr/>
          <p:nvPr/>
        </p:nvSpPr>
        <p:spPr>
          <a:xfrm>
            <a:off x="438912" y="1115568"/>
            <a:ext cx="2560320" cy="347472"/>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Participants</a:t>
            </a:r>
            <a:endParaRPr lang="en-US" sz="1350" dirty="0"/>
          </a:p>
        </p:txBody>
      </p:sp>
      <p:sp>
        <p:nvSpPr>
          <p:cNvPr id="7" name="Text 5"/>
          <p:cNvSpPr/>
          <p:nvPr/>
        </p:nvSpPr>
        <p:spPr>
          <a:xfrm>
            <a:off x="438912" y="1536192"/>
            <a:ext cx="2606040" cy="3154680"/>
          </a:xfrm>
          <a:prstGeom prst="rect">
            <a:avLst/>
          </a:prstGeom>
          <a:noFill/>
          <a:ln/>
        </p:spPr>
        <p:txBody>
          <a:bodyPr wrap="square" rtlCol="0" anchor="t"/>
          <a:lstStyle/>
          <a:p>
            <a:pPr marL="342900" indent="-342900">
              <a:buSzPct val="100000"/>
              <a:buChar char="•"/>
            </a:pPr>
            <a:r>
              <a:rPr lang="en-US" sz="1100" dirty="0">
                <a:solidFill>
                  <a:srgbClr val="1A2B3C"/>
                </a:solidFill>
                <a:latin typeface="Calibri" pitchFamily="34" charset="0"/>
                <a:ea typeface="Calibri" pitchFamily="34" charset="-122"/>
                <a:cs typeface="Calibri" pitchFamily="34" charset="-120"/>
              </a:rPr>
              <a:t>10 senior IT students at HCMIU</a:t>
            </a:r>
            <a:endParaRPr lang="en-US" sz="1100" dirty="0"/>
          </a:p>
          <a:p>
            <a:pPr marL="342900" indent="-342900">
              <a:buSzPct val="100000"/>
              <a:buChar char="•"/>
            </a:pPr>
            <a:r>
              <a:rPr lang="en-US" sz="1100" dirty="0">
                <a:solidFill>
                  <a:srgbClr val="1A2B3C"/>
                </a:solidFill>
                <a:latin typeface="Calibri" pitchFamily="34" charset="0"/>
                <a:ea typeface="Calibri" pitchFamily="34" charset="-122"/>
                <a:cs typeface="Calibri" pitchFamily="34" charset="-120"/>
              </a:rPr>
              <a:t>All novices to H5P ecosystem</a:t>
            </a:r>
            <a:endParaRPr lang="en-US" sz="1100" dirty="0"/>
          </a:p>
          <a:p>
            <a:pPr marL="342900" indent="-342900">
              <a:buSzPct val="100000"/>
              <a:buChar char="•"/>
            </a:pPr>
            <a:r>
              <a:rPr lang="en-US" sz="1100" dirty="0">
                <a:solidFill>
                  <a:srgbClr val="1A2B3C"/>
                </a:solidFill>
                <a:latin typeface="Calibri" pitchFamily="34" charset="0"/>
                <a:ea typeface="Calibri" pitchFamily="34" charset="-122"/>
                <a:cs typeface="Calibri" pitchFamily="34" charset="-120"/>
              </a:rPr>
              <a:t>Within-subjects: each used both platforms</a:t>
            </a:r>
            <a:endParaRPr lang="en-US" sz="1100" dirty="0"/>
          </a:p>
          <a:p>
            <a:pPr marL="342900" indent="-342900">
              <a:buSzPct val="100000"/>
              <a:buChar char="•"/>
            </a:pPr>
            <a:r>
              <a:rPr lang="en-US" sz="1100" dirty="0">
                <a:solidFill>
                  <a:srgbClr val="1A2B3C"/>
                </a:solidFill>
                <a:latin typeface="Calibri" pitchFamily="34" charset="0"/>
                <a:ea typeface="Calibri" pitchFamily="34" charset="-122"/>
                <a:cs typeface="Calibri" pitchFamily="34" charset="-120"/>
              </a:rPr>
              <a:t>Order counterbalanced (odd = WordPress first, even = AI-ActivEdu first)</a:t>
            </a:r>
            <a:endParaRPr lang="en-US" sz="1100" dirty="0"/>
          </a:p>
        </p:txBody>
      </p:sp>
      <p:sp>
        <p:nvSpPr>
          <p:cNvPr id="8" name="Shape 6"/>
          <p:cNvSpPr/>
          <p:nvPr/>
        </p:nvSpPr>
        <p:spPr>
          <a:xfrm>
            <a:off x="3200400" y="1024128"/>
            <a:ext cx="2834640" cy="3858768"/>
          </a:xfrm>
          <a:prstGeom prst="rect">
            <a:avLst/>
          </a:prstGeom>
          <a:solidFill>
            <a:srgbClr val="EEF6FB"/>
          </a:solidFill>
          <a:ln w="12700">
            <a:solidFill>
              <a:srgbClr val="C8E2F4"/>
            </a:solidFill>
            <a:prstDash val="solid"/>
          </a:ln>
        </p:spPr>
      </p:sp>
      <p:sp>
        <p:nvSpPr>
          <p:cNvPr id="9" name="Shape 7"/>
          <p:cNvSpPr/>
          <p:nvPr/>
        </p:nvSpPr>
        <p:spPr>
          <a:xfrm>
            <a:off x="3200400" y="1024128"/>
            <a:ext cx="64008" cy="3858768"/>
          </a:xfrm>
          <a:prstGeom prst="rect">
            <a:avLst/>
          </a:prstGeom>
          <a:solidFill>
            <a:srgbClr val="065A82"/>
          </a:solidFill>
          <a:ln w="12700">
            <a:solidFill>
              <a:srgbClr val="065A82"/>
            </a:solidFill>
            <a:prstDash val="solid"/>
          </a:ln>
        </p:spPr>
      </p:sp>
      <p:sp>
        <p:nvSpPr>
          <p:cNvPr id="10" name="Text 8"/>
          <p:cNvSpPr/>
          <p:nvPr/>
        </p:nvSpPr>
        <p:spPr>
          <a:xfrm>
            <a:off x="3364992" y="1115568"/>
            <a:ext cx="2560320" cy="347472"/>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The Task</a:t>
            </a:r>
            <a:endParaRPr lang="en-US" sz="1350" dirty="0"/>
          </a:p>
        </p:txBody>
      </p:sp>
      <p:sp>
        <p:nvSpPr>
          <p:cNvPr id="11" name="Text 9"/>
          <p:cNvSpPr/>
          <p:nvPr/>
        </p:nvSpPr>
        <p:spPr>
          <a:xfrm>
            <a:off x="3364992" y="1536192"/>
            <a:ext cx="2606040" cy="3154680"/>
          </a:xfrm>
          <a:prstGeom prst="rect">
            <a:avLst/>
          </a:prstGeom>
          <a:noFill/>
          <a:ln/>
        </p:spPr>
        <p:txBody>
          <a:bodyPr wrap="square" rtlCol="0" anchor="t"/>
          <a:lstStyle/>
          <a:p>
            <a:pPr marL="342900" indent="-342900">
              <a:buSzPct val="100000"/>
              <a:buChar char="•"/>
            </a:pPr>
            <a:r>
              <a:rPr lang="en-US" sz="1100" dirty="0">
                <a:solidFill>
                  <a:srgbClr val="1A2B3C"/>
                </a:solidFill>
                <a:latin typeface="Calibri" pitchFamily="34" charset="0"/>
                <a:ea typeface="Calibri" pitchFamily="34" charset="-122"/>
                <a:cs typeface="Calibri" pitchFamily="34" charset="-120"/>
              </a:rPr>
              <a:t>Manually create 5 H5P interactions on a 5-minute technical lecture video</a:t>
            </a:r>
            <a:endParaRPr lang="en-US" sz="1100" dirty="0"/>
          </a:p>
          <a:p>
            <a:pPr marL="342900" indent="-342900">
              <a:buSzPct val="100000"/>
              <a:buChar char="•"/>
            </a:pPr>
            <a:r>
              <a:rPr lang="en-US" sz="1100" dirty="0">
                <a:solidFill>
                  <a:srgbClr val="1A2B3C"/>
                </a:solidFill>
                <a:latin typeface="Calibri" pitchFamily="34" charset="0"/>
                <a:ea typeface="Calibri" pitchFamily="34" charset="-122"/>
                <a:cs typeface="Calibri" pitchFamily="34" charset="-120"/>
              </a:rPr>
              <a:t>Choose interaction types and timestamps freely</a:t>
            </a:r>
            <a:endParaRPr lang="en-US" sz="1100" dirty="0"/>
          </a:p>
          <a:p>
            <a:pPr marL="342900" indent="-342900">
              <a:buSzPct val="100000"/>
              <a:buChar char="•"/>
            </a:pPr>
            <a:r>
              <a:rPr lang="en-US" sz="1100" dirty="0">
                <a:solidFill>
                  <a:srgbClr val="1A2B3C"/>
                </a:solidFill>
                <a:latin typeface="Calibri" pitchFamily="34" charset="0"/>
                <a:ea typeface="Calibri" pitchFamily="34" charset="-122"/>
                <a:cs typeface="Calibri" pitchFamily="34" charset="-120"/>
              </a:rPr>
              <a:t>Export a valid .h5p package</a:t>
            </a:r>
            <a:endParaRPr lang="en-US" sz="1100" dirty="0"/>
          </a:p>
          <a:p>
            <a:pPr marL="342900" indent="-342900">
              <a:buSzPct val="100000"/>
              <a:buChar char="•"/>
            </a:pPr>
            <a:r>
              <a:rPr lang="en-US" sz="1100" dirty="0">
                <a:solidFill>
                  <a:srgbClr val="1A2B3C"/>
                </a:solidFill>
                <a:latin typeface="Calibri" pitchFamily="34" charset="0"/>
                <a:ea typeface="Calibri" pitchFamily="34" charset="-122"/>
                <a:cs typeface="Calibri" pitchFamily="34" charset="-120"/>
              </a:rPr>
              <a:t>20-minute time ceiling</a:t>
            </a:r>
            <a:endParaRPr lang="en-US" sz="1100" dirty="0"/>
          </a:p>
          <a:p>
            <a:pPr marL="342900" indent="-342900">
              <a:buSzPct val="100000"/>
              <a:buChar char="•"/>
            </a:pPr>
            <a:r>
              <a:rPr lang="en-US" sz="1100" dirty="0">
                <a:solidFill>
                  <a:srgbClr val="1A2B3C"/>
                </a:solidFill>
                <a:latin typeface="Calibri" pitchFamily="34" charset="0"/>
                <a:ea typeface="Calibri" pitchFamily="34" charset="-122"/>
                <a:cs typeface="Calibri" pitchFamily="34" charset="-120"/>
              </a:rPr>
              <a:t>Baseline: WordPress + H5P Plugin v1.15.8</a:t>
            </a:r>
            <a:endParaRPr lang="en-US" sz="1100" dirty="0"/>
          </a:p>
        </p:txBody>
      </p:sp>
      <p:sp>
        <p:nvSpPr>
          <p:cNvPr id="12" name="Shape 10"/>
          <p:cNvSpPr/>
          <p:nvPr/>
        </p:nvSpPr>
        <p:spPr>
          <a:xfrm>
            <a:off x="6126480" y="1024128"/>
            <a:ext cx="2834640" cy="3858768"/>
          </a:xfrm>
          <a:prstGeom prst="rect">
            <a:avLst/>
          </a:prstGeom>
          <a:solidFill>
            <a:srgbClr val="EEF6FB"/>
          </a:solidFill>
          <a:ln w="12700">
            <a:solidFill>
              <a:srgbClr val="C8E2F4"/>
            </a:solidFill>
            <a:prstDash val="solid"/>
          </a:ln>
        </p:spPr>
      </p:sp>
      <p:sp>
        <p:nvSpPr>
          <p:cNvPr id="13" name="Shape 11"/>
          <p:cNvSpPr/>
          <p:nvPr/>
        </p:nvSpPr>
        <p:spPr>
          <a:xfrm>
            <a:off x="6126480" y="1024128"/>
            <a:ext cx="64008" cy="3858768"/>
          </a:xfrm>
          <a:prstGeom prst="rect">
            <a:avLst/>
          </a:prstGeom>
          <a:solidFill>
            <a:srgbClr val="065A82"/>
          </a:solidFill>
          <a:ln w="12700">
            <a:solidFill>
              <a:srgbClr val="065A82"/>
            </a:solidFill>
            <a:prstDash val="solid"/>
          </a:ln>
        </p:spPr>
      </p:sp>
      <p:sp>
        <p:nvSpPr>
          <p:cNvPr id="14" name="Text 12"/>
          <p:cNvSpPr/>
          <p:nvPr/>
        </p:nvSpPr>
        <p:spPr>
          <a:xfrm>
            <a:off x="6291072" y="1115568"/>
            <a:ext cx="2560320" cy="347472"/>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Three Metrics</a:t>
            </a:r>
            <a:endParaRPr lang="en-US" sz="1350" dirty="0"/>
          </a:p>
        </p:txBody>
      </p:sp>
      <p:sp>
        <p:nvSpPr>
          <p:cNvPr id="15" name="Text 13"/>
          <p:cNvSpPr/>
          <p:nvPr/>
        </p:nvSpPr>
        <p:spPr>
          <a:xfrm>
            <a:off x="6291072" y="1536192"/>
            <a:ext cx="2606040" cy="3154680"/>
          </a:xfrm>
          <a:prstGeom prst="rect">
            <a:avLst/>
          </a:prstGeom>
          <a:noFill/>
          <a:ln/>
        </p:spPr>
        <p:txBody>
          <a:bodyPr wrap="square" rtlCol="0" anchor="t"/>
          <a:lstStyle/>
          <a:p>
            <a:pPr marL="342900" indent="-342900">
              <a:buSzPct val="100000"/>
              <a:buChar char="•"/>
            </a:pPr>
            <a:r>
              <a:rPr lang="en-US" sz="1100" dirty="0">
                <a:solidFill>
                  <a:srgbClr val="1A2B3C"/>
                </a:solidFill>
                <a:latin typeface="Calibri" pitchFamily="34" charset="0"/>
                <a:ea typeface="Calibri" pitchFamily="34" charset="-122"/>
                <a:cs typeface="Calibri" pitchFamily="34" charset="-120"/>
              </a:rPr>
              <a:t>Task completion rate — finished all 5 interactions + exported within ceiling?</a:t>
            </a:r>
            <a:endParaRPr lang="en-US" sz="1100" dirty="0"/>
          </a:p>
          <a:p>
            <a:pPr marL="342900" indent="-342900">
              <a:buSzPct val="100000"/>
              <a:buChar char="•"/>
            </a:pPr>
            <a:r>
              <a:rPr lang="en-US" sz="1100" dirty="0">
                <a:solidFill>
                  <a:srgbClr val="1A2B3C"/>
                </a:solidFill>
                <a:latin typeface="Calibri" pitchFamily="34" charset="0"/>
                <a:ea typeface="Calibri" pitchFamily="34" charset="-122"/>
                <a:cs typeface="Calibri" pitchFamily="34" charset="-120"/>
              </a:rPr>
              <a:t>Time-on-task — first click to successful .h5p download</a:t>
            </a:r>
            <a:endParaRPr lang="en-US" sz="1100" dirty="0"/>
          </a:p>
          <a:p>
            <a:pPr marL="342900" indent="-342900">
              <a:buSzPct val="100000"/>
              <a:buChar char="•"/>
            </a:pPr>
            <a:r>
              <a:rPr lang="en-US" sz="1100" dirty="0">
                <a:solidFill>
                  <a:srgbClr val="1A2B3C"/>
                </a:solidFill>
                <a:latin typeface="Calibri" pitchFamily="34" charset="0"/>
                <a:ea typeface="Calibri" pitchFamily="34" charset="-122"/>
                <a:cs typeface="Calibri" pitchFamily="34" charset="-120"/>
              </a:rPr>
              <a:t>SUS score — 10-item questionnaire (&gt; 68 above-average, &gt; 80 excellent)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Results: Three Metrics, All Moving the Same Direction</a:t>
            </a:r>
            <a:endParaRPr lang="en-US" sz="2400" dirty="0"/>
          </a:p>
        </p:txBody>
      </p:sp>
      <p:pic>
        <p:nvPicPr>
          <p:cNvPr id="4" name="Image 0" descr="/sessions/tender-wonderful-sagan/mnt/itp-h5p/thesis 3/images/comparative-eval.jpeg">    </p:cNvPr>
          <p:cNvPicPr>
            <a:picLocks noChangeAspect="1"/>
          </p:cNvPicPr>
          <p:nvPr/>
        </p:nvPicPr>
        <p:blipFill>
          <a:blip r:embed="rId1"/>
          <a:srcRect l="0" r="0" t="0" b="0"/>
          <a:stretch/>
        </p:blipFill>
        <p:spPr>
          <a:xfrm>
            <a:off x="274320" y="987552"/>
            <a:ext cx="5120640" cy="2971800"/>
          </a:xfrm>
          <a:prstGeom prst="rect">
            <a:avLst/>
          </a:prstGeom>
        </p:spPr>
      </p:pic>
      <p:pic>
        <p:nvPicPr>
          <p:cNvPr id="5" name="Image 1" descr="/sessions/tender-wonderful-sagan/mnt/itp-h5p/thesis 3/images/sus-score.jpeg">    </p:cNvPr>
          <p:cNvPicPr>
            <a:picLocks noChangeAspect="1"/>
          </p:cNvPicPr>
          <p:nvPr/>
        </p:nvPicPr>
        <p:blipFill>
          <a:blip r:embed="rId2"/>
          <a:srcRect l="0" r="0" t="0" b="0"/>
          <a:stretch/>
        </p:blipFill>
        <p:spPr>
          <a:xfrm>
            <a:off x="274320" y="3977640"/>
            <a:ext cx="5120640" cy="960120"/>
          </a:xfrm>
          <a:prstGeom prst="rect">
            <a:avLst/>
          </a:prstGeom>
        </p:spPr>
      </p:pic>
      <p:sp>
        <p:nvSpPr>
          <p:cNvPr id="6" name="Shape 2"/>
          <p:cNvSpPr/>
          <p:nvPr/>
        </p:nvSpPr>
        <p:spPr>
          <a:xfrm>
            <a:off x="5577840" y="1051560"/>
            <a:ext cx="3337560" cy="1188720"/>
          </a:xfrm>
          <a:prstGeom prst="rect">
            <a:avLst/>
          </a:prstGeom>
          <a:solidFill>
            <a:srgbClr val="EEF6FB"/>
          </a:solidFill>
          <a:ln w="12700">
            <a:solidFill>
              <a:srgbClr val="C8E2F4"/>
            </a:solidFill>
            <a:prstDash val="solid"/>
          </a:ln>
        </p:spPr>
      </p:sp>
      <p:sp>
        <p:nvSpPr>
          <p:cNvPr id="7" name="Shape 3"/>
          <p:cNvSpPr/>
          <p:nvPr/>
        </p:nvSpPr>
        <p:spPr>
          <a:xfrm>
            <a:off x="5577840" y="1051560"/>
            <a:ext cx="64008" cy="1188720"/>
          </a:xfrm>
          <a:prstGeom prst="rect">
            <a:avLst/>
          </a:prstGeom>
          <a:solidFill>
            <a:srgbClr val="065A82"/>
          </a:solidFill>
          <a:ln w="12700">
            <a:solidFill>
              <a:srgbClr val="065A82"/>
            </a:solidFill>
            <a:prstDash val="solid"/>
          </a:ln>
        </p:spPr>
      </p:sp>
      <p:sp>
        <p:nvSpPr>
          <p:cNvPr id="8" name="Text 4"/>
          <p:cNvSpPr/>
          <p:nvPr/>
        </p:nvSpPr>
        <p:spPr>
          <a:xfrm>
            <a:off x="5760720" y="1115568"/>
            <a:ext cx="3017520" cy="274320"/>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Task Completion</a:t>
            </a:r>
            <a:endParaRPr lang="en-US" sz="1100" dirty="0"/>
          </a:p>
        </p:txBody>
      </p:sp>
      <p:sp>
        <p:nvSpPr>
          <p:cNvPr id="9" name="Text 5"/>
          <p:cNvSpPr/>
          <p:nvPr/>
        </p:nvSpPr>
        <p:spPr>
          <a:xfrm>
            <a:off x="5760720" y="1435608"/>
            <a:ext cx="2286000" cy="457200"/>
          </a:xfrm>
          <a:prstGeom prst="rect">
            <a:avLst/>
          </a:prstGeom>
          <a:noFill/>
          <a:ln/>
        </p:spPr>
        <p:txBody>
          <a:bodyPr wrap="square" lIns="0" tIns="0" rIns="0" bIns="0" rtlCol="0" anchor="ctr"/>
          <a:lstStyle/>
          <a:p>
            <a:pPr indent="0" marL="0">
              <a:buNone/>
            </a:pPr>
            <a:r>
              <a:rPr lang="en-US" sz="2400" b="1" dirty="0">
                <a:solidFill>
                  <a:srgbClr val="1A2B3C"/>
                </a:solidFill>
                <a:latin typeface="Calibri" pitchFamily="34" charset="0"/>
                <a:ea typeface="Calibri" pitchFamily="34" charset="-122"/>
                <a:cs typeface="Calibri" pitchFamily="34" charset="-120"/>
              </a:rPr>
              <a:t>30%  →  95%</a:t>
            </a:r>
            <a:endParaRPr lang="en-US" sz="2400" dirty="0"/>
          </a:p>
        </p:txBody>
      </p:sp>
      <p:sp>
        <p:nvSpPr>
          <p:cNvPr id="10" name="Text 6"/>
          <p:cNvSpPr/>
          <p:nvPr/>
        </p:nvSpPr>
        <p:spPr>
          <a:xfrm>
            <a:off x="8092440" y="1490472"/>
            <a:ext cx="731520" cy="320040"/>
          </a:xfrm>
          <a:prstGeom prst="rect">
            <a:avLst/>
          </a:prstGeom>
          <a:noFill/>
          <a:ln/>
        </p:spPr>
        <p:txBody>
          <a:bodyPr wrap="square" lIns="0" tIns="0" rIns="0" bIns="0" rtlCol="0" anchor="ctr"/>
          <a:lstStyle/>
          <a:p>
            <a:pPr algn="r" indent="0" marL="0">
              <a:buNone/>
            </a:pPr>
            <a:r>
              <a:rPr lang="en-US" sz="1500" b="1" dirty="0">
                <a:solidFill>
                  <a:srgbClr val="1B5E20"/>
                </a:solidFill>
                <a:latin typeface="Calibri" pitchFamily="34" charset="0"/>
                <a:ea typeface="Calibri" pitchFamily="34" charset="-122"/>
                <a:cs typeface="Calibri" pitchFamily="34" charset="-120"/>
              </a:rPr>
              <a:t>+65 pp</a:t>
            </a:r>
            <a:endParaRPr lang="en-US" sz="1500" dirty="0"/>
          </a:p>
        </p:txBody>
      </p:sp>
      <p:sp>
        <p:nvSpPr>
          <p:cNvPr id="11" name="Shape 7"/>
          <p:cNvSpPr/>
          <p:nvPr/>
        </p:nvSpPr>
        <p:spPr>
          <a:xfrm>
            <a:off x="5577840" y="2377440"/>
            <a:ext cx="3337560" cy="1188720"/>
          </a:xfrm>
          <a:prstGeom prst="rect">
            <a:avLst/>
          </a:prstGeom>
          <a:solidFill>
            <a:srgbClr val="EEF6FB"/>
          </a:solidFill>
          <a:ln w="12700">
            <a:solidFill>
              <a:srgbClr val="C8E2F4"/>
            </a:solidFill>
            <a:prstDash val="solid"/>
          </a:ln>
        </p:spPr>
      </p:sp>
      <p:sp>
        <p:nvSpPr>
          <p:cNvPr id="12" name="Shape 8"/>
          <p:cNvSpPr/>
          <p:nvPr/>
        </p:nvSpPr>
        <p:spPr>
          <a:xfrm>
            <a:off x="5577840" y="2377440"/>
            <a:ext cx="64008" cy="1188720"/>
          </a:xfrm>
          <a:prstGeom prst="rect">
            <a:avLst/>
          </a:prstGeom>
          <a:solidFill>
            <a:srgbClr val="1273A8"/>
          </a:solidFill>
          <a:ln w="12700">
            <a:solidFill>
              <a:srgbClr val="1273A8"/>
            </a:solidFill>
            <a:prstDash val="solid"/>
          </a:ln>
        </p:spPr>
      </p:sp>
      <p:sp>
        <p:nvSpPr>
          <p:cNvPr id="13" name="Text 9"/>
          <p:cNvSpPr/>
          <p:nvPr/>
        </p:nvSpPr>
        <p:spPr>
          <a:xfrm>
            <a:off x="5760720" y="2441448"/>
            <a:ext cx="3017520" cy="274320"/>
          </a:xfrm>
          <a:prstGeom prst="rect">
            <a:avLst/>
          </a:prstGeom>
          <a:noFill/>
          <a:ln/>
        </p:spPr>
        <p:txBody>
          <a:bodyPr wrap="square" lIns="0" tIns="0" rIns="0" bIns="0" rtlCol="0" anchor="ctr"/>
          <a:lstStyle/>
          <a:p>
            <a:pPr indent="0" marL="0">
              <a:buNone/>
            </a:pPr>
            <a:r>
              <a:rPr lang="en-US" sz="1100" b="1" dirty="0">
                <a:solidFill>
                  <a:srgbClr val="1273A8"/>
                </a:solidFill>
                <a:latin typeface="Calibri" pitchFamily="34" charset="0"/>
                <a:ea typeface="Calibri" pitchFamily="34" charset="-122"/>
                <a:cs typeface="Calibri" pitchFamily="34" charset="-120"/>
              </a:rPr>
              <a:t>Median Task Time</a:t>
            </a:r>
            <a:endParaRPr lang="en-US" sz="1100" dirty="0"/>
          </a:p>
        </p:txBody>
      </p:sp>
      <p:sp>
        <p:nvSpPr>
          <p:cNvPr id="14" name="Text 10"/>
          <p:cNvSpPr/>
          <p:nvPr/>
        </p:nvSpPr>
        <p:spPr>
          <a:xfrm>
            <a:off x="5760720" y="2761488"/>
            <a:ext cx="2286000" cy="457200"/>
          </a:xfrm>
          <a:prstGeom prst="rect">
            <a:avLst/>
          </a:prstGeom>
          <a:noFill/>
          <a:ln/>
        </p:spPr>
        <p:txBody>
          <a:bodyPr wrap="square" lIns="0" tIns="0" rIns="0" bIns="0" rtlCol="0" anchor="ctr"/>
          <a:lstStyle/>
          <a:p>
            <a:pPr indent="0" marL="0">
              <a:buNone/>
            </a:pPr>
            <a:r>
              <a:rPr lang="en-US" sz="2400" b="1" dirty="0">
                <a:solidFill>
                  <a:srgbClr val="1A2B3C"/>
                </a:solidFill>
                <a:latin typeface="Calibri" pitchFamily="34" charset="0"/>
                <a:ea typeface="Calibri" pitchFamily="34" charset="-122"/>
                <a:cs typeface="Calibri" pitchFamily="34" charset="-120"/>
              </a:rPr>
              <a:t>18 min  →  5 min</a:t>
            </a:r>
            <a:endParaRPr lang="en-US" sz="2400" dirty="0"/>
          </a:p>
        </p:txBody>
      </p:sp>
      <p:sp>
        <p:nvSpPr>
          <p:cNvPr id="15" name="Text 11"/>
          <p:cNvSpPr/>
          <p:nvPr/>
        </p:nvSpPr>
        <p:spPr>
          <a:xfrm>
            <a:off x="8092440" y="2816352"/>
            <a:ext cx="731520" cy="320040"/>
          </a:xfrm>
          <a:prstGeom prst="rect">
            <a:avLst/>
          </a:prstGeom>
          <a:noFill/>
          <a:ln/>
        </p:spPr>
        <p:txBody>
          <a:bodyPr wrap="square" lIns="0" tIns="0" rIns="0" bIns="0" rtlCol="0" anchor="ctr"/>
          <a:lstStyle/>
          <a:p>
            <a:pPr algn="r" indent="0" marL="0">
              <a:buNone/>
            </a:pPr>
            <a:r>
              <a:rPr lang="en-US" sz="1500" b="1" dirty="0">
                <a:solidFill>
                  <a:srgbClr val="1B5E20"/>
                </a:solidFill>
                <a:latin typeface="Calibri" pitchFamily="34" charset="0"/>
                <a:ea typeface="Calibri" pitchFamily="34" charset="-122"/>
                <a:cs typeface="Calibri" pitchFamily="34" charset="-120"/>
              </a:rPr>
              <a:t>−72%</a:t>
            </a:r>
            <a:endParaRPr lang="en-US" sz="1500" dirty="0"/>
          </a:p>
        </p:txBody>
      </p:sp>
      <p:sp>
        <p:nvSpPr>
          <p:cNvPr id="16" name="Shape 12"/>
          <p:cNvSpPr/>
          <p:nvPr/>
        </p:nvSpPr>
        <p:spPr>
          <a:xfrm>
            <a:off x="5577840" y="3703320"/>
            <a:ext cx="3337560" cy="1188720"/>
          </a:xfrm>
          <a:prstGeom prst="rect">
            <a:avLst/>
          </a:prstGeom>
          <a:solidFill>
            <a:srgbClr val="EEF6FB"/>
          </a:solidFill>
          <a:ln w="12700">
            <a:solidFill>
              <a:srgbClr val="C8E2F4"/>
            </a:solidFill>
            <a:prstDash val="solid"/>
          </a:ln>
        </p:spPr>
      </p:sp>
      <p:sp>
        <p:nvSpPr>
          <p:cNvPr id="17" name="Shape 13"/>
          <p:cNvSpPr/>
          <p:nvPr/>
        </p:nvSpPr>
        <p:spPr>
          <a:xfrm>
            <a:off x="5577840" y="3703320"/>
            <a:ext cx="64008" cy="1188720"/>
          </a:xfrm>
          <a:prstGeom prst="rect">
            <a:avLst/>
          </a:prstGeom>
          <a:solidFill>
            <a:srgbClr val="1B98E0"/>
          </a:solidFill>
          <a:ln w="12700">
            <a:solidFill>
              <a:srgbClr val="1B98E0"/>
            </a:solidFill>
            <a:prstDash val="solid"/>
          </a:ln>
        </p:spPr>
      </p:sp>
      <p:sp>
        <p:nvSpPr>
          <p:cNvPr id="18" name="Text 14"/>
          <p:cNvSpPr/>
          <p:nvPr/>
        </p:nvSpPr>
        <p:spPr>
          <a:xfrm>
            <a:off x="5760720" y="3767328"/>
            <a:ext cx="3017520" cy="274320"/>
          </a:xfrm>
          <a:prstGeom prst="rect">
            <a:avLst/>
          </a:prstGeom>
          <a:noFill/>
          <a:ln/>
        </p:spPr>
        <p:txBody>
          <a:bodyPr wrap="square" lIns="0" tIns="0" rIns="0" bIns="0" rtlCol="0" anchor="ctr"/>
          <a:lstStyle/>
          <a:p>
            <a:pPr indent="0" marL="0">
              <a:buNone/>
            </a:pPr>
            <a:r>
              <a:rPr lang="en-US" sz="1100" b="1" dirty="0">
                <a:solidFill>
                  <a:srgbClr val="1B98E0"/>
                </a:solidFill>
                <a:latin typeface="Calibri" pitchFamily="34" charset="0"/>
                <a:ea typeface="Calibri" pitchFamily="34" charset="-122"/>
                <a:cs typeface="Calibri" pitchFamily="34" charset="-120"/>
              </a:rPr>
              <a:t>Mean SUS Score</a:t>
            </a:r>
            <a:endParaRPr lang="en-US" sz="1100" dirty="0"/>
          </a:p>
        </p:txBody>
      </p:sp>
      <p:sp>
        <p:nvSpPr>
          <p:cNvPr id="19" name="Text 15"/>
          <p:cNvSpPr/>
          <p:nvPr/>
        </p:nvSpPr>
        <p:spPr>
          <a:xfrm>
            <a:off x="5760720" y="4087368"/>
            <a:ext cx="2286000" cy="457200"/>
          </a:xfrm>
          <a:prstGeom prst="rect">
            <a:avLst/>
          </a:prstGeom>
          <a:noFill/>
          <a:ln/>
        </p:spPr>
        <p:txBody>
          <a:bodyPr wrap="square" lIns="0" tIns="0" rIns="0" bIns="0" rtlCol="0" anchor="ctr"/>
          <a:lstStyle/>
          <a:p>
            <a:pPr indent="0" marL="0">
              <a:buNone/>
            </a:pPr>
            <a:r>
              <a:rPr lang="en-US" sz="2400" b="1" dirty="0">
                <a:solidFill>
                  <a:srgbClr val="1A2B3C"/>
                </a:solidFill>
                <a:latin typeface="Calibri" pitchFamily="34" charset="0"/>
                <a:ea typeface="Calibri" pitchFamily="34" charset="-122"/>
                <a:cs typeface="Calibri" pitchFamily="34" charset="-120"/>
              </a:rPr>
              <a:t>38.0  →  82.5</a:t>
            </a:r>
            <a:endParaRPr lang="en-US" sz="2400" dirty="0"/>
          </a:p>
        </p:txBody>
      </p:sp>
      <p:sp>
        <p:nvSpPr>
          <p:cNvPr id="20" name="Text 16"/>
          <p:cNvSpPr/>
          <p:nvPr/>
        </p:nvSpPr>
        <p:spPr>
          <a:xfrm>
            <a:off x="8092440" y="4142232"/>
            <a:ext cx="731520" cy="320040"/>
          </a:xfrm>
          <a:prstGeom prst="rect">
            <a:avLst/>
          </a:prstGeom>
          <a:noFill/>
          <a:ln/>
        </p:spPr>
        <p:txBody>
          <a:bodyPr wrap="square" lIns="0" tIns="0" rIns="0" bIns="0" rtlCol="0" anchor="ctr"/>
          <a:lstStyle/>
          <a:p>
            <a:pPr algn="r" indent="0" marL="0">
              <a:buNone/>
            </a:pPr>
            <a:r>
              <a:rPr lang="en-US" sz="1500" b="1" dirty="0">
                <a:solidFill>
                  <a:srgbClr val="1B5E20"/>
                </a:solidFill>
                <a:latin typeface="Calibri" pitchFamily="34" charset="0"/>
                <a:ea typeface="Calibri" pitchFamily="34" charset="-122"/>
                <a:cs typeface="Calibri" pitchFamily="34" charset="-120"/>
              </a:rPr>
              <a:t>+44.5</a:t>
            </a:r>
            <a:endParaRPr lang="en-US" sz="1500" dirty="0"/>
          </a:p>
        </p:txBody>
      </p:sp>
      <p:sp>
        <p:nvSpPr>
          <p:cNvPr id="21" name="Shape 17"/>
          <p:cNvSpPr/>
          <p:nvPr/>
        </p:nvSpPr>
        <p:spPr>
          <a:xfrm>
            <a:off x="5577840" y="4114800"/>
            <a:ext cx="3337560" cy="868680"/>
          </a:xfrm>
          <a:prstGeom prst="rect">
            <a:avLst/>
          </a:prstGeom>
          <a:solidFill>
            <a:srgbClr val="E8F5E9"/>
          </a:solidFill>
          <a:ln w="12700">
            <a:solidFill>
              <a:srgbClr val="A5D6A7"/>
            </a:solidFill>
            <a:prstDash val="solid"/>
          </a:ln>
        </p:spPr>
      </p:sp>
      <p:sp>
        <p:nvSpPr>
          <p:cNvPr id="22" name="Shape 18"/>
          <p:cNvSpPr/>
          <p:nvPr/>
        </p:nvSpPr>
        <p:spPr>
          <a:xfrm>
            <a:off x="5577840" y="4114800"/>
            <a:ext cx="64008" cy="868680"/>
          </a:xfrm>
          <a:prstGeom prst="rect">
            <a:avLst/>
          </a:prstGeom>
          <a:solidFill>
            <a:srgbClr val="1B5E20"/>
          </a:solidFill>
          <a:ln w="12700">
            <a:solidFill>
              <a:srgbClr val="1B5E20"/>
            </a:solidFill>
            <a:prstDash val="solid"/>
          </a:ln>
        </p:spPr>
      </p:sp>
      <p:sp>
        <p:nvSpPr>
          <p:cNvPr id="23" name="Text 19"/>
          <p:cNvSpPr/>
          <p:nvPr/>
        </p:nvSpPr>
        <p:spPr>
          <a:xfrm>
            <a:off x="5742432" y="4187952"/>
            <a:ext cx="3017520" cy="713232"/>
          </a:xfrm>
          <a:prstGeom prst="rect">
            <a:avLst/>
          </a:prstGeom>
          <a:noFill/>
          <a:ln/>
        </p:spPr>
        <p:txBody>
          <a:bodyPr wrap="square" lIns="0" tIns="0" rIns="0" bIns="0" rtlCol="0" anchor="ctr"/>
          <a:lstStyle/>
          <a:p>
            <a:pPr indent="0" marL="0">
              <a:buNone/>
            </a:pPr>
            <a:r>
              <a:rPr lang="en-US" sz="1050" i="1" dirty="0">
                <a:solidFill>
                  <a:srgbClr val="1B5E20"/>
                </a:solidFill>
                <a:latin typeface="Calibri" pitchFamily="34" charset="0"/>
                <a:ea typeface="Calibri" pitchFamily="34" charset="-122"/>
                <a:cs typeface="Calibri" pitchFamily="34" charset="-120"/>
              </a:rPr>
              <a:t>Convergence across all three metrics makes sampling bias an unlikely explanation — even at n = 10.</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Why It Worked: Five Themes from Think-Aloud Sessions</a:t>
            </a:r>
            <a:endParaRPr lang="en-US" sz="2400" dirty="0"/>
          </a:p>
        </p:txBody>
      </p:sp>
      <p:sp>
        <p:nvSpPr>
          <p:cNvPr id="4" name="Shape 2"/>
          <p:cNvSpPr/>
          <p:nvPr/>
        </p:nvSpPr>
        <p:spPr>
          <a:xfrm>
            <a:off x="320040" y="1024128"/>
            <a:ext cx="4187952" cy="1353312"/>
          </a:xfrm>
          <a:prstGeom prst="rect">
            <a:avLst/>
          </a:prstGeom>
          <a:solidFill>
            <a:srgbClr val="EEF6FB"/>
          </a:solidFill>
          <a:ln w="12700">
            <a:solidFill>
              <a:srgbClr val="C8E2F4"/>
            </a:solidFill>
            <a:prstDash val="solid"/>
          </a:ln>
        </p:spPr>
      </p:sp>
      <p:sp>
        <p:nvSpPr>
          <p:cNvPr id="5" name="Shape 3"/>
          <p:cNvSpPr/>
          <p:nvPr/>
        </p:nvSpPr>
        <p:spPr>
          <a:xfrm>
            <a:off x="320040" y="1024128"/>
            <a:ext cx="64008" cy="1353312"/>
          </a:xfrm>
          <a:prstGeom prst="rect">
            <a:avLst/>
          </a:prstGeom>
          <a:solidFill>
            <a:srgbClr val="1B98E0"/>
          </a:solidFill>
          <a:ln w="12700">
            <a:solidFill>
              <a:srgbClr val="1B98E0"/>
            </a:solidFill>
            <a:prstDash val="solid"/>
          </a:ln>
        </p:spPr>
      </p:sp>
      <p:sp>
        <p:nvSpPr>
          <p:cNvPr id="6" name="Text 4"/>
          <p:cNvSpPr/>
          <p:nvPr/>
        </p:nvSpPr>
        <p:spPr>
          <a:xfrm>
            <a:off x="484632" y="1115568"/>
            <a:ext cx="3931920" cy="329184"/>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1.  AI as editorial scaffolding</a:t>
            </a:r>
            <a:endParaRPr lang="en-US" sz="1250" dirty="0"/>
          </a:p>
        </p:txBody>
      </p:sp>
      <p:sp>
        <p:nvSpPr>
          <p:cNvPr id="7" name="Text 5"/>
          <p:cNvSpPr/>
          <p:nvPr/>
        </p:nvSpPr>
        <p:spPr>
          <a:xfrm>
            <a:off x="484632" y="1481328"/>
            <a:ext cx="3931920" cy="804672"/>
          </a:xfrm>
          <a:prstGeom prst="rect">
            <a:avLst/>
          </a:prstGeom>
          <a:noFill/>
          <a:ln/>
        </p:spPr>
        <p:txBody>
          <a:bodyPr wrap="square" lIns="0" tIns="0" rIns="0" bIns="0" rtlCol="0" anchor="ctr"/>
          <a:lstStyle/>
          <a:p>
            <a:pPr indent="0" marL="0">
              <a:buNone/>
            </a:pPr>
            <a:r>
              <a:rPr lang="en-US" sz="1050" dirty="0">
                <a:solidFill>
                  <a:srgbClr val="1A2B3C"/>
                </a:solidFill>
                <a:latin typeface="Calibri" pitchFamily="34" charset="0"/>
                <a:ea typeface="Calibri" pitchFamily="34" charset="-122"/>
                <a:cs typeface="Calibri" pitchFamily="34" charset="-120"/>
              </a:rPr>
              <a:t>7/10 participants treated suggestions as a starting point to react to, not a replacement. A draft to edit is cognitively easier than authoring from blank.</a:t>
            </a:r>
            <a:endParaRPr lang="en-US" sz="1050" dirty="0"/>
          </a:p>
        </p:txBody>
      </p:sp>
      <p:sp>
        <p:nvSpPr>
          <p:cNvPr id="8" name="Shape 6"/>
          <p:cNvSpPr/>
          <p:nvPr/>
        </p:nvSpPr>
        <p:spPr>
          <a:xfrm>
            <a:off x="4727448" y="1024128"/>
            <a:ext cx="4187952" cy="1353312"/>
          </a:xfrm>
          <a:prstGeom prst="rect">
            <a:avLst/>
          </a:prstGeom>
          <a:solidFill>
            <a:srgbClr val="EEF6FB"/>
          </a:solidFill>
          <a:ln w="12700">
            <a:solidFill>
              <a:srgbClr val="C8E2F4"/>
            </a:solidFill>
            <a:prstDash val="solid"/>
          </a:ln>
        </p:spPr>
      </p:sp>
      <p:sp>
        <p:nvSpPr>
          <p:cNvPr id="9" name="Shape 7"/>
          <p:cNvSpPr/>
          <p:nvPr/>
        </p:nvSpPr>
        <p:spPr>
          <a:xfrm>
            <a:off x="4727448" y="1024128"/>
            <a:ext cx="64008" cy="1353312"/>
          </a:xfrm>
          <a:prstGeom prst="rect">
            <a:avLst/>
          </a:prstGeom>
          <a:solidFill>
            <a:srgbClr val="1B98E0"/>
          </a:solidFill>
          <a:ln w="12700">
            <a:solidFill>
              <a:srgbClr val="1B98E0"/>
            </a:solidFill>
            <a:prstDash val="solid"/>
          </a:ln>
        </p:spPr>
      </p:sp>
      <p:sp>
        <p:nvSpPr>
          <p:cNvPr id="10" name="Text 8"/>
          <p:cNvSpPr/>
          <p:nvPr/>
        </p:nvSpPr>
        <p:spPr>
          <a:xfrm>
            <a:off x="4892040" y="1115568"/>
            <a:ext cx="3931920" cy="329184"/>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2.  One-click timestamp capture</a:t>
            </a:r>
            <a:endParaRPr lang="en-US" sz="1250" dirty="0"/>
          </a:p>
        </p:txBody>
      </p:sp>
      <p:sp>
        <p:nvSpPr>
          <p:cNvPr id="11" name="Text 9"/>
          <p:cNvSpPr/>
          <p:nvPr/>
        </p:nvSpPr>
        <p:spPr>
          <a:xfrm>
            <a:off x="4892040" y="1481328"/>
            <a:ext cx="3931920" cy="804672"/>
          </a:xfrm>
          <a:prstGeom prst="rect">
            <a:avLst/>
          </a:prstGeom>
          <a:noFill/>
          <a:ln/>
        </p:spPr>
        <p:txBody>
          <a:bodyPr wrap="square" lIns="0" tIns="0" rIns="0" bIns="0" rtlCol="0" anchor="ctr"/>
          <a:lstStyle/>
          <a:p>
            <a:pPr indent="0" marL="0">
              <a:buNone/>
            </a:pPr>
            <a:r>
              <a:rPr lang="en-US" sz="1050" dirty="0">
                <a:solidFill>
                  <a:srgbClr val="1A2B3C"/>
                </a:solidFill>
                <a:latin typeface="Calibri" pitchFamily="34" charset="0"/>
                <a:ea typeface="Calibri" pitchFamily="34" charset="-122"/>
                <a:cs typeface="Calibri" pitchFamily="34" charset="-120"/>
              </a:rPr>
              <a:t>Most-praised feature. WordPress required noting time, switching screens, then retyping. One button eliminated all three steps.</a:t>
            </a:r>
            <a:endParaRPr lang="en-US" sz="1050" dirty="0"/>
          </a:p>
        </p:txBody>
      </p:sp>
      <p:sp>
        <p:nvSpPr>
          <p:cNvPr id="12" name="Shape 10"/>
          <p:cNvSpPr/>
          <p:nvPr/>
        </p:nvSpPr>
        <p:spPr>
          <a:xfrm>
            <a:off x="320040" y="2505456"/>
            <a:ext cx="4187952" cy="1353312"/>
          </a:xfrm>
          <a:prstGeom prst="rect">
            <a:avLst/>
          </a:prstGeom>
          <a:solidFill>
            <a:srgbClr val="EEF6FB"/>
          </a:solidFill>
          <a:ln w="12700">
            <a:solidFill>
              <a:srgbClr val="C8E2F4"/>
            </a:solidFill>
            <a:prstDash val="solid"/>
          </a:ln>
        </p:spPr>
      </p:sp>
      <p:sp>
        <p:nvSpPr>
          <p:cNvPr id="13" name="Shape 11"/>
          <p:cNvSpPr/>
          <p:nvPr/>
        </p:nvSpPr>
        <p:spPr>
          <a:xfrm>
            <a:off x="320040" y="2505456"/>
            <a:ext cx="64008" cy="1353312"/>
          </a:xfrm>
          <a:prstGeom prst="rect">
            <a:avLst/>
          </a:prstGeom>
          <a:solidFill>
            <a:srgbClr val="1B98E0"/>
          </a:solidFill>
          <a:ln w="12700">
            <a:solidFill>
              <a:srgbClr val="1B98E0"/>
            </a:solidFill>
            <a:prstDash val="solid"/>
          </a:ln>
        </p:spPr>
      </p:sp>
      <p:sp>
        <p:nvSpPr>
          <p:cNvPr id="14" name="Text 12"/>
          <p:cNvSpPr/>
          <p:nvPr/>
        </p:nvSpPr>
        <p:spPr>
          <a:xfrm>
            <a:off x="484632" y="2596896"/>
            <a:ext cx="3931920" cy="329184"/>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3.  Progressive streaming reduces anxiety</a:t>
            </a:r>
            <a:endParaRPr lang="en-US" sz="1250" dirty="0"/>
          </a:p>
        </p:txBody>
      </p:sp>
      <p:sp>
        <p:nvSpPr>
          <p:cNvPr id="15" name="Text 13"/>
          <p:cNvSpPr/>
          <p:nvPr/>
        </p:nvSpPr>
        <p:spPr>
          <a:xfrm>
            <a:off x="484632" y="2962656"/>
            <a:ext cx="3931920" cy="804672"/>
          </a:xfrm>
          <a:prstGeom prst="rect">
            <a:avLst/>
          </a:prstGeom>
          <a:noFill/>
          <a:ln/>
        </p:spPr>
        <p:txBody>
          <a:bodyPr wrap="square" lIns="0" tIns="0" rIns="0" bIns="0" rtlCol="0" anchor="ctr"/>
          <a:lstStyle/>
          <a:p>
            <a:pPr indent="0" marL="0">
              <a:buNone/>
            </a:pPr>
            <a:r>
              <a:rPr lang="en-US" sz="1050" dirty="0">
                <a:solidFill>
                  <a:srgbClr val="1A2B3C"/>
                </a:solidFill>
                <a:latin typeface="Calibri" pitchFamily="34" charset="0"/>
                <a:ea typeface="Calibri" pitchFamily="34" charset="-122"/>
                <a:cs typeface="Calibri" pitchFamily="34" charset="-120"/>
              </a:rPr>
              <a:t>All 10 preferred suggestions appearing one by one over 8+ seconds of silence. Seeing the system "doing something" prevented the fear it had frozen.</a:t>
            </a:r>
            <a:endParaRPr lang="en-US" sz="1050" dirty="0"/>
          </a:p>
        </p:txBody>
      </p:sp>
      <p:sp>
        <p:nvSpPr>
          <p:cNvPr id="16" name="Shape 14"/>
          <p:cNvSpPr/>
          <p:nvPr/>
        </p:nvSpPr>
        <p:spPr>
          <a:xfrm>
            <a:off x="4727448" y="2505456"/>
            <a:ext cx="4187952" cy="1353312"/>
          </a:xfrm>
          <a:prstGeom prst="rect">
            <a:avLst/>
          </a:prstGeom>
          <a:solidFill>
            <a:srgbClr val="EEF6FB"/>
          </a:solidFill>
          <a:ln w="12700">
            <a:solidFill>
              <a:srgbClr val="C8E2F4"/>
            </a:solidFill>
            <a:prstDash val="solid"/>
          </a:ln>
        </p:spPr>
      </p:sp>
      <p:sp>
        <p:nvSpPr>
          <p:cNvPr id="17" name="Shape 15"/>
          <p:cNvSpPr/>
          <p:nvPr/>
        </p:nvSpPr>
        <p:spPr>
          <a:xfrm>
            <a:off x="4727448" y="2505456"/>
            <a:ext cx="64008" cy="1353312"/>
          </a:xfrm>
          <a:prstGeom prst="rect">
            <a:avLst/>
          </a:prstGeom>
          <a:solidFill>
            <a:srgbClr val="1B98E0"/>
          </a:solidFill>
          <a:ln w="12700">
            <a:solidFill>
              <a:srgbClr val="1B98E0"/>
            </a:solidFill>
            <a:prstDash val="solid"/>
          </a:ln>
        </p:spPr>
      </p:sp>
      <p:sp>
        <p:nvSpPr>
          <p:cNvPr id="18" name="Text 16"/>
          <p:cNvSpPr/>
          <p:nvPr/>
        </p:nvSpPr>
        <p:spPr>
          <a:xfrm>
            <a:off x="4892040" y="2596896"/>
            <a:ext cx="3931920" cy="329184"/>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4.  Imperfect AI beats a blank screen</a:t>
            </a:r>
            <a:endParaRPr lang="en-US" sz="1250" dirty="0"/>
          </a:p>
        </p:txBody>
      </p:sp>
      <p:sp>
        <p:nvSpPr>
          <p:cNvPr id="19" name="Text 17"/>
          <p:cNvSpPr/>
          <p:nvPr/>
        </p:nvSpPr>
        <p:spPr>
          <a:xfrm>
            <a:off x="4892040" y="2962656"/>
            <a:ext cx="3931920" cy="804672"/>
          </a:xfrm>
          <a:prstGeom prst="rect">
            <a:avLst/>
          </a:prstGeom>
          <a:noFill/>
          <a:ln/>
        </p:spPr>
        <p:txBody>
          <a:bodyPr wrap="square" lIns="0" tIns="0" rIns="0" bIns="0" rtlCol="0" anchor="ctr"/>
          <a:lstStyle/>
          <a:p>
            <a:pPr indent="0" marL="0">
              <a:buNone/>
            </a:pPr>
            <a:r>
              <a:rPr lang="en-US" sz="1050" dirty="0">
                <a:solidFill>
                  <a:srgbClr val="1A2B3C"/>
                </a:solidFill>
                <a:latin typeface="Calibri" pitchFamily="34" charset="0"/>
                <a:ea typeface="Calibri" pitchFamily="34" charset="-122"/>
                <a:cs typeface="Calibri" pitchFamily="34" charset="-120"/>
              </a:rPr>
              <a:t>60–70% accepted as-is. 20–30% edited (phrasing only, not content). Rejections were for redundancy — not factual error.</a:t>
            </a:r>
            <a:endParaRPr lang="en-US" sz="1050" dirty="0"/>
          </a:p>
        </p:txBody>
      </p:sp>
      <p:sp>
        <p:nvSpPr>
          <p:cNvPr id="20" name="Shape 18"/>
          <p:cNvSpPr/>
          <p:nvPr/>
        </p:nvSpPr>
        <p:spPr>
          <a:xfrm>
            <a:off x="2194560" y="4005072"/>
            <a:ext cx="4754880" cy="1353312"/>
          </a:xfrm>
          <a:prstGeom prst="rect">
            <a:avLst/>
          </a:prstGeom>
          <a:solidFill>
            <a:srgbClr val="EEF6FB"/>
          </a:solidFill>
          <a:ln w="12700">
            <a:solidFill>
              <a:srgbClr val="C8E2F4"/>
            </a:solidFill>
            <a:prstDash val="solid"/>
          </a:ln>
        </p:spPr>
      </p:sp>
      <p:sp>
        <p:nvSpPr>
          <p:cNvPr id="21" name="Shape 19"/>
          <p:cNvSpPr/>
          <p:nvPr/>
        </p:nvSpPr>
        <p:spPr>
          <a:xfrm>
            <a:off x="2194560" y="4005072"/>
            <a:ext cx="64008" cy="1353312"/>
          </a:xfrm>
          <a:prstGeom prst="rect">
            <a:avLst/>
          </a:prstGeom>
          <a:solidFill>
            <a:srgbClr val="1B98E0"/>
          </a:solidFill>
          <a:ln w="12700">
            <a:solidFill>
              <a:srgbClr val="1B98E0"/>
            </a:solidFill>
            <a:prstDash val="solid"/>
          </a:ln>
        </p:spPr>
      </p:sp>
      <p:sp>
        <p:nvSpPr>
          <p:cNvPr id="22" name="Text 20"/>
          <p:cNvSpPr/>
          <p:nvPr/>
        </p:nvSpPr>
        <p:spPr>
          <a:xfrm>
            <a:off x="2359152" y="4096512"/>
            <a:ext cx="4498848" cy="329184"/>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5.  Workflow friction was the real enemy</a:t>
            </a:r>
            <a:endParaRPr lang="en-US" sz="1250" dirty="0"/>
          </a:p>
        </p:txBody>
      </p:sp>
      <p:sp>
        <p:nvSpPr>
          <p:cNvPr id="23" name="Text 21"/>
          <p:cNvSpPr/>
          <p:nvPr/>
        </p:nvSpPr>
        <p:spPr>
          <a:xfrm>
            <a:off x="2359152" y="4462272"/>
            <a:ext cx="4498848" cy="804672"/>
          </a:xfrm>
          <a:prstGeom prst="rect">
            <a:avLst/>
          </a:prstGeom>
          <a:noFill/>
          <a:ln/>
        </p:spPr>
        <p:txBody>
          <a:bodyPr wrap="square" lIns="0" tIns="0" rIns="0" bIns="0" rtlCol="0" anchor="ctr"/>
          <a:lstStyle/>
          <a:p>
            <a:pPr indent="0" marL="0">
              <a:buNone/>
            </a:pPr>
            <a:r>
              <a:rPr lang="en-US" sz="1050" dirty="0">
                <a:solidFill>
                  <a:srgbClr val="1A2B3C"/>
                </a:solidFill>
                <a:latin typeface="Calibri" pitchFamily="34" charset="0"/>
                <a:ea typeface="Calibri" pitchFamily="34" charset="-122"/>
                <a:cs typeface="Calibri" pitchFamily="34" charset="-120"/>
              </a:rPr>
              <a:t>The 13-minute improvement came from removing context-switching. No individual feature accounts for it alone. The combination does.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sp>
      <p:sp>
        <p:nvSpPr>
          <p:cNvPr id="3" name="Text 1"/>
          <p:cNvSpPr/>
          <p:nvPr/>
        </p:nvSpPr>
        <p:spPr>
          <a:xfrm>
            <a:off x="411480" y="0"/>
            <a:ext cx="8321040" cy="9144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Core Insight: From 47 Steps to 8</a:t>
            </a:r>
            <a:endParaRPr lang="en-US" sz="2400" dirty="0"/>
          </a:p>
        </p:txBody>
      </p:sp>
      <p:sp>
        <p:nvSpPr>
          <p:cNvPr id="4" name="Shape 2"/>
          <p:cNvSpPr/>
          <p:nvPr/>
        </p:nvSpPr>
        <p:spPr>
          <a:xfrm>
            <a:off x="274320" y="1005840"/>
            <a:ext cx="4114800" cy="3858768"/>
          </a:xfrm>
          <a:prstGeom prst="rect">
            <a:avLst/>
          </a:prstGeom>
          <a:solidFill>
            <a:srgbClr val="FFF5F5"/>
          </a:solidFill>
          <a:ln w="12700">
            <a:solidFill>
              <a:srgbClr val="FFCDD2"/>
            </a:solidFill>
            <a:prstDash val="solid"/>
          </a:ln>
        </p:spPr>
      </p:sp>
      <p:sp>
        <p:nvSpPr>
          <p:cNvPr id="5" name="Shape 3"/>
          <p:cNvSpPr/>
          <p:nvPr/>
        </p:nvSpPr>
        <p:spPr>
          <a:xfrm>
            <a:off x="274320" y="1005840"/>
            <a:ext cx="4114800" cy="64008"/>
          </a:xfrm>
          <a:prstGeom prst="rect">
            <a:avLst/>
          </a:prstGeom>
          <a:solidFill>
            <a:srgbClr val="B71C1C"/>
          </a:solidFill>
          <a:ln w="12700">
            <a:solidFill>
              <a:srgbClr val="B71C1C"/>
            </a:solidFill>
            <a:prstDash val="solid"/>
          </a:ln>
        </p:spPr>
      </p:sp>
      <p:sp>
        <p:nvSpPr>
          <p:cNvPr id="6" name="Text 4"/>
          <p:cNvSpPr/>
          <p:nvPr/>
        </p:nvSpPr>
        <p:spPr>
          <a:xfrm>
            <a:off x="411480" y="1097280"/>
            <a:ext cx="3840480" cy="365760"/>
          </a:xfrm>
          <a:prstGeom prst="rect">
            <a:avLst/>
          </a:prstGeom>
          <a:noFill/>
          <a:ln/>
        </p:spPr>
        <p:txBody>
          <a:bodyPr wrap="square" rtlCol="0" anchor="ctr"/>
          <a:lstStyle/>
          <a:p>
            <a:pPr indent="0" marL="0">
              <a:buNone/>
            </a:pPr>
            <a:r>
              <a:rPr lang="en-US" sz="1250" b="1" dirty="0">
                <a:solidFill>
                  <a:srgbClr val="B71C1C"/>
                </a:solidFill>
                <a:latin typeface="Calibri" pitchFamily="34" charset="0"/>
                <a:ea typeface="Calibri" pitchFamily="34" charset="-122"/>
                <a:cs typeface="Calibri" pitchFamily="34" charset="-120"/>
              </a:rPr>
              <a:t>WordPress H5P — 47 steps · 6 screens</a:t>
            </a:r>
            <a:endParaRPr lang="en-US" sz="1250" dirty="0"/>
          </a:p>
        </p:txBody>
      </p:sp>
      <p:sp>
        <p:nvSpPr>
          <p:cNvPr id="7" name="Text 5"/>
          <p:cNvSpPr/>
          <p:nvPr/>
        </p:nvSpPr>
        <p:spPr>
          <a:xfrm>
            <a:off x="411480" y="1527048"/>
            <a:ext cx="3886200" cy="3127248"/>
          </a:xfrm>
          <a:prstGeom prst="rect">
            <a:avLst/>
          </a:prstGeom>
          <a:noFill/>
          <a:ln/>
        </p:spPr>
        <p:txBody>
          <a:bodyPr wrap="square" rtlCol="0" anchor="t"/>
          <a:lstStyle/>
          <a:p>
            <a:pPr indent="0" marL="0">
              <a:buNone/>
            </a:pPr>
            <a:r>
              <a:rPr lang="en-US" sz="1050" dirty="0">
                <a:solidFill>
                  <a:srgbClr val="B71C1C"/>
                </a:solidFill>
                <a:latin typeface="Calibri" pitchFamily="34" charset="0"/>
                <a:ea typeface="Calibri" pitchFamily="34" charset="-122"/>
                <a:cs typeface="Calibri" pitchFamily="34" charset="-120"/>
              </a:rPr>
              <a:t>1.  Navigate to WordPress dashboard</a:t>
            </a:r>
            <a:endParaRPr lang="en-US" sz="1050" dirty="0"/>
          </a:p>
          <a:p>
            <a:pPr indent="0" marL="0">
              <a:buNone/>
            </a:pPr>
            <a:r>
              <a:rPr lang="en-US" sz="1050" dirty="0">
                <a:solidFill>
                  <a:srgbClr val="B71C1C"/>
                </a:solidFill>
                <a:latin typeface="Calibri" pitchFamily="34" charset="0"/>
                <a:ea typeface="Calibri" pitchFamily="34" charset="-122"/>
                <a:cs typeface="Calibri" pitchFamily="34" charset="-120"/>
              </a:rPr>
              <a:t>2.  Create or find H5P content page</a:t>
            </a:r>
            <a:endParaRPr lang="en-US" sz="1050" dirty="0"/>
          </a:p>
          <a:p>
            <a:pPr indent="0" marL="0">
              <a:buNone/>
            </a:pPr>
            <a:r>
              <a:rPr lang="en-US" sz="1050" dirty="0">
                <a:solidFill>
                  <a:srgbClr val="B71C1C"/>
                </a:solidFill>
                <a:latin typeface="Calibri" pitchFamily="34" charset="0"/>
                <a:ea typeface="Calibri" pitchFamily="34" charset="-122"/>
                <a:cs typeface="Calibri" pitchFamily="34" charset="-120"/>
              </a:rPr>
              <a:t>3.  Launch H5P editor (full page reload)</a:t>
            </a:r>
            <a:endParaRPr lang="en-US" sz="1050" dirty="0"/>
          </a:p>
          <a:p>
            <a:pPr indent="0" marL="0">
              <a:buNone/>
            </a:pPr>
            <a:r>
              <a:rPr lang="en-US" sz="1050" dirty="0">
                <a:solidFill>
                  <a:srgbClr val="B71C1C"/>
                </a:solidFill>
                <a:latin typeface="Calibri" pitchFamily="34" charset="0"/>
                <a:ea typeface="Calibri" pitchFamily="34" charset="-122"/>
                <a:cs typeface="Calibri" pitchFamily="34" charset="-120"/>
              </a:rPr>
              <a:t>4.  Set video source in H5P interface</a:t>
            </a:r>
            <a:endParaRPr lang="en-US" sz="1050" dirty="0"/>
          </a:p>
          <a:p>
            <a:pPr indent="0" marL="0">
              <a:buNone/>
            </a:pPr>
            <a:r>
              <a:rPr lang="en-US" sz="1050" dirty="0">
                <a:solidFill>
                  <a:srgbClr val="B71C1C"/>
                </a:solidFill>
                <a:latin typeface="Calibri" pitchFamily="34" charset="0"/>
                <a:ea typeface="Calibri" pitchFamily="34" charset="-122"/>
                <a:cs typeface="Calibri" pitchFamily="34" charset="-120"/>
              </a:rPr>
              <a:t>5.  Play video to locate timestamp</a:t>
            </a:r>
            <a:endParaRPr lang="en-US" sz="1050" dirty="0"/>
          </a:p>
          <a:p>
            <a:pPr indent="0" marL="0">
              <a:buNone/>
            </a:pPr>
            <a:r>
              <a:rPr lang="en-US" sz="1050" dirty="0">
                <a:solidFill>
                  <a:srgbClr val="B71C1C"/>
                </a:solidFill>
                <a:latin typeface="Calibri" pitchFamily="34" charset="0"/>
                <a:ea typeface="Calibri" pitchFamily="34" charset="-122"/>
                <a:cs typeface="Calibri" pitchFamily="34" charset="-120"/>
              </a:rPr>
              <a:t>6.  Note the timestamp manually</a:t>
            </a:r>
            <a:endParaRPr lang="en-US" sz="1050" dirty="0"/>
          </a:p>
          <a:p>
            <a:pPr indent="0" marL="0">
              <a:buNone/>
            </a:pPr>
            <a:r>
              <a:rPr lang="en-US" sz="1050" dirty="0">
                <a:solidFill>
                  <a:srgbClr val="B71C1C"/>
                </a:solidFill>
                <a:latin typeface="Calibri" pitchFamily="34" charset="0"/>
                <a:ea typeface="Calibri" pitchFamily="34" charset="-122"/>
                <a:cs typeface="Calibri" pitchFamily="34" charset="-120"/>
              </a:rPr>
              <a:t>7.  Navigate to 'Add interaction' form</a:t>
            </a:r>
            <a:endParaRPr lang="en-US" sz="1050" dirty="0"/>
          </a:p>
          <a:p>
            <a:pPr indent="0" marL="0">
              <a:buNone/>
            </a:pPr>
            <a:r>
              <a:rPr lang="en-US" sz="1050" dirty="0">
                <a:solidFill>
                  <a:srgbClr val="B71C1C"/>
                </a:solidFill>
                <a:latin typeface="Calibri" pitchFamily="34" charset="0"/>
                <a:ea typeface="Calibri" pitchFamily="34" charset="-122"/>
                <a:cs typeface="Calibri" pitchFamily="34" charset="-120"/>
              </a:rPr>
              <a:t>8.  Re-enter timestamp from memory</a:t>
            </a:r>
            <a:endParaRPr lang="en-US" sz="1050" dirty="0"/>
          </a:p>
          <a:p>
            <a:pPr indent="0" marL="0">
              <a:buNone/>
            </a:pPr>
            <a:r>
              <a:rPr lang="en-US" sz="1050" dirty="0">
                <a:solidFill>
                  <a:srgbClr val="B71C1C"/>
                </a:solidFill>
                <a:latin typeface="Calibri" pitchFamily="34" charset="0"/>
                <a:ea typeface="Calibri" pitchFamily="34" charset="-122"/>
                <a:cs typeface="Calibri" pitchFamily="34" charset="-120"/>
              </a:rPr>
              <a:t>9.  Choose interaction type</a:t>
            </a:r>
            <a:endParaRPr lang="en-US" sz="1050" dirty="0"/>
          </a:p>
          <a:p>
            <a:pPr indent="0" marL="0">
              <a:buNone/>
            </a:pPr>
            <a:r>
              <a:rPr lang="en-US" sz="1050" dirty="0">
                <a:solidFill>
                  <a:srgbClr val="B71C1C"/>
                </a:solidFill>
                <a:latin typeface="Calibri" pitchFamily="34" charset="0"/>
                <a:ea typeface="Calibri" pitchFamily="34" charset="-122"/>
                <a:cs typeface="Calibri" pitchFamily="34" charset="-120"/>
              </a:rPr>
              <a:t>10.  Type question + all answer options</a:t>
            </a:r>
            <a:endParaRPr lang="en-US" sz="1050" dirty="0"/>
          </a:p>
          <a:p>
            <a:pPr indent="0" marL="0">
              <a:buNone/>
            </a:pPr>
            <a:r>
              <a:rPr lang="en-US" sz="1050" dirty="0">
                <a:solidFill>
                  <a:srgbClr val="B71C1C"/>
                </a:solidFill>
                <a:latin typeface="Calibri" pitchFamily="34" charset="0"/>
                <a:ea typeface="Calibri" pitchFamily="34" charset="-122"/>
                <a:cs typeface="Calibri" pitchFamily="34" charset="-120"/>
              </a:rPr>
              <a:t>11.  Save — wait for plugin to process</a:t>
            </a:r>
            <a:endParaRPr lang="en-US" sz="1050" dirty="0"/>
          </a:p>
          <a:p>
            <a:pPr indent="0" marL="0">
              <a:buNone/>
            </a:pPr>
            <a:r>
              <a:rPr lang="en-US" sz="1050" dirty="0">
                <a:solidFill>
                  <a:srgbClr val="B71C1C"/>
                </a:solidFill>
                <a:latin typeface="Calibri" pitchFamily="34" charset="0"/>
                <a:ea typeface="Calibri" pitchFamily="34" charset="-122"/>
                <a:cs typeface="Calibri" pitchFamily="34" charset="-120"/>
              </a:rPr>
              <a:t>12.  Repeat steps 5-11 for each question</a:t>
            </a:r>
            <a:endParaRPr lang="en-US" sz="1050" dirty="0"/>
          </a:p>
        </p:txBody>
      </p:sp>
      <p:sp>
        <p:nvSpPr>
          <p:cNvPr id="8" name="Shape 6"/>
          <p:cNvSpPr/>
          <p:nvPr/>
        </p:nvSpPr>
        <p:spPr>
          <a:xfrm>
            <a:off x="4663440" y="1005840"/>
            <a:ext cx="4206240" cy="3858768"/>
          </a:xfrm>
          <a:prstGeom prst="rect">
            <a:avLst/>
          </a:prstGeom>
          <a:solidFill>
            <a:srgbClr val="F1FFF5"/>
          </a:solidFill>
          <a:ln w="12700">
            <a:solidFill>
              <a:srgbClr val="A5D6A7"/>
            </a:solidFill>
            <a:prstDash val="solid"/>
          </a:ln>
        </p:spPr>
      </p:sp>
      <p:sp>
        <p:nvSpPr>
          <p:cNvPr id="9" name="Shape 7"/>
          <p:cNvSpPr/>
          <p:nvPr/>
        </p:nvSpPr>
        <p:spPr>
          <a:xfrm>
            <a:off x="4663440" y="1005840"/>
            <a:ext cx="4206240" cy="64008"/>
          </a:xfrm>
          <a:prstGeom prst="rect">
            <a:avLst/>
          </a:prstGeom>
          <a:solidFill>
            <a:srgbClr val="1B5E20"/>
          </a:solidFill>
          <a:ln w="12700">
            <a:solidFill>
              <a:srgbClr val="1B5E20"/>
            </a:solidFill>
            <a:prstDash val="solid"/>
          </a:ln>
        </p:spPr>
      </p:sp>
      <p:sp>
        <p:nvSpPr>
          <p:cNvPr id="10" name="Text 8"/>
          <p:cNvSpPr/>
          <p:nvPr/>
        </p:nvSpPr>
        <p:spPr>
          <a:xfrm>
            <a:off x="4800600" y="1097280"/>
            <a:ext cx="3931920" cy="365760"/>
          </a:xfrm>
          <a:prstGeom prst="rect">
            <a:avLst/>
          </a:prstGeom>
          <a:noFill/>
          <a:ln/>
        </p:spPr>
        <p:txBody>
          <a:bodyPr wrap="square" rtlCol="0" anchor="ctr"/>
          <a:lstStyle/>
          <a:p>
            <a:pPr indent="0" marL="0">
              <a:buNone/>
            </a:pPr>
            <a:r>
              <a:rPr lang="en-US" sz="1250" b="1" dirty="0">
                <a:solidFill>
                  <a:srgbClr val="1B5E20"/>
                </a:solidFill>
                <a:latin typeface="Calibri" pitchFamily="34" charset="0"/>
                <a:ea typeface="Calibri" pitchFamily="34" charset="-122"/>
                <a:cs typeface="Calibri" pitchFamily="34" charset="-120"/>
              </a:rPr>
              <a:t>AI-ActivEdu — 8 steps · 1 screen</a:t>
            </a:r>
            <a:endParaRPr lang="en-US" sz="1250" dirty="0"/>
          </a:p>
        </p:txBody>
      </p:sp>
      <p:sp>
        <p:nvSpPr>
          <p:cNvPr id="11" name="Text 9"/>
          <p:cNvSpPr/>
          <p:nvPr/>
        </p:nvSpPr>
        <p:spPr>
          <a:xfrm>
            <a:off x="4800600" y="1527048"/>
            <a:ext cx="3977640" cy="3127248"/>
          </a:xfrm>
          <a:prstGeom prst="rect">
            <a:avLst/>
          </a:prstGeom>
          <a:noFill/>
          <a:ln/>
        </p:spPr>
        <p:txBody>
          <a:bodyPr wrap="square" rtlCol="0" anchor="t"/>
          <a:lstStyle/>
          <a:p>
            <a:pPr indent="0" marL="0">
              <a:buNone/>
            </a:pPr>
            <a:r>
              <a:rPr lang="en-US" sz="1150" dirty="0">
                <a:solidFill>
                  <a:srgbClr val="1B5E20"/>
                </a:solidFill>
                <a:latin typeface="Calibri" pitchFamily="34" charset="0"/>
                <a:ea typeface="Calibri" pitchFamily="34" charset="-122"/>
                <a:cs typeface="Calibri" pitchFamily="34" charset="-120"/>
              </a:rPr>
              <a:t>1.  Open AI-ActivEdu in browser</a:t>
            </a:r>
            <a:endParaRPr lang="en-US" sz="1150" dirty="0"/>
          </a:p>
          <a:p>
            <a:pPr indent="0" marL="0">
              <a:buNone/>
            </a:pPr>
            <a:r>
              <a:rPr lang="en-US" sz="1150" dirty="0">
                <a:solidFill>
                  <a:srgbClr val="1B5E20"/>
                </a:solidFill>
                <a:latin typeface="Calibri" pitchFamily="34" charset="0"/>
                <a:ea typeface="Calibri" pitchFamily="34" charset="-122"/>
                <a:cs typeface="Calibri" pitchFamily="34" charset="-120"/>
              </a:rPr>
              <a:t>2.  Upload video or paste YouTube URL</a:t>
            </a:r>
            <a:endParaRPr lang="en-US" sz="1150" dirty="0"/>
          </a:p>
          <a:p>
            <a:pPr indent="0" marL="0">
              <a:buNone/>
            </a:pPr>
            <a:r>
              <a:rPr lang="en-US" sz="1150" dirty="0">
                <a:solidFill>
                  <a:srgbClr val="1B5E20"/>
                </a:solidFill>
                <a:latin typeface="Calibri" pitchFamily="34" charset="0"/>
                <a:ea typeface="Calibri" pitchFamily="34" charset="-122"/>
                <a:cs typeface="Calibri" pitchFamily="34" charset="-120"/>
              </a:rPr>
              <a:t>3.  Click 'Analyse Video'</a:t>
            </a:r>
            <a:endParaRPr lang="en-US" sz="1150" dirty="0"/>
          </a:p>
          <a:p>
            <a:pPr indent="0" marL="0">
              <a:buNone/>
            </a:pPr>
            <a:r>
              <a:rPr lang="en-US" sz="1150" dirty="0">
                <a:solidFill>
                  <a:srgbClr val="1B5E20"/>
                </a:solidFill>
                <a:latin typeface="Calibri" pitchFamily="34" charset="0"/>
                <a:ea typeface="Calibri" pitchFamily="34" charset="-122"/>
                <a:cs typeface="Calibri" pitchFamily="34" charset="-120"/>
              </a:rPr>
              <a:t>4.  Review AI suggestions as they stream in</a:t>
            </a:r>
            <a:endParaRPr lang="en-US" sz="1150" dirty="0"/>
          </a:p>
          <a:p>
            <a:pPr indent="0" marL="0">
              <a:buNone/>
            </a:pPr>
            <a:r>
              <a:rPr lang="en-US" sz="1150" dirty="0">
                <a:solidFill>
                  <a:srgbClr val="1B5E20"/>
                </a:solidFill>
                <a:latin typeface="Calibri" pitchFamily="34" charset="0"/>
                <a:ea typeface="Calibri" pitchFamily="34" charset="-122"/>
                <a:cs typeface="Calibri" pitchFamily="34" charset="-120"/>
              </a:rPr>
              <a:t>5.  Accept, edit, or reject each suggestion</a:t>
            </a:r>
            <a:endParaRPr lang="en-US" sz="1150" dirty="0"/>
          </a:p>
          <a:p>
            <a:pPr indent="0" marL="0">
              <a:buNone/>
            </a:pPr>
            <a:r>
              <a:rPr lang="en-US" sz="1150" dirty="0">
                <a:solidFill>
                  <a:srgbClr val="1B5E20"/>
                </a:solidFill>
                <a:latin typeface="Calibri" pitchFamily="34" charset="0"/>
                <a:ea typeface="Calibri" pitchFamily="34" charset="-122"/>
                <a:cs typeface="Calibri" pitchFamily="34" charset="-120"/>
              </a:rPr>
              <a:t>6.  Use 'Capture Timestamp' for manual additions</a:t>
            </a:r>
            <a:endParaRPr lang="en-US" sz="1150" dirty="0"/>
          </a:p>
          <a:p>
            <a:pPr indent="0" marL="0">
              <a:buNone/>
            </a:pPr>
            <a:r>
              <a:rPr lang="en-US" sz="1150" dirty="0">
                <a:solidFill>
                  <a:srgbClr val="1B5E20"/>
                </a:solidFill>
                <a:latin typeface="Calibri" pitchFamily="34" charset="0"/>
                <a:ea typeface="Calibri" pitchFamily="34" charset="-122"/>
                <a:cs typeface="Calibri" pitchFamily="34" charset="-120"/>
              </a:rPr>
              <a:t>7.  Click Export</a:t>
            </a:r>
            <a:endParaRPr lang="en-US" sz="1150" dirty="0"/>
          </a:p>
          <a:p>
            <a:pPr indent="0" marL="0">
              <a:buNone/>
            </a:pPr>
            <a:r>
              <a:rPr lang="en-US" sz="1150" dirty="0">
                <a:solidFill>
                  <a:srgbClr val="1B5E20"/>
                </a:solidFill>
                <a:latin typeface="Calibri" pitchFamily="34" charset="0"/>
                <a:ea typeface="Calibri" pitchFamily="34" charset="-122"/>
                <a:cs typeface="Calibri" pitchFamily="34" charset="-120"/>
              </a:rPr>
              <a:t>8.  Import .h5p into Moodle / Canvas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B98E0"/>
          </a:solidFill>
          <a:ln w="12700">
            <a:solidFill>
              <a:srgbClr val="1B98E0"/>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Conclusion &amp; Five Contributions</a:t>
            </a:r>
            <a:endParaRPr lang="en-US" sz="2800" dirty="0"/>
          </a:p>
        </p:txBody>
      </p:sp>
      <p:sp>
        <p:nvSpPr>
          <p:cNvPr id="4" name="Shape 2"/>
          <p:cNvSpPr/>
          <p:nvPr/>
        </p:nvSpPr>
        <p:spPr>
          <a:xfrm>
            <a:off x="457200" y="960120"/>
            <a:ext cx="2651760" cy="1170432"/>
          </a:xfrm>
          <a:prstGeom prst="rect">
            <a:avLst/>
          </a:prstGeom>
          <a:solidFill>
            <a:srgbClr val="132233"/>
          </a:solidFill>
          <a:ln w="12700">
            <a:solidFill>
              <a:srgbClr val="1E3A52"/>
            </a:solidFill>
            <a:prstDash val="solid"/>
          </a:ln>
        </p:spPr>
      </p:sp>
      <p:sp>
        <p:nvSpPr>
          <p:cNvPr id="5" name="Shape 3"/>
          <p:cNvSpPr/>
          <p:nvPr/>
        </p:nvSpPr>
        <p:spPr>
          <a:xfrm>
            <a:off x="457200" y="960120"/>
            <a:ext cx="64008" cy="1170432"/>
          </a:xfrm>
          <a:prstGeom prst="rect">
            <a:avLst/>
          </a:prstGeom>
          <a:solidFill>
            <a:srgbClr val="1B98E0"/>
          </a:solidFill>
          <a:ln w="12700">
            <a:solidFill>
              <a:srgbClr val="1B98E0"/>
            </a:solidFill>
            <a:prstDash val="solid"/>
          </a:ln>
        </p:spPr>
      </p:sp>
      <p:sp>
        <p:nvSpPr>
          <p:cNvPr id="6" name="Text 4"/>
          <p:cNvSpPr/>
          <p:nvPr/>
        </p:nvSpPr>
        <p:spPr>
          <a:xfrm>
            <a:off x="594360" y="1033272"/>
            <a:ext cx="2450592"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01  Production-ready open-source platform</a:t>
            </a:r>
            <a:endParaRPr lang="en-US" sz="1100" dirty="0"/>
          </a:p>
        </p:txBody>
      </p:sp>
      <p:sp>
        <p:nvSpPr>
          <p:cNvPr id="7" name="Text 5"/>
          <p:cNvSpPr/>
          <p:nvPr/>
        </p:nvSpPr>
        <p:spPr>
          <a:xfrm>
            <a:off x="594360" y="1399032"/>
            <a:ext cx="2450592" cy="658368"/>
          </a:xfrm>
          <a:prstGeom prst="rect">
            <a:avLst/>
          </a:prstGeom>
          <a:noFill/>
          <a:ln/>
        </p:spPr>
        <p:txBody>
          <a:bodyPr wrap="square" lIns="0" tIns="0" rIns="0" bIns="0" rtlCol="0" anchor="ctr"/>
          <a:lstStyle/>
          <a:p>
            <a:pPr indent="0" marL="0">
              <a:buNone/>
            </a:pPr>
            <a:r>
              <a:rPr lang="en-US" sz="950" dirty="0">
                <a:solidFill>
                  <a:srgbClr val="A8C5DA"/>
                </a:solidFill>
                <a:latin typeface="Calibri" pitchFamily="34" charset="0"/>
                <a:ea typeface="Calibri" pitchFamily="34" charset="-122"/>
                <a:cs typeface="Calibri" pitchFamily="34" charset="-120"/>
              </a:rPr>
              <a:t>CMS-free H5P authoring deployable at VNU-HCM and comparable institutions — no licensing cost.</a:t>
            </a:r>
            <a:endParaRPr lang="en-US" sz="950" dirty="0"/>
          </a:p>
        </p:txBody>
      </p:sp>
      <p:sp>
        <p:nvSpPr>
          <p:cNvPr id="8" name="Shape 6"/>
          <p:cNvSpPr/>
          <p:nvPr/>
        </p:nvSpPr>
        <p:spPr>
          <a:xfrm>
            <a:off x="3246120" y="960120"/>
            <a:ext cx="2651760" cy="1170432"/>
          </a:xfrm>
          <a:prstGeom prst="rect">
            <a:avLst/>
          </a:prstGeom>
          <a:solidFill>
            <a:srgbClr val="132233"/>
          </a:solidFill>
          <a:ln w="12700">
            <a:solidFill>
              <a:srgbClr val="1E3A52"/>
            </a:solidFill>
            <a:prstDash val="solid"/>
          </a:ln>
        </p:spPr>
      </p:sp>
      <p:sp>
        <p:nvSpPr>
          <p:cNvPr id="9" name="Shape 7"/>
          <p:cNvSpPr/>
          <p:nvPr/>
        </p:nvSpPr>
        <p:spPr>
          <a:xfrm>
            <a:off x="3246120" y="960120"/>
            <a:ext cx="64008" cy="1170432"/>
          </a:xfrm>
          <a:prstGeom prst="rect">
            <a:avLst/>
          </a:prstGeom>
          <a:solidFill>
            <a:srgbClr val="1B98E0"/>
          </a:solidFill>
          <a:ln w="12700">
            <a:solidFill>
              <a:srgbClr val="1B98E0"/>
            </a:solidFill>
            <a:prstDash val="solid"/>
          </a:ln>
        </p:spPr>
      </p:sp>
      <p:sp>
        <p:nvSpPr>
          <p:cNvPr id="10" name="Text 8"/>
          <p:cNvSpPr/>
          <p:nvPr/>
        </p:nvSpPr>
        <p:spPr>
          <a:xfrm>
            <a:off x="3383280" y="1033272"/>
            <a:ext cx="2450592"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02  First transcript-to-H5P AI pipeline</a:t>
            </a:r>
            <a:endParaRPr lang="en-US" sz="1100" dirty="0"/>
          </a:p>
        </p:txBody>
      </p:sp>
      <p:sp>
        <p:nvSpPr>
          <p:cNvPr id="11" name="Text 9"/>
          <p:cNvSpPr/>
          <p:nvPr/>
        </p:nvSpPr>
        <p:spPr>
          <a:xfrm>
            <a:off x="3383280" y="1399032"/>
            <a:ext cx="2450592" cy="658368"/>
          </a:xfrm>
          <a:prstGeom prst="rect">
            <a:avLst/>
          </a:prstGeom>
          <a:noFill/>
          <a:ln/>
        </p:spPr>
        <p:txBody>
          <a:bodyPr wrap="square" lIns="0" tIns="0" rIns="0" bIns="0" rtlCol="0" anchor="ctr"/>
          <a:lstStyle/>
          <a:p>
            <a:pPr indent="0" marL="0">
              <a:buNone/>
            </a:pPr>
            <a:r>
              <a:rPr lang="en-US" sz="950" dirty="0">
                <a:solidFill>
                  <a:srgbClr val="A8C5DA"/>
                </a:solidFill>
                <a:latin typeface="Calibri" pitchFamily="34" charset="0"/>
                <a:ea typeface="Calibri" pitchFamily="34" charset="-122"/>
                <a:cs typeface="Calibri" pitchFamily="34" charset="-120"/>
              </a:rPr>
              <a:t>Documented LLM pipeline generating schema-compliant H5P JSON guided by Bloom's taxonomy — no prior work combines all of these.</a:t>
            </a:r>
            <a:endParaRPr lang="en-US" sz="950" dirty="0"/>
          </a:p>
        </p:txBody>
      </p:sp>
      <p:sp>
        <p:nvSpPr>
          <p:cNvPr id="12" name="Shape 10"/>
          <p:cNvSpPr/>
          <p:nvPr/>
        </p:nvSpPr>
        <p:spPr>
          <a:xfrm>
            <a:off x="6035040" y="960120"/>
            <a:ext cx="2651760" cy="1170432"/>
          </a:xfrm>
          <a:prstGeom prst="rect">
            <a:avLst/>
          </a:prstGeom>
          <a:solidFill>
            <a:srgbClr val="132233"/>
          </a:solidFill>
          <a:ln w="12700">
            <a:solidFill>
              <a:srgbClr val="1E3A52"/>
            </a:solidFill>
            <a:prstDash val="solid"/>
          </a:ln>
        </p:spPr>
      </p:sp>
      <p:sp>
        <p:nvSpPr>
          <p:cNvPr id="13" name="Shape 11"/>
          <p:cNvSpPr/>
          <p:nvPr/>
        </p:nvSpPr>
        <p:spPr>
          <a:xfrm>
            <a:off x="6035040" y="960120"/>
            <a:ext cx="64008" cy="1170432"/>
          </a:xfrm>
          <a:prstGeom prst="rect">
            <a:avLst/>
          </a:prstGeom>
          <a:solidFill>
            <a:srgbClr val="1B98E0"/>
          </a:solidFill>
          <a:ln w="12700">
            <a:solidFill>
              <a:srgbClr val="1B98E0"/>
            </a:solidFill>
            <a:prstDash val="solid"/>
          </a:ln>
        </p:spPr>
      </p:sp>
      <p:sp>
        <p:nvSpPr>
          <p:cNvPr id="14" name="Text 12"/>
          <p:cNvSpPr/>
          <p:nvPr/>
        </p:nvSpPr>
        <p:spPr>
          <a:xfrm>
            <a:off x="6172200" y="1033272"/>
            <a:ext cx="2450592"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03  Structured output prompt engineering</a:t>
            </a:r>
            <a:endParaRPr lang="en-US" sz="1100" dirty="0"/>
          </a:p>
        </p:txBody>
      </p:sp>
      <p:sp>
        <p:nvSpPr>
          <p:cNvPr id="15" name="Text 13"/>
          <p:cNvSpPr/>
          <p:nvPr/>
        </p:nvSpPr>
        <p:spPr>
          <a:xfrm>
            <a:off x="6172200" y="1399032"/>
            <a:ext cx="2450592" cy="658368"/>
          </a:xfrm>
          <a:prstGeom prst="rect">
            <a:avLst/>
          </a:prstGeom>
          <a:noFill/>
          <a:ln/>
        </p:spPr>
        <p:txBody>
          <a:bodyPr wrap="square" lIns="0" tIns="0" rIns="0" bIns="0" rtlCol="0" anchor="ctr"/>
          <a:lstStyle/>
          <a:p>
            <a:pPr indent="0" marL="0">
              <a:buNone/>
            </a:pPr>
            <a:r>
              <a:rPr lang="en-US" sz="950" dirty="0">
                <a:solidFill>
                  <a:srgbClr val="A8C5DA"/>
                </a:solidFill>
                <a:latin typeface="Calibri" pitchFamily="34" charset="0"/>
                <a:ea typeface="Calibri" pitchFamily="34" charset="-122"/>
                <a:cs typeface="Calibri" pitchFamily="34" charset="-120"/>
              </a:rPr>
              <a:t>Reusable pattern matrix + Zod validation for forcing valid nested instructional JSON from general-purpose LLMs.</a:t>
            </a:r>
            <a:endParaRPr lang="en-US" sz="950" dirty="0"/>
          </a:p>
        </p:txBody>
      </p:sp>
      <p:sp>
        <p:nvSpPr>
          <p:cNvPr id="16" name="Shape 14"/>
          <p:cNvSpPr/>
          <p:nvPr/>
        </p:nvSpPr>
        <p:spPr>
          <a:xfrm>
            <a:off x="502920" y="2359152"/>
            <a:ext cx="3931920" cy="1170432"/>
          </a:xfrm>
          <a:prstGeom prst="rect">
            <a:avLst/>
          </a:prstGeom>
          <a:solidFill>
            <a:srgbClr val="132233"/>
          </a:solidFill>
          <a:ln w="12700">
            <a:solidFill>
              <a:srgbClr val="1E3A52"/>
            </a:solidFill>
            <a:prstDash val="solid"/>
          </a:ln>
        </p:spPr>
      </p:sp>
      <p:sp>
        <p:nvSpPr>
          <p:cNvPr id="17" name="Shape 15"/>
          <p:cNvSpPr/>
          <p:nvPr/>
        </p:nvSpPr>
        <p:spPr>
          <a:xfrm>
            <a:off x="502920" y="2359152"/>
            <a:ext cx="64008" cy="1170432"/>
          </a:xfrm>
          <a:prstGeom prst="rect">
            <a:avLst/>
          </a:prstGeom>
          <a:solidFill>
            <a:srgbClr val="1B98E0"/>
          </a:solidFill>
          <a:ln w="12700">
            <a:solidFill>
              <a:srgbClr val="1B98E0"/>
            </a:solidFill>
            <a:prstDash val="solid"/>
          </a:ln>
        </p:spPr>
      </p:sp>
      <p:sp>
        <p:nvSpPr>
          <p:cNvPr id="18" name="Text 16"/>
          <p:cNvSpPr/>
          <p:nvPr/>
        </p:nvSpPr>
        <p:spPr>
          <a:xfrm>
            <a:off x="640080" y="2432304"/>
            <a:ext cx="3730752"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04  Empirical evidence for UCD in EdTech</a:t>
            </a:r>
            <a:endParaRPr lang="en-US" sz="1100" dirty="0"/>
          </a:p>
        </p:txBody>
      </p:sp>
      <p:sp>
        <p:nvSpPr>
          <p:cNvPr id="19" name="Text 17"/>
          <p:cNvSpPr/>
          <p:nvPr/>
        </p:nvSpPr>
        <p:spPr>
          <a:xfrm>
            <a:off x="640080" y="2798064"/>
            <a:ext cx="3730752" cy="658368"/>
          </a:xfrm>
          <a:prstGeom prst="rect">
            <a:avLst/>
          </a:prstGeom>
          <a:noFill/>
          <a:ln/>
        </p:spPr>
        <p:txBody>
          <a:bodyPr wrap="square" lIns="0" tIns="0" rIns="0" bIns="0" rtlCol="0" anchor="ctr"/>
          <a:lstStyle/>
          <a:p>
            <a:pPr indent="0" marL="0">
              <a:buNone/>
            </a:pPr>
            <a:r>
              <a:rPr lang="en-US" sz="950" dirty="0">
                <a:solidFill>
                  <a:srgbClr val="A8C5DA"/>
                </a:solidFill>
                <a:latin typeface="Calibri" pitchFamily="34" charset="0"/>
                <a:ea typeface="Calibri" pitchFamily="34" charset="-122"/>
                <a:cs typeface="Calibri" pitchFamily="34" charset="-120"/>
              </a:rPr>
              <a:t>Controlled study: completion 30%→95%, time 18→5 min, SUS 38→82.5. Purpose-built UCD interface substantially beats CMS workflow.</a:t>
            </a:r>
            <a:endParaRPr lang="en-US" sz="950" dirty="0"/>
          </a:p>
        </p:txBody>
      </p:sp>
      <p:sp>
        <p:nvSpPr>
          <p:cNvPr id="20" name="Shape 18"/>
          <p:cNvSpPr/>
          <p:nvPr/>
        </p:nvSpPr>
        <p:spPr>
          <a:xfrm>
            <a:off x="4709160" y="2359152"/>
            <a:ext cx="3931920" cy="1170432"/>
          </a:xfrm>
          <a:prstGeom prst="rect">
            <a:avLst/>
          </a:prstGeom>
          <a:solidFill>
            <a:srgbClr val="132233"/>
          </a:solidFill>
          <a:ln w="12700">
            <a:solidFill>
              <a:srgbClr val="1E3A52"/>
            </a:solidFill>
            <a:prstDash val="solid"/>
          </a:ln>
        </p:spPr>
      </p:sp>
      <p:sp>
        <p:nvSpPr>
          <p:cNvPr id="21" name="Shape 19"/>
          <p:cNvSpPr/>
          <p:nvPr/>
        </p:nvSpPr>
        <p:spPr>
          <a:xfrm>
            <a:off x="4709160" y="2359152"/>
            <a:ext cx="64008" cy="1170432"/>
          </a:xfrm>
          <a:prstGeom prst="rect">
            <a:avLst/>
          </a:prstGeom>
          <a:solidFill>
            <a:srgbClr val="1B98E0"/>
          </a:solidFill>
          <a:ln w="12700">
            <a:solidFill>
              <a:srgbClr val="1B98E0"/>
            </a:solidFill>
            <a:prstDash val="solid"/>
          </a:ln>
        </p:spPr>
      </p:sp>
      <p:sp>
        <p:nvSpPr>
          <p:cNvPr id="22" name="Text 20"/>
          <p:cNvSpPr/>
          <p:nvPr/>
        </p:nvSpPr>
        <p:spPr>
          <a:xfrm>
            <a:off x="4846320" y="2432304"/>
            <a:ext cx="3730752"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05  Institutional alignment for Vietnamese HE</a:t>
            </a:r>
            <a:endParaRPr lang="en-US" sz="1100" dirty="0"/>
          </a:p>
        </p:txBody>
      </p:sp>
      <p:sp>
        <p:nvSpPr>
          <p:cNvPr id="23" name="Text 21"/>
          <p:cNvSpPr/>
          <p:nvPr/>
        </p:nvSpPr>
        <p:spPr>
          <a:xfrm>
            <a:off x="4846320" y="2798064"/>
            <a:ext cx="3730752" cy="658368"/>
          </a:xfrm>
          <a:prstGeom prst="rect">
            <a:avLst/>
          </a:prstGeom>
          <a:noFill/>
          <a:ln/>
        </p:spPr>
        <p:txBody>
          <a:bodyPr wrap="square" lIns="0" tIns="0" rIns="0" bIns="0" rtlCol="0" anchor="ctr"/>
          <a:lstStyle/>
          <a:p>
            <a:pPr indent="0" marL="0">
              <a:buNone/>
            </a:pPr>
            <a:r>
              <a:rPr lang="en-US" sz="950" dirty="0">
                <a:solidFill>
                  <a:srgbClr val="A8C5DA"/>
                </a:solidFill>
                <a:latin typeface="Calibri" pitchFamily="34" charset="0"/>
                <a:ea typeface="Calibri" pitchFamily="34" charset="-122"/>
                <a:cs typeface="Calibri" pitchFamily="34" charset="-120"/>
              </a:rPr>
              <a:t>Open-source, self-hostable, H5P-compatible — directly aligned with VNU-HCM's digital transformation strategy.</a:t>
            </a:r>
            <a:endParaRPr lang="en-US" sz="950" dirty="0"/>
          </a:p>
        </p:txBody>
      </p:sp>
      <p:sp>
        <p:nvSpPr>
          <p:cNvPr id="24" name="Shape 22"/>
          <p:cNvSpPr/>
          <p:nvPr/>
        </p:nvSpPr>
        <p:spPr>
          <a:xfrm>
            <a:off x="457200" y="3730752"/>
            <a:ext cx="8229600" cy="822960"/>
          </a:xfrm>
          <a:prstGeom prst="rect">
            <a:avLst/>
          </a:prstGeom>
          <a:solidFill>
            <a:srgbClr val="0A1520"/>
          </a:solidFill>
          <a:ln w="12700">
            <a:solidFill>
              <a:srgbClr val="1E3A52"/>
            </a:solidFill>
            <a:prstDash val="solid"/>
          </a:ln>
        </p:spPr>
      </p:sp>
      <p:sp>
        <p:nvSpPr>
          <p:cNvPr id="25" name="Text 23"/>
          <p:cNvSpPr/>
          <p:nvPr/>
        </p:nvSpPr>
        <p:spPr>
          <a:xfrm>
            <a:off x="457200" y="3776472"/>
            <a:ext cx="8229600" cy="411480"/>
          </a:xfrm>
          <a:prstGeom prst="rect">
            <a:avLst/>
          </a:prstGeom>
          <a:noFill/>
          <a:ln/>
        </p:spPr>
        <p:txBody>
          <a:bodyPr wrap="square" rtlCol="0" anchor="ctr"/>
          <a:lstStyle/>
          <a:p>
            <a:pPr algn="ctr" indent="0" marL="0">
              <a:buNone/>
            </a:pPr>
            <a:r>
              <a:rPr lang="en-US" sz="1350" b="1" dirty="0">
                <a:solidFill>
                  <a:srgbClr val="1B98E0"/>
                </a:solidFill>
                <a:latin typeface="Calibri" pitchFamily="34" charset="0"/>
                <a:ea typeface="Calibri" pitchFamily="34" charset="-122"/>
                <a:cs typeface="Calibri" pitchFamily="34" charset="-120"/>
              </a:rPr>
              <a:t>Task completion: 30% → 95%  ·  Time: 18 min → 5 min  ·  SUS: 38.0 → 82.5  ·  Steps: 47 → 8</a:t>
            </a:r>
            <a:endParaRPr lang="en-US" sz="1350" dirty="0"/>
          </a:p>
        </p:txBody>
      </p:sp>
      <p:sp>
        <p:nvSpPr>
          <p:cNvPr id="26" name="Text 24"/>
          <p:cNvSpPr/>
          <p:nvPr/>
        </p:nvSpPr>
        <p:spPr>
          <a:xfrm>
            <a:off x="457200" y="4187952"/>
            <a:ext cx="8229600" cy="292608"/>
          </a:xfrm>
          <a:prstGeom prst="rect">
            <a:avLst/>
          </a:prstGeom>
          <a:noFill/>
          <a:ln/>
        </p:spPr>
        <p:txBody>
          <a:bodyPr wrap="square" rtlCol="0" anchor="ctr"/>
          <a:lstStyle/>
          <a:p>
            <a:pPr algn="ctr" indent="0" marL="0">
              <a:buNone/>
            </a:pPr>
            <a:r>
              <a:rPr lang="en-US" sz="1100" dirty="0">
                <a:solidFill>
                  <a:srgbClr val="A8C5DA"/>
                </a:solidFill>
                <a:latin typeface="Calibri" pitchFamily="34" charset="0"/>
                <a:ea typeface="Calibri" pitchFamily="34" charset="-122"/>
                <a:cs typeface="Calibri" pitchFamily="34" charset="-120"/>
              </a:rPr>
              <a:t>Every metric moved. The combination of co-located UI design and AI scaffolding accounts for the full improvement.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B98E0"/>
          </a:solidFill>
          <a:ln w="12700">
            <a:solidFill>
              <a:srgbClr val="1B98E0"/>
            </a:solidFill>
            <a:prstDash val="solid"/>
          </a:ln>
        </p:spPr>
      </p:sp>
      <p:sp>
        <p:nvSpPr>
          <p:cNvPr id="3" name="Text 1"/>
          <p:cNvSpPr/>
          <p:nvPr/>
        </p:nvSpPr>
        <p:spPr>
          <a:xfrm>
            <a:off x="457200" y="164592"/>
            <a:ext cx="8229600" cy="566928"/>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Future Work</a:t>
            </a:r>
            <a:endParaRPr lang="en-US" sz="2600" dirty="0"/>
          </a:p>
        </p:txBody>
      </p:sp>
      <p:sp>
        <p:nvSpPr>
          <p:cNvPr id="4" name="Shape 2"/>
          <p:cNvSpPr/>
          <p:nvPr/>
        </p:nvSpPr>
        <p:spPr>
          <a:xfrm>
            <a:off x="320040" y="896112"/>
            <a:ext cx="4206240" cy="1298448"/>
          </a:xfrm>
          <a:prstGeom prst="rect">
            <a:avLst/>
          </a:prstGeom>
          <a:solidFill>
            <a:srgbClr val="132233"/>
          </a:solidFill>
          <a:ln w="12700">
            <a:solidFill>
              <a:srgbClr val="1E3A52"/>
            </a:solidFill>
            <a:prstDash val="solid"/>
          </a:ln>
        </p:spPr>
      </p:sp>
      <p:sp>
        <p:nvSpPr>
          <p:cNvPr id="5" name="Shape 3"/>
          <p:cNvSpPr/>
          <p:nvPr/>
        </p:nvSpPr>
        <p:spPr>
          <a:xfrm>
            <a:off x="320040" y="896112"/>
            <a:ext cx="64008" cy="1298448"/>
          </a:xfrm>
          <a:prstGeom prst="rect">
            <a:avLst/>
          </a:prstGeom>
          <a:solidFill>
            <a:srgbClr val="1B98E0"/>
          </a:solidFill>
          <a:ln w="12700">
            <a:solidFill>
              <a:srgbClr val="1B98E0"/>
            </a:solidFill>
            <a:prstDash val="solid"/>
          </a:ln>
        </p:spPr>
      </p:sp>
      <p:sp>
        <p:nvSpPr>
          <p:cNvPr id="6" name="Text 4"/>
          <p:cNvSpPr/>
          <p:nvPr/>
        </p:nvSpPr>
        <p:spPr>
          <a:xfrm>
            <a:off x="475488" y="987552"/>
            <a:ext cx="3913632"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Async media processing</a:t>
            </a:r>
            <a:endParaRPr lang="en-US" sz="1250" dirty="0"/>
          </a:p>
        </p:txBody>
      </p:sp>
      <p:sp>
        <p:nvSpPr>
          <p:cNvPr id="7" name="Text 5"/>
          <p:cNvSpPr/>
          <p:nvPr/>
        </p:nvSpPr>
        <p:spPr>
          <a:xfrm>
            <a:off x="475488" y="1353312"/>
            <a:ext cx="3913632" cy="749808"/>
          </a:xfrm>
          <a:prstGeom prst="rect">
            <a:avLst/>
          </a:prstGeom>
          <a:noFill/>
          <a:ln/>
        </p:spPr>
        <p:txBody>
          <a:bodyPr wrap="square" lIns="0" tIns="0" rIns="0" bIns="0" rtlCol="0" anchor="ctr"/>
          <a:lstStyle/>
          <a:p>
            <a:pPr indent="0" marL="0">
              <a:buNone/>
            </a:pPr>
            <a:r>
              <a:rPr lang="en-US" sz="1050" dirty="0">
                <a:solidFill>
                  <a:srgbClr val="A8C5DA"/>
                </a:solidFill>
                <a:latin typeface="Calibri" pitchFamily="34" charset="0"/>
                <a:ea typeface="Calibri" pitchFamily="34" charset="-122"/>
                <a:cs typeface="Calibri" pitchFamily="34" charset="-120"/>
              </a:rPr>
              <a:t>Move FFmpeg and Whisper to a BullMQ job queue with Redis. Eliminates synchronous blocking under concurrent video uploads — highest-priority architectural fix.</a:t>
            </a:r>
            <a:endParaRPr lang="en-US" sz="1050" dirty="0"/>
          </a:p>
        </p:txBody>
      </p:sp>
      <p:sp>
        <p:nvSpPr>
          <p:cNvPr id="8" name="Shape 6"/>
          <p:cNvSpPr/>
          <p:nvPr/>
        </p:nvSpPr>
        <p:spPr>
          <a:xfrm>
            <a:off x="4727448" y="896112"/>
            <a:ext cx="4206240" cy="1298448"/>
          </a:xfrm>
          <a:prstGeom prst="rect">
            <a:avLst/>
          </a:prstGeom>
          <a:solidFill>
            <a:srgbClr val="132233"/>
          </a:solidFill>
          <a:ln w="12700">
            <a:solidFill>
              <a:srgbClr val="1E3A52"/>
            </a:solidFill>
            <a:prstDash val="solid"/>
          </a:ln>
        </p:spPr>
      </p:sp>
      <p:sp>
        <p:nvSpPr>
          <p:cNvPr id="9" name="Shape 7"/>
          <p:cNvSpPr/>
          <p:nvPr/>
        </p:nvSpPr>
        <p:spPr>
          <a:xfrm>
            <a:off x="4727448" y="896112"/>
            <a:ext cx="64008" cy="1298448"/>
          </a:xfrm>
          <a:prstGeom prst="rect">
            <a:avLst/>
          </a:prstGeom>
          <a:solidFill>
            <a:srgbClr val="1B98E0"/>
          </a:solidFill>
          <a:ln w="12700">
            <a:solidFill>
              <a:srgbClr val="1B98E0"/>
            </a:solidFill>
            <a:prstDash val="solid"/>
          </a:ln>
        </p:spPr>
      </p:sp>
      <p:sp>
        <p:nvSpPr>
          <p:cNvPr id="10" name="Text 8"/>
          <p:cNvSpPr/>
          <p:nvPr/>
        </p:nvSpPr>
        <p:spPr>
          <a:xfrm>
            <a:off x="4882896" y="987552"/>
            <a:ext cx="3913632"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PostgreSQL migration</a:t>
            </a:r>
            <a:endParaRPr lang="en-US" sz="1250" dirty="0"/>
          </a:p>
        </p:txBody>
      </p:sp>
      <p:sp>
        <p:nvSpPr>
          <p:cNvPr id="11" name="Text 9"/>
          <p:cNvSpPr/>
          <p:nvPr/>
        </p:nvSpPr>
        <p:spPr>
          <a:xfrm>
            <a:off x="4882896" y="1353312"/>
            <a:ext cx="3913632" cy="749808"/>
          </a:xfrm>
          <a:prstGeom prst="rect">
            <a:avLst/>
          </a:prstGeom>
          <a:noFill/>
          <a:ln/>
        </p:spPr>
        <p:txBody>
          <a:bodyPr wrap="square" lIns="0" tIns="0" rIns="0" bIns="0" rtlCol="0" anchor="ctr"/>
          <a:lstStyle/>
          <a:p>
            <a:pPr indent="0" marL="0">
              <a:buNone/>
            </a:pPr>
            <a:r>
              <a:rPr lang="en-US" sz="1050" dirty="0">
                <a:solidFill>
                  <a:srgbClr val="A8C5DA"/>
                </a:solidFill>
                <a:latin typeface="Calibri" pitchFamily="34" charset="0"/>
                <a:ea typeface="Calibri" pitchFamily="34" charset="-122"/>
                <a:cs typeface="Calibri" pitchFamily="34" charset="-120"/>
              </a:rPr>
              <a:t>SQLite handles departmental load. For institutional scale, PostgreSQL via existing Sequelize ORM removes the write-lock bottleneck with minimal code changes.</a:t>
            </a:r>
            <a:endParaRPr lang="en-US" sz="1050" dirty="0"/>
          </a:p>
        </p:txBody>
      </p:sp>
      <p:sp>
        <p:nvSpPr>
          <p:cNvPr id="12" name="Shape 10"/>
          <p:cNvSpPr/>
          <p:nvPr/>
        </p:nvSpPr>
        <p:spPr>
          <a:xfrm>
            <a:off x="320040" y="2313432"/>
            <a:ext cx="4206240" cy="1298448"/>
          </a:xfrm>
          <a:prstGeom prst="rect">
            <a:avLst/>
          </a:prstGeom>
          <a:solidFill>
            <a:srgbClr val="132233"/>
          </a:solidFill>
          <a:ln w="12700">
            <a:solidFill>
              <a:srgbClr val="1E3A52"/>
            </a:solidFill>
            <a:prstDash val="solid"/>
          </a:ln>
        </p:spPr>
      </p:sp>
      <p:sp>
        <p:nvSpPr>
          <p:cNvPr id="13" name="Shape 11"/>
          <p:cNvSpPr/>
          <p:nvPr/>
        </p:nvSpPr>
        <p:spPr>
          <a:xfrm>
            <a:off x="320040" y="2313432"/>
            <a:ext cx="64008" cy="1298448"/>
          </a:xfrm>
          <a:prstGeom prst="rect">
            <a:avLst/>
          </a:prstGeom>
          <a:solidFill>
            <a:srgbClr val="1B98E0"/>
          </a:solidFill>
          <a:ln w="12700">
            <a:solidFill>
              <a:srgbClr val="1B98E0"/>
            </a:solidFill>
            <a:prstDash val="solid"/>
          </a:ln>
        </p:spPr>
      </p:sp>
      <p:sp>
        <p:nvSpPr>
          <p:cNvPr id="14" name="Text 12"/>
          <p:cNvSpPr/>
          <p:nvPr/>
        </p:nvSpPr>
        <p:spPr>
          <a:xfrm>
            <a:off x="475488" y="2404872"/>
            <a:ext cx="3913632"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Vietnamese language quality</a:t>
            </a:r>
            <a:endParaRPr lang="en-US" sz="1250" dirty="0"/>
          </a:p>
        </p:txBody>
      </p:sp>
      <p:sp>
        <p:nvSpPr>
          <p:cNvPr id="15" name="Text 13"/>
          <p:cNvSpPr/>
          <p:nvPr/>
        </p:nvSpPr>
        <p:spPr>
          <a:xfrm>
            <a:off x="475488" y="2770632"/>
            <a:ext cx="3913632" cy="749808"/>
          </a:xfrm>
          <a:prstGeom prst="rect">
            <a:avLst/>
          </a:prstGeom>
          <a:noFill/>
          <a:ln/>
        </p:spPr>
        <p:txBody>
          <a:bodyPr wrap="square" lIns="0" tIns="0" rIns="0" bIns="0" rtlCol="0" anchor="ctr"/>
          <a:lstStyle/>
          <a:p>
            <a:pPr indent="0" marL="0">
              <a:buNone/>
            </a:pPr>
            <a:r>
              <a:rPr lang="en-US" sz="1050" dirty="0">
                <a:solidFill>
                  <a:srgbClr val="A8C5DA"/>
                </a:solidFill>
                <a:latin typeface="Calibri" pitchFamily="34" charset="0"/>
                <a:ea typeface="Calibri" pitchFamily="34" charset="-122"/>
                <a:cs typeface="Calibri" pitchFamily="34" charset="-120"/>
              </a:rPr>
              <a:t>Whisper fine-tuning on Vietnamese academic speech + evaluation of Vietnamese-optimized LLM alternatives to close the quality gap observed end-to-end.</a:t>
            </a:r>
            <a:endParaRPr lang="en-US" sz="1050" dirty="0"/>
          </a:p>
        </p:txBody>
      </p:sp>
      <p:sp>
        <p:nvSpPr>
          <p:cNvPr id="16" name="Shape 14"/>
          <p:cNvSpPr/>
          <p:nvPr/>
        </p:nvSpPr>
        <p:spPr>
          <a:xfrm>
            <a:off x="4727448" y="2313432"/>
            <a:ext cx="4206240" cy="1298448"/>
          </a:xfrm>
          <a:prstGeom prst="rect">
            <a:avLst/>
          </a:prstGeom>
          <a:solidFill>
            <a:srgbClr val="132233"/>
          </a:solidFill>
          <a:ln w="12700">
            <a:solidFill>
              <a:srgbClr val="1E3A52"/>
            </a:solidFill>
            <a:prstDash val="solid"/>
          </a:ln>
        </p:spPr>
      </p:sp>
      <p:sp>
        <p:nvSpPr>
          <p:cNvPr id="17" name="Shape 15"/>
          <p:cNvSpPr/>
          <p:nvPr/>
        </p:nvSpPr>
        <p:spPr>
          <a:xfrm>
            <a:off x="4727448" y="2313432"/>
            <a:ext cx="64008" cy="1298448"/>
          </a:xfrm>
          <a:prstGeom prst="rect">
            <a:avLst/>
          </a:prstGeom>
          <a:solidFill>
            <a:srgbClr val="1B98E0"/>
          </a:solidFill>
          <a:ln w="12700">
            <a:solidFill>
              <a:srgbClr val="1B98E0"/>
            </a:solidFill>
            <a:prstDash val="solid"/>
          </a:ln>
        </p:spPr>
      </p:sp>
      <p:sp>
        <p:nvSpPr>
          <p:cNvPr id="18" name="Text 16"/>
          <p:cNvSpPr/>
          <p:nvPr/>
        </p:nvSpPr>
        <p:spPr>
          <a:xfrm>
            <a:off x="4882896" y="2404872"/>
            <a:ext cx="3913632"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Longitudinal faculty study</a:t>
            </a:r>
            <a:endParaRPr lang="en-US" sz="1250" dirty="0"/>
          </a:p>
        </p:txBody>
      </p:sp>
      <p:sp>
        <p:nvSpPr>
          <p:cNvPr id="19" name="Text 17"/>
          <p:cNvSpPr/>
          <p:nvPr/>
        </p:nvSpPr>
        <p:spPr>
          <a:xfrm>
            <a:off x="4882896" y="2770632"/>
            <a:ext cx="3913632" cy="749808"/>
          </a:xfrm>
          <a:prstGeom prst="rect">
            <a:avLst/>
          </a:prstGeom>
          <a:noFill/>
          <a:ln/>
        </p:spPr>
        <p:txBody>
          <a:bodyPr wrap="square" lIns="0" tIns="0" rIns="0" bIns="0" rtlCol="0" anchor="ctr"/>
          <a:lstStyle/>
          <a:p>
            <a:pPr indent="0" marL="0">
              <a:buNone/>
            </a:pPr>
            <a:r>
              <a:rPr lang="en-US" sz="1050" dirty="0">
                <a:solidFill>
                  <a:srgbClr val="A8C5DA"/>
                </a:solidFill>
                <a:latin typeface="Calibri" pitchFamily="34" charset="0"/>
                <a:ea typeface="Calibri" pitchFamily="34" charset="-122"/>
                <a:cs typeface="Calibri" pitchFamily="34" charset="-120"/>
              </a:rPr>
              <a:t>Replace IT student proxies with actual university instructors across technical and non-technical disciplines. Larger n for formal statistical inference.</a:t>
            </a:r>
            <a:endParaRPr lang="en-US" sz="1050" dirty="0"/>
          </a:p>
        </p:txBody>
      </p:sp>
      <p:sp>
        <p:nvSpPr>
          <p:cNvPr id="20" name="Shape 18"/>
          <p:cNvSpPr/>
          <p:nvPr/>
        </p:nvSpPr>
        <p:spPr>
          <a:xfrm>
            <a:off x="2011680" y="3822192"/>
            <a:ext cx="5120640" cy="1115568"/>
          </a:xfrm>
          <a:prstGeom prst="rect">
            <a:avLst/>
          </a:prstGeom>
          <a:solidFill>
            <a:srgbClr val="0A1520"/>
          </a:solidFill>
          <a:ln w="12700">
            <a:solidFill>
              <a:srgbClr val="1E3A52"/>
            </a:solidFill>
            <a:prstDash val="solid"/>
          </a:ln>
        </p:spPr>
      </p:sp>
      <p:sp>
        <p:nvSpPr>
          <p:cNvPr id="21" name="Text 19"/>
          <p:cNvSpPr/>
          <p:nvPr/>
        </p:nvSpPr>
        <p:spPr>
          <a:xfrm>
            <a:off x="2011680" y="3877056"/>
            <a:ext cx="5120640" cy="566928"/>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Thank You</a:t>
            </a:r>
            <a:endParaRPr lang="en-US" sz="3200" dirty="0"/>
          </a:p>
        </p:txBody>
      </p:sp>
      <p:sp>
        <p:nvSpPr>
          <p:cNvPr id="22" name="Text 20"/>
          <p:cNvSpPr/>
          <p:nvPr/>
        </p:nvSpPr>
        <p:spPr>
          <a:xfrm>
            <a:off x="2011680" y="4443984"/>
            <a:ext cx="5120640" cy="384048"/>
          </a:xfrm>
          <a:prstGeom prst="rect">
            <a:avLst/>
          </a:prstGeom>
          <a:noFill/>
          <a:ln/>
        </p:spPr>
        <p:txBody>
          <a:bodyPr wrap="square" rtlCol="0" anchor="ctr"/>
          <a:lstStyle/>
          <a:p>
            <a:pPr algn="ctr" indent="0" marL="0">
              <a:buNone/>
            </a:pPr>
            <a:r>
              <a:rPr lang="en-US" sz="1500" dirty="0">
                <a:solidFill>
                  <a:srgbClr val="1B98E0"/>
                </a:solidFill>
                <a:latin typeface="Calibri" pitchFamily="34" charset="0"/>
                <a:ea typeface="Calibri" pitchFamily="34" charset="-122"/>
                <a:cs typeface="Calibri" pitchFamily="34" charset="-120"/>
              </a:rPr>
              <a:t>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AI-ActivEdu: AI-Assisted H5P Interactive Video Platform</dc:title>
  <dc:subject>PptxGenJS Presentation</dc:subject>
  <dc:creator>Peter Nguyen</dc:creator>
  <cp:lastModifiedBy>Peter Nguyen</cp:lastModifiedBy>
  <cp:revision>1</cp:revision>
  <dcterms:created xsi:type="dcterms:W3CDTF">2026-06-09T19:19:21Z</dcterms:created>
  <dcterms:modified xsi:type="dcterms:W3CDTF">2026-06-09T19:19:21Z</dcterms:modified>
</cp:coreProperties>
</file>