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PartName="/ppt/slides/slide24.xml" ContentType="application/vnd.openxmlformats-officedocument.presentationml.slide+xml"/>
  <Default Extension="jpeg" ContentType="image/jpeg"/>
  <Override PartName="/ppt/media/thesis_arch.jpg" ContentType="image/jpeg"/>
  <Override PartName="/ppt/media/thesis_usecase.png" ContentType="image/png"/>
  <Override PartName="/ppt/media/thesis_ai_pipeline.jpg" ContentType="image/jpeg"/>
  <Override PartName="/ppt/media/thesis_editor.png" ContentType="image/png"/>
  <Override PartName="/ppt/media/thesis_eval.jpg" ContentType="image/jpeg"/>
  <Override PartName="/ppt/media/thesis_sus.jpg" ContentType="image/jpeg"/>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79" r:id="rId34"/>
    <p:sldId id="263" r:id="rId12"/>
    <p:sldId id="264" r:id="rId13"/>
    <p:sldId id="266" r:id="rId15"/>
    <p:sldId id="267" r:id="rId16"/>
    <p:sldId id="268" r:id="rId17"/>
    <p:sldId id="269" r:id="rId18"/>
    <p:sldId id="270" r:id="rId19"/>
    <p:sldId id="271" r:id="rId20"/>
    <p:sldId id="272" r:id="rId21"/>
    <p:sldId id="273" r:id="rId22"/>
    <p:sldId id="274" r:id="rId23"/>
    <p:sldId id="275" r:id="rId24"/>
    <p:sldId id="278" r:id="rId27"/>
  </p:sldIdLst>
  <p:sldSz cy="5143500" cx="9144000"/>
  <p:notesSz cx="5143500" cy="9144000"/>
  <p:embeddedFontLst>
    <p:embeddedFont>
      <p:font typeface="Inter SemiBold"/>
      <p:regular r:id="rId28"/>
      <p:bold r:id="rId29"/>
      <p:italic r:id="rId30"/>
      <p:boldItalic r:id="rId31"/>
    </p:embeddedFont>
    <p:embeddedFont>
      <p:font typeface="Inter"/>
      <p:bold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8" Type="http://schemas.openxmlformats.org/officeDocument/2006/relationships/font" Target="fonts/InterSemiBold-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InterSemiBold-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InterSemiBold-boldItalic.fntdata"/><Relationship Id="rId30" Type="http://schemas.openxmlformats.org/officeDocument/2006/relationships/font" Target="fonts/InterSemiBold-italic.fntdata"/><Relationship Id="rId11" Type="http://schemas.openxmlformats.org/officeDocument/2006/relationships/slide" Target="slides/slide7.xml"/><Relationship Id="rId33" Type="http://schemas.openxmlformats.org/officeDocument/2006/relationships/font" Target="fonts/Inter-boldItalic.fntdata"/><Relationship Id="rId10" Type="http://schemas.openxmlformats.org/officeDocument/2006/relationships/slide" Target="slides/slide6.xml"/><Relationship Id="rId32" Type="http://schemas.openxmlformats.org/officeDocument/2006/relationships/font" Target="fonts/Inter-bold.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 Id="rId34" Type="http://schemas.openxmlformats.org/officeDocument/2006/relationships/slide" Target="slides/slide24.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Today I am presenting my Bachelor's thesis: Autonomous AI-Based Generation of Interactive Questions for MOOC Videos — developed at the International University, VNU-HCM, School of Computer Science and Engineering.</a:t>
            </a:r>
            <a:endParaRPr/>
          </a:p>
        </p:txBody>
      </p:sp>
      <p:sp>
        <p:nvSpPr>
          <p:cNvPr id="14" name="Google Shape;14;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presentation covers six sections: Introduction and context, Literature review, Methodology and system design, Implementation details, Evaluation results, and finally Conclusion with future work.</a:t>
            </a:r>
            <a:endParaRPr/>
          </a:p>
        </p:txBody>
      </p:sp>
      <p:sp>
        <p:nvSpPr>
          <p:cNvPr id="27" name="Google Shape;27;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Vietnam's digital education strategy creates real institutional pressure for educators to produce interactive content. VNU-HCM has the platform infrastructure. But surveys at HCMIU show 89% of instructors want to create interactive content, while only 23% feel confident doing it. The average creation time for one interactive video using the standard WordPress H5P workflow is 45 minutes. The bottleneck is the tool, not the educator.</a:t>
            </a:r>
            <a:endParaRPr/>
          </a:p>
        </p:txBody>
      </p:sp>
      <p:sp>
        <p:nvSpPr>
          <p:cNvPr id="67" name="Google Shape;67;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xml:space="preserve">The problem has four interacting dimensions. First, the WordPress H5P workflow requires 47 individual interactions across 6 screens — a task analysis confirmed this number. </a:t>
            </a:r>
            <a:endParaRPr/>
          </a:p>
          <a:p>
            <a:pPr indent="0" lvl="0" marL="0" rtl="0" algn="l">
              <a:spcBef>
                <a:spcPts val="0"/>
              </a:spcBef>
              <a:spcAft>
                <a:spcPts val="0"/>
              </a:spcAft>
              <a:buNone/>
            </a:pPr>
            <a:r>
              <a:rPr lang="en-US"/>
              <a:t xml:space="preserve">Second, the cognitive overhead of managing the tool leaves little mental capacity for actual pedagogical design. </a:t>
            </a:r>
            <a:endParaRPr/>
          </a:p>
          <a:p>
            <a:pPr indent="0" lvl="0" marL="0" rtl="0" algn="l">
              <a:spcBef>
                <a:spcPts val="0"/>
              </a:spcBef>
              <a:spcAft>
                <a:spcPts val="0"/>
              </a:spcAft>
              <a:buNone/>
            </a:pPr>
            <a:r>
              <a:rPr lang="en-US"/>
              <a:t xml:space="preserve">Third, this complexity excludes the majority of faculty. </a:t>
            </a:r>
            <a:endParaRPr/>
          </a:p>
          <a:p>
            <a:pPr indent="0" lvl="0" marL="0" rtl="0" algn="l">
              <a:spcBef>
                <a:spcPts val="0"/>
              </a:spcBef>
              <a:spcAft>
                <a:spcPts val="0"/>
              </a:spcAft>
              <a:buNone/>
            </a:pPr>
            <a:r>
              <a:rPr lang="en-US"/>
              <a:t xml:space="preserve">Fourth, there is no AI scaffolding anywhere in the existing toolset. </a:t>
            </a:r>
            <a:endParaRPr/>
          </a:p>
          <a:p>
            <a:pPr indent="0" lvl="0" marL="0" rtl="0" algn="l">
              <a:spcBef>
                <a:spcPts val="0"/>
              </a:spcBef>
              <a:spcAft>
                <a:spcPts val="0"/>
              </a:spcAft>
              <a:buNone/>
            </a:pPr>
            <a:r>
              <a:rPr lang="en-US"/>
              <a:t>These four challenges compound each other: complexity causes low adoption, and low adoption means no pressure to improve the tools.</a:t>
            </a:r>
            <a:endParaRPr/>
          </a:p>
        </p:txBody>
      </p:sp>
      <p:sp>
        <p:nvSpPr>
          <p:cNvPr id="90" name="Google Shape;90;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primary research question asks whether a purpose-built platform can improve efficiency, quality, and adoption. Four supporting questions drill into the specific barriers, design principles, architecture, and measurable performance differences. Each RQ maps to a chapter in the thesis, and all four are answered directly in the Conclusion.</a:t>
            </a:r>
            <a:endParaRPr/>
          </a:p>
        </p:txBody>
      </p:sp>
      <p:sp>
        <p:nvSpPr>
          <p:cNvPr id="120" name="Google Shape;120;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pedagogical foundation is strong. Zhang showed a 20-25% improvement in post-test scores from interactive video. Merkt showed it beats print materials for STEM content. Freeman's meta-analysis of 225 studies shows active learning halves the failure rate. The challenge is not proving interactive video works — that is settled science. The challenge is making it accessible to create. That is what this thesis addresses.</a:t>
            </a:r>
            <a:endParaRPr/>
          </a:p>
        </p:txBody>
      </p:sp>
      <p:sp>
        <p:nvSpPr>
          <p:cNvPr id="148" name="Google Shape;148;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H5P is a genuinely powerful framework — self-contained, portable, and LMS-agnostic. The problem is not H5P itself. The problem is how it is deployed. The WordPress plugin forces educators through 47 discrete interactions across 6 screens, with 3-second page loads breaking concentration at every step. And there is no AI anywhere in the ecosystem. The Lumieducation headless Node.js library solves the CMS dependency — it lets us build a purpose-built interface around H5P without WordPress at all.</a:t>
            </a:r>
            <a:endParaRPr/>
          </a:p>
        </p:txBody>
      </p:sp>
      <p:sp>
        <p:nvSpPr>
          <p:cNvPr id="170" name="Google Shape;170;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architecture is a classic three-tier web application. Tier 1 is a React 18 TypeScript SPA running on port 3002. It proxies all API calls to Tier 2 — an Express REST API on port 5001 — so the browser always sees a single origin, keeping CORS simple. Tier 2 handles all business logic: JWT auth, Zod schema validation, AI orchestration, and H5P operations via the Lumieducation headless library. Tier 3 is SQLite for this prototype, with the H5P content and library files stored on the local filesystem. The clean tier separation means the AI pipeline and H5P engine can be scaled independently in a future production deployment.</a:t>
            </a:r>
            <a:endParaRPr/>
          </a:p>
        </p:txBody>
      </p:sp>
      <p:sp>
        <p:nvSpPr>
          <p:cNvPr id="187" name="Google Shape;187;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actors. The instructor is the primary user — they follow the core six-step workflow shown in the diagram. The admin manages the platform: user accounts, AI usage quotas, API key configuration, and security audit logs. The use case diagram shows all interactions, and the key design insight is that every instructor action is contained within a single page — no navigation between screens required.</a:t>
            </a:r>
            <a:endParaRPr/>
          </a:p>
        </p:txBody>
      </p:sp>
      <p:sp>
        <p:nvSpPr>
          <p:cNvPr id="211" name="Google Shape;211;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xml:space="preserve">Two upload paths. For direct file upload: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Multer validates the MIME type against the allowlist,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xml:space="preserve"> FFmpeg is spawned as a separate child process to extract a thumbnail and read metadata without blocking the API event loop, then the database record is created.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xml:space="preserve">Streaming uses HTTP range requests with an ownership check — you cannot stream another user's video.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YouTube imports are simpler — yt-dlp extracts metadata and the URL is stored as an external reference; no FFmpeg processing needed because the browser handles YouTube streaming natively.</a:t>
            </a:r>
            <a:endParaRPr/>
          </a:p>
        </p:txBody>
      </p:sp>
      <p:sp>
        <p:nvSpPr>
          <p:cNvPr id="241" name="Google Shape;241;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xml:space="preserve">The AI pipeline has eight stages shown in the diagram. </a:t>
            </a:r>
            <a:endParaRPr/>
          </a:p>
          <a:p>
            <a:pPr indent="0" lvl="0" marL="0" rtl="0" algn="l">
              <a:spcBef>
                <a:spcPts val="0"/>
              </a:spcBef>
              <a:spcAft>
                <a:spcPts val="0"/>
              </a:spcAft>
              <a:buNone/>
            </a:pPr>
            <a:r>
              <a:rPr lang="en-US"/>
              <a:t>Starting from video input: the transcript is acquired via YouTube API, uploaded WebVTT, or local Whisper neural transcription.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xml:space="preserve"> It is then segmented and formatted for the LLM prompt.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xml:space="preserve">The provider selection follows the fallback chain: Groq first, then local Ollama, then Claude.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xml:space="preserve">The LLM output is not trusted directly — it is immediately validated against strict Zod schemas, rejecting any hallucinated or malformed structure.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Only then does it go to the instructor review panel.</a:t>
            </a:r>
            <a:endParaRPr/>
          </a:p>
        </p:txBody>
      </p:sp>
      <p:sp>
        <p:nvSpPr>
          <p:cNvPr id="278" name="Google Shape;278;p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editor interface is where the user-centred design principles materialise.</a:t>
            </a:r>
            <a:endParaRPr/>
          </a:p>
          <a:p>
            <a:pPr indent="0" lvl="0" marL="0" rtl="0" algn="l">
              <a:spcBef>
                <a:spcPts val="0"/>
              </a:spcBef>
              <a:spcAft>
                <a:spcPts val="0"/>
              </a:spcAft>
              <a:buNone/>
            </a:pPr>
            <a:r>
              <a:rPr lang="en-US"/>
              <a:t xml:space="preserve"> Chandler and Sweller's split-attention effect — the cognitive penalty of having to mentally integrate information from separated screen areas — is eliminated by co-locating all task-relevant panels on a single non-scrolling viewport.</a:t>
            </a:r>
            <a:endParaRPr/>
          </a:p>
          <a:p>
            <a:pPr indent="0" lvl="0" marL="0" rtl="0" algn="l">
              <a:spcBef>
                <a:spcPts val="0"/>
              </a:spcBef>
              <a:spcAft>
                <a:spcPts val="0"/>
              </a:spcAft>
              <a:buNone/>
            </a:pPr>
            <a:r>
              <a:rPr lang="en-US"/>
              <a:t xml:space="preserve"> The result is a reduction from 47 interactions in WordPress to just 6 in this platform.</a:t>
            </a:r>
            <a:endParaRPr/>
          </a:p>
          <a:p>
            <a:pPr indent="0" lvl="0" marL="0" rtl="0" algn="l">
              <a:spcBef>
                <a:spcPts val="0"/>
              </a:spcBef>
              <a:spcAft>
                <a:spcPts val="0"/>
              </a:spcAft>
              <a:buNone/>
            </a:pPr>
            <a:r>
              <a:rPr lang="en-US"/>
              <a:t xml:space="preserve"> The instructor clicks a timestamp on the scrubber, fills in a form, and the H5P library renders it in the preview panel immediately. No export required to see the result.</a:t>
            </a:r>
            <a:endParaRPr/>
          </a:p>
        </p:txBody>
      </p:sp>
      <p:sp>
        <p:nvSpPr>
          <p:cNvPr id="301" name="Google Shape;301;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H5P interaction types are supported, each with its specific library identifier version-locked in the platform. The LLM does not just generate question text — it generates the complete, nested JSON parameter object for each content type, conforming to the exact schema the Lumieducation library expects. The Zod validation step ensures no malformed JSON reaches the H5P engine. The screenshot on the left shows the question type selector in the editor, and the bottom screenshot shows a student answer with correct feedback rendered in the H5P player.</a:t>
            </a:r>
            <a:endParaRPr/>
          </a:p>
        </p:txBody>
      </p:sp>
      <p:sp>
        <p:nvSpPr>
          <p:cNvPr id="329" name="Google Shape;329;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evaluation methodology follows the Design Science paradigm. Ten IT students completed five identical tasks on both the WordPress H5P baseline and the new platform, in randomised order to prevent learning effects. Nielsen's research shows five users detect 80% of usability problems, so ten is sufficient. The five tasks map exactly to the real instructor workflow. Five metrics were collected: task completion rate, time on task by stopwatch, error count, the standardised SUS questionnaire, and post-task interview.</a:t>
            </a:r>
            <a:endParaRPr/>
          </a:p>
        </p:txBody>
      </p:sp>
      <p:sp>
        <p:nvSpPr>
          <p:cNvPr id="342" name="Google Shape;342;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headline numbers. Task completion rate: 95% versus 30% — a 65 percentage point improvement. Median task time: 3.2 minutes versus 45 minutes — a 93% reduction. Mean SUS score: 82.5 versus 38.0 — moving from 'Poor' to 'Excellent' on Brooke's rating scale. Mean error count: 0.9 versus 8.3 — an 89% reduction. The SUS chart on the left shows individual participant scores clustered tightly in the upper range — this is consistency, not outliers. The comparative chart confirms the gap holds across all five individual tasks, not just in aggregate.</a:t>
            </a:r>
            <a:endParaRPr/>
          </a:p>
        </p:txBody>
      </p:sp>
      <p:sp>
        <p:nvSpPr>
          <p:cNvPr id="400" name="Google Shape;400;p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research question is answered directly. RQ1: barriers are identified and eliminated — fragmentation, cognitive burden, no preview, no AI. RQ2: the co-location principle reduces interactions from 47 to 8, directly addressing Chandler and Sweller's split-attention effect. RQ3: the Groq-Ollama-Claude fallback chain with Zod validation and SSE streaming is the optimal architecture. RQ4: every metric improved, exceeding all targets. The Technology Acceptance Model predicts that usability improvements of this magnitude hold strong practical significance for institutional adoption.</a:t>
            </a:r>
            <a:endParaRPr/>
          </a:p>
        </p:txBody>
      </p:sp>
      <p:sp>
        <p:nvSpPr>
          <p:cNvPr id="429" name="Google Shape;429;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contributions. One: a deployable open-source platform. Two: the first documented LLM pipeline producing valid H5P JSON — this is novel because H5P's nested schema structure is complex enough to cause LLM hallucination without strict Zod validation. Three: the prompt engineering patterns that solve that hallucination problem are reusable for other structured output use cases. Four: empirical evidence that UCD delivers measurable gains in EdTech. Five: direct strategic value for VNU-HCM's digital transformation mandate.</a:t>
            </a:r>
            <a:endParaRPr/>
          </a:p>
        </p:txBody>
      </p:sp>
      <p:sp>
        <p:nvSpPr>
          <p:cNvPr id="466" name="Google Shape;466;p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honest limitations. The sample size is sufficient for usability detection but not parametric statistics. The proxy participants may not perfectly represent humanities faculty, who are the most underserved users. The AI has only been tested in English, not Vietnamese. And there is no longitudinal data on actual adoption. The four highest-priority future directions address the most critical gaps: real faculty study, Vietnamese language validation, xAPI integration for learning analytics, and async processing to handle institutional scale.</a:t>
            </a:r>
            <a:endParaRPr/>
          </a:p>
        </p:txBody>
      </p:sp>
      <p:sp>
        <p:nvSpPr>
          <p:cNvPr id="496" name="Google Shape;496;p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 name="Google Shape;51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conclusion. The research question asked whether a purpose-built platform with AI assistance could improve efficiency, quality, and adoption. The answer is a clear yes — validated empirically across five tasks with ten participants. The 93% reduction in creation time and the move from Poor to Excellent on the SUS scale are not incremental improvements. They are the result of fundamentally rethinking the tool around the educator's cognitive workflow, not around a generic CMS architecture. The bottleneck was never educator willingness. It was the tool.</a:t>
            </a:r>
            <a:endParaRPr/>
          </a:p>
        </p:txBody>
      </p:sp>
      <p:sp>
        <p:nvSpPr>
          <p:cNvPr id="519" name="Google Shape;51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Thank you. I am happy to take questions on any aspect of the project — the AI pipeline architecture, the H5P integration, the evaluation methodology, or the results.</a:t>
            </a:r>
            <a:endParaRPr/>
          </a:p>
        </p:txBody>
      </p:sp>
      <p:sp>
        <p:nvSpPr>
          <p:cNvPr id="563" name="Google Shape;56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3.jpg"/><Relationship Id="rId4" Type="http://schemas.openxmlformats.org/officeDocument/2006/relationships/image" Target="../media/image10.png"/><Relationship Id="rId5" Type="http://schemas.openxmlformats.org/officeDocument/2006/relationships/image" Target="../media/image16.png"/></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21.png"/></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thesis_arch.jpg"/></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thesis_usecase.png"/></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27.png"/><Relationship Id="rId5" Type="http://schemas.openxmlformats.org/officeDocument/2006/relationships/image" Target="../media/image17.png"/></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thesis_ai_pipeline.jpg"/></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thesis_editor.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26.png"/><Relationship Id="rId5" Type="http://schemas.openxmlformats.org/officeDocument/2006/relationships/image" Target="../media/image30.png"/><Relationship Id="rId6" Type="http://schemas.openxmlformats.org/officeDocument/2006/relationships/image" Target="../media/image28.png"/><Relationship Id="rId7" Type="http://schemas.openxmlformats.org/officeDocument/2006/relationships/image" Target="../media/image40.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thesis_eval.jpg"/><Relationship Id="rId5" Type="http://schemas.openxmlformats.org/officeDocument/2006/relationships/image" Target="../media/thesis_sus.jpg"/></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37.png"/></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 name="Shape 15"/>
        <p:cNvGrpSpPr/>
        <p:nvPr/>
      </p:nvGrpSpPr>
      <p:grpSpPr>
        <a:xfrm>
          <a:off x="0" y="0"/>
          <a:ext cx="0" cy="0"/>
          <a:chOff x="0" y="0"/>
          <a:chExt cx="0" cy="0"/>
        </a:xfrm>
      </p:grpSpPr>
      <p:pic>
        <p:nvPicPr>
          <p:cNvPr id="16" name="Google Shape;16;p3"/>
          <p:cNvPicPr preferRelativeResize="0"/>
          <p:nvPr/>
        </p:nvPicPr>
        <p:blipFill rotWithShape="1">
          <a:blip r:embed="rId4">
            <a:alphaModFix/>
          </a:blip>
          <a:srcRect b="0" l="0" r="0" t="0"/>
          <a:stretch/>
        </p:blipFill>
        <p:spPr>
          <a:xfrm>
            <a:off x="0" y="4953000"/>
            <a:ext cx="4562400" cy="190500"/>
          </a:xfrm>
          <a:prstGeom prst="rect">
            <a:avLst/>
          </a:prstGeom>
          <a:noFill/>
          <a:ln>
            <a:noFill/>
          </a:ln>
          <a:effectLst>
            <a:outerShdw blurRad="57150" rotWithShape="0" algn="bl" dir="8100000" dist="104775">
              <a:srgbClr val="000000"/>
            </a:outerShdw>
          </a:effectLst>
        </p:spPr>
      </p:pic>
      <p:sp>
        <p:nvSpPr>
          <p:cNvPr id="17" name="Google Shape;17;p3"/>
          <p:cNvSpPr/>
          <p:nvPr/>
        </p:nvSpPr>
        <p:spPr>
          <a:xfrm>
            <a:off x="571500" y="381000"/>
            <a:ext cx="8001000" cy="285900"/>
          </a:xfrm>
          <a:prstGeom prst="rect">
            <a:avLst/>
          </a:prstGeom>
          <a:solidFill>
            <a:srgbClr val="000000">
              <a:alpha val="0"/>
            </a:srgbClr>
          </a:solidFill>
          <a:ln>
            <a:noFill/>
          </a:ln>
          <a:effectLst>
            <a:outerShdw blurRad="57150" rotWithShape="0" algn="bl" dir="8100000" dist="104775">
              <a:srgbClr val="000000"/>
            </a:outerShdw>
          </a:effectLst>
        </p:spPr>
        <p:txBody>
          <a:bodyPr anchorCtr="0" anchor="ctr" bIns="0" lIns="0" spcFirstLastPara="1" rIns="0" wrap="square" tIns="0">
            <a:noAutofit/>
          </a:bodyPr>
          <a:lstStyle/>
          <a:p>
            <a:pPr indent="0" lvl="0" marL="0" rtl="0" algn="l">
              <a:spcBef>
                <a:spcPts val="0"/>
              </a:spcBef>
              <a:spcAft>
                <a:spcPts val="0"/>
              </a:spcAft>
              <a:buNone/>
            </a:pPr>
            <a:r>
              <a:rPr b="0" lang="en-US" sz="1000">
                <a:solidFill>
                  <a:srgbClr val="A3BFD9"/>
                </a:solidFill>
                <a:latin typeface="Calibri"/>
                <a:ea typeface="Calibri"/>
                <a:cs typeface="Calibri"/>
                <a:sym typeface="Calibri"/>
              </a:rPr>
              <a:t>VIETNAM NATIONAL UNIVERSITY HO CHI MINH CITY | THE INTERNATIONAL UNIVERSITY</a:t>
            </a:r>
            <a:endParaRPr b="0" sz="1000">
              <a:solidFill>
                <a:srgbClr val="A3BFD9"/>
              </a:solidFill>
              <a:latin typeface="Calibri"/>
              <a:ea typeface="Calibri"/>
              <a:cs typeface="Calibri"/>
              <a:sym typeface="Calibri"/>
            </a:endParaRPr>
          </a:p>
        </p:txBody>
      </p:sp>
      <p:sp>
        <p:nvSpPr>
          <p:cNvPr id="18" name="Google Shape;18;p3"/>
          <p:cNvSpPr/>
          <p:nvPr/>
        </p:nvSpPr>
        <p:spPr>
          <a:xfrm>
            <a:off x="571500" y="619125"/>
            <a:ext cx="8001000" cy="238200"/>
          </a:xfrm>
          <a:prstGeom prst="rect">
            <a:avLst/>
          </a:prstGeom>
          <a:solidFill>
            <a:srgbClr val="000000">
              <a:alpha val="0"/>
            </a:srgbClr>
          </a:solidFill>
          <a:ln>
            <a:noFill/>
          </a:ln>
          <a:effectLst>
            <a:outerShdw blurRad="57150" rotWithShape="0" algn="bl" dir="8100000" dist="104775">
              <a:srgbClr val="000000"/>
            </a:outerShdw>
          </a:effectLst>
        </p:spPr>
        <p:txBody>
          <a:bodyPr anchorCtr="0" anchor="ctr" bIns="0" lIns="0" spcFirstLastPara="1" rIns="0" wrap="square" tIns="0">
            <a:noAutofit/>
          </a:bodyPr>
          <a:lstStyle/>
          <a:p>
            <a:pPr indent="0" lvl="0" marL="0" rtl="0" algn="l">
              <a:spcBef>
                <a:spcPts val="0"/>
              </a:spcBef>
              <a:spcAft>
                <a:spcPts val="0"/>
              </a:spcAft>
              <a:buNone/>
            </a:pPr>
            <a:r>
              <a:rPr b="1" lang="en-US" sz="950">
                <a:solidFill>
                  <a:srgbClr val="E87722"/>
                </a:solidFill>
                <a:latin typeface="Calibri"/>
                <a:ea typeface="Calibri"/>
                <a:cs typeface="Calibri"/>
                <a:sym typeface="Calibri"/>
              </a:rPr>
              <a:t>SCHOOL OF COMPUTER SCIENCE AND ENGINEERING</a:t>
            </a:r>
            <a:endParaRPr b="1" sz="950">
              <a:solidFill>
                <a:srgbClr val="E87722"/>
              </a:solidFill>
              <a:latin typeface="Calibri"/>
              <a:ea typeface="Calibri"/>
              <a:cs typeface="Calibri"/>
              <a:sym typeface="Calibri"/>
            </a:endParaRPr>
          </a:p>
        </p:txBody>
      </p:sp>
      <p:sp>
        <p:nvSpPr>
          <p:cNvPr id="19" name="Google Shape;19;p3"/>
          <p:cNvSpPr/>
          <p:nvPr/>
        </p:nvSpPr>
        <p:spPr>
          <a:xfrm>
            <a:off x="571500" y="1374538"/>
            <a:ext cx="8001000" cy="1714500"/>
          </a:xfrm>
          <a:prstGeom prst="rect">
            <a:avLst/>
          </a:prstGeom>
          <a:solidFill>
            <a:srgbClr val="000000">
              <a:alpha val="0"/>
            </a:srgbClr>
          </a:solidFill>
          <a:ln>
            <a:noFill/>
          </a:ln>
          <a:effectLst>
            <a:outerShdw blurRad="57150" rotWithShape="0" algn="bl" dir="8100000" dist="104775">
              <a:srgbClr val="000000"/>
            </a:outerShdw>
          </a:effectLst>
        </p:spPr>
        <p:txBody>
          <a:bodyPr anchorCtr="0" anchor="ctr" bIns="0" lIns="0" spcFirstLastPara="1" rIns="0" wrap="square" tIns="0">
            <a:noAutofit/>
          </a:bodyPr>
          <a:lstStyle/>
          <a:p>
            <a:pPr indent="0" lvl="0" marL="0" rtl="0" algn="l">
              <a:spcBef>
                <a:spcPts val="0"/>
              </a:spcBef>
              <a:spcAft>
                <a:spcPts val="0"/>
              </a:spcAft>
              <a:buNone/>
            </a:pPr>
            <a:r>
              <a:rPr b="1" lang="en-US" sz="3080">
                <a:solidFill>
                  <a:srgbClr val="FFFFFF"/>
                </a:solidFill>
                <a:latin typeface="Georgia"/>
                <a:ea typeface="Georgia"/>
                <a:cs typeface="Georgia"/>
                <a:sym typeface="Georgia"/>
              </a:rPr>
              <a:t>Autonomous AI-Based Generation of</a:t>
            </a:r>
            <a:endParaRPr b="1" sz="3080">
              <a:solidFill>
                <a:srgbClr val="FFFFFF"/>
              </a:solidFill>
              <a:latin typeface="Georgia"/>
              <a:ea typeface="Georgia"/>
              <a:cs typeface="Georgia"/>
              <a:sym typeface="Georgia"/>
            </a:endParaRPr>
          </a:p>
          <a:p>
            <a:pPr indent="0" lvl="0" marL="0" rtl="0" algn="l">
              <a:spcBef>
                <a:spcPts val="750"/>
              </a:spcBef>
              <a:spcAft>
                <a:spcPts val="0"/>
              </a:spcAft>
              <a:buNone/>
            </a:pPr>
            <a:r>
              <a:rPr b="1" lang="en-US" sz="3080">
                <a:solidFill>
                  <a:srgbClr val="FFFFFF"/>
                </a:solidFill>
                <a:latin typeface="Georgia"/>
                <a:ea typeface="Georgia"/>
                <a:cs typeface="Georgia"/>
                <a:sym typeface="Georgia"/>
              </a:rPr>
              <a:t>Interactive Questions for MOOC Videos</a:t>
            </a:r>
            <a:endParaRPr b="1" sz="3080">
              <a:solidFill>
                <a:srgbClr val="FFFFFF"/>
              </a:solidFill>
              <a:latin typeface="Georgia"/>
              <a:ea typeface="Georgia"/>
              <a:cs typeface="Georgia"/>
              <a:sym typeface="Georgia"/>
            </a:endParaRPr>
          </a:p>
        </p:txBody>
      </p:sp>
      <p:sp>
        <p:nvSpPr>
          <p:cNvPr id="20" name="Google Shape;20;p3"/>
          <p:cNvSpPr/>
          <p:nvPr/>
        </p:nvSpPr>
        <p:spPr>
          <a:xfrm>
            <a:off x="571500" y="3238500"/>
            <a:ext cx="1143000" cy="38100"/>
          </a:xfrm>
          <a:prstGeom prst="rect">
            <a:avLst/>
          </a:prstGeom>
          <a:solidFill>
            <a:srgbClr val="E87722"/>
          </a:solidFill>
          <a:ln>
            <a:noFill/>
          </a:ln>
          <a:effectLst>
            <a:outerShdw blurRad="57150" rotWithShape="0" algn="bl" dir="8100000" dist="104775">
              <a:srgbClr val="000000"/>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 name="Google Shape;21;p3"/>
          <p:cNvSpPr/>
          <p:nvPr/>
        </p:nvSpPr>
        <p:spPr>
          <a:xfrm>
            <a:off x="571500" y="3505725"/>
            <a:ext cx="3810000" cy="381000"/>
          </a:xfrm>
          <a:prstGeom prst="rect">
            <a:avLst/>
          </a:prstGeom>
          <a:solidFill>
            <a:srgbClr val="000000">
              <a:alpha val="0"/>
            </a:srgbClr>
          </a:solidFill>
          <a:ln>
            <a:noFill/>
          </a:ln>
          <a:effectLst>
            <a:outerShdw blurRad="57150" rotWithShape="0" algn="bl" dir="8100000" dist="104775">
              <a:srgbClr val="000000"/>
            </a:outerShdw>
          </a:effectLst>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E87722"/>
                </a:solidFill>
                <a:latin typeface="Calibri"/>
                <a:ea typeface="Calibri"/>
                <a:cs typeface="Calibri"/>
                <a:sym typeface="Calibri"/>
              </a:rPr>
              <a:t xml:space="preserve">Nguyen Toan Phuc </a:t>
            </a:r>
            <a:r>
              <a:rPr b="0" lang="en-US" sz="1800">
                <a:solidFill>
                  <a:srgbClr val="FFFFFF"/>
                </a:solidFill>
                <a:latin typeface="Calibri"/>
                <a:ea typeface="Calibri"/>
                <a:cs typeface="Calibri"/>
                <a:sym typeface="Calibri"/>
              </a:rPr>
              <a:t>| ITITIU21093</a:t>
            </a:r>
            <a:endParaRPr b="1" sz="1800">
              <a:solidFill>
                <a:srgbClr val="E87722"/>
              </a:solidFill>
              <a:latin typeface="Calibri"/>
              <a:ea typeface="Calibri"/>
              <a:cs typeface="Calibri"/>
              <a:sym typeface="Calibri"/>
            </a:endParaRPr>
          </a:p>
        </p:txBody>
      </p:sp>
      <p:sp>
        <p:nvSpPr>
          <p:cNvPr id="22" name="Google Shape;22;p3"/>
          <p:cNvSpPr/>
          <p:nvPr/>
        </p:nvSpPr>
        <p:spPr>
          <a:xfrm>
            <a:off x="571500" y="3886725"/>
            <a:ext cx="6667500" cy="748800"/>
          </a:xfrm>
          <a:prstGeom prst="rect">
            <a:avLst/>
          </a:prstGeom>
          <a:solidFill>
            <a:srgbClr val="000000">
              <a:alpha val="0"/>
            </a:srgbClr>
          </a:solidFill>
          <a:ln>
            <a:noFill/>
          </a:ln>
          <a:effectLst>
            <a:outerShdw blurRad="57150" rotWithShape="0" algn="bl" dir="8100000" dist="104775">
              <a:srgbClr val="000000"/>
            </a:outerShdw>
          </a:effectLst>
        </p:spPr>
        <p:txBody>
          <a:bodyPr anchorCtr="0" anchor="ctr"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i="1" lang="en-US" sz="1100">
                <a:solidFill>
                  <a:srgbClr val="A3BFD9"/>
                </a:solidFill>
                <a:latin typeface="Calibri"/>
                <a:ea typeface="Calibri"/>
                <a:cs typeface="Calibri"/>
                <a:sym typeface="Calibri"/>
              </a:rPr>
              <a:t>Instructors: Le Thanh Son, M.Sc., Supervisor,</a:t>
            </a:r>
            <a:endParaRPr i="1" sz="1100">
              <a:solidFill>
                <a:srgbClr val="A3BFD9"/>
              </a:solidFill>
              <a:latin typeface="Calibri"/>
              <a:ea typeface="Calibri"/>
              <a:cs typeface="Calibri"/>
              <a:sym typeface="Calibri"/>
            </a:endParaRPr>
          </a:p>
          <a:p>
            <a:pPr indent="0" lvl="0" marL="457200" rtl="0" algn="l">
              <a:lnSpc>
                <a:spcPct val="115000"/>
              </a:lnSpc>
              <a:spcBef>
                <a:spcPts val="0"/>
              </a:spcBef>
              <a:spcAft>
                <a:spcPts val="0"/>
              </a:spcAft>
              <a:buNone/>
            </a:pPr>
            <a:r>
              <a:rPr i="1" lang="en-US" sz="1100">
                <a:solidFill>
                  <a:srgbClr val="A3BFD9"/>
                </a:solidFill>
                <a:latin typeface="Calibri"/>
                <a:ea typeface="Calibri"/>
                <a:cs typeface="Calibri"/>
                <a:sym typeface="Calibri"/>
              </a:rPr>
              <a:t xml:space="preserve">      Tran Manh Ha, Assoc. Prof., Ph.D.</a:t>
            </a:r>
            <a:endParaRPr i="1" sz="1100">
              <a:solidFill>
                <a:srgbClr val="A3BFD9"/>
              </a:solidFill>
              <a:latin typeface="Calibri"/>
              <a:ea typeface="Calibri"/>
              <a:cs typeface="Calibri"/>
              <a:sym typeface="Calibri"/>
            </a:endParaRPr>
          </a:p>
          <a:p>
            <a:pPr indent="0" lvl="0" marL="457200" rtl="0" algn="l">
              <a:lnSpc>
                <a:spcPct val="115000"/>
              </a:lnSpc>
              <a:spcBef>
                <a:spcPts val="0"/>
              </a:spcBef>
              <a:spcAft>
                <a:spcPts val="0"/>
              </a:spcAft>
              <a:buNone/>
            </a:pPr>
            <a:r>
              <a:t/>
            </a:r>
            <a:endParaRPr i="1" sz="1100">
              <a:solidFill>
                <a:srgbClr val="A3BFD9"/>
              </a:solidFill>
              <a:latin typeface="Calibri"/>
              <a:ea typeface="Calibri"/>
              <a:cs typeface="Calibri"/>
              <a:sym typeface="Calibri"/>
            </a:endParaRPr>
          </a:p>
          <a:p>
            <a:pPr indent="0" lvl="0" marL="0" rtl="0" algn="l">
              <a:lnSpc>
                <a:spcPct val="115000"/>
              </a:lnSpc>
              <a:spcBef>
                <a:spcPts val="0"/>
              </a:spcBef>
              <a:spcAft>
                <a:spcPts val="0"/>
              </a:spcAft>
              <a:buNone/>
            </a:pPr>
            <a:r>
              <a:rPr b="0" i="1" lang="en-US" sz="1100">
                <a:solidFill>
                  <a:srgbClr val="A3BFD9"/>
                </a:solidFill>
                <a:latin typeface="Calibri"/>
                <a:ea typeface="Calibri"/>
                <a:cs typeface="Calibri"/>
                <a:sym typeface="Calibri"/>
              </a:rPr>
              <a:t>Bachelor of Science in Computer Science | Ho Chi Minh City, Vietnam | 2026</a:t>
            </a:r>
            <a:endParaRPr b="0" i="1" sz="1100">
              <a:solidFill>
                <a:srgbClr val="A3BFD9"/>
              </a:solidFill>
              <a:latin typeface="Calibri"/>
              <a:ea typeface="Calibri"/>
              <a:cs typeface="Calibri"/>
              <a:sym typeface="Calibri"/>
            </a:endParaRPr>
          </a:p>
        </p:txBody>
      </p:sp>
      <p:pic>
        <p:nvPicPr>
          <p:cNvPr id="23" name="Google Shape;23;p3"/>
          <p:cNvPicPr preferRelativeResize="0"/>
          <p:nvPr/>
        </p:nvPicPr>
        <p:blipFill>
          <a:blip r:embed="rId5">
            <a:alphaModFix/>
          </a:blip>
          <a:stretch>
            <a:fillRect/>
          </a:stretch>
        </p:blipFill>
        <p:spPr>
          <a:xfrm>
            <a:off x="8138575" y="147174"/>
            <a:ext cx="810700" cy="810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 name="Shape 28"/>
        <p:cNvGrpSpPr/>
        <p:nvPr/>
      </p:nvGrpSpPr>
      <p:grpSpPr>
        <a:xfrm>
          <a:off x="0" y="0"/>
          <a:ext cx="0" cy="0"/>
          <a:chOff x="0" y="0"/>
          <a:chExt cx="0" cy="0"/>
        </a:xfrm>
      </p:grpSpPr>
      <p:sp>
        <p:nvSpPr>
          <p:cNvPr id="29" name="Google Shape;29;p4"/>
          <p:cNvSpPr/>
          <p:nvPr/>
        </p:nvSpPr>
        <p:spPr>
          <a:xfrm>
            <a:off x="0" y="0"/>
            <a:ext cx="9144000" cy="7620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 name="Google Shape;30;p4"/>
          <p:cNvSpPr/>
          <p:nvPr/>
        </p:nvSpPr>
        <p:spPr>
          <a:xfrm>
            <a:off x="0" y="0"/>
            <a:ext cx="9144000" cy="857400"/>
          </a:xfrm>
          <a:prstGeom prst="rect">
            <a:avLst/>
          </a:prstGeom>
          <a:solidFill>
            <a:srgbClr val="F8F9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 name="Google Shape;31;p4"/>
          <p:cNvSpPr/>
          <p:nvPr/>
        </p:nvSpPr>
        <p:spPr>
          <a:xfrm>
            <a:off x="381000" y="238125"/>
            <a:ext cx="57300" cy="381000"/>
          </a:xfrm>
          <a:prstGeom prst="rect">
            <a:avLst/>
          </a:prstGeom>
          <a:solidFill>
            <a:srgbClr val="E87722"/>
          </a:solidFill>
          <a:ln cap="flat" cmpd="sng">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 name="Google Shape;32;p4"/>
          <p:cNvSpPr/>
          <p:nvPr/>
        </p:nvSpPr>
        <p:spPr>
          <a:xfrm>
            <a:off x="548640" y="190500"/>
            <a:ext cx="83211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960">
                <a:solidFill>
                  <a:srgbClr val="1B2A4A"/>
                </a:solidFill>
                <a:latin typeface="Georgia"/>
                <a:ea typeface="Georgia"/>
                <a:cs typeface="Georgia"/>
                <a:sym typeface="Georgia"/>
              </a:rPr>
              <a:t>Table of Contents</a:t>
            </a:r>
            <a:endParaRPr b="1" sz="2960">
              <a:solidFill>
                <a:srgbClr val="1B2A4A"/>
              </a:solidFill>
              <a:latin typeface="Georgia"/>
              <a:ea typeface="Georgia"/>
              <a:cs typeface="Georgia"/>
              <a:sym typeface="Georgia"/>
            </a:endParaRPr>
          </a:p>
        </p:txBody>
      </p:sp>
      <p:sp>
        <p:nvSpPr>
          <p:cNvPr id="33" name="Google Shape;33;p4"/>
          <p:cNvSpPr/>
          <p:nvPr/>
        </p:nvSpPr>
        <p:spPr>
          <a:xfrm>
            <a:off x="381000" y="1143000"/>
            <a:ext cx="4095900" cy="952500"/>
          </a:xfrm>
          <a:prstGeom prst="roundRect">
            <a:avLst>
              <a:gd fmla="val 8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 name="Google Shape;34;p4"/>
          <p:cNvSpPr/>
          <p:nvPr/>
        </p:nvSpPr>
        <p:spPr>
          <a:xfrm>
            <a:off x="542925" y="1238250"/>
            <a:ext cx="342900" cy="342900"/>
          </a:xfrm>
          <a:prstGeom prst="ellipse">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 name="Google Shape;35;p4"/>
          <p:cNvSpPr/>
          <p:nvPr/>
        </p:nvSpPr>
        <p:spPr>
          <a:xfrm>
            <a:off x="542925" y="123825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FFFFF"/>
                </a:solidFill>
                <a:latin typeface="Georgia"/>
                <a:ea typeface="Georgia"/>
                <a:cs typeface="Georgia"/>
                <a:sym typeface="Georgia"/>
              </a:rPr>
              <a:t>1</a:t>
            </a:r>
            <a:endParaRPr b="1" sz="1400">
              <a:solidFill>
                <a:srgbClr val="FFFFFF"/>
              </a:solidFill>
              <a:latin typeface="Georgia"/>
              <a:ea typeface="Georgia"/>
              <a:cs typeface="Georgia"/>
              <a:sym typeface="Georgia"/>
            </a:endParaRPr>
          </a:p>
        </p:txBody>
      </p:sp>
      <p:sp>
        <p:nvSpPr>
          <p:cNvPr id="36" name="Google Shape;36;p4"/>
          <p:cNvSpPr/>
          <p:nvPr/>
        </p:nvSpPr>
        <p:spPr>
          <a:xfrm>
            <a:off x="1000125" y="1190625"/>
            <a:ext cx="3143400" cy="2859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l">
              <a:spcBef>
                <a:spcPts val="0"/>
              </a:spcBef>
              <a:spcAft>
                <a:spcPts val="0"/>
              </a:spcAft>
              <a:buNone/>
            </a:pPr>
            <a:r>
              <a:rPr b="1" lang="en-US" sz="1800">
                <a:solidFill>
                  <a:srgbClr val="1B2A4A"/>
                </a:solidFill>
                <a:latin typeface="Georgia"/>
                <a:ea typeface="Georgia"/>
                <a:cs typeface="Georgia"/>
                <a:sym typeface="Georgia"/>
              </a:rPr>
              <a:t>Introduction</a:t>
            </a:r>
            <a:endParaRPr b="1" sz="1800">
              <a:solidFill>
                <a:srgbClr val="1B2A4A"/>
              </a:solidFill>
              <a:latin typeface="Georgia"/>
              <a:ea typeface="Georgia"/>
              <a:cs typeface="Georgia"/>
              <a:sym typeface="Georgia"/>
            </a:endParaRPr>
          </a:p>
        </p:txBody>
      </p:sp>
      <p:sp>
        <p:nvSpPr>
          <p:cNvPr id="37" name="Google Shape;37;p4"/>
          <p:cNvSpPr/>
          <p:nvPr/>
        </p:nvSpPr>
        <p:spPr>
          <a:xfrm>
            <a:off x="1000125" y="1476375"/>
            <a:ext cx="31434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150"/>
              </a:spcBef>
              <a:spcAft>
                <a:spcPts val="0"/>
              </a:spcAft>
              <a:buNone/>
            </a:pPr>
            <a:r>
              <a:rPr b="0" lang="en-US" sz="1200">
                <a:solidFill>
                  <a:srgbClr val="6B7280"/>
                </a:solidFill>
                <a:latin typeface="Georgia"/>
                <a:ea typeface="Georgia"/>
                <a:cs typeface="Georgia"/>
                <a:sym typeface="Georgia"/>
              </a:rPr>
              <a:t>Background · Problem Statement · Research Questions</a:t>
            </a:r>
            <a:endParaRPr b="0" sz="1200">
              <a:solidFill>
                <a:srgbClr val="6B7280"/>
              </a:solidFill>
              <a:latin typeface="Georgia"/>
              <a:ea typeface="Georgia"/>
              <a:cs typeface="Georgia"/>
              <a:sym typeface="Georgia"/>
            </a:endParaRPr>
          </a:p>
        </p:txBody>
      </p:sp>
      <p:sp>
        <p:nvSpPr>
          <p:cNvPr id="38" name="Google Shape;38;p4"/>
          <p:cNvSpPr/>
          <p:nvPr/>
        </p:nvSpPr>
        <p:spPr>
          <a:xfrm>
            <a:off x="381000" y="2286000"/>
            <a:ext cx="4095900" cy="952500"/>
          </a:xfrm>
          <a:prstGeom prst="roundRect">
            <a:avLst>
              <a:gd fmla="val 8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 name="Google Shape;39;p4"/>
          <p:cNvSpPr/>
          <p:nvPr/>
        </p:nvSpPr>
        <p:spPr>
          <a:xfrm>
            <a:off x="542925" y="2381250"/>
            <a:ext cx="342900" cy="342900"/>
          </a:xfrm>
          <a:prstGeom prst="ellipse">
            <a:avLst/>
          </a:prstGeom>
          <a:solidFill>
            <a:srgbClr val="1B2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 name="Google Shape;40;p4"/>
          <p:cNvSpPr/>
          <p:nvPr/>
        </p:nvSpPr>
        <p:spPr>
          <a:xfrm>
            <a:off x="542925" y="238125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FFFFF"/>
                </a:solidFill>
                <a:latin typeface="Georgia"/>
                <a:ea typeface="Georgia"/>
                <a:cs typeface="Georgia"/>
                <a:sym typeface="Georgia"/>
              </a:rPr>
              <a:t>2</a:t>
            </a:r>
            <a:endParaRPr b="1" sz="1400">
              <a:solidFill>
                <a:srgbClr val="FFFFFF"/>
              </a:solidFill>
              <a:latin typeface="Georgia"/>
              <a:ea typeface="Georgia"/>
              <a:cs typeface="Georgia"/>
              <a:sym typeface="Georgia"/>
            </a:endParaRPr>
          </a:p>
        </p:txBody>
      </p:sp>
      <p:sp>
        <p:nvSpPr>
          <p:cNvPr id="41" name="Google Shape;41;p4"/>
          <p:cNvSpPr/>
          <p:nvPr/>
        </p:nvSpPr>
        <p:spPr>
          <a:xfrm>
            <a:off x="1000125" y="2333625"/>
            <a:ext cx="3143400" cy="2859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l">
              <a:spcBef>
                <a:spcPts val="0"/>
              </a:spcBef>
              <a:spcAft>
                <a:spcPts val="0"/>
              </a:spcAft>
              <a:buNone/>
            </a:pPr>
            <a:r>
              <a:rPr b="1" lang="en-US" sz="1800">
                <a:solidFill>
                  <a:srgbClr val="1B2A4A"/>
                </a:solidFill>
                <a:latin typeface="Georgia"/>
                <a:ea typeface="Georgia"/>
                <a:cs typeface="Georgia"/>
                <a:sym typeface="Georgia"/>
              </a:rPr>
              <a:t>Literature Review</a:t>
            </a:r>
            <a:endParaRPr b="1" sz="1800">
              <a:solidFill>
                <a:srgbClr val="1B2A4A"/>
              </a:solidFill>
              <a:latin typeface="Georgia"/>
              <a:ea typeface="Georgia"/>
              <a:cs typeface="Georgia"/>
              <a:sym typeface="Georgia"/>
            </a:endParaRPr>
          </a:p>
        </p:txBody>
      </p:sp>
      <p:sp>
        <p:nvSpPr>
          <p:cNvPr id="42" name="Google Shape;42;p4"/>
          <p:cNvSpPr/>
          <p:nvPr/>
        </p:nvSpPr>
        <p:spPr>
          <a:xfrm>
            <a:off x="1000125" y="2619375"/>
            <a:ext cx="31434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150"/>
              </a:spcBef>
              <a:spcAft>
                <a:spcPts val="0"/>
              </a:spcAft>
              <a:buNone/>
            </a:pPr>
            <a:r>
              <a:rPr b="0" lang="en-US" sz="1200">
                <a:solidFill>
                  <a:srgbClr val="6B7280"/>
                </a:solidFill>
                <a:latin typeface="Georgia"/>
                <a:ea typeface="Georgia"/>
                <a:cs typeface="Georgia"/>
                <a:sym typeface="Georgia"/>
              </a:rPr>
              <a:t>Interactive Video · H5P Deep Dive · Related Work</a:t>
            </a:r>
            <a:endParaRPr b="0" sz="1200">
              <a:solidFill>
                <a:srgbClr val="6B7280"/>
              </a:solidFill>
              <a:latin typeface="Georgia"/>
              <a:ea typeface="Georgia"/>
              <a:cs typeface="Georgia"/>
              <a:sym typeface="Georgia"/>
            </a:endParaRPr>
          </a:p>
        </p:txBody>
      </p:sp>
      <p:sp>
        <p:nvSpPr>
          <p:cNvPr id="43" name="Google Shape;43;p4"/>
          <p:cNvSpPr/>
          <p:nvPr/>
        </p:nvSpPr>
        <p:spPr>
          <a:xfrm>
            <a:off x="381000" y="3429000"/>
            <a:ext cx="4095900" cy="952500"/>
          </a:xfrm>
          <a:prstGeom prst="roundRect">
            <a:avLst>
              <a:gd fmla="val 8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 name="Google Shape;44;p4"/>
          <p:cNvSpPr/>
          <p:nvPr/>
        </p:nvSpPr>
        <p:spPr>
          <a:xfrm>
            <a:off x="542925" y="3524250"/>
            <a:ext cx="342900" cy="342900"/>
          </a:xfrm>
          <a:prstGeom prst="ellipse">
            <a:avLst/>
          </a:prstGeom>
          <a:solidFill>
            <a:srgbClr val="1B2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 name="Google Shape;45;p4"/>
          <p:cNvSpPr/>
          <p:nvPr/>
        </p:nvSpPr>
        <p:spPr>
          <a:xfrm>
            <a:off x="542925" y="352425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FFFFF"/>
                </a:solidFill>
                <a:latin typeface="Georgia"/>
                <a:ea typeface="Georgia"/>
                <a:cs typeface="Georgia"/>
                <a:sym typeface="Georgia"/>
              </a:rPr>
              <a:t>3</a:t>
            </a:r>
            <a:endParaRPr b="1" sz="1400">
              <a:solidFill>
                <a:srgbClr val="FFFFFF"/>
              </a:solidFill>
              <a:latin typeface="Georgia"/>
              <a:ea typeface="Georgia"/>
              <a:cs typeface="Georgia"/>
              <a:sym typeface="Georgia"/>
            </a:endParaRPr>
          </a:p>
        </p:txBody>
      </p:sp>
      <p:sp>
        <p:nvSpPr>
          <p:cNvPr id="46" name="Google Shape;46;p4"/>
          <p:cNvSpPr/>
          <p:nvPr/>
        </p:nvSpPr>
        <p:spPr>
          <a:xfrm>
            <a:off x="1000125" y="3476625"/>
            <a:ext cx="3143400" cy="2859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l">
              <a:spcBef>
                <a:spcPts val="0"/>
              </a:spcBef>
              <a:spcAft>
                <a:spcPts val="0"/>
              </a:spcAft>
              <a:buNone/>
            </a:pPr>
            <a:r>
              <a:rPr b="1" lang="en-US" sz="1800">
                <a:solidFill>
                  <a:srgbClr val="1B2A4A"/>
                </a:solidFill>
                <a:latin typeface="Georgia"/>
                <a:ea typeface="Georgia"/>
                <a:cs typeface="Georgia"/>
                <a:sym typeface="Georgia"/>
              </a:rPr>
              <a:t>Methodology &amp; Design</a:t>
            </a:r>
            <a:endParaRPr b="1" sz="1800">
              <a:solidFill>
                <a:srgbClr val="1B2A4A"/>
              </a:solidFill>
              <a:latin typeface="Georgia"/>
              <a:ea typeface="Georgia"/>
              <a:cs typeface="Georgia"/>
              <a:sym typeface="Georgia"/>
            </a:endParaRPr>
          </a:p>
        </p:txBody>
      </p:sp>
      <p:sp>
        <p:nvSpPr>
          <p:cNvPr id="47" name="Google Shape;47;p4"/>
          <p:cNvSpPr/>
          <p:nvPr/>
        </p:nvSpPr>
        <p:spPr>
          <a:xfrm>
            <a:off x="1000125" y="3762375"/>
            <a:ext cx="31434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150"/>
              </a:spcBef>
              <a:spcAft>
                <a:spcPts val="0"/>
              </a:spcAft>
              <a:buNone/>
            </a:pPr>
            <a:r>
              <a:rPr b="0" lang="en-US" sz="1200">
                <a:solidFill>
                  <a:srgbClr val="6B7280"/>
                </a:solidFill>
                <a:latin typeface="Georgia"/>
                <a:ea typeface="Georgia"/>
                <a:cs typeface="Georgia"/>
                <a:sym typeface="Georgia"/>
              </a:rPr>
              <a:t>UCD Process · System Design · Architecture</a:t>
            </a:r>
            <a:endParaRPr b="0" sz="1200">
              <a:solidFill>
                <a:srgbClr val="6B7280"/>
              </a:solidFill>
              <a:latin typeface="Georgia"/>
              <a:ea typeface="Georgia"/>
              <a:cs typeface="Georgia"/>
              <a:sym typeface="Georgia"/>
            </a:endParaRPr>
          </a:p>
        </p:txBody>
      </p:sp>
      <p:sp>
        <p:nvSpPr>
          <p:cNvPr id="48" name="Google Shape;48;p4"/>
          <p:cNvSpPr/>
          <p:nvPr/>
        </p:nvSpPr>
        <p:spPr>
          <a:xfrm>
            <a:off x="4667250" y="1143000"/>
            <a:ext cx="4095900" cy="952500"/>
          </a:xfrm>
          <a:prstGeom prst="roundRect">
            <a:avLst>
              <a:gd fmla="val 8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 name="Google Shape;49;p4"/>
          <p:cNvSpPr/>
          <p:nvPr/>
        </p:nvSpPr>
        <p:spPr>
          <a:xfrm>
            <a:off x="4829175" y="1238250"/>
            <a:ext cx="342900" cy="342900"/>
          </a:xfrm>
          <a:prstGeom prst="ellipse">
            <a:avLst/>
          </a:prstGeom>
          <a:solidFill>
            <a:srgbClr val="1B2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 name="Google Shape;50;p4"/>
          <p:cNvSpPr/>
          <p:nvPr/>
        </p:nvSpPr>
        <p:spPr>
          <a:xfrm>
            <a:off x="4829175" y="123825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FFFFF"/>
                </a:solidFill>
                <a:latin typeface="Georgia"/>
                <a:ea typeface="Georgia"/>
                <a:cs typeface="Georgia"/>
                <a:sym typeface="Georgia"/>
              </a:rPr>
              <a:t>4</a:t>
            </a:r>
            <a:endParaRPr b="1" sz="1400">
              <a:solidFill>
                <a:srgbClr val="FFFFFF"/>
              </a:solidFill>
              <a:latin typeface="Georgia"/>
              <a:ea typeface="Georgia"/>
              <a:cs typeface="Georgia"/>
              <a:sym typeface="Georgia"/>
            </a:endParaRPr>
          </a:p>
        </p:txBody>
      </p:sp>
      <p:sp>
        <p:nvSpPr>
          <p:cNvPr id="51" name="Google Shape;51;p4"/>
          <p:cNvSpPr/>
          <p:nvPr/>
        </p:nvSpPr>
        <p:spPr>
          <a:xfrm>
            <a:off x="5286375" y="1190625"/>
            <a:ext cx="3143400" cy="2859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l">
              <a:spcBef>
                <a:spcPts val="0"/>
              </a:spcBef>
              <a:spcAft>
                <a:spcPts val="0"/>
              </a:spcAft>
              <a:buNone/>
            </a:pPr>
            <a:r>
              <a:rPr b="1" lang="en-US" sz="1800">
                <a:solidFill>
                  <a:srgbClr val="1B2A4A"/>
                </a:solidFill>
                <a:latin typeface="Georgia"/>
                <a:ea typeface="Georgia"/>
                <a:cs typeface="Georgia"/>
                <a:sym typeface="Georgia"/>
              </a:rPr>
              <a:t>Implementation</a:t>
            </a:r>
            <a:endParaRPr b="1" sz="1800">
              <a:solidFill>
                <a:srgbClr val="1B2A4A"/>
              </a:solidFill>
              <a:latin typeface="Georgia"/>
              <a:ea typeface="Georgia"/>
              <a:cs typeface="Georgia"/>
              <a:sym typeface="Georgia"/>
            </a:endParaRPr>
          </a:p>
        </p:txBody>
      </p:sp>
      <p:sp>
        <p:nvSpPr>
          <p:cNvPr id="52" name="Google Shape;52;p4"/>
          <p:cNvSpPr/>
          <p:nvPr/>
        </p:nvSpPr>
        <p:spPr>
          <a:xfrm>
            <a:off x="5286375" y="1476375"/>
            <a:ext cx="31434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150"/>
              </a:spcBef>
              <a:spcAft>
                <a:spcPts val="0"/>
              </a:spcAft>
              <a:buNone/>
            </a:pPr>
            <a:r>
              <a:rPr b="0" lang="en-US" sz="1200">
                <a:solidFill>
                  <a:srgbClr val="6B7280"/>
                </a:solidFill>
                <a:latin typeface="Georgia"/>
                <a:ea typeface="Georgia"/>
                <a:cs typeface="Georgia"/>
                <a:sym typeface="Georgia"/>
              </a:rPr>
              <a:t>Video Upload · AI Pipeline · H5P Editor · Content Types</a:t>
            </a:r>
            <a:endParaRPr b="0" sz="1200">
              <a:solidFill>
                <a:srgbClr val="6B7280"/>
              </a:solidFill>
              <a:latin typeface="Georgia"/>
              <a:ea typeface="Georgia"/>
              <a:cs typeface="Georgia"/>
              <a:sym typeface="Georgia"/>
            </a:endParaRPr>
          </a:p>
        </p:txBody>
      </p:sp>
      <p:sp>
        <p:nvSpPr>
          <p:cNvPr id="53" name="Google Shape;53;p4"/>
          <p:cNvSpPr/>
          <p:nvPr/>
        </p:nvSpPr>
        <p:spPr>
          <a:xfrm>
            <a:off x="4667250" y="2286000"/>
            <a:ext cx="4095900" cy="952500"/>
          </a:xfrm>
          <a:prstGeom prst="roundRect">
            <a:avLst>
              <a:gd fmla="val 8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 name="Google Shape;54;p4"/>
          <p:cNvSpPr/>
          <p:nvPr/>
        </p:nvSpPr>
        <p:spPr>
          <a:xfrm>
            <a:off x="4829175" y="2381250"/>
            <a:ext cx="342900" cy="342900"/>
          </a:xfrm>
          <a:prstGeom prst="ellipse">
            <a:avLst/>
          </a:prstGeom>
          <a:solidFill>
            <a:srgbClr val="1B2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 name="Google Shape;55;p4"/>
          <p:cNvSpPr/>
          <p:nvPr/>
        </p:nvSpPr>
        <p:spPr>
          <a:xfrm>
            <a:off x="4829175" y="238125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FFFFF"/>
                </a:solidFill>
                <a:latin typeface="Georgia"/>
                <a:ea typeface="Georgia"/>
                <a:cs typeface="Georgia"/>
                <a:sym typeface="Georgia"/>
              </a:rPr>
              <a:t>5</a:t>
            </a:r>
            <a:endParaRPr b="1" sz="1400">
              <a:solidFill>
                <a:srgbClr val="FFFFFF"/>
              </a:solidFill>
              <a:latin typeface="Georgia"/>
              <a:ea typeface="Georgia"/>
              <a:cs typeface="Georgia"/>
              <a:sym typeface="Georgia"/>
            </a:endParaRPr>
          </a:p>
        </p:txBody>
      </p:sp>
      <p:sp>
        <p:nvSpPr>
          <p:cNvPr id="56" name="Google Shape;56;p4"/>
          <p:cNvSpPr/>
          <p:nvPr/>
        </p:nvSpPr>
        <p:spPr>
          <a:xfrm>
            <a:off x="5286375" y="2333625"/>
            <a:ext cx="3143400" cy="2859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l">
              <a:spcBef>
                <a:spcPts val="0"/>
              </a:spcBef>
              <a:spcAft>
                <a:spcPts val="0"/>
              </a:spcAft>
              <a:buNone/>
            </a:pPr>
            <a:r>
              <a:rPr b="1" lang="en-US" sz="1800">
                <a:solidFill>
                  <a:srgbClr val="1B2A4A"/>
                </a:solidFill>
                <a:latin typeface="Georgia"/>
                <a:ea typeface="Georgia"/>
                <a:cs typeface="Georgia"/>
                <a:sym typeface="Georgia"/>
              </a:rPr>
              <a:t>Evaluation &amp; Results</a:t>
            </a:r>
            <a:endParaRPr b="1" sz="1800">
              <a:solidFill>
                <a:srgbClr val="1B2A4A"/>
              </a:solidFill>
              <a:latin typeface="Georgia"/>
              <a:ea typeface="Georgia"/>
              <a:cs typeface="Georgia"/>
              <a:sym typeface="Georgia"/>
            </a:endParaRPr>
          </a:p>
        </p:txBody>
      </p:sp>
      <p:sp>
        <p:nvSpPr>
          <p:cNvPr id="57" name="Google Shape;57;p4"/>
          <p:cNvSpPr/>
          <p:nvPr/>
        </p:nvSpPr>
        <p:spPr>
          <a:xfrm>
            <a:off x="5286375" y="2619375"/>
            <a:ext cx="31434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150"/>
              </a:spcBef>
              <a:spcAft>
                <a:spcPts val="0"/>
              </a:spcAft>
              <a:buNone/>
            </a:pPr>
            <a:r>
              <a:rPr b="0" lang="en-US" sz="1200">
                <a:solidFill>
                  <a:srgbClr val="6B7280"/>
                </a:solidFill>
                <a:latin typeface="Georgia"/>
                <a:ea typeface="Georgia"/>
                <a:cs typeface="Georgia"/>
                <a:sym typeface="Georgia"/>
              </a:rPr>
              <a:t>Study Design · Metrics · Findings</a:t>
            </a:r>
            <a:endParaRPr b="0" sz="1200">
              <a:solidFill>
                <a:srgbClr val="6B7280"/>
              </a:solidFill>
              <a:latin typeface="Georgia"/>
              <a:ea typeface="Georgia"/>
              <a:cs typeface="Georgia"/>
              <a:sym typeface="Georgia"/>
            </a:endParaRPr>
          </a:p>
        </p:txBody>
      </p:sp>
      <p:sp>
        <p:nvSpPr>
          <p:cNvPr id="58" name="Google Shape;58;p4"/>
          <p:cNvSpPr/>
          <p:nvPr/>
        </p:nvSpPr>
        <p:spPr>
          <a:xfrm>
            <a:off x="4667250" y="3429000"/>
            <a:ext cx="4095900" cy="952500"/>
          </a:xfrm>
          <a:prstGeom prst="roundRect">
            <a:avLst>
              <a:gd fmla="val 8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 name="Google Shape;59;p4"/>
          <p:cNvSpPr/>
          <p:nvPr/>
        </p:nvSpPr>
        <p:spPr>
          <a:xfrm>
            <a:off x="4829175" y="3524250"/>
            <a:ext cx="342900" cy="342900"/>
          </a:xfrm>
          <a:prstGeom prst="ellipse">
            <a:avLst/>
          </a:prstGeom>
          <a:solidFill>
            <a:srgbClr val="1B2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 name="Google Shape;60;p4"/>
          <p:cNvSpPr/>
          <p:nvPr/>
        </p:nvSpPr>
        <p:spPr>
          <a:xfrm>
            <a:off x="4829175" y="352425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FFFFF"/>
                </a:solidFill>
                <a:latin typeface="Georgia"/>
                <a:ea typeface="Georgia"/>
                <a:cs typeface="Georgia"/>
                <a:sym typeface="Georgia"/>
              </a:rPr>
              <a:t>6</a:t>
            </a:r>
            <a:endParaRPr b="1" sz="1400">
              <a:solidFill>
                <a:srgbClr val="FFFFFF"/>
              </a:solidFill>
              <a:latin typeface="Georgia"/>
              <a:ea typeface="Georgia"/>
              <a:cs typeface="Georgia"/>
              <a:sym typeface="Georgia"/>
            </a:endParaRPr>
          </a:p>
        </p:txBody>
      </p:sp>
      <p:sp>
        <p:nvSpPr>
          <p:cNvPr id="61" name="Google Shape;61;p4"/>
          <p:cNvSpPr/>
          <p:nvPr/>
        </p:nvSpPr>
        <p:spPr>
          <a:xfrm>
            <a:off x="5286375" y="3476625"/>
            <a:ext cx="3143400" cy="2859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l">
              <a:spcBef>
                <a:spcPts val="0"/>
              </a:spcBef>
              <a:spcAft>
                <a:spcPts val="0"/>
              </a:spcAft>
              <a:buNone/>
            </a:pPr>
            <a:r>
              <a:rPr b="1" lang="en-US" sz="1665">
                <a:solidFill>
                  <a:srgbClr val="1B2A4A"/>
                </a:solidFill>
                <a:latin typeface="Georgia"/>
                <a:ea typeface="Georgia"/>
                <a:cs typeface="Georgia"/>
                <a:sym typeface="Georgia"/>
              </a:rPr>
              <a:t>Conclusion &amp; Future Work</a:t>
            </a:r>
            <a:endParaRPr b="1" sz="1665">
              <a:solidFill>
                <a:srgbClr val="1B2A4A"/>
              </a:solidFill>
              <a:latin typeface="Georgia"/>
              <a:ea typeface="Georgia"/>
              <a:cs typeface="Georgia"/>
              <a:sym typeface="Georgia"/>
            </a:endParaRPr>
          </a:p>
        </p:txBody>
      </p:sp>
      <p:sp>
        <p:nvSpPr>
          <p:cNvPr id="62" name="Google Shape;62;p4"/>
          <p:cNvSpPr/>
          <p:nvPr/>
        </p:nvSpPr>
        <p:spPr>
          <a:xfrm>
            <a:off x="5286375" y="3762375"/>
            <a:ext cx="31434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150"/>
              </a:spcBef>
              <a:spcAft>
                <a:spcPts val="0"/>
              </a:spcAft>
              <a:buNone/>
            </a:pPr>
            <a:r>
              <a:rPr b="0" lang="en-US" sz="1200">
                <a:solidFill>
                  <a:srgbClr val="6B7280"/>
                </a:solidFill>
                <a:latin typeface="Georgia"/>
                <a:ea typeface="Georgia"/>
                <a:cs typeface="Georgia"/>
                <a:sym typeface="Georgia"/>
              </a:rPr>
              <a:t>Contributions · Limitations · Roadmap</a:t>
            </a:r>
            <a:endParaRPr b="0" sz="1200">
              <a:solidFill>
                <a:srgbClr val="6B7280"/>
              </a:solidFill>
              <a:latin typeface="Georgia"/>
              <a:ea typeface="Georgia"/>
              <a:cs typeface="Georgia"/>
              <a:sym typeface="Georgia"/>
            </a:endParaRPr>
          </a:p>
        </p:txBody>
      </p:sp>
      <p:sp>
        <p:nvSpPr>
          <p:cNvPr id="63" name="Google Shape;63;p4"/>
          <p:cNvSpPr/>
          <p:nvPr/>
        </p:nvSpPr>
        <p:spPr>
          <a:xfrm>
            <a:off x="7667625" y="4762500"/>
            <a:ext cx="10953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rPr b="0" lang="en-US" sz="1000">
                <a:solidFill>
                  <a:srgbClr val="6B7280"/>
                </a:solidFill>
                <a:latin typeface="Georgia"/>
                <a:ea typeface="Georgia"/>
                <a:cs typeface="Georgia"/>
                <a:sym typeface="Georgia"/>
              </a:rPr>
              <a:t>2 / 21</a:t>
            </a:r>
            <a:endParaRPr b="0" sz="1000">
              <a:solidFill>
                <a:srgbClr val="6B7280"/>
              </a:solidFill>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8" name="Shape 68"/>
        <p:cNvGrpSpPr/>
        <p:nvPr/>
      </p:nvGrpSpPr>
      <p:grpSpPr>
        <a:xfrm>
          <a:off x="0" y="0"/>
          <a:ext cx="0" cy="0"/>
          <a:chOff x="0" y="0"/>
          <a:chExt cx="0" cy="0"/>
        </a:xfrm>
      </p:grpSpPr>
      <p:sp>
        <p:nvSpPr>
          <p:cNvPr id="69" name="Google Shape;69;p5"/>
          <p:cNvSpPr/>
          <p:nvPr/>
        </p:nvSpPr>
        <p:spPr>
          <a:xfrm>
            <a:off x="576065" y="380143"/>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E87722"/>
                </a:solidFill>
                <a:latin typeface="Georgia"/>
                <a:ea typeface="Georgia"/>
                <a:cs typeface="Georgia"/>
                <a:sym typeface="Georgia"/>
              </a:rPr>
              <a:t>01 · INTRODUCTION</a:t>
            </a:r>
            <a:endParaRPr b="1" sz="1200">
              <a:solidFill>
                <a:srgbClr val="E87722"/>
              </a:solidFill>
              <a:latin typeface="Georgia"/>
              <a:ea typeface="Georgia"/>
              <a:cs typeface="Georgia"/>
              <a:sym typeface="Georgia"/>
            </a:endParaRPr>
          </a:p>
        </p:txBody>
      </p:sp>
      <p:sp>
        <p:nvSpPr>
          <p:cNvPr id="70" name="Google Shape;70;p5"/>
          <p:cNvSpPr/>
          <p:nvPr/>
        </p:nvSpPr>
        <p:spPr>
          <a:xfrm>
            <a:off x="411473" y="380145"/>
            <a:ext cx="63900" cy="502800"/>
          </a:xfrm>
          <a:prstGeom prst="rect">
            <a:avLst/>
          </a:prstGeom>
          <a:solidFill>
            <a:srgbClr val="E87722"/>
          </a:solidFill>
          <a:ln cap="flat" cmpd="sng">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 name="Google Shape;71;p5"/>
          <p:cNvSpPr/>
          <p:nvPr/>
        </p:nvSpPr>
        <p:spPr>
          <a:xfrm>
            <a:off x="576065" y="46507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1B2A4A"/>
                </a:solidFill>
                <a:latin typeface="Georgia"/>
                <a:ea typeface="Georgia"/>
                <a:cs typeface="Georgia"/>
                <a:sym typeface="Georgia"/>
              </a:rPr>
              <a:t>Research Background</a:t>
            </a:r>
            <a:endParaRPr b="1" sz="3200">
              <a:solidFill>
                <a:srgbClr val="1B2A4A"/>
              </a:solidFill>
              <a:latin typeface="Georgia"/>
              <a:ea typeface="Georgia"/>
              <a:cs typeface="Georgia"/>
              <a:sym typeface="Georgia"/>
            </a:endParaRPr>
          </a:p>
        </p:txBody>
      </p:sp>
      <p:sp>
        <p:nvSpPr>
          <p:cNvPr id="72" name="Google Shape;72;p5"/>
          <p:cNvSpPr/>
          <p:nvPr/>
        </p:nvSpPr>
        <p:spPr>
          <a:xfrm>
            <a:off x="7772400" y="4846320"/>
            <a:ext cx="1097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800"/>
              <a:buFont typeface="Calibri"/>
              <a:buNone/>
            </a:pPr>
            <a:r>
              <a:rPr b="0" i="0" lang="en-US" sz="800" u="none" cap="none" strike="noStrike">
                <a:solidFill>
                  <a:srgbClr val="6B7280"/>
                </a:solidFill>
                <a:latin typeface="Calibri"/>
                <a:ea typeface="Calibri"/>
                <a:cs typeface="Calibri"/>
                <a:sym typeface="Calibri"/>
              </a:rPr>
              <a:t>3 / 21</a:t>
            </a:r>
            <a:endParaRPr b="0" i="0" sz="800" u="none" cap="none" strike="noStrike">
              <a:solidFill>
                <a:schemeClr val="dk1"/>
              </a:solidFill>
              <a:latin typeface="Calibri"/>
              <a:ea typeface="Calibri"/>
              <a:cs typeface="Calibri"/>
              <a:sym typeface="Calibri"/>
            </a:endParaRPr>
          </a:p>
        </p:txBody>
      </p:sp>
      <p:sp>
        <p:nvSpPr>
          <p:cNvPr id="73" name="Google Shape;73;p5"/>
          <p:cNvSpPr/>
          <p:nvPr/>
        </p:nvSpPr>
        <p:spPr>
          <a:xfrm>
            <a:off x="438905" y="1064040"/>
            <a:ext cx="83211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190">
                <a:solidFill>
                  <a:srgbClr val="374151"/>
                </a:solidFill>
                <a:latin typeface="Georgia"/>
                <a:ea typeface="Georgia"/>
                <a:cs typeface="Georgia"/>
                <a:sym typeface="Georgia"/>
              </a:rPr>
              <a:t xml:space="preserve">Vietnam's National Education Development Strategy 2021–2030 mandates the integration of digital technology into university teaching. VNU-HCM's MOOC platform has delivered thousands of courses — </a:t>
            </a:r>
            <a:r>
              <a:rPr b="1" lang="en-US" sz="1190">
                <a:solidFill>
                  <a:srgbClr val="E87722"/>
                </a:solidFill>
                <a:latin typeface="Georgia"/>
                <a:ea typeface="Georgia"/>
                <a:cs typeface="Georgia"/>
                <a:sym typeface="Georgia"/>
              </a:rPr>
              <a:t>yet a critical gap remains.</a:t>
            </a:r>
            <a:endParaRPr b="0" sz="1190">
              <a:solidFill>
                <a:srgbClr val="374151"/>
              </a:solidFill>
              <a:latin typeface="Georgia"/>
              <a:ea typeface="Georgia"/>
              <a:cs typeface="Georgia"/>
              <a:sym typeface="Georgia"/>
            </a:endParaRPr>
          </a:p>
        </p:txBody>
      </p:sp>
      <p:sp>
        <p:nvSpPr>
          <p:cNvPr id="74" name="Google Shape;74;p5"/>
          <p:cNvSpPr/>
          <p:nvPr/>
        </p:nvSpPr>
        <p:spPr>
          <a:xfrm>
            <a:off x="411480" y="1714500"/>
            <a:ext cx="2667000" cy="1905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 name="Google Shape;75;p5"/>
          <p:cNvSpPr/>
          <p:nvPr/>
        </p:nvSpPr>
        <p:spPr>
          <a:xfrm>
            <a:off x="411480" y="1714500"/>
            <a:ext cx="2667000" cy="76200"/>
          </a:xfrm>
          <a:prstGeom prst="roundRect">
            <a:avLst>
              <a:gd fmla="val 50000" name="adj"/>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5"/>
          <p:cNvSpPr/>
          <p:nvPr/>
        </p:nvSpPr>
        <p:spPr>
          <a:xfrm>
            <a:off x="464820" y="1905000"/>
            <a:ext cx="2560200" cy="804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4800">
                <a:solidFill>
                  <a:srgbClr val="E87722"/>
                </a:solidFill>
                <a:latin typeface="Georgia"/>
                <a:ea typeface="Georgia"/>
                <a:cs typeface="Georgia"/>
                <a:sym typeface="Georgia"/>
              </a:rPr>
              <a:t>89%</a:t>
            </a:r>
            <a:endParaRPr b="1" sz="4800">
              <a:solidFill>
                <a:srgbClr val="E87722"/>
              </a:solidFill>
              <a:latin typeface="Georgia"/>
              <a:ea typeface="Georgia"/>
              <a:cs typeface="Georgia"/>
              <a:sym typeface="Georgia"/>
            </a:endParaRPr>
          </a:p>
        </p:txBody>
      </p:sp>
      <p:sp>
        <p:nvSpPr>
          <p:cNvPr id="77" name="Google Shape;77;p5"/>
          <p:cNvSpPr/>
          <p:nvPr/>
        </p:nvSpPr>
        <p:spPr>
          <a:xfrm>
            <a:off x="601980" y="2762250"/>
            <a:ext cx="2286000" cy="658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lang="en-US" sz="1300">
                <a:solidFill>
                  <a:srgbClr val="4B5563"/>
                </a:solidFill>
                <a:latin typeface="Georgia"/>
                <a:ea typeface="Georgia"/>
                <a:cs typeface="Georgia"/>
                <a:sym typeface="Georgia"/>
              </a:rPr>
              <a:t>instructors want to create interactive content</a:t>
            </a:r>
            <a:endParaRPr b="0" sz="1300">
              <a:solidFill>
                <a:srgbClr val="4B5563"/>
              </a:solidFill>
              <a:latin typeface="Georgia"/>
              <a:ea typeface="Georgia"/>
              <a:cs typeface="Georgia"/>
              <a:sym typeface="Georgia"/>
            </a:endParaRPr>
          </a:p>
        </p:txBody>
      </p:sp>
      <p:sp>
        <p:nvSpPr>
          <p:cNvPr id="78" name="Google Shape;78;p5"/>
          <p:cNvSpPr/>
          <p:nvPr/>
        </p:nvSpPr>
        <p:spPr>
          <a:xfrm>
            <a:off x="3238500" y="1714500"/>
            <a:ext cx="2667000" cy="1905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 name="Google Shape;79;p5"/>
          <p:cNvSpPr/>
          <p:nvPr/>
        </p:nvSpPr>
        <p:spPr>
          <a:xfrm>
            <a:off x="3238500" y="1714500"/>
            <a:ext cx="2667000" cy="76200"/>
          </a:xfrm>
          <a:prstGeom prst="roundRect">
            <a:avLst>
              <a:gd fmla="val 50000" name="adj"/>
            </a:avLst>
          </a:prstGeom>
          <a:solidFill>
            <a:srgbClr val="1B2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 name="Google Shape;80;p5"/>
          <p:cNvSpPr/>
          <p:nvPr/>
        </p:nvSpPr>
        <p:spPr>
          <a:xfrm>
            <a:off x="3291840" y="1905000"/>
            <a:ext cx="2560200" cy="804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4800">
                <a:solidFill>
                  <a:srgbClr val="1B2A4A"/>
                </a:solidFill>
                <a:latin typeface="Georgia"/>
                <a:ea typeface="Georgia"/>
                <a:cs typeface="Georgia"/>
                <a:sym typeface="Georgia"/>
              </a:rPr>
              <a:t>23%</a:t>
            </a:r>
            <a:endParaRPr b="1" sz="4800">
              <a:solidFill>
                <a:srgbClr val="1B2A4A"/>
              </a:solidFill>
              <a:latin typeface="Georgia"/>
              <a:ea typeface="Georgia"/>
              <a:cs typeface="Georgia"/>
              <a:sym typeface="Georgia"/>
            </a:endParaRPr>
          </a:p>
        </p:txBody>
      </p:sp>
      <p:sp>
        <p:nvSpPr>
          <p:cNvPr id="81" name="Google Shape;81;p5"/>
          <p:cNvSpPr/>
          <p:nvPr/>
        </p:nvSpPr>
        <p:spPr>
          <a:xfrm>
            <a:off x="3429000" y="2762250"/>
            <a:ext cx="2286000" cy="658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lang="en-US" sz="1300">
                <a:solidFill>
                  <a:srgbClr val="4B5563"/>
                </a:solidFill>
                <a:latin typeface="Georgia"/>
                <a:ea typeface="Georgia"/>
                <a:cs typeface="Georgia"/>
                <a:sym typeface="Georgia"/>
              </a:rPr>
              <a:t>feel confident using current authoring tools</a:t>
            </a:r>
            <a:endParaRPr b="0" sz="1300">
              <a:solidFill>
                <a:srgbClr val="4B5563"/>
              </a:solidFill>
              <a:latin typeface="Georgia"/>
              <a:ea typeface="Georgia"/>
              <a:cs typeface="Georgia"/>
              <a:sym typeface="Georgia"/>
            </a:endParaRPr>
          </a:p>
        </p:txBody>
      </p:sp>
      <p:sp>
        <p:nvSpPr>
          <p:cNvPr id="82" name="Google Shape;82;p5"/>
          <p:cNvSpPr/>
          <p:nvPr/>
        </p:nvSpPr>
        <p:spPr>
          <a:xfrm>
            <a:off x="6065520" y="1714500"/>
            <a:ext cx="2667000" cy="1905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 name="Google Shape;83;p5"/>
          <p:cNvSpPr/>
          <p:nvPr/>
        </p:nvSpPr>
        <p:spPr>
          <a:xfrm>
            <a:off x="6065520" y="1714500"/>
            <a:ext cx="2667000" cy="76200"/>
          </a:xfrm>
          <a:prstGeom prst="roundRect">
            <a:avLst>
              <a:gd fmla="val 50000" name="adj"/>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 name="Google Shape;84;p5"/>
          <p:cNvSpPr/>
          <p:nvPr/>
        </p:nvSpPr>
        <p:spPr>
          <a:xfrm>
            <a:off x="6118860" y="1905000"/>
            <a:ext cx="2560200" cy="804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4000">
                <a:solidFill>
                  <a:srgbClr val="E87722"/>
                </a:solidFill>
                <a:latin typeface="Georgia"/>
                <a:ea typeface="Georgia"/>
                <a:cs typeface="Georgia"/>
                <a:sym typeface="Georgia"/>
              </a:rPr>
              <a:t>45 min</a:t>
            </a:r>
            <a:endParaRPr b="1" sz="4000">
              <a:solidFill>
                <a:srgbClr val="E87722"/>
              </a:solidFill>
              <a:latin typeface="Georgia"/>
              <a:ea typeface="Georgia"/>
              <a:cs typeface="Georgia"/>
              <a:sym typeface="Georgia"/>
            </a:endParaRPr>
          </a:p>
        </p:txBody>
      </p:sp>
      <p:sp>
        <p:nvSpPr>
          <p:cNvPr id="85" name="Google Shape;85;p5"/>
          <p:cNvSpPr/>
          <p:nvPr/>
        </p:nvSpPr>
        <p:spPr>
          <a:xfrm>
            <a:off x="6256020" y="2762250"/>
            <a:ext cx="2286000" cy="658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lang="en-US" sz="1300">
                <a:solidFill>
                  <a:srgbClr val="4B5563"/>
                </a:solidFill>
                <a:latin typeface="Georgia"/>
                <a:ea typeface="Georgia"/>
                <a:cs typeface="Georgia"/>
                <a:sym typeface="Georgia"/>
              </a:rPr>
              <a:t>average time to create one interactive video in WordPress H5P</a:t>
            </a:r>
            <a:endParaRPr b="0" sz="1300">
              <a:solidFill>
                <a:srgbClr val="4B5563"/>
              </a:solidFill>
              <a:latin typeface="Georgia"/>
              <a:ea typeface="Georgia"/>
              <a:cs typeface="Georgia"/>
              <a:sym typeface="Georgia"/>
            </a:endParaRPr>
          </a:p>
        </p:txBody>
      </p:sp>
      <p:sp>
        <p:nvSpPr>
          <p:cNvPr id="86" name="Google Shape;86;p5"/>
          <p:cNvSpPr/>
          <p:nvPr/>
        </p:nvSpPr>
        <p:spPr>
          <a:xfrm>
            <a:off x="411480" y="3752538"/>
            <a:ext cx="8321100" cy="762000"/>
          </a:xfrm>
          <a:prstGeom prst="rect">
            <a:avLst/>
          </a:prstGeom>
          <a:solidFill>
            <a:srgbClr val="FEF3E6"/>
          </a:solidFill>
          <a:ln>
            <a:noFill/>
          </a:ln>
        </p:spPr>
        <p:txBody>
          <a:bodyPr anchorCtr="0" anchor="ctr" bIns="0" lIns="0" spcFirstLastPara="1" rIns="0" wrap="square" tIns="0">
            <a:noAutofit/>
          </a:bodyPr>
          <a:lstStyle/>
          <a:p>
            <a:pPr indent="0" lvl="0" marL="0" rtl="0" algn="ctr">
              <a:spcBef>
                <a:spcPts val="0"/>
              </a:spcBef>
              <a:spcAft>
                <a:spcPts val="0"/>
              </a:spcAft>
              <a:buNone/>
            </a:pPr>
            <a:r>
              <a:rPr b="1" i="1" lang="en-US" sz="1500">
                <a:solidFill>
                  <a:srgbClr val="1B2A4A"/>
                </a:solidFill>
                <a:latin typeface="Georgia"/>
                <a:ea typeface="Georgia"/>
                <a:cs typeface="Georgia"/>
                <a:sym typeface="Georgia"/>
              </a:rPr>
              <a:t>"The gap is not lack of infrastructure — it is a lack of purpose-built tools that meet educators where they are."</a:t>
            </a:r>
            <a:endParaRPr b="1" i="1" sz="1500">
              <a:solidFill>
                <a:srgbClr val="1B2A4A"/>
              </a:solidFill>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1" name="Shape 91"/>
        <p:cNvGrpSpPr/>
        <p:nvPr/>
      </p:nvGrpSpPr>
      <p:grpSpPr>
        <a:xfrm>
          <a:off x="0" y="0"/>
          <a:ext cx="0" cy="0"/>
          <a:chOff x="0" y="0"/>
          <a:chExt cx="0" cy="0"/>
        </a:xfrm>
      </p:grpSpPr>
      <p:sp>
        <p:nvSpPr>
          <p:cNvPr id="92" name="Google Shape;92;p6"/>
          <p:cNvSpPr/>
          <p:nvPr/>
        </p:nvSpPr>
        <p:spPr>
          <a:xfrm>
            <a:off x="579115" y="30796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E87722"/>
                </a:solidFill>
                <a:latin typeface="Georgia"/>
                <a:ea typeface="Georgia"/>
                <a:cs typeface="Georgia"/>
                <a:sym typeface="Georgia"/>
              </a:rPr>
              <a:t>01 · INTRODUCTION</a:t>
            </a:r>
            <a:endParaRPr b="1" sz="1300">
              <a:solidFill>
                <a:srgbClr val="E87722"/>
              </a:solidFill>
              <a:latin typeface="Georgia"/>
              <a:ea typeface="Georgia"/>
              <a:cs typeface="Georgia"/>
              <a:sym typeface="Georgia"/>
            </a:endParaRPr>
          </a:p>
        </p:txBody>
      </p:sp>
      <p:sp>
        <p:nvSpPr>
          <p:cNvPr id="93" name="Google Shape;93;p6"/>
          <p:cNvSpPr/>
          <p:nvPr/>
        </p:nvSpPr>
        <p:spPr>
          <a:xfrm>
            <a:off x="411475" y="506850"/>
            <a:ext cx="57300" cy="381000"/>
          </a:xfrm>
          <a:prstGeom prst="rect">
            <a:avLst/>
          </a:prstGeom>
          <a:solidFill>
            <a:srgbClr val="E87722"/>
          </a:solidFill>
          <a:ln cap="flat" cmpd="sng">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 name="Google Shape;94;p6"/>
          <p:cNvSpPr/>
          <p:nvPr/>
        </p:nvSpPr>
        <p:spPr>
          <a:xfrm>
            <a:off x="579115" y="44970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1B2A4A"/>
                </a:solidFill>
                <a:latin typeface="Georgia"/>
                <a:ea typeface="Georgia"/>
                <a:cs typeface="Georgia"/>
                <a:sym typeface="Georgia"/>
              </a:rPr>
              <a:t>Problem Statement</a:t>
            </a:r>
            <a:endParaRPr b="1" sz="3200">
              <a:solidFill>
                <a:srgbClr val="1B2A4A"/>
              </a:solidFill>
              <a:latin typeface="Georgia"/>
              <a:ea typeface="Georgia"/>
              <a:cs typeface="Georgia"/>
              <a:sym typeface="Georgia"/>
            </a:endParaRPr>
          </a:p>
        </p:txBody>
      </p:sp>
      <p:sp>
        <p:nvSpPr>
          <p:cNvPr id="95" name="Google Shape;95;p6"/>
          <p:cNvSpPr/>
          <p:nvPr/>
        </p:nvSpPr>
        <p:spPr>
          <a:xfrm>
            <a:off x="7772400" y="4846320"/>
            <a:ext cx="1097400" cy="18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rPr lang="en-US" sz="1000">
                <a:solidFill>
                  <a:srgbClr val="6B7280"/>
                </a:solidFill>
                <a:latin typeface="Georgia"/>
                <a:ea typeface="Georgia"/>
                <a:cs typeface="Georgia"/>
                <a:sym typeface="Georgia"/>
              </a:rPr>
              <a:t>4 / 21</a:t>
            </a:r>
            <a:endParaRPr sz="1000">
              <a:solidFill>
                <a:srgbClr val="6B7280"/>
              </a:solidFill>
              <a:latin typeface="Georgia"/>
              <a:ea typeface="Georgia"/>
              <a:cs typeface="Georgia"/>
              <a:sym typeface="Georgia"/>
            </a:endParaRPr>
          </a:p>
        </p:txBody>
      </p:sp>
      <p:sp>
        <p:nvSpPr>
          <p:cNvPr id="96" name="Google Shape;96;p6"/>
          <p:cNvSpPr/>
          <p:nvPr/>
        </p:nvSpPr>
        <p:spPr>
          <a:xfrm>
            <a:off x="411480" y="952500"/>
            <a:ext cx="8321100" cy="41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en-US" sz="1400">
                <a:solidFill>
                  <a:srgbClr val="374151"/>
                </a:solidFill>
                <a:latin typeface="Georgia"/>
                <a:ea typeface="Georgia"/>
                <a:cs typeface="Georgia"/>
                <a:sym typeface="Georgia"/>
              </a:rPr>
              <a:t>Four interacting challenges compound to prevent adoption of H5P interactive video at institutional scale:</a:t>
            </a:r>
            <a:endParaRPr sz="1400">
              <a:solidFill>
                <a:srgbClr val="374151"/>
              </a:solidFill>
              <a:latin typeface="Georgia"/>
              <a:ea typeface="Georgia"/>
              <a:cs typeface="Georgia"/>
              <a:sym typeface="Georgia"/>
            </a:endParaRPr>
          </a:p>
        </p:txBody>
      </p:sp>
      <p:sp>
        <p:nvSpPr>
          <p:cNvPr id="97" name="Google Shape;97;p6"/>
          <p:cNvSpPr/>
          <p:nvPr/>
        </p:nvSpPr>
        <p:spPr>
          <a:xfrm>
            <a:off x="411480" y="1524000"/>
            <a:ext cx="4160400" cy="1524000"/>
          </a:xfrm>
          <a:prstGeom prst="rect">
            <a:avLst/>
          </a:prstGeom>
          <a:solidFill>
            <a:srgbClr val="FFFFFF"/>
          </a:solidFill>
          <a:ln cap="flat" cmpd="sng" w="9525">
            <a:solidFill>
              <a:srgbClr val="E5E7EB"/>
            </a:solidFill>
            <a:prstDash val="solid"/>
            <a:round/>
            <a:headEnd len="sm" w="sm" type="none"/>
            <a:tailEnd len="sm" w="sm" type="none"/>
          </a:ln>
          <a:effectLst>
            <a:outerShdw blurRad="76200" rotWithShape="0" algn="bl" dir="8100000" dist="25400">
              <a:srgbClr val="000000">
                <a:alpha val="9019"/>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6"/>
          <p:cNvSpPr/>
          <p:nvPr/>
        </p:nvSpPr>
        <p:spPr>
          <a:xfrm>
            <a:off x="552450" y="1666875"/>
            <a:ext cx="381000" cy="381000"/>
          </a:xfrm>
          <a:prstGeom prst="ellipse">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 name="Google Shape;99;p6"/>
          <p:cNvSpPr/>
          <p:nvPr/>
        </p:nvSpPr>
        <p:spPr>
          <a:xfrm>
            <a:off x="552450" y="1666875"/>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FFFFFF"/>
                </a:solidFill>
                <a:latin typeface="Georgia"/>
                <a:ea typeface="Georgia"/>
                <a:cs typeface="Georgia"/>
                <a:sym typeface="Georgia"/>
              </a:rPr>
              <a:t>1</a:t>
            </a:r>
            <a:endParaRPr b="1" sz="1600">
              <a:solidFill>
                <a:srgbClr val="FFFFFF"/>
              </a:solidFill>
              <a:latin typeface="Georgia"/>
              <a:ea typeface="Georgia"/>
              <a:cs typeface="Georgia"/>
              <a:sym typeface="Georgia"/>
            </a:endParaRPr>
          </a:p>
        </p:txBody>
      </p:sp>
      <p:sp>
        <p:nvSpPr>
          <p:cNvPr id="100" name="Google Shape;100;p6"/>
          <p:cNvSpPr/>
          <p:nvPr/>
        </p:nvSpPr>
        <p:spPr>
          <a:xfrm>
            <a:off x="1095375" y="1714500"/>
            <a:ext cx="3143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1B2A4A"/>
                </a:solidFill>
                <a:latin typeface="Georgia"/>
                <a:ea typeface="Georgia"/>
                <a:cs typeface="Georgia"/>
                <a:sym typeface="Georgia"/>
              </a:rPr>
              <a:t>Workflow Fragmentation</a:t>
            </a:r>
            <a:endParaRPr b="1" sz="1600">
              <a:solidFill>
                <a:srgbClr val="1B2A4A"/>
              </a:solidFill>
              <a:latin typeface="Georgia"/>
              <a:ea typeface="Georgia"/>
              <a:cs typeface="Georgia"/>
              <a:sym typeface="Georgia"/>
            </a:endParaRPr>
          </a:p>
        </p:txBody>
      </p:sp>
      <p:sp>
        <p:nvSpPr>
          <p:cNvPr id="101" name="Google Shape;101;p6"/>
          <p:cNvSpPr/>
          <p:nvPr/>
        </p:nvSpPr>
        <p:spPr>
          <a:xfrm>
            <a:off x="571500" y="2143125"/>
            <a:ext cx="3619500" cy="809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1100">
                <a:solidFill>
                  <a:srgbClr val="4B5563"/>
                </a:solidFill>
                <a:latin typeface="Georgia"/>
                <a:ea typeface="Georgia"/>
                <a:cs typeface="Georgia"/>
                <a:sym typeface="Georgia"/>
              </a:rPr>
              <a:t>Creating one interactive video requires 47 interface interactions across 6 disconnected screens in WordPress. Average page-load of 3.2 seconds destroys creative flow.</a:t>
            </a:r>
            <a:endParaRPr sz="1100">
              <a:solidFill>
                <a:srgbClr val="4B5563"/>
              </a:solidFill>
              <a:latin typeface="Georgia"/>
              <a:ea typeface="Georgia"/>
              <a:cs typeface="Georgia"/>
              <a:sym typeface="Georgia"/>
            </a:endParaRPr>
          </a:p>
        </p:txBody>
      </p:sp>
      <p:sp>
        <p:nvSpPr>
          <p:cNvPr id="102" name="Google Shape;102;p6"/>
          <p:cNvSpPr/>
          <p:nvPr/>
        </p:nvSpPr>
        <p:spPr>
          <a:xfrm>
            <a:off x="4714875" y="1524000"/>
            <a:ext cx="4160400" cy="1524000"/>
          </a:xfrm>
          <a:prstGeom prst="rect">
            <a:avLst/>
          </a:prstGeom>
          <a:solidFill>
            <a:srgbClr val="FFFFFF"/>
          </a:solidFill>
          <a:ln cap="flat" cmpd="sng" w="9525">
            <a:solidFill>
              <a:srgbClr val="E5E7EB"/>
            </a:solidFill>
            <a:prstDash val="solid"/>
            <a:round/>
            <a:headEnd len="sm" w="sm" type="none"/>
            <a:tailEnd len="sm" w="sm" type="none"/>
          </a:ln>
          <a:effectLst>
            <a:outerShdw blurRad="76200" rotWithShape="0" algn="bl" dir="8100000" dist="25400">
              <a:srgbClr val="000000">
                <a:alpha val="9019"/>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6"/>
          <p:cNvSpPr/>
          <p:nvPr/>
        </p:nvSpPr>
        <p:spPr>
          <a:xfrm>
            <a:off x="4857750" y="1666875"/>
            <a:ext cx="381000" cy="381000"/>
          </a:xfrm>
          <a:prstGeom prst="ellipse">
            <a:avLst/>
          </a:prstGeom>
          <a:solidFill>
            <a:srgbClr val="1B2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6"/>
          <p:cNvSpPr/>
          <p:nvPr/>
        </p:nvSpPr>
        <p:spPr>
          <a:xfrm>
            <a:off x="4857750" y="1666875"/>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FFFFFF"/>
                </a:solidFill>
                <a:latin typeface="Georgia"/>
                <a:ea typeface="Georgia"/>
                <a:cs typeface="Georgia"/>
                <a:sym typeface="Georgia"/>
              </a:rPr>
              <a:t>2</a:t>
            </a:r>
            <a:endParaRPr b="1" sz="1600">
              <a:solidFill>
                <a:srgbClr val="FFFFFF"/>
              </a:solidFill>
              <a:latin typeface="Georgia"/>
              <a:ea typeface="Georgia"/>
              <a:cs typeface="Georgia"/>
              <a:sym typeface="Georgia"/>
            </a:endParaRPr>
          </a:p>
        </p:txBody>
      </p:sp>
      <p:sp>
        <p:nvSpPr>
          <p:cNvPr id="105" name="Google Shape;105;p6"/>
          <p:cNvSpPr/>
          <p:nvPr/>
        </p:nvSpPr>
        <p:spPr>
          <a:xfrm>
            <a:off x="5381625" y="1714500"/>
            <a:ext cx="3143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80">
                <a:solidFill>
                  <a:srgbClr val="1B2A4A"/>
                </a:solidFill>
                <a:latin typeface="Georgia"/>
                <a:ea typeface="Georgia"/>
                <a:cs typeface="Georgia"/>
                <a:sym typeface="Georgia"/>
              </a:rPr>
              <a:t>High Extraneous Cognitive Load</a:t>
            </a:r>
            <a:endParaRPr b="1" sz="1480">
              <a:solidFill>
                <a:srgbClr val="1B2A4A"/>
              </a:solidFill>
              <a:latin typeface="Georgia"/>
              <a:ea typeface="Georgia"/>
              <a:cs typeface="Georgia"/>
              <a:sym typeface="Georgia"/>
            </a:endParaRPr>
          </a:p>
        </p:txBody>
      </p:sp>
      <p:sp>
        <p:nvSpPr>
          <p:cNvPr id="106" name="Google Shape;106;p6"/>
          <p:cNvSpPr/>
          <p:nvPr/>
        </p:nvSpPr>
        <p:spPr>
          <a:xfrm>
            <a:off x="4905375" y="2143125"/>
            <a:ext cx="3619500" cy="809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1100">
                <a:solidFill>
                  <a:srgbClr val="4B5563"/>
                </a:solidFill>
                <a:latin typeface="Georgia"/>
                <a:ea typeface="Georgia"/>
                <a:cs typeface="Georgia"/>
                <a:sym typeface="Georgia"/>
              </a:rPr>
              <a:t>Educators spend more cognitive effort managing the tool — shortcodes, plugin taxonomy, WordPress posts — than designing the pedagogical content itself.</a:t>
            </a:r>
            <a:endParaRPr sz="1100">
              <a:solidFill>
                <a:srgbClr val="4B5563"/>
              </a:solidFill>
              <a:latin typeface="Georgia"/>
              <a:ea typeface="Georgia"/>
              <a:cs typeface="Georgia"/>
              <a:sym typeface="Georgia"/>
            </a:endParaRPr>
          </a:p>
        </p:txBody>
      </p:sp>
      <p:sp>
        <p:nvSpPr>
          <p:cNvPr id="107" name="Google Shape;107;p6"/>
          <p:cNvSpPr/>
          <p:nvPr/>
        </p:nvSpPr>
        <p:spPr>
          <a:xfrm>
            <a:off x="411480" y="3190875"/>
            <a:ext cx="4160400" cy="1524000"/>
          </a:xfrm>
          <a:prstGeom prst="rect">
            <a:avLst/>
          </a:prstGeom>
          <a:solidFill>
            <a:srgbClr val="FFFFFF"/>
          </a:solidFill>
          <a:ln cap="flat" cmpd="sng" w="9525">
            <a:solidFill>
              <a:srgbClr val="E5E7EB"/>
            </a:solidFill>
            <a:prstDash val="solid"/>
            <a:round/>
            <a:headEnd len="sm" w="sm" type="none"/>
            <a:tailEnd len="sm" w="sm" type="none"/>
          </a:ln>
          <a:effectLst>
            <a:outerShdw blurRad="76200" rotWithShape="0" algn="bl" dir="8100000" dist="25400">
              <a:srgbClr val="000000">
                <a:alpha val="9019"/>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 name="Google Shape;108;p6"/>
          <p:cNvSpPr/>
          <p:nvPr/>
        </p:nvSpPr>
        <p:spPr>
          <a:xfrm>
            <a:off x="552450" y="3333750"/>
            <a:ext cx="381000" cy="381000"/>
          </a:xfrm>
          <a:prstGeom prst="ellipse">
            <a:avLst/>
          </a:prstGeom>
          <a:solidFill>
            <a:srgbClr val="1B2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6"/>
          <p:cNvSpPr/>
          <p:nvPr/>
        </p:nvSpPr>
        <p:spPr>
          <a:xfrm>
            <a:off x="552450" y="3333750"/>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FFFFFF"/>
                </a:solidFill>
                <a:latin typeface="Georgia"/>
                <a:ea typeface="Georgia"/>
                <a:cs typeface="Georgia"/>
                <a:sym typeface="Georgia"/>
              </a:rPr>
              <a:t>3</a:t>
            </a:r>
            <a:endParaRPr b="1" sz="1600">
              <a:solidFill>
                <a:srgbClr val="FFFFFF"/>
              </a:solidFill>
              <a:latin typeface="Georgia"/>
              <a:ea typeface="Georgia"/>
              <a:cs typeface="Georgia"/>
              <a:sym typeface="Georgia"/>
            </a:endParaRPr>
          </a:p>
        </p:txBody>
      </p:sp>
      <p:sp>
        <p:nvSpPr>
          <p:cNvPr id="110" name="Google Shape;110;p6"/>
          <p:cNvSpPr/>
          <p:nvPr/>
        </p:nvSpPr>
        <p:spPr>
          <a:xfrm>
            <a:off x="1095375" y="3381375"/>
            <a:ext cx="3143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1B2A4A"/>
                </a:solidFill>
                <a:latin typeface="Georgia"/>
                <a:ea typeface="Georgia"/>
                <a:cs typeface="Georgia"/>
                <a:sym typeface="Georgia"/>
              </a:rPr>
              <a:t>Low Institutional Adoption</a:t>
            </a:r>
            <a:endParaRPr b="1" sz="1600">
              <a:solidFill>
                <a:srgbClr val="1B2A4A"/>
              </a:solidFill>
              <a:latin typeface="Georgia"/>
              <a:ea typeface="Georgia"/>
              <a:cs typeface="Georgia"/>
              <a:sym typeface="Georgia"/>
            </a:endParaRPr>
          </a:p>
        </p:txBody>
      </p:sp>
      <p:sp>
        <p:nvSpPr>
          <p:cNvPr id="111" name="Google Shape;111;p6"/>
          <p:cNvSpPr/>
          <p:nvPr/>
        </p:nvSpPr>
        <p:spPr>
          <a:xfrm>
            <a:off x="571500" y="3810000"/>
            <a:ext cx="3619500" cy="809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1100">
                <a:solidFill>
                  <a:srgbClr val="4B5563"/>
                </a:solidFill>
                <a:latin typeface="Georgia"/>
                <a:ea typeface="Georgia"/>
                <a:cs typeface="Georgia"/>
                <a:sym typeface="Georgia"/>
              </a:rPr>
              <a:t>Only technically proficient faculty can complete the workflow. Humanities and social science instructors are systematically excluded, regardless of motivation.</a:t>
            </a:r>
            <a:endParaRPr sz="1100">
              <a:solidFill>
                <a:srgbClr val="4B5563"/>
              </a:solidFill>
              <a:latin typeface="Georgia"/>
              <a:ea typeface="Georgia"/>
              <a:cs typeface="Georgia"/>
              <a:sym typeface="Georgia"/>
            </a:endParaRPr>
          </a:p>
        </p:txBody>
      </p:sp>
      <p:sp>
        <p:nvSpPr>
          <p:cNvPr id="112" name="Google Shape;112;p6"/>
          <p:cNvSpPr/>
          <p:nvPr/>
        </p:nvSpPr>
        <p:spPr>
          <a:xfrm>
            <a:off x="4714875" y="3190875"/>
            <a:ext cx="4160400" cy="1524000"/>
          </a:xfrm>
          <a:prstGeom prst="rect">
            <a:avLst/>
          </a:prstGeom>
          <a:solidFill>
            <a:srgbClr val="FFFFFF"/>
          </a:solidFill>
          <a:ln cap="flat" cmpd="sng" w="9525">
            <a:solidFill>
              <a:srgbClr val="E5E7EB"/>
            </a:solidFill>
            <a:prstDash val="solid"/>
            <a:round/>
            <a:headEnd len="sm" w="sm" type="none"/>
            <a:tailEnd len="sm" w="sm" type="none"/>
          </a:ln>
          <a:effectLst>
            <a:outerShdw blurRad="76200" rotWithShape="0" algn="bl" dir="8100000" dist="25400">
              <a:srgbClr val="000000">
                <a:alpha val="9019"/>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6"/>
          <p:cNvSpPr/>
          <p:nvPr/>
        </p:nvSpPr>
        <p:spPr>
          <a:xfrm>
            <a:off x="4857750" y="3333750"/>
            <a:ext cx="381000" cy="381000"/>
          </a:xfrm>
          <a:prstGeom prst="ellipse">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6"/>
          <p:cNvSpPr/>
          <p:nvPr/>
        </p:nvSpPr>
        <p:spPr>
          <a:xfrm>
            <a:off x="4857750" y="3333750"/>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FFFFFF"/>
                </a:solidFill>
                <a:latin typeface="Georgia"/>
                <a:ea typeface="Georgia"/>
                <a:cs typeface="Georgia"/>
                <a:sym typeface="Georgia"/>
              </a:rPr>
              <a:t>4</a:t>
            </a:r>
            <a:endParaRPr b="1" sz="1600">
              <a:solidFill>
                <a:srgbClr val="FFFFFF"/>
              </a:solidFill>
              <a:latin typeface="Georgia"/>
              <a:ea typeface="Georgia"/>
              <a:cs typeface="Georgia"/>
              <a:sym typeface="Georgia"/>
            </a:endParaRPr>
          </a:p>
        </p:txBody>
      </p:sp>
      <p:sp>
        <p:nvSpPr>
          <p:cNvPr id="115" name="Google Shape;115;p6"/>
          <p:cNvSpPr/>
          <p:nvPr/>
        </p:nvSpPr>
        <p:spPr>
          <a:xfrm>
            <a:off x="5381625" y="3381375"/>
            <a:ext cx="3143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1B2A4A"/>
                </a:solidFill>
                <a:latin typeface="Georgia"/>
                <a:ea typeface="Georgia"/>
                <a:cs typeface="Georgia"/>
                <a:sym typeface="Georgia"/>
              </a:rPr>
              <a:t>No AI Assistance</a:t>
            </a:r>
            <a:endParaRPr b="1" sz="1600">
              <a:solidFill>
                <a:srgbClr val="1B2A4A"/>
              </a:solidFill>
              <a:latin typeface="Georgia"/>
              <a:ea typeface="Georgia"/>
              <a:cs typeface="Georgia"/>
              <a:sym typeface="Georgia"/>
            </a:endParaRPr>
          </a:p>
        </p:txBody>
      </p:sp>
      <p:sp>
        <p:nvSpPr>
          <p:cNvPr id="116" name="Google Shape;116;p6"/>
          <p:cNvSpPr/>
          <p:nvPr/>
        </p:nvSpPr>
        <p:spPr>
          <a:xfrm>
            <a:off x="4905375" y="3810000"/>
            <a:ext cx="3619500" cy="809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1100">
                <a:solidFill>
                  <a:srgbClr val="4B5563"/>
                </a:solidFill>
                <a:latin typeface="Georgia"/>
                <a:ea typeface="Georgia"/>
                <a:cs typeface="Georgia"/>
                <a:sym typeface="Georgia"/>
              </a:rPr>
              <a:t>No existing free H5P tool provides AI question generation. Every question, timestamp, and distractor must be authored manually from scratch.</a:t>
            </a:r>
            <a:endParaRPr sz="1100">
              <a:solidFill>
                <a:srgbClr val="4B5563"/>
              </a:solidFill>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1" name="Shape 121"/>
        <p:cNvGrpSpPr/>
        <p:nvPr/>
      </p:nvGrpSpPr>
      <p:grpSpPr>
        <a:xfrm>
          <a:off x="0" y="0"/>
          <a:ext cx="0" cy="0"/>
          <a:chOff x="0" y="0"/>
          <a:chExt cx="0" cy="0"/>
        </a:xfrm>
      </p:grpSpPr>
      <p:sp>
        <p:nvSpPr>
          <p:cNvPr id="122" name="Google Shape;122;p7"/>
          <p:cNvSpPr/>
          <p:nvPr/>
        </p:nvSpPr>
        <p:spPr>
          <a:xfrm>
            <a:off x="548640" y="20116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E87722"/>
                </a:solidFill>
                <a:latin typeface="Georgia"/>
                <a:ea typeface="Georgia"/>
                <a:cs typeface="Georgia"/>
                <a:sym typeface="Georgia"/>
              </a:rPr>
              <a:t>01 · INTRODUCTION</a:t>
            </a:r>
            <a:endParaRPr b="1" sz="1100">
              <a:solidFill>
                <a:srgbClr val="E87722"/>
              </a:solidFill>
              <a:latin typeface="Georgia"/>
              <a:ea typeface="Georgia"/>
              <a:cs typeface="Georgia"/>
              <a:sym typeface="Georgia"/>
            </a:endParaRPr>
          </a:p>
        </p:txBody>
      </p:sp>
      <p:sp>
        <p:nvSpPr>
          <p:cNvPr id="123" name="Google Shape;123;p7"/>
          <p:cNvSpPr/>
          <p:nvPr/>
        </p:nvSpPr>
        <p:spPr>
          <a:xfrm>
            <a:off x="381000" y="400050"/>
            <a:ext cx="57300" cy="381000"/>
          </a:xfrm>
          <a:prstGeom prst="rect">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7"/>
          <p:cNvSpPr/>
          <p:nvPr/>
        </p:nvSpPr>
        <p:spPr>
          <a:xfrm>
            <a:off x="548640" y="34290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1B2A4A"/>
                </a:solidFill>
                <a:latin typeface="Georgia"/>
                <a:ea typeface="Georgia"/>
                <a:cs typeface="Georgia"/>
                <a:sym typeface="Georgia"/>
              </a:rPr>
              <a:t>Research Questions</a:t>
            </a:r>
            <a:endParaRPr b="1" sz="3200">
              <a:solidFill>
                <a:srgbClr val="1B2A4A"/>
              </a:solidFill>
              <a:latin typeface="Georgia"/>
              <a:ea typeface="Georgia"/>
              <a:cs typeface="Georgia"/>
              <a:sym typeface="Georgia"/>
            </a:endParaRPr>
          </a:p>
        </p:txBody>
      </p:sp>
      <p:sp>
        <p:nvSpPr>
          <p:cNvPr id="125" name="Google Shape;125;p7"/>
          <p:cNvSpPr/>
          <p:nvPr/>
        </p:nvSpPr>
        <p:spPr>
          <a:xfrm>
            <a:off x="7772400" y="4846320"/>
            <a:ext cx="1097400" cy="18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rPr b="0" lang="en-US" sz="1000">
                <a:solidFill>
                  <a:srgbClr val="6B7280"/>
                </a:solidFill>
                <a:latin typeface="Georgia"/>
                <a:ea typeface="Georgia"/>
                <a:cs typeface="Georgia"/>
                <a:sym typeface="Georgia"/>
              </a:rPr>
              <a:t>5 / 21</a:t>
            </a:r>
            <a:endParaRPr b="0" sz="1000">
              <a:solidFill>
                <a:srgbClr val="6B7280"/>
              </a:solidFill>
              <a:latin typeface="Georgia"/>
              <a:ea typeface="Georgia"/>
              <a:cs typeface="Georgia"/>
              <a:sym typeface="Georgia"/>
            </a:endParaRPr>
          </a:p>
        </p:txBody>
      </p:sp>
      <p:sp>
        <p:nvSpPr>
          <p:cNvPr id="126" name="Google Shape;126;p7"/>
          <p:cNvSpPr/>
          <p:nvPr/>
        </p:nvSpPr>
        <p:spPr>
          <a:xfrm>
            <a:off x="411480" y="1000125"/>
            <a:ext cx="8321100" cy="952500"/>
          </a:xfrm>
          <a:prstGeom prst="rect">
            <a:avLst/>
          </a:prstGeom>
          <a:solidFill>
            <a:srgbClr val="FEF3E6"/>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7"/>
          <p:cNvSpPr/>
          <p:nvPr/>
        </p:nvSpPr>
        <p:spPr>
          <a:xfrm>
            <a:off x="594360" y="1047750"/>
            <a:ext cx="7955400" cy="25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E87722"/>
                </a:solidFill>
                <a:latin typeface="Georgia"/>
                <a:ea typeface="Georgia"/>
                <a:cs typeface="Georgia"/>
                <a:sym typeface="Georgia"/>
              </a:rPr>
              <a:t>PRIMARY RESEARCH QUESTION</a:t>
            </a:r>
            <a:endParaRPr b="1" sz="1000">
              <a:solidFill>
                <a:srgbClr val="E87722"/>
              </a:solidFill>
              <a:latin typeface="Georgia"/>
              <a:ea typeface="Georgia"/>
              <a:cs typeface="Georgia"/>
              <a:sym typeface="Georgia"/>
            </a:endParaRPr>
          </a:p>
        </p:txBody>
      </p:sp>
      <p:sp>
        <p:nvSpPr>
          <p:cNvPr id="128" name="Google Shape;128;p7"/>
          <p:cNvSpPr/>
          <p:nvPr/>
        </p:nvSpPr>
        <p:spPr>
          <a:xfrm>
            <a:off x="594360" y="1285875"/>
            <a:ext cx="79554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1" lang="en-US" sz="1203">
                <a:solidFill>
                  <a:srgbClr val="1B2A4A"/>
                </a:solidFill>
                <a:latin typeface="Georgia"/>
                <a:ea typeface="Georgia"/>
                <a:cs typeface="Georgia"/>
                <a:sym typeface="Georgia"/>
              </a:rPr>
              <a:t>How can a purpose-built web platform, combining user-centred design with an AI-driven transcript analysis pipeline, improve the efficiency, pedagogical quality, and institutional adoption of H5P interactive video authoring?</a:t>
            </a:r>
            <a:endParaRPr b="0" i="1" sz="1203">
              <a:solidFill>
                <a:srgbClr val="1B2A4A"/>
              </a:solidFill>
              <a:latin typeface="Georgia"/>
              <a:ea typeface="Georgia"/>
              <a:cs typeface="Georgia"/>
              <a:sym typeface="Georgia"/>
            </a:endParaRPr>
          </a:p>
        </p:txBody>
      </p:sp>
      <p:sp>
        <p:nvSpPr>
          <p:cNvPr id="129" name="Google Shape;129;p7"/>
          <p:cNvSpPr/>
          <p:nvPr/>
        </p:nvSpPr>
        <p:spPr>
          <a:xfrm>
            <a:off x="411480" y="2143125"/>
            <a:ext cx="4065300" cy="1143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7"/>
          <p:cNvSpPr/>
          <p:nvPr/>
        </p:nvSpPr>
        <p:spPr>
          <a:xfrm>
            <a:off x="525780" y="2257425"/>
            <a:ext cx="342900" cy="342900"/>
          </a:xfrm>
          <a:prstGeom prst="ellipse">
            <a:avLst/>
          </a:prstGeom>
          <a:solidFill>
            <a:srgbClr val="1B2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7"/>
          <p:cNvSpPr/>
          <p:nvPr/>
        </p:nvSpPr>
        <p:spPr>
          <a:xfrm>
            <a:off x="525780" y="2257425"/>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FFFFFF"/>
                </a:solidFill>
                <a:latin typeface="Georgia"/>
                <a:ea typeface="Georgia"/>
                <a:cs typeface="Georgia"/>
                <a:sym typeface="Georgia"/>
              </a:rPr>
              <a:t>RQ1</a:t>
            </a:r>
            <a:endParaRPr b="1" sz="1100">
              <a:solidFill>
                <a:srgbClr val="FFFFFF"/>
              </a:solidFill>
              <a:latin typeface="Georgia"/>
              <a:ea typeface="Georgia"/>
              <a:cs typeface="Georgia"/>
              <a:sym typeface="Georgia"/>
            </a:endParaRPr>
          </a:p>
        </p:txBody>
      </p:sp>
      <p:sp>
        <p:nvSpPr>
          <p:cNvPr id="132" name="Google Shape;132;p7"/>
          <p:cNvSpPr/>
          <p:nvPr/>
        </p:nvSpPr>
        <p:spPr>
          <a:xfrm>
            <a:off x="1047750" y="2333625"/>
            <a:ext cx="31434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374151"/>
                </a:solidFill>
                <a:latin typeface="Georgia"/>
                <a:ea typeface="Georgia"/>
                <a:cs typeface="Georgia"/>
                <a:sym typeface="Georgia"/>
              </a:rPr>
              <a:t>What are the specific usability barriers in current H5P workflows that most strongly reduce task completion rates and satisfaction?</a:t>
            </a:r>
            <a:endParaRPr b="0" sz="1100">
              <a:solidFill>
                <a:srgbClr val="374151"/>
              </a:solidFill>
              <a:latin typeface="Georgia"/>
              <a:ea typeface="Georgia"/>
              <a:cs typeface="Georgia"/>
              <a:sym typeface="Georgia"/>
            </a:endParaRPr>
          </a:p>
        </p:txBody>
      </p:sp>
      <p:sp>
        <p:nvSpPr>
          <p:cNvPr id="133" name="Google Shape;133;p7"/>
          <p:cNvSpPr/>
          <p:nvPr/>
        </p:nvSpPr>
        <p:spPr>
          <a:xfrm>
            <a:off x="4667250" y="2143125"/>
            <a:ext cx="4065300" cy="1143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7"/>
          <p:cNvSpPr/>
          <p:nvPr/>
        </p:nvSpPr>
        <p:spPr>
          <a:xfrm>
            <a:off x="4781550" y="2257425"/>
            <a:ext cx="342900" cy="342900"/>
          </a:xfrm>
          <a:prstGeom prst="ellipse">
            <a:avLst/>
          </a:prstGeom>
          <a:solidFill>
            <a:srgbClr val="1B2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7"/>
          <p:cNvSpPr/>
          <p:nvPr/>
        </p:nvSpPr>
        <p:spPr>
          <a:xfrm>
            <a:off x="4781550" y="2257425"/>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FFFFFF"/>
                </a:solidFill>
                <a:latin typeface="Georgia"/>
                <a:ea typeface="Georgia"/>
                <a:cs typeface="Georgia"/>
                <a:sym typeface="Georgia"/>
              </a:rPr>
              <a:t>RQ2</a:t>
            </a:r>
            <a:endParaRPr b="1" sz="1100">
              <a:solidFill>
                <a:srgbClr val="FFFFFF"/>
              </a:solidFill>
              <a:latin typeface="Georgia"/>
              <a:ea typeface="Georgia"/>
              <a:cs typeface="Georgia"/>
              <a:sym typeface="Georgia"/>
            </a:endParaRPr>
          </a:p>
        </p:txBody>
      </p:sp>
      <p:sp>
        <p:nvSpPr>
          <p:cNvPr id="136" name="Google Shape;136;p7"/>
          <p:cNvSpPr/>
          <p:nvPr/>
        </p:nvSpPr>
        <p:spPr>
          <a:xfrm>
            <a:off x="5305425" y="2333625"/>
            <a:ext cx="31434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374151"/>
                </a:solidFill>
                <a:latin typeface="Georgia"/>
                <a:ea typeface="Georgia"/>
                <a:cs typeface="Georgia"/>
                <a:sym typeface="Georgia"/>
              </a:rPr>
              <a:t>How can user-centred design principles reduce extraneous cognitive load in timestamp-based interactive question authoring?</a:t>
            </a:r>
            <a:endParaRPr b="0" sz="1100">
              <a:solidFill>
                <a:srgbClr val="374151"/>
              </a:solidFill>
              <a:latin typeface="Georgia"/>
              <a:ea typeface="Georgia"/>
              <a:cs typeface="Georgia"/>
              <a:sym typeface="Georgia"/>
            </a:endParaRPr>
          </a:p>
        </p:txBody>
      </p:sp>
      <p:sp>
        <p:nvSpPr>
          <p:cNvPr id="137" name="Google Shape;137;p7"/>
          <p:cNvSpPr/>
          <p:nvPr/>
        </p:nvSpPr>
        <p:spPr>
          <a:xfrm>
            <a:off x="411480" y="3476625"/>
            <a:ext cx="4065300" cy="1143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7"/>
          <p:cNvSpPr/>
          <p:nvPr/>
        </p:nvSpPr>
        <p:spPr>
          <a:xfrm>
            <a:off x="525780" y="3590925"/>
            <a:ext cx="342900" cy="342900"/>
          </a:xfrm>
          <a:prstGeom prst="ellipse">
            <a:avLst/>
          </a:prstGeom>
          <a:solidFill>
            <a:srgbClr val="1B2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7"/>
          <p:cNvSpPr/>
          <p:nvPr/>
        </p:nvSpPr>
        <p:spPr>
          <a:xfrm>
            <a:off x="525780" y="3590925"/>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FFFFFF"/>
                </a:solidFill>
                <a:latin typeface="Georgia"/>
                <a:ea typeface="Georgia"/>
                <a:cs typeface="Georgia"/>
                <a:sym typeface="Georgia"/>
              </a:rPr>
              <a:t>RQ3</a:t>
            </a:r>
            <a:endParaRPr b="1" sz="1100">
              <a:solidFill>
                <a:srgbClr val="FFFFFF"/>
              </a:solidFill>
              <a:latin typeface="Georgia"/>
              <a:ea typeface="Georgia"/>
              <a:cs typeface="Georgia"/>
              <a:sym typeface="Georgia"/>
            </a:endParaRPr>
          </a:p>
        </p:txBody>
      </p:sp>
      <p:sp>
        <p:nvSpPr>
          <p:cNvPr id="140" name="Google Shape;140;p7"/>
          <p:cNvSpPr/>
          <p:nvPr/>
        </p:nvSpPr>
        <p:spPr>
          <a:xfrm>
            <a:off x="1047750" y="3667125"/>
            <a:ext cx="31434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374151"/>
                </a:solidFill>
                <a:latin typeface="Georgia"/>
                <a:ea typeface="Georgia"/>
                <a:cs typeface="Georgia"/>
                <a:sym typeface="Georgia"/>
              </a:rPr>
              <a:t>What full-stack architecture best supports scalable, real-time AI-assisted question generation and seamless H5P package assembly?</a:t>
            </a:r>
            <a:endParaRPr b="0" sz="1100">
              <a:solidFill>
                <a:srgbClr val="374151"/>
              </a:solidFill>
              <a:latin typeface="Georgia"/>
              <a:ea typeface="Georgia"/>
              <a:cs typeface="Georgia"/>
              <a:sym typeface="Georgia"/>
            </a:endParaRPr>
          </a:p>
        </p:txBody>
      </p:sp>
      <p:sp>
        <p:nvSpPr>
          <p:cNvPr id="141" name="Google Shape;141;p7"/>
          <p:cNvSpPr/>
          <p:nvPr/>
        </p:nvSpPr>
        <p:spPr>
          <a:xfrm>
            <a:off x="4667250" y="3476625"/>
            <a:ext cx="4065300" cy="1143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7"/>
          <p:cNvSpPr/>
          <p:nvPr/>
        </p:nvSpPr>
        <p:spPr>
          <a:xfrm>
            <a:off x="4781550" y="3590925"/>
            <a:ext cx="342900" cy="342900"/>
          </a:xfrm>
          <a:prstGeom prst="ellipse">
            <a:avLst/>
          </a:prstGeom>
          <a:solidFill>
            <a:srgbClr val="1B2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7"/>
          <p:cNvSpPr/>
          <p:nvPr/>
        </p:nvSpPr>
        <p:spPr>
          <a:xfrm>
            <a:off x="4781550" y="3590925"/>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FFFFFF"/>
                </a:solidFill>
                <a:latin typeface="Georgia"/>
                <a:ea typeface="Georgia"/>
                <a:cs typeface="Georgia"/>
                <a:sym typeface="Georgia"/>
              </a:rPr>
              <a:t>RQ4</a:t>
            </a:r>
            <a:endParaRPr b="1" sz="1100">
              <a:solidFill>
                <a:srgbClr val="FFFFFF"/>
              </a:solidFill>
              <a:latin typeface="Georgia"/>
              <a:ea typeface="Georgia"/>
              <a:cs typeface="Georgia"/>
              <a:sym typeface="Georgia"/>
            </a:endParaRPr>
          </a:p>
        </p:txBody>
      </p:sp>
      <p:sp>
        <p:nvSpPr>
          <p:cNvPr id="144" name="Google Shape;144;p7"/>
          <p:cNvSpPr/>
          <p:nvPr/>
        </p:nvSpPr>
        <p:spPr>
          <a:xfrm>
            <a:off x="5305425" y="3667125"/>
            <a:ext cx="31434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374151"/>
                </a:solidFill>
                <a:latin typeface="Georgia"/>
                <a:ea typeface="Georgia"/>
                <a:cs typeface="Georgia"/>
                <a:sym typeface="Georgia"/>
              </a:rPr>
              <a:t>To what extent does the purpose-built platform quantitatively outperform the WordPress baseline on usability, efficiency, and productivity metrics?</a:t>
            </a:r>
            <a:endParaRPr b="0" sz="1100">
              <a:solidFill>
                <a:srgbClr val="374151"/>
              </a:solidFill>
              <a:latin typeface="Georgia"/>
              <a:ea typeface="Georgia"/>
              <a:cs typeface="Georgia"/>
              <a:sym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9" name="Shape 149"/>
        <p:cNvGrpSpPr/>
        <p:nvPr/>
      </p:nvGrpSpPr>
      <p:grpSpPr>
        <a:xfrm>
          <a:off x="0" y="0"/>
          <a:ext cx="0" cy="0"/>
          <a:chOff x="0" y="0"/>
          <a:chExt cx="0" cy="0"/>
        </a:xfrm>
      </p:grpSpPr>
      <p:sp>
        <p:nvSpPr>
          <p:cNvPr id="150" name="Google Shape;150;p8"/>
          <p:cNvSpPr/>
          <p:nvPr/>
        </p:nvSpPr>
        <p:spPr>
          <a:xfrm>
            <a:off x="548640" y="20116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100">
                <a:solidFill>
                  <a:srgbClr val="E87722"/>
                </a:solidFill>
                <a:latin typeface="Georgia"/>
                <a:ea typeface="Georgia"/>
                <a:cs typeface="Georgia"/>
                <a:sym typeface="Georgia"/>
              </a:rPr>
              <a:t>02 · LITERATURE REVIEW</a:t>
            </a:r>
            <a:endParaRPr b="1" i="0" sz="1100">
              <a:solidFill>
                <a:srgbClr val="E87722"/>
              </a:solidFill>
              <a:latin typeface="Georgia"/>
              <a:ea typeface="Georgia"/>
              <a:cs typeface="Georgia"/>
              <a:sym typeface="Georgia"/>
            </a:endParaRPr>
          </a:p>
        </p:txBody>
      </p:sp>
      <p:sp>
        <p:nvSpPr>
          <p:cNvPr id="151" name="Google Shape;151;p8"/>
          <p:cNvSpPr/>
          <p:nvPr/>
        </p:nvSpPr>
        <p:spPr>
          <a:xfrm>
            <a:off x="381000" y="400050"/>
            <a:ext cx="57300" cy="381000"/>
          </a:xfrm>
          <a:prstGeom prst="rect">
            <a:avLst/>
          </a:prstGeom>
          <a:solidFill>
            <a:srgbClr val="E87722"/>
          </a:solidFill>
          <a:ln cap="flat" cmpd="sng">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8"/>
          <p:cNvSpPr/>
          <p:nvPr/>
        </p:nvSpPr>
        <p:spPr>
          <a:xfrm>
            <a:off x="548640" y="34290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3200">
                <a:solidFill>
                  <a:srgbClr val="1B2A4A"/>
                </a:solidFill>
                <a:latin typeface="Georgia"/>
                <a:ea typeface="Georgia"/>
                <a:cs typeface="Georgia"/>
                <a:sym typeface="Georgia"/>
              </a:rPr>
              <a:t>Why Interactive Video Works</a:t>
            </a:r>
            <a:endParaRPr b="1" i="0" sz="3200">
              <a:solidFill>
                <a:srgbClr val="1B2A4A"/>
              </a:solidFill>
              <a:latin typeface="Georgia"/>
              <a:ea typeface="Georgia"/>
              <a:cs typeface="Georgia"/>
              <a:sym typeface="Georgia"/>
            </a:endParaRPr>
          </a:p>
        </p:txBody>
      </p:sp>
      <p:sp>
        <p:nvSpPr>
          <p:cNvPr id="153" name="Google Shape;153;p8"/>
          <p:cNvSpPr/>
          <p:nvPr/>
        </p:nvSpPr>
        <p:spPr>
          <a:xfrm>
            <a:off x="7772400" y="4846320"/>
            <a:ext cx="1097400" cy="18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rPr b="0" i="0" lang="en-US" sz="1000">
                <a:solidFill>
                  <a:srgbClr val="6B7280"/>
                </a:solidFill>
                <a:latin typeface="Georgia"/>
                <a:ea typeface="Georgia"/>
                <a:cs typeface="Georgia"/>
                <a:sym typeface="Georgia"/>
              </a:rPr>
              <a:t>6 / 21</a:t>
            </a:r>
            <a:endParaRPr b="0" i="0" sz="1000">
              <a:solidFill>
                <a:srgbClr val="6B7280"/>
              </a:solidFill>
              <a:latin typeface="Georgia"/>
              <a:ea typeface="Georgia"/>
              <a:cs typeface="Georgia"/>
              <a:sym typeface="Georgia"/>
            </a:endParaRPr>
          </a:p>
        </p:txBody>
      </p:sp>
      <p:sp>
        <p:nvSpPr>
          <p:cNvPr id="154" name="Google Shape;154;p8"/>
          <p:cNvSpPr/>
          <p:nvPr/>
        </p:nvSpPr>
        <p:spPr>
          <a:xfrm>
            <a:off x="411480" y="952500"/>
            <a:ext cx="8321100" cy="457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US" sz="1400">
                <a:solidFill>
                  <a:srgbClr val="374151"/>
                </a:solidFill>
                <a:latin typeface="Georgia"/>
                <a:ea typeface="Georgia"/>
                <a:cs typeface="Georgia"/>
                <a:sym typeface="Georgia"/>
              </a:rPr>
              <a:t>Three decades of cognitive science and educational technology research provide the empirical foundation for this project's pedagogical goals.</a:t>
            </a:r>
            <a:endParaRPr b="0" i="0" sz="1400">
              <a:solidFill>
                <a:srgbClr val="374151"/>
              </a:solidFill>
              <a:latin typeface="Georgia"/>
              <a:ea typeface="Georgia"/>
              <a:cs typeface="Georgia"/>
              <a:sym typeface="Georgia"/>
            </a:endParaRPr>
          </a:p>
        </p:txBody>
      </p:sp>
      <p:grpSp>
        <p:nvGrpSpPr>
          <p:cNvPr id="155" name="Google Shape;155;p8"/>
          <p:cNvGrpSpPr/>
          <p:nvPr/>
        </p:nvGrpSpPr>
        <p:grpSpPr>
          <a:xfrm>
            <a:off x="411480" y="1524000"/>
            <a:ext cx="2667000" cy="3048000"/>
            <a:chOff x="411480" y="1524000"/>
            <a:chExt cx="2667000" cy="3048000"/>
          </a:xfrm>
        </p:grpSpPr>
        <p:sp>
          <p:nvSpPr>
            <p:cNvPr id="156" name="Google Shape;156;p8"/>
            <p:cNvSpPr/>
            <p:nvPr/>
          </p:nvSpPr>
          <p:spPr>
            <a:xfrm>
              <a:off x="411480" y="1524000"/>
              <a:ext cx="2667000" cy="3048000"/>
            </a:xfrm>
            <a:prstGeom prst="roundRect">
              <a:avLst>
                <a:gd fmla="val 1428"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 name="Google Shape;157;p8"/>
            <p:cNvSpPr/>
            <p:nvPr/>
          </p:nvSpPr>
          <p:spPr>
            <a:xfrm>
              <a:off x="411480" y="1524000"/>
              <a:ext cx="2667000" cy="38100"/>
            </a:xfrm>
            <a:prstGeom prst="roundRect">
              <a:avLst>
                <a:gd fmla="val 50000" name="adj"/>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8"/>
            <p:cNvSpPr txBox="1"/>
            <p:nvPr/>
          </p:nvSpPr>
          <p:spPr>
            <a:xfrm>
              <a:off x="554355" y="1666875"/>
              <a:ext cx="23814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1B2A4A"/>
                  </a:solidFill>
                  <a:latin typeface="Georgia"/>
                  <a:ea typeface="Georgia"/>
                  <a:cs typeface="Georgia"/>
                  <a:sym typeface="Georgia"/>
                </a:rPr>
                <a:t>Zhang et al. (2006)</a:t>
              </a:r>
              <a:endParaRPr b="1" sz="1400">
                <a:solidFill>
                  <a:srgbClr val="1B2A4A"/>
                </a:solidFill>
                <a:latin typeface="Georgia"/>
                <a:ea typeface="Georgia"/>
                <a:cs typeface="Georgia"/>
                <a:sym typeface="Georgia"/>
              </a:endParaRPr>
            </a:p>
            <a:p>
              <a:pPr indent="0" lvl="0" marL="0" rtl="0" algn="l">
                <a:spcBef>
                  <a:spcPts val="1125"/>
                </a:spcBef>
                <a:spcAft>
                  <a:spcPts val="0"/>
                </a:spcAft>
                <a:buNone/>
              </a:pPr>
              <a:r>
                <a:rPr lang="en-US" sz="1100">
                  <a:solidFill>
                    <a:srgbClr val="374151"/>
                  </a:solidFill>
                  <a:latin typeface="Georgia"/>
                  <a:ea typeface="Georgia"/>
                  <a:cs typeface="Georgia"/>
                  <a:sym typeface="Georgia"/>
                </a:rPr>
                <a:t>Students in interactive video groups scored 20–25% higher on post-tests and reported significantly greater satisfaction compared to passive video viewing.</a:t>
              </a:r>
              <a:endParaRPr sz="1100">
                <a:solidFill>
                  <a:srgbClr val="374151"/>
                </a:solidFill>
                <a:latin typeface="Georgia"/>
                <a:ea typeface="Georgia"/>
                <a:cs typeface="Georgia"/>
                <a:sym typeface="Georgia"/>
              </a:endParaRPr>
            </a:p>
            <a:p>
              <a:pPr indent="0" lvl="0" marL="0" rtl="0" algn="l">
                <a:spcBef>
                  <a:spcPts val="1500"/>
                </a:spcBef>
                <a:spcAft>
                  <a:spcPts val="0"/>
                </a:spcAft>
                <a:buNone/>
              </a:pPr>
              <a:r>
                <a:rPr b="1" lang="en-US" sz="1000">
                  <a:solidFill>
                    <a:srgbClr val="E87722"/>
                  </a:solidFill>
                  <a:latin typeface="Georgia"/>
                  <a:ea typeface="Georgia"/>
                  <a:cs typeface="Georgia"/>
                  <a:sym typeface="Georgia"/>
                </a:rPr>
                <a:t>Mechanism</a:t>
              </a:r>
              <a:endParaRPr b="1" sz="1000">
                <a:solidFill>
                  <a:srgbClr val="E87722"/>
                </a:solidFill>
                <a:latin typeface="Georgia"/>
                <a:ea typeface="Georgia"/>
                <a:cs typeface="Georgia"/>
                <a:sym typeface="Georgia"/>
              </a:endParaRPr>
            </a:p>
            <a:p>
              <a:pPr indent="0" lvl="0" marL="0" rtl="0" algn="l">
                <a:spcBef>
                  <a:spcPts val="375"/>
                </a:spcBef>
                <a:spcAft>
                  <a:spcPts val="0"/>
                </a:spcAft>
                <a:buNone/>
              </a:pPr>
              <a:r>
                <a:rPr i="1" lang="en-US" sz="1000">
                  <a:solidFill>
                    <a:srgbClr val="6B7280"/>
                  </a:solidFill>
                  <a:latin typeface="Georgia"/>
                  <a:ea typeface="Georgia"/>
                  <a:cs typeface="Georgia"/>
                  <a:sym typeface="Georgia"/>
                </a:rPr>
                <a:t>Forced active retrieval prevents passive 'zoning out' at regular intervals throughout the lecture.</a:t>
              </a:r>
              <a:endParaRPr i="1" sz="1000">
                <a:solidFill>
                  <a:srgbClr val="6B7280"/>
                </a:solidFill>
                <a:latin typeface="Georgia"/>
                <a:ea typeface="Georgia"/>
                <a:cs typeface="Georgia"/>
                <a:sym typeface="Georgia"/>
              </a:endParaRPr>
            </a:p>
          </p:txBody>
        </p:sp>
      </p:grpSp>
      <p:grpSp>
        <p:nvGrpSpPr>
          <p:cNvPr id="159" name="Google Shape;159;p8"/>
          <p:cNvGrpSpPr/>
          <p:nvPr/>
        </p:nvGrpSpPr>
        <p:grpSpPr>
          <a:xfrm>
            <a:off x="3238500" y="1524000"/>
            <a:ext cx="2667000" cy="3048000"/>
            <a:chOff x="3238500" y="1524000"/>
            <a:chExt cx="2667000" cy="3048000"/>
          </a:xfrm>
        </p:grpSpPr>
        <p:sp>
          <p:nvSpPr>
            <p:cNvPr id="160" name="Google Shape;160;p8"/>
            <p:cNvSpPr/>
            <p:nvPr/>
          </p:nvSpPr>
          <p:spPr>
            <a:xfrm>
              <a:off x="3238500" y="1524000"/>
              <a:ext cx="2667000" cy="3048000"/>
            </a:xfrm>
            <a:prstGeom prst="roundRect">
              <a:avLst>
                <a:gd fmla="val 1428"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 name="Google Shape;161;p8"/>
            <p:cNvSpPr/>
            <p:nvPr/>
          </p:nvSpPr>
          <p:spPr>
            <a:xfrm>
              <a:off x="3238500" y="1524000"/>
              <a:ext cx="2667000" cy="38100"/>
            </a:xfrm>
            <a:prstGeom prst="roundRect">
              <a:avLst>
                <a:gd fmla="val 50000" name="adj"/>
              </a:avLst>
            </a:prstGeom>
            <a:solidFill>
              <a:srgbClr val="1B2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8"/>
            <p:cNvSpPr txBox="1"/>
            <p:nvPr/>
          </p:nvSpPr>
          <p:spPr>
            <a:xfrm>
              <a:off x="3381375" y="1666875"/>
              <a:ext cx="23814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1B2A4A"/>
                  </a:solidFill>
                  <a:latin typeface="Georgia"/>
                  <a:ea typeface="Georgia"/>
                  <a:cs typeface="Georgia"/>
                  <a:sym typeface="Georgia"/>
                </a:rPr>
                <a:t>Merkt et al. (2011)</a:t>
              </a:r>
              <a:endParaRPr b="1" sz="1400">
                <a:solidFill>
                  <a:srgbClr val="1B2A4A"/>
                </a:solidFill>
                <a:latin typeface="Georgia"/>
                <a:ea typeface="Georgia"/>
                <a:cs typeface="Georgia"/>
                <a:sym typeface="Georgia"/>
              </a:endParaRPr>
            </a:p>
            <a:p>
              <a:pPr indent="0" lvl="0" marL="0" rtl="0" algn="l">
                <a:spcBef>
                  <a:spcPts val="1125"/>
                </a:spcBef>
                <a:spcAft>
                  <a:spcPts val="0"/>
                </a:spcAft>
                <a:buNone/>
              </a:pPr>
              <a:r>
                <a:rPr lang="en-US" sz="1100">
                  <a:solidFill>
                    <a:srgbClr val="374151"/>
                  </a:solidFill>
                  <a:latin typeface="Georgia"/>
                  <a:ea typeface="Georgia"/>
                  <a:cs typeface="Georgia"/>
                  <a:sym typeface="Georgia"/>
                </a:rPr>
                <a:t>Videos with embedded forced-choice questions produced better knowledge retention than equivalent print materials — most pronounced for complex STEM content.</a:t>
              </a:r>
              <a:endParaRPr sz="1100">
                <a:solidFill>
                  <a:srgbClr val="374151"/>
                </a:solidFill>
                <a:latin typeface="Georgia"/>
                <a:ea typeface="Georgia"/>
                <a:cs typeface="Georgia"/>
                <a:sym typeface="Georgia"/>
              </a:endParaRPr>
            </a:p>
            <a:p>
              <a:pPr indent="0" lvl="0" marL="0" rtl="0" algn="l">
                <a:spcBef>
                  <a:spcPts val="1500"/>
                </a:spcBef>
                <a:spcAft>
                  <a:spcPts val="0"/>
                </a:spcAft>
                <a:buNone/>
              </a:pPr>
              <a:r>
                <a:rPr b="1" lang="en-US" sz="1000">
                  <a:solidFill>
                    <a:srgbClr val="E87722"/>
                  </a:solidFill>
                  <a:latin typeface="Georgia"/>
                  <a:ea typeface="Georgia"/>
                  <a:cs typeface="Georgia"/>
                  <a:sym typeface="Georgia"/>
                </a:rPr>
                <a:t>Mechanism</a:t>
              </a:r>
              <a:endParaRPr b="1" sz="1000">
                <a:solidFill>
                  <a:srgbClr val="E87722"/>
                </a:solidFill>
                <a:latin typeface="Georgia"/>
                <a:ea typeface="Georgia"/>
                <a:cs typeface="Georgia"/>
                <a:sym typeface="Georgia"/>
              </a:endParaRPr>
            </a:p>
            <a:p>
              <a:pPr indent="0" lvl="0" marL="0" rtl="0" algn="l">
                <a:spcBef>
                  <a:spcPts val="375"/>
                </a:spcBef>
                <a:spcAft>
                  <a:spcPts val="0"/>
                </a:spcAft>
                <a:buNone/>
              </a:pPr>
              <a:r>
                <a:rPr i="1" lang="en-US" sz="1000">
                  <a:solidFill>
                    <a:srgbClr val="6B7280"/>
                  </a:solidFill>
                  <a:latin typeface="Georgia"/>
                  <a:ea typeface="Georgia"/>
                  <a:cs typeface="Georgia"/>
                  <a:sym typeface="Georgia"/>
                </a:rPr>
                <a:t>Interactive control features trigger deeper cognitive processing and schema integration.</a:t>
              </a:r>
              <a:endParaRPr i="1" sz="1000">
                <a:solidFill>
                  <a:srgbClr val="6B7280"/>
                </a:solidFill>
                <a:latin typeface="Georgia"/>
                <a:ea typeface="Georgia"/>
                <a:cs typeface="Georgia"/>
                <a:sym typeface="Georgia"/>
              </a:endParaRPr>
            </a:p>
          </p:txBody>
        </p:sp>
      </p:grpSp>
      <p:grpSp>
        <p:nvGrpSpPr>
          <p:cNvPr id="163" name="Google Shape;163;p8"/>
          <p:cNvGrpSpPr/>
          <p:nvPr/>
        </p:nvGrpSpPr>
        <p:grpSpPr>
          <a:xfrm>
            <a:off x="6065520" y="1524000"/>
            <a:ext cx="2667000" cy="3048000"/>
            <a:chOff x="6065520" y="1524000"/>
            <a:chExt cx="2667000" cy="3048000"/>
          </a:xfrm>
        </p:grpSpPr>
        <p:sp>
          <p:nvSpPr>
            <p:cNvPr id="164" name="Google Shape;164;p8"/>
            <p:cNvSpPr/>
            <p:nvPr/>
          </p:nvSpPr>
          <p:spPr>
            <a:xfrm>
              <a:off x="6065520" y="1524000"/>
              <a:ext cx="2667000" cy="3048000"/>
            </a:xfrm>
            <a:prstGeom prst="roundRect">
              <a:avLst>
                <a:gd fmla="val 1428"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8"/>
            <p:cNvSpPr/>
            <p:nvPr/>
          </p:nvSpPr>
          <p:spPr>
            <a:xfrm>
              <a:off x="6065520" y="1524000"/>
              <a:ext cx="2667000" cy="38100"/>
            </a:xfrm>
            <a:prstGeom prst="roundRect">
              <a:avLst>
                <a:gd fmla="val 50000" name="adj"/>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8"/>
            <p:cNvSpPr txBox="1"/>
            <p:nvPr/>
          </p:nvSpPr>
          <p:spPr>
            <a:xfrm>
              <a:off x="6208395" y="1666875"/>
              <a:ext cx="2381400" cy="276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1B2A4A"/>
                  </a:solidFill>
                  <a:latin typeface="Georgia"/>
                  <a:ea typeface="Georgia"/>
                  <a:cs typeface="Georgia"/>
                  <a:sym typeface="Georgia"/>
                </a:rPr>
                <a:t>Freeman et al. (2014)</a:t>
              </a:r>
              <a:endParaRPr b="1" sz="1400">
                <a:solidFill>
                  <a:srgbClr val="1B2A4A"/>
                </a:solidFill>
                <a:latin typeface="Georgia"/>
                <a:ea typeface="Georgia"/>
                <a:cs typeface="Georgia"/>
                <a:sym typeface="Georgia"/>
              </a:endParaRPr>
            </a:p>
            <a:p>
              <a:pPr indent="0" lvl="0" marL="0" rtl="0" algn="l">
                <a:spcBef>
                  <a:spcPts val="750"/>
                </a:spcBef>
                <a:spcAft>
                  <a:spcPts val="0"/>
                </a:spcAft>
                <a:buNone/>
              </a:pPr>
              <a:r>
                <a:rPr b="1" lang="en-US" sz="900">
                  <a:solidFill>
                    <a:srgbClr val="6B7280"/>
                  </a:solidFill>
                  <a:latin typeface="Georgia"/>
                  <a:ea typeface="Georgia"/>
                  <a:cs typeface="Georgia"/>
                  <a:sym typeface="Georgia"/>
                </a:rPr>
                <a:t>META-ANALYSIS OF 225 STEM STUDIES</a:t>
              </a:r>
              <a:endParaRPr b="1" sz="900">
                <a:solidFill>
                  <a:srgbClr val="6B7280"/>
                </a:solidFill>
                <a:latin typeface="Georgia"/>
                <a:ea typeface="Georgia"/>
                <a:cs typeface="Georgia"/>
                <a:sym typeface="Georgia"/>
              </a:endParaRPr>
            </a:p>
            <a:p>
              <a:pPr indent="0" lvl="0" marL="0" rtl="0" algn="l">
                <a:spcBef>
                  <a:spcPts val="1125"/>
                </a:spcBef>
                <a:spcAft>
                  <a:spcPts val="0"/>
                </a:spcAft>
                <a:buNone/>
              </a:pPr>
              <a:r>
                <a:rPr lang="en-US" sz="1100">
                  <a:solidFill>
                    <a:srgbClr val="374151"/>
                  </a:solidFill>
                  <a:latin typeface="Georgia"/>
                  <a:ea typeface="Georgia"/>
                  <a:cs typeface="Georgia"/>
                  <a:sym typeface="Georgia"/>
                </a:rPr>
                <a:t>Active learning interventions raised final exam scores by 6% on average and halved the failure rate compared to traditional passive formats.</a:t>
              </a:r>
              <a:endParaRPr sz="1100">
                <a:solidFill>
                  <a:srgbClr val="374151"/>
                </a:solidFill>
                <a:latin typeface="Georgia"/>
                <a:ea typeface="Georgia"/>
                <a:cs typeface="Georgia"/>
                <a:sym typeface="Georgia"/>
              </a:endParaRPr>
            </a:p>
            <a:p>
              <a:pPr indent="0" lvl="0" marL="0" rtl="0" algn="l">
                <a:spcBef>
                  <a:spcPts val="1500"/>
                </a:spcBef>
                <a:spcAft>
                  <a:spcPts val="0"/>
                </a:spcAft>
                <a:buNone/>
              </a:pPr>
              <a:r>
                <a:rPr b="1" lang="en-US" sz="1000">
                  <a:solidFill>
                    <a:srgbClr val="E87722"/>
                  </a:solidFill>
                  <a:latin typeface="Georgia"/>
                  <a:ea typeface="Georgia"/>
                  <a:cs typeface="Georgia"/>
                  <a:sym typeface="Georgia"/>
                </a:rPr>
                <a:t>Mechanism</a:t>
              </a:r>
              <a:endParaRPr b="1" sz="1000">
                <a:solidFill>
                  <a:srgbClr val="E87722"/>
                </a:solidFill>
                <a:latin typeface="Georgia"/>
                <a:ea typeface="Georgia"/>
                <a:cs typeface="Georgia"/>
                <a:sym typeface="Georgia"/>
              </a:endParaRPr>
            </a:p>
            <a:p>
              <a:pPr indent="0" lvl="0" marL="0" rtl="0" algn="l">
                <a:spcBef>
                  <a:spcPts val="375"/>
                </a:spcBef>
                <a:spcAft>
                  <a:spcPts val="0"/>
                </a:spcAft>
                <a:buNone/>
              </a:pPr>
              <a:r>
                <a:rPr i="1" lang="en-US" sz="1000">
                  <a:solidFill>
                    <a:srgbClr val="6B7280"/>
                  </a:solidFill>
                  <a:latin typeface="Georgia"/>
                  <a:ea typeface="Georgia"/>
                  <a:cs typeface="Georgia"/>
                  <a:sym typeface="Georgia"/>
                </a:rPr>
                <a:t>Active learning forces germane cognitive load — the productive effort that builds lasting mental models.</a:t>
              </a:r>
              <a:endParaRPr i="1" sz="1000">
                <a:solidFill>
                  <a:srgbClr val="6B7280"/>
                </a:solidFill>
                <a:latin typeface="Georgia"/>
                <a:ea typeface="Georgia"/>
                <a:cs typeface="Georgia"/>
                <a:sym typeface="Georgia"/>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1" name="Shape 171"/>
        <p:cNvGrpSpPr/>
        <p:nvPr/>
      </p:nvGrpSpPr>
      <p:grpSpPr>
        <a:xfrm>
          <a:off x="0" y="0"/>
          <a:ext cx="0" cy="0"/>
          <a:chOff x="0" y="0"/>
          <a:chExt cx="0" cy="0"/>
        </a:xfrm>
      </p:grpSpPr>
      <p:sp>
        <p:nvSpPr>
          <p:cNvPr id="172" name="Google Shape;172;p9"/>
          <p:cNvSpPr/>
          <p:nvPr/>
        </p:nvSpPr>
        <p:spPr>
          <a:xfrm>
            <a:off x="548640" y="20116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E87722"/>
                </a:solidFill>
                <a:latin typeface="Georgia"/>
                <a:ea typeface="Georgia"/>
                <a:cs typeface="Georgia"/>
                <a:sym typeface="Georgia"/>
              </a:rPr>
              <a:t>02 · LITERATURE REVIEW</a:t>
            </a:r>
            <a:endParaRPr b="1" sz="1100">
              <a:solidFill>
                <a:srgbClr val="E87722"/>
              </a:solidFill>
              <a:latin typeface="Georgia"/>
              <a:ea typeface="Georgia"/>
              <a:cs typeface="Georgia"/>
              <a:sym typeface="Georgia"/>
            </a:endParaRPr>
          </a:p>
        </p:txBody>
      </p:sp>
      <p:sp>
        <p:nvSpPr>
          <p:cNvPr id="173" name="Google Shape;173;p9"/>
          <p:cNvSpPr/>
          <p:nvPr/>
        </p:nvSpPr>
        <p:spPr>
          <a:xfrm>
            <a:off x="381000" y="400050"/>
            <a:ext cx="57300" cy="381000"/>
          </a:xfrm>
          <a:prstGeom prst="rect">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9"/>
          <p:cNvSpPr/>
          <p:nvPr/>
        </p:nvSpPr>
        <p:spPr>
          <a:xfrm>
            <a:off x="548640" y="34290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720">
                <a:solidFill>
                  <a:srgbClr val="1B2A4A"/>
                </a:solidFill>
                <a:latin typeface="Georgia"/>
                <a:ea typeface="Georgia"/>
                <a:cs typeface="Georgia"/>
                <a:sym typeface="Georgia"/>
              </a:rPr>
              <a:t>H5P Framework &amp; The WordPress Problem</a:t>
            </a:r>
            <a:endParaRPr b="1" sz="2720">
              <a:solidFill>
                <a:srgbClr val="1B2A4A"/>
              </a:solidFill>
              <a:latin typeface="Georgia"/>
              <a:ea typeface="Georgia"/>
              <a:cs typeface="Georgia"/>
              <a:sym typeface="Georgia"/>
            </a:endParaRPr>
          </a:p>
        </p:txBody>
      </p:sp>
      <p:sp>
        <p:nvSpPr>
          <p:cNvPr id="175" name="Google Shape;175;p9"/>
          <p:cNvSpPr/>
          <p:nvPr/>
        </p:nvSpPr>
        <p:spPr>
          <a:xfrm>
            <a:off x="7772400" y="4846320"/>
            <a:ext cx="1097400" cy="18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rPr b="0" lang="en-US" sz="1000">
                <a:solidFill>
                  <a:srgbClr val="6B7280"/>
                </a:solidFill>
                <a:latin typeface="Georgia"/>
                <a:ea typeface="Georgia"/>
                <a:cs typeface="Georgia"/>
                <a:sym typeface="Georgia"/>
              </a:rPr>
              <a:t>7 / 21</a:t>
            </a:r>
            <a:endParaRPr b="0" sz="1000">
              <a:solidFill>
                <a:srgbClr val="6B7280"/>
              </a:solidFill>
              <a:latin typeface="Georgia"/>
              <a:ea typeface="Georgia"/>
              <a:cs typeface="Georgia"/>
              <a:sym typeface="Georgia"/>
            </a:endParaRPr>
          </a:p>
        </p:txBody>
      </p:sp>
      <p:sp>
        <p:nvSpPr>
          <p:cNvPr id="176" name="Google Shape;176;p9"/>
          <p:cNvSpPr/>
          <p:nvPr/>
        </p:nvSpPr>
        <p:spPr>
          <a:xfrm>
            <a:off x="411480" y="1000125"/>
            <a:ext cx="4065300" cy="3619500"/>
          </a:xfrm>
          <a:prstGeom prst="roundRect">
            <a:avLst>
              <a:gd fmla="val 1052" name="adj"/>
            </a:avLst>
          </a:prstGeom>
          <a:solidFill>
            <a:srgbClr val="FEF3E6"/>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9"/>
          <p:cNvSpPr/>
          <p:nvPr/>
        </p:nvSpPr>
        <p:spPr>
          <a:xfrm>
            <a:off x="601980" y="1190625"/>
            <a:ext cx="3684300" cy="29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E87722"/>
                </a:solidFill>
                <a:latin typeface="Georgia"/>
                <a:ea typeface="Georgia"/>
                <a:cs typeface="Georgia"/>
                <a:sym typeface="Georgia"/>
              </a:rPr>
              <a:t>WHAT IS H5P?</a:t>
            </a:r>
            <a:endParaRPr b="1" sz="1400">
              <a:solidFill>
                <a:srgbClr val="E87722"/>
              </a:solidFill>
              <a:latin typeface="Georgia"/>
              <a:ea typeface="Georgia"/>
              <a:cs typeface="Georgia"/>
              <a:sym typeface="Georgia"/>
            </a:endParaRPr>
          </a:p>
        </p:txBody>
      </p:sp>
      <p:sp>
        <p:nvSpPr>
          <p:cNvPr id="178" name="Google Shape;178;p9"/>
          <p:cNvSpPr/>
          <p:nvPr/>
        </p:nvSpPr>
        <p:spPr>
          <a:xfrm>
            <a:off x="601975" y="1571625"/>
            <a:ext cx="3684300" cy="890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1125"/>
              </a:spcAft>
              <a:buNone/>
            </a:pPr>
            <a:r>
              <a:rPr b="0" lang="en-US" sz="1100">
                <a:solidFill>
                  <a:srgbClr val="374151"/>
                </a:solidFill>
                <a:latin typeface="Georgia"/>
                <a:ea typeface="Georgia"/>
                <a:cs typeface="Georgia"/>
                <a:sym typeface="Georgia"/>
              </a:rPr>
              <a:t>H5P (HTML5 Package) is an open-source framework for creating rich interactive content. Each .h5p file is a self-contained ZIP archive containing JavaScript logic, CSS, media assets, and structured JSON configuration — fully portable across any LMS.</a:t>
            </a:r>
            <a:endParaRPr b="0" sz="1100">
              <a:solidFill>
                <a:srgbClr val="374151"/>
              </a:solidFill>
              <a:latin typeface="Georgia"/>
              <a:ea typeface="Georgia"/>
              <a:cs typeface="Georgia"/>
              <a:sym typeface="Georgia"/>
            </a:endParaRPr>
          </a:p>
        </p:txBody>
      </p:sp>
      <p:sp>
        <p:nvSpPr>
          <p:cNvPr id="179" name="Google Shape;179;p9"/>
          <p:cNvSpPr/>
          <p:nvPr/>
        </p:nvSpPr>
        <p:spPr>
          <a:xfrm>
            <a:off x="601980" y="3619500"/>
            <a:ext cx="36843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E87722"/>
                </a:solidFill>
                <a:latin typeface="Georgia"/>
                <a:ea typeface="Georgia"/>
                <a:cs typeface="Georgia"/>
                <a:sym typeface="Georgia"/>
              </a:rPr>
              <a:t>KEY INFORMATION:</a:t>
            </a:r>
            <a:endParaRPr b="1" sz="1000">
              <a:solidFill>
                <a:srgbClr val="E87722"/>
              </a:solidFill>
              <a:latin typeface="Georgia"/>
              <a:ea typeface="Georgia"/>
              <a:cs typeface="Georgia"/>
              <a:sym typeface="Georgia"/>
            </a:endParaRPr>
          </a:p>
          <a:p>
            <a:pPr indent="0" lvl="0" marL="0" rtl="0" algn="l">
              <a:spcBef>
                <a:spcPts val="375"/>
              </a:spcBef>
              <a:spcAft>
                <a:spcPts val="375"/>
              </a:spcAft>
              <a:buNone/>
            </a:pPr>
            <a:r>
              <a:rPr b="0" lang="en-US" sz="1000">
                <a:solidFill>
                  <a:srgbClr val="1B2A4A"/>
                </a:solidFill>
                <a:latin typeface="Georgia"/>
                <a:ea typeface="Georgia"/>
                <a:cs typeface="Georgia"/>
                <a:sym typeface="Georgia"/>
              </a:rPr>
              <a:t>• 50+ content types</a:t>
            </a:r>
            <a:br>
              <a:rPr b="1" lang="en-US" sz="1000">
                <a:solidFill>
                  <a:srgbClr val="E87722"/>
                </a:solidFill>
                <a:latin typeface="Georgia"/>
                <a:ea typeface="Georgia"/>
                <a:cs typeface="Georgia"/>
                <a:sym typeface="Georgia"/>
              </a:rPr>
            </a:br>
            <a:r>
              <a:rPr b="0" lang="en-US" sz="1000">
                <a:solidFill>
                  <a:srgbClr val="1B2A4A"/>
                </a:solidFill>
                <a:latin typeface="Georgia"/>
                <a:ea typeface="Georgia"/>
                <a:cs typeface="Georgia"/>
                <a:sym typeface="Georgia"/>
              </a:rPr>
              <a:t>• Compatible with Moodle, Canvas, Blackboard</a:t>
            </a:r>
            <a:br>
              <a:rPr b="1" lang="en-US" sz="1000">
                <a:solidFill>
                  <a:srgbClr val="E87722"/>
                </a:solidFill>
                <a:latin typeface="Georgia"/>
                <a:ea typeface="Georgia"/>
                <a:cs typeface="Georgia"/>
                <a:sym typeface="Georgia"/>
              </a:rPr>
            </a:br>
            <a:r>
              <a:rPr b="0" lang="en-US" sz="1000">
                <a:solidFill>
                  <a:srgbClr val="1B2A4A"/>
                </a:solidFill>
                <a:latin typeface="Georgia"/>
                <a:ea typeface="Georgia"/>
                <a:cs typeface="Georgia"/>
                <a:sym typeface="Georgia"/>
              </a:rPr>
              <a:t>• Fully open-source</a:t>
            </a:r>
            <a:endParaRPr b="1" sz="1000">
              <a:solidFill>
                <a:srgbClr val="E87722"/>
              </a:solidFill>
              <a:latin typeface="Georgia"/>
              <a:ea typeface="Georgia"/>
              <a:cs typeface="Georgia"/>
              <a:sym typeface="Georgia"/>
            </a:endParaRPr>
          </a:p>
        </p:txBody>
      </p:sp>
      <p:sp>
        <p:nvSpPr>
          <p:cNvPr id="180" name="Google Shape;180;p9"/>
          <p:cNvSpPr/>
          <p:nvPr/>
        </p:nvSpPr>
        <p:spPr>
          <a:xfrm>
            <a:off x="4667250" y="1000125"/>
            <a:ext cx="4065300" cy="3619500"/>
          </a:xfrm>
          <a:prstGeom prst="roundRect">
            <a:avLst>
              <a:gd fmla="val 1052"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 name="Google Shape;181;p9"/>
          <p:cNvSpPr/>
          <p:nvPr/>
        </p:nvSpPr>
        <p:spPr>
          <a:xfrm>
            <a:off x="4857750" y="1190625"/>
            <a:ext cx="3684300" cy="29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1B2A4A"/>
                </a:solidFill>
                <a:latin typeface="Georgia"/>
                <a:ea typeface="Georgia"/>
                <a:cs typeface="Georgia"/>
                <a:sym typeface="Georgia"/>
              </a:rPr>
              <a:t>H5P ISSUES ON WORDPRESS</a:t>
            </a:r>
            <a:endParaRPr b="1" sz="1400">
              <a:solidFill>
                <a:srgbClr val="1B2A4A"/>
              </a:solidFill>
              <a:latin typeface="Georgia"/>
              <a:ea typeface="Georgia"/>
              <a:cs typeface="Georgia"/>
              <a:sym typeface="Georgia"/>
            </a:endParaRPr>
          </a:p>
        </p:txBody>
      </p:sp>
      <p:sp>
        <p:nvSpPr>
          <p:cNvPr id="182" name="Google Shape;182;p9"/>
          <p:cNvSpPr txBox="1"/>
          <p:nvPr/>
        </p:nvSpPr>
        <p:spPr>
          <a:xfrm>
            <a:off x="4857750" y="1571625"/>
            <a:ext cx="3684300" cy="2857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E87722"/>
                </a:solidFill>
                <a:latin typeface="Georgia"/>
                <a:ea typeface="Georgia"/>
                <a:cs typeface="Georgia"/>
                <a:sym typeface="Georgia"/>
              </a:rPr>
              <a:t xml:space="preserve">47 interactions: </a:t>
            </a:r>
            <a:r>
              <a:rPr b="0" lang="en-US" sz="1100">
                <a:solidFill>
                  <a:srgbClr val="6B7280"/>
                </a:solidFill>
                <a:latin typeface="Georgia"/>
                <a:ea typeface="Georgia"/>
                <a:cs typeface="Georgia"/>
                <a:sym typeface="Georgia"/>
              </a:rPr>
              <a:t>Spread across 6 screens just to create a 3-question interactive video.</a:t>
            </a:r>
            <a:endParaRPr b="1" sz="1100">
              <a:solidFill>
                <a:srgbClr val="E87722"/>
              </a:solidFill>
              <a:latin typeface="Georgia"/>
              <a:ea typeface="Georgia"/>
              <a:cs typeface="Georgia"/>
              <a:sym typeface="Georgia"/>
            </a:endParaRPr>
          </a:p>
          <a:p>
            <a:pPr indent="0" lvl="0" marL="0" rtl="0" algn="l">
              <a:spcBef>
                <a:spcPts val="750"/>
              </a:spcBef>
              <a:spcAft>
                <a:spcPts val="0"/>
              </a:spcAft>
              <a:buNone/>
            </a:pPr>
            <a:r>
              <a:rPr b="1" lang="en-US" sz="1100">
                <a:solidFill>
                  <a:srgbClr val="E87722"/>
                </a:solidFill>
                <a:latin typeface="Georgia"/>
                <a:ea typeface="Georgia"/>
                <a:cs typeface="Georgia"/>
                <a:sym typeface="Georgia"/>
              </a:rPr>
              <a:t xml:space="preserve">Slow page load (3.2s): </a:t>
            </a:r>
            <a:r>
              <a:rPr b="0" lang="en-US" sz="1100">
                <a:solidFill>
                  <a:srgbClr val="6B7280"/>
                </a:solidFill>
                <a:latin typeface="Georgia"/>
                <a:ea typeface="Georgia"/>
                <a:cs typeface="Georgia"/>
                <a:sym typeface="Georgia"/>
              </a:rPr>
              <a:t>From the PHP/MySQL stack — breaking creative flow during authoring.</a:t>
            </a:r>
            <a:endParaRPr b="1" sz="1100">
              <a:solidFill>
                <a:srgbClr val="E87722"/>
              </a:solidFill>
              <a:latin typeface="Georgia"/>
              <a:ea typeface="Georgia"/>
              <a:cs typeface="Georgia"/>
              <a:sym typeface="Georgia"/>
            </a:endParaRPr>
          </a:p>
          <a:p>
            <a:pPr indent="0" lvl="0" marL="0" rtl="0" algn="l">
              <a:spcBef>
                <a:spcPts val="750"/>
              </a:spcBef>
              <a:spcAft>
                <a:spcPts val="0"/>
              </a:spcAft>
              <a:buNone/>
            </a:pPr>
            <a:r>
              <a:rPr b="1" lang="en-US" sz="1100">
                <a:solidFill>
                  <a:srgbClr val="E87722"/>
                </a:solidFill>
                <a:latin typeface="Georgia"/>
                <a:ea typeface="Georgia"/>
                <a:cs typeface="Georgia"/>
                <a:sym typeface="Georgia"/>
              </a:rPr>
              <a:t xml:space="preserve">CMS cognitive load: </a:t>
            </a:r>
            <a:r>
              <a:rPr b="0" lang="en-US" sz="1100">
                <a:solidFill>
                  <a:srgbClr val="6B7280"/>
                </a:solidFill>
                <a:latin typeface="Georgia"/>
                <a:ea typeface="Georgia"/>
                <a:cs typeface="Georgia"/>
                <a:sym typeface="Georgia"/>
              </a:rPr>
              <a:t>Instructors must master WordPress concepts unrelated to pedagogy.</a:t>
            </a:r>
            <a:endParaRPr b="1" sz="1100">
              <a:solidFill>
                <a:srgbClr val="E87722"/>
              </a:solidFill>
              <a:latin typeface="Georgia"/>
              <a:ea typeface="Georgia"/>
              <a:cs typeface="Georgia"/>
              <a:sym typeface="Georgia"/>
            </a:endParaRPr>
          </a:p>
          <a:p>
            <a:pPr indent="0" lvl="0" marL="0" rtl="0" algn="l">
              <a:spcBef>
                <a:spcPts val="750"/>
              </a:spcBef>
              <a:spcAft>
                <a:spcPts val="0"/>
              </a:spcAft>
              <a:buNone/>
            </a:pPr>
            <a:r>
              <a:rPr b="1" lang="en-US" sz="1100">
                <a:solidFill>
                  <a:srgbClr val="E87722"/>
                </a:solidFill>
                <a:latin typeface="Georgia"/>
                <a:ea typeface="Georgia"/>
                <a:cs typeface="Georgia"/>
                <a:sym typeface="Georgia"/>
              </a:rPr>
              <a:t xml:space="preserve">Silent JS errors: </a:t>
            </a:r>
            <a:r>
              <a:rPr b="0" lang="en-US" sz="1100">
                <a:solidFill>
                  <a:srgbClr val="6B7280"/>
                </a:solidFill>
                <a:latin typeface="Georgia"/>
                <a:ea typeface="Georgia"/>
                <a:cs typeface="Georgia"/>
                <a:sym typeface="Georgia"/>
              </a:rPr>
              <a:t>Due to version mismatches between H5P, WordPress, and PHP — no clear error reporting.</a:t>
            </a:r>
            <a:endParaRPr b="1" sz="1100">
              <a:solidFill>
                <a:srgbClr val="E87722"/>
              </a:solidFill>
              <a:latin typeface="Georgia"/>
              <a:ea typeface="Georgia"/>
              <a:cs typeface="Georgia"/>
              <a:sym typeface="Georgia"/>
            </a:endParaRPr>
          </a:p>
          <a:p>
            <a:pPr indent="0" lvl="0" marL="0" rtl="0" algn="l">
              <a:spcBef>
                <a:spcPts val="750"/>
              </a:spcBef>
              <a:spcAft>
                <a:spcPts val="750"/>
              </a:spcAft>
              <a:buNone/>
            </a:pPr>
            <a:r>
              <a:rPr b="1" lang="en-US" sz="1100">
                <a:solidFill>
                  <a:srgbClr val="E87722"/>
                </a:solidFill>
                <a:latin typeface="Georgia"/>
                <a:ea typeface="Georgia"/>
                <a:cs typeface="Georgia"/>
                <a:sym typeface="Georgia"/>
              </a:rPr>
              <a:t xml:space="preserve">No AI capabilities: </a:t>
            </a:r>
            <a:r>
              <a:rPr b="0" lang="en-US" sz="1100">
                <a:solidFill>
                  <a:srgbClr val="6B7280"/>
                </a:solidFill>
                <a:latin typeface="Georgia"/>
                <a:ea typeface="Georgia"/>
                <a:cs typeface="Georgia"/>
                <a:sym typeface="Georgia"/>
              </a:rPr>
              <a:t>Every question and timestamp must be entered manually by hand.</a:t>
            </a:r>
            <a:endParaRPr b="1" sz="1100">
              <a:solidFill>
                <a:srgbClr val="E87722"/>
              </a:solidFill>
              <a:latin typeface="Georgia"/>
              <a:ea typeface="Georgia"/>
              <a:cs typeface="Georgia"/>
              <a:sym typeface="Georgia"/>
            </a:endParaRPr>
          </a:p>
        </p:txBody>
      </p:sp>
      <p:pic>
        <p:nvPicPr>
          <p:cNvPr id="183" name="Google Shape;183;p9"/>
          <p:cNvPicPr preferRelativeResize="0"/>
          <p:nvPr/>
        </p:nvPicPr>
        <p:blipFill>
          <a:blip r:embed="rId4">
            <a:alphaModFix/>
          </a:blip>
          <a:stretch>
            <a:fillRect/>
          </a:stretch>
        </p:blipFill>
        <p:spPr>
          <a:xfrm>
            <a:off x="1246163" y="2461825"/>
            <a:ext cx="2395925" cy="1157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8" name="Shape 188"/>
        <p:cNvGrpSpPr/>
        <p:nvPr/>
      </p:nvGrpSpPr>
      <p:grpSpPr>
        <a:xfrm>
          <a:off x="0" y="0"/>
          <a:ext cx="0" cy="0"/>
          <a:chOff x="0" y="0"/>
          <a:chExt cx="0" cy="0"/>
        </a:xfrm>
      </p:grpSpPr>
      <p:sp>
        <p:nvSpPr>
          <p:cNvPr id="189" name="Google Shape;189;p10"/>
          <p:cNvSpPr/>
          <p:nvPr/>
        </p:nvSpPr>
        <p:spPr>
          <a:xfrm>
            <a:off x="495265" y="529206"/>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900">
                <a:solidFill>
                  <a:srgbClr val="E87722"/>
                </a:solidFill>
                <a:latin typeface="Inter"/>
                <a:ea typeface="Inter"/>
                <a:cs typeface="Inter"/>
                <a:sym typeface="Inter"/>
              </a:rPr>
              <a:t>03 · METHODOLOGY &amp; DESIGN</a:t>
            </a:r>
            <a:endParaRPr b="1" i="0" sz="900">
              <a:solidFill>
                <a:srgbClr val="E87722"/>
              </a:solidFill>
              <a:latin typeface="Inter"/>
              <a:ea typeface="Inter"/>
              <a:cs typeface="Inter"/>
              <a:sym typeface="Inter"/>
            </a:endParaRPr>
          </a:p>
        </p:txBody>
      </p:sp>
      <p:sp>
        <p:nvSpPr>
          <p:cNvPr id="190" name="Google Shape;190;p10"/>
          <p:cNvSpPr/>
          <p:nvPr/>
        </p:nvSpPr>
        <p:spPr>
          <a:xfrm>
            <a:off x="330673" y="602358"/>
            <a:ext cx="63900" cy="502800"/>
          </a:xfrm>
          <a:prstGeom prst="rect">
            <a:avLst/>
          </a:prstGeom>
          <a:solidFill>
            <a:srgbClr val="E87722"/>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0"/>
          <p:cNvSpPr/>
          <p:nvPr/>
        </p:nvSpPr>
        <p:spPr>
          <a:xfrm>
            <a:off x="495265" y="602358"/>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2800">
                <a:solidFill>
                  <a:srgbClr val="1B2A4A"/>
                </a:solidFill>
                <a:latin typeface="Georgia"/>
                <a:ea typeface="Georgia"/>
                <a:cs typeface="Georgia"/>
                <a:sym typeface="Georgia"/>
              </a:rPr>
              <a:t>System Architecture — Three-Tier Design</a:t>
            </a:r>
            <a:endParaRPr b="1" i="0" sz="2800">
              <a:solidFill>
                <a:srgbClr val="1B2A4A"/>
              </a:solidFill>
              <a:latin typeface="Georgia"/>
              <a:ea typeface="Georgia"/>
              <a:cs typeface="Georgia"/>
              <a:sym typeface="Georgia"/>
            </a:endParaRPr>
          </a:p>
        </p:txBody>
      </p:sp>
      <p:sp>
        <p:nvSpPr>
          <p:cNvPr id="192" name="Google Shape;192;p10"/>
          <p:cNvSpPr/>
          <p:nvPr/>
        </p:nvSpPr>
        <p:spPr>
          <a:xfrm>
            <a:off x="7772400" y="4846320"/>
            <a:ext cx="1097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800"/>
              <a:buFont typeface="Calibri"/>
              <a:buNone/>
            </a:pPr>
            <a:r>
              <a:rPr b="0" i="0" lang="en-US" sz="800" u="none" cap="none" strike="noStrike">
                <a:solidFill>
                  <a:srgbClr val="6B7280"/>
                </a:solidFill>
                <a:latin typeface="Calibri"/>
                <a:ea typeface="Calibri"/>
                <a:cs typeface="Calibri"/>
                <a:sym typeface="Calibri"/>
              </a:rPr>
              <a:t>9 / 21</a:t>
            </a:r>
            <a:endParaRPr b="0" i="0" sz="800" u="none" cap="none" strike="noStrike">
              <a:solidFill>
                <a:schemeClr val="dk1"/>
              </a:solidFill>
              <a:latin typeface="Calibri"/>
              <a:ea typeface="Calibri"/>
              <a:cs typeface="Calibri"/>
              <a:sym typeface="Calibri"/>
            </a:endParaRPr>
          </a:p>
        </p:txBody>
      </p:sp>
      <p:grpSp>
        <p:nvGrpSpPr>
          <p:cNvPr id="193" name="Google Shape;193;p10"/>
          <p:cNvGrpSpPr/>
          <p:nvPr/>
        </p:nvGrpSpPr>
        <p:grpSpPr>
          <a:xfrm>
            <a:off x="327625" y="1375788"/>
            <a:ext cx="4572000" cy="3238500"/>
            <a:chOff x="381000" y="1047750"/>
            <a:chExt cx="4572000" cy="3238500"/>
          </a:xfrm>
        </p:grpSpPr>
        <p:pic>
          <p:nvPicPr>
            <p:cNvPr id="194" name="Google Shape;194;p10"/>
            <p:cNvPicPr preferRelativeResize="0"/>
            <p:nvPr/>
          </p:nvPicPr>
          <p:blipFill rotWithShape="1">
            <a:blip r:embed="rId4">
              <a:alphaModFix/>
            </a:blip>
            <a:srcRect b="3376" l="0" r="0" t="3367"/>
            <a:stretch/>
          </p:blipFill>
          <p:spPr>
            <a:xfrm>
              <a:off x="381000" y="1047750"/>
              <a:ext cx="4572000" cy="3238500"/>
            </a:xfrm>
            <a:prstGeom prst="roundRect">
              <a:avLst>
                <a:gd fmla="val 3529" name="adj"/>
              </a:avLst>
            </a:prstGeom>
            <a:noFill/>
            <a:ln>
              <a:noFill/>
            </a:ln>
          </p:spPr>
        </p:pic>
        <p:sp>
          <p:nvSpPr>
            <p:cNvPr id="195" name="Google Shape;195;p10"/>
            <p:cNvSpPr/>
            <p:nvPr/>
          </p:nvSpPr>
          <p:spPr>
            <a:xfrm>
              <a:off x="381000" y="1047750"/>
              <a:ext cx="4572000" cy="3238500"/>
            </a:xfrm>
            <a:prstGeom prst="roundRect">
              <a:avLst>
                <a:gd fmla="val 3529" name="adj"/>
              </a:avLst>
            </a:prstGeom>
            <a:solidFill>
              <a:srgbClr val="000000">
                <a:alpha val="0"/>
              </a:srgbClr>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96" name="Google Shape;196;p10"/>
          <p:cNvGrpSpPr/>
          <p:nvPr/>
        </p:nvGrpSpPr>
        <p:grpSpPr>
          <a:xfrm>
            <a:off x="5090125" y="1375788"/>
            <a:ext cx="3619500" cy="3238500"/>
            <a:chOff x="5143500" y="1047750"/>
            <a:chExt cx="3619500" cy="3238500"/>
          </a:xfrm>
        </p:grpSpPr>
        <p:sp>
          <p:nvSpPr>
            <p:cNvPr id="197" name="Google Shape;197;p10"/>
            <p:cNvSpPr/>
            <p:nvPr/>
          </p:nvSpPr>
          <p:spPr>
            <a:xfrm>
              <a:off x="5143500" y="1047750"/>
              <a:ext cx="3619500" cy="3238500"/>
            </a:xfrm>
            <a:prstGeom prst="roundRect">
              <a:avLst>
                <a:gd fmla="val 3529"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10"/>
            <p:cNvSpPr txBox="1"/>
            <p:nvPr/>
          </p:nvSpPr>
          <p:spPr>
            <a:xfrm>
              <a:off x="5334000" y="1190625"/>
              <a:ext cx="32385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400">
                  <a:solidFill>
                    <a:srgbClr val="1B2A4A"/>
                  </a:solidFill>
                  <a:latin typeface="Inter"/>
                  <a:ea typeface="Inter"/>
                  <a:cs typeface="Inter"/>
                  <a:sym typeface="Inter"/>
                </a:rPr>
                <a:t>Technology Stack</a:t>
              </a:r>
              <a:endParaRPr b="1" i="0" sz="1400">
                <a:solidFill>
                  <a:srgbClr val="1B2A4A"/>
                </a:solidFill>
                <a:latin typeface="Inter"/>
                <a:ea typeface="Inter"/>
                <a:cs typeface="Inter"/>
                <a:sym typeface="Inter"/>
              </a:endParaRPr>
            </a:p>
          </p:txBody>
        </p:sp>
        <p:grpSp>
          <p:nvGrpSpPr>
            <p:cNvPr id="199" name="Google Shape;199;p10"/>
            <p:cNvGrpSpPr/>
            <p:nvPr/>
          </p:nvGrpSpPr>
          <p:grpSpPr>
            <a:xfrm>
              <a:off x="5334000" y="1571625"/>
              <a:ext cx="3238575" cy="714300"/>
              <a:chOff x="5334000" y="1571625"/>
              <a:chExt cx="3238575" cy="714300"/>
            </a:xfrm>
          </p:grpSpPr>
          <p:sp>
            <p:nvSpPr>
              <p:cNvPr id="200" name="Google Shape;200;p10"/>
              <p:cNvSpPr/>
              <p:nvPr/>
            </p:nvSpPr>
            <p:spPr>
              <a:xfrm>
                <a:off x="5334000" y="1571625"/>
                <a:ext cx="38100" cy="714300"/>
              </a:xfrm>
              <a:prstGeom prst="roundRect">
                <a:avLst>
                  <a:gd fmla="val 50000" name="adj"/>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10"/>
              <p:cNvSpPr txBox="1"/>
              <p:nvPr/>
            </p:nvSpPr>
            <p:spPr>
              <a:xfrm>
                <a:off x="5476875" y="1571625"/>
                <a:ext cx="3095700" cy="714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E87722"/>
                    </a:solidFill>
                    <a:latin typeface="Inter"/>
                    <a:ea typeface="Inter"/>
                    <a:cs typeface="Inter"/>
                    <a:sym typeface="Inter"/>
                  </a:rPr>
                  <a:t xml:space="preserve">Tier 1 — Presentation </a:t>
                </a:r>
                <a:r>
                  <a:rPr b="1" i="0" lang="en-US" sz="1100">
                    <a:solidFill>
                      <a:srgbClr val="1B2A4A"/>
                    </a:solidFill>
                    <a:latin typeface="Inter"/>
                    <a:ea typeface="Inter"/>
                    <a:cs typeface="Inter"/>
                    <a:sym typeface="Inter"/>
                  </a:rPr>
                  <a:t>:3002</a:t>
                </a:r>
                <a:endParaRPr b="1" i="0" sz="1100">
                  <a:solidFill>
                    <a:srgbClr val="E87722"/>
                  </a:solidFill>
                  <a:latin typeface="Inter"/>
                  <a:ea typeface="Inter"/>
                  <a:cs typeface="Inter"/>
                  <a:sym typeface="Inter"/>
                </a:endParaRPr>
              </a:p>
              <a:p>
                <a:pPr indent="0" lvl="0" marL="0" rtl="0" algn="l">
                  <a:spcBef>
                    <a:spcPts val="300"/>
                  </a:spcBef>
                  <a:spcAft>
                    <a:spcPts val="0"/>
                  </a:spcAft>
                  <a:buNone/>
                </a:pPr>
                <a:r>
                  <a:rPr b="0" i="0" lang="en-US" sz="1000">
                    <a:solidFill>
                      <a:srgbClr val="374151"/>
                    </a:solidFill>
                    <a:latin typeface="Inter"/>
                    <a:ea typeface="Inter"/>
                    <a:cs typeface="Inter"/>
                    <a:sym typeface="Inter"/>
                  </a:rPr>
                  <a:t>React 18 + TypeScript + Vite</a:t>
                </a:r>
                <a:endParaRPr b="0" i="0" sz="1000">
                  <a:solidFill>
                    <a:srgbClr val="374151"/>
                  </a:solidFill>
                  <a:latin typeface="Inter"/>
                  <a:ea typeface="Inter"/>
                  <a:cs typeface="Inter"/>
                  <a:sym typeface="Inter"/>
                </a:endParaRPr>
              </a:p>
              <a:p>
                <a:pPr indent="0" lvl="0" marL="0" rtl="0" algn="l">
                  <a:spcBef>
                    <a:spcPts val="150"/>
                  </a:spcBef>
                  <a:spcAft>
                    <a:spcPts val="0"/>
                  </a:spcAft>
                  <a:buNone/>
                </a:pPr>
                <a:r>
                  <a:rPr b="0" i="0" lang="en-US" sz="1000">
                    <a:solidFill>
                      <a:srgbClr val="6B7280"/>
                    </a:solidFill>
                    <a:latin typeface="Inter"/>
                    <a:ea typeface="Inter"/>
                    <a:cs typeface="Inter"/>
                    <a:sym typeface="Inter"/>
                  </a:rPr>
                  <a:t>Tailwind CSS · Radix UI · Zustand</a:t>
                </a:r>
                <a:endParaRPr b="0" i="0" sz="1000">
                  <a:solidFill>
                    <a:srgbClr val="6B7280"/>
                  </a:solidFill>
                  <a:latin typeface="Inter"/>
                  <a:ea typeface="Inter"/>
                  <a:cs typeface="Inter"/>
                  <a:sym typeface="Inter"/>
                </a:endParaRPr>
              </a:p>
            </p:txBody>
          </p:sp>
        </p:grpSp>
        <p:grpSp>
          <p:nvGrpSpPr>
            <p:cNvPr id="202" name="Google Shape;202;p10"/>
            <p:cNvGrpSpPr/>
            <p:nvPr/>
          </p:nvGrpSpPr>
          <p:grpSpPr>
            <a:xfrm>
              <a:off x="5334000" y="2428875"/>
              <a:ext cx="3238575" cy="714300"/>
              <a:chOff x="5334000" y="2428875"/>
              <a:chExt cx="3238575" cy="714300"/>
            </a:xfrm>
          </p:grpSpPr>
          <p:sp>
            <p:nvSpPr>
              <p:cNvPr id="203" name="Google Shape;203;p10"/>
              <p:cNvSpPr/>
              <p:nvPr/>
            </p:nvSpPr>
            <p:spPr>
              <a:xfrm>
                <a:off x="5334000" y="2428875"/>
                <a:ext cx="38100" cy="714300"/>
              </a:xfrm>
              <a:prstGeom prst="roundRect">
                <a:avLst>
                  <a:gd fmla="val 50000" name="adj"/>
                </a:avLst>
              </a:prstGeom>
              <a:solidFill>
                <a:srgbClr val="1B2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10"/>
              <p:cNvSpPr txBox="1"/>
              <p:nvPr/>
            </p:nvSpPr>
            <p:spPr>
              <a:xfrm>
                <a:off x="5476875" y="2428875"/>
                <a:ext cx="3095700" cy="714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E87722"/>
                    </a:solidFill>
                    <a:latin typeface="Inter"/>
                    <a:ea typeface="Inter"/>
                    <a:cs typeface="Inter"/>
                    <a:sym typeface="Inter"/>
                  </a:rPr>
                  <a:t xml:space="preserve">Tier 2 — Application </a:t>
                </a:r>
                <a:r>
                  <a:rPr b="1" i="0" lang="en-US" sz="1100">
                    <a:solidFill>
                      <a:srgbClr val="1B2A4A"/>
                    </a:solidFill>
                    <a:latin typeface="Inter"/>
                    <a:ea typeface="Inter"/>
                    <a:cs typeface="Inter"/>
                    <a:sym typeface="Inter"/>
                  </a:rPr>
                  <a:t>:5001</a:t>
                </a:r>
                <a:endParaRPr b="1" i="0" sz="1100">
                  <a:solidFill>
                    <a:srgbClr val="E87722"/>
                  </a:solidFill>
                  <a:latin typeface="Inter"/>
                  <a:ea typeface="Inter"/>
                  <a:cs typeface="Inter"/>
                  <a:sym typeface="Inter"/>
                </a:endParaRPr>
              </a:p>
              <a:p>
                <a:pPr indent="0" lvl="0" marL="0" rtl="0" algn="l">
                  <a:spcBef>
                    <a:spcPts val="300"/>
                  </a:spcBef>
                  <a:spcAft>
                    <a:spcPts val="0"/>
                  </a:spcAft>
                  <a:buNone/>
                </a:pPr>
                <a:r>
                  <a:rPr b="0" i="0" lang="en-US" sz="1000">
                    <a:solidFill>
                      <a:srgbClr val="374151"/>
                    </a:solidFill>
                    <a:latin typeface="Inter"/>
                    <a:ea typeface="Inter"/>
                    <a:cs typeface="Inter"/>
                    <a:sym typeface="Inter"/>
                  </a:rPr>
                  <a:t>Node.js 18 + Express.js REST API</a:t>
                </a:r>
                <a:endParaRPr b="0" i="0" sz="1000">
                  <a:solidFill>
                    <a:srgbClr val="374151"/>
                  </a:solidFill>
                  <a:latin typeface="Inter"/>
                  <a:ea typeface="Inter"/>
                  <a:cs typeface="Inter"/>
                  <a:sym typeface="Inter"/>
                </a:endParaRPr>
              </a:p>
              <a:p>
                <a:pPr indent="0" lvl="0" marL="0" rtl="0" algn="l">
                  <a:spcBef>
                    <a:spcPts val="150"/>
                  </a:spcBef>
                  <a:spcAft>
                    <a:spcPts val="0"/>
                  </a:spcAft>
                  <a:buNone/>
                </a:pPr>
                <a:r>
                  <a:rPr b="0" i="0" lang="en-US" sz="1000">
                    <a:solidFill>
                      <a:srgbClr val="6B7280"/>
                    </a:solidFill>
                    <a:latin typeface="Inter"/>
                    <a:ea typeface="Inter"/>
                    <a:cs typeface="Inter"/>
                    <a:sym typeface="Inter"/>
                  </a:rPr>
                  <a:t>Sequelize ORM · Zod validation · Helmet.js</a:t>
                </a:r>
                <a:endParaRPr b="0" i="0" sz="1000">
                  <a:solidFill>
                    <a:srgbClr val="6B7280"/>
                  </a:solidFill>
                  <a:latin typeface="Inter"/>
                  <a:ea typeface="Inter"/>
                  <a:cs typeface="Inter"/>
                  <a:sym typeface="Inter"/>
                </a:endParaRPr>
              </a:p>
            </p:txBody>
          </p:sp>
        </p:grpSp>
        <p:grpSp>
          <p:nvGrpSpPr>
            <p:cNvPr id="205" name="Google Shape;205;p10"/>
            <p:cNvGrpSpPr/>
            <p:nvPr/>
          </p:nvGrpSpPr>
          <p:grpSpPr>
            <a:xfrm>
              <a:off x="5334000" y="3286125"/>
              <a:ext cx="3238575" cy="714300"/>
              <a:chOff x="5334000" y="3286125"/>
              <a:chExt cx="3238575" cy="714300"/>
            </a:xfrm>
          </p:grpSpPr>
          <p:sp>
            <p:nvSpPr>
              <p:cNvPr id="206" name="Google Shape;206;p10"/>
              <p:cNvSpPr/>
              <p:nvPr/>
            </p:nvSpPr>
            <p:spPr>
              <a:xfrm>
                <a:off x="5334000" y="3286125"/>
                <a:ext cx="38100" cy="714300"/>
              </a:xfrm>
              <a:prstGeom prst="roundRect">
                <a:avLst>
                  <a:gd fmla="val 50000" name="adj"/>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 name="Google Shape;207;p10"/>
              <p:cNvSpPr txBox="1"/>
              <p:nvPr/>
            </p:nvSpPr>
            <p:spPr>
              <a:xfrm>
                <a:off x="5476875" y="3286125"/>
                <a:ext cx="3095700" cy="714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E87722"/>
                    </a:solidFill>
                    <a:latin typeface="Inter"/>
                    <a:ea typeface="Inter"/>
                    <a:cs typeface="Inter"/>
                    <a:sym typeface="Inter"/>
                  </a:rPr>
                  <a:t xml:space="preserve">Tier 3 — Data </a:t>
                </a:r>
                <a:r>
                  <a:rPr b="1" i="0" lang="en-US" sz="1100">
                    <a:solidFill>
                      <a:srgbClr val="1B2A4A"/>
                    </a:solidFill>
                    <a:latin typeface="Inter"/>
                    <a:ea typeface="Inter"/>
                    <a:cs typeface="Inter"/>
                    <a:sym typeface="Inter"/>
                  </a:rPr>
                  <a:t>—</a:t>
                </a:r>
                <a:endParaRPr b="1" i="0" sz="1100">
                  <a:solidFill>
                    <a:srgbClr val="E87722"/>
                  </a:solidFill>
                  <a:latin typeface="Inter"/>
                  <a:ea typeface="Inter"/>
                  <a:cs typeface="Inter"/>
                  <a:sym typeface="Inter"/>
                </a:endParaRPr>
              </a:p>
              <a:p>
                <a:pPr indent="0" lvl="0" marL="0" rtl="0" algn="l">
                  <a:spcBef>
                    <a:spcPts val="300"/>
                  </a:spcBef>
                  <a:spcAft>
                    <a:spcPts val="0"/>
                  </a:spcAft>
                  <a:buNone/>
                </a:pPr>
                <a:r>
                  <a:rPr b="0" i="0" lang="en-US" sz="1000">
                    <a:solidFill>
                      <a:srgbClr val="374151"/>
                    </a:solidFill>
                    <a:latin typeface="Inter"/>
                    <a:ea typeface="Inter"/>
                    <a:cs typeface="Inter"/>
                    <a:sym typeface="Inter"/>
                  </a:rPr>
                  <a:t>SQLite (h5p.db) + File Storage</a:t>
                </a:r>
                <a:endParaRPr b="0" i="0" sz="1000">
                  <a:solidFill>
                    <a:srgbClr val="374151"/>
                  </a:solidFill>
                  <a:latin typeface="Inter"/>
                  <a:ea typeface="Inter"/>
                  <a:cs typeface="Inter"/>
                  <a:sym typeface="Inter"/>
                </a:endParaRPr>
              </a:p>
              <a:p>
                <a:pPr indent="0" lvl="0" marL="0" rtl="0" algn="l">
                  <a:spcBef>
                    <a:spcPts val="150"/>
                  </a:spcBef>
                  <a:spcAft>
                    <a:spcPts val="0"/>
                  </a:spcAft>
                  <a:buNone/>
                </a:pPr>
                <a:r>
                  <a:rPr b="0" i="0" lang="en-US" sz="1000">
                    <a:solidFill>
                      <a:srgbClr val="6B7280"/>
                    </a:solidFill>
                    <a:latin typeface="Inter"/>
                    <a:ea typeface="Inter"/>
                    <a:cs typeface="Inter"/>
                    <a:sym typeface="Inter"/>
                  </a:rPr>
                  <a:t>H5P Library · H5P Content Packages</a:t>
                </a:r>
                <a:endParaRPr b="0" i="0" sz="1000">
                  <a:solidFill>
                    <a:srgbClr val="6B7280"/>
                  </a:solidFill>
                  <a:latin typeface="Inter"/>
                  <a:ea typeface="Inter"/>
                  <a:cs typeface="Inter"/>
                  <a:sym typeface="Inter"/>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2" name="Shape 212"/>
        <p:cNvGrpSpPr/>
        <p:nvPr/>
      </p:nvGrpSpPr>
      <p:grpSpPr>
        <a:xfrm>
          <a:off x="0" y="0"/>
          <a:ext cx="0" cy="0"/>
          <a:chOff x="0" y="0"/>
          <a:chExt cx="0" cy="0"/>
        </a:xfrm>
      </p:grpSpPr>
      <p:sp>
        <p:nvSpPr>
          <p:cNvPr id="213" name="Google Shape;213;p11"/>
          <p:cNvSpPr/>
          <p:nvPr/>
        </p:nvSpPr>
        <p:spPr>
          <a:xfrm>
            <a:off x="548690" y="34931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E87722"/>
                </a:solidFill>
                <a:latin typeface="Inter"/>
                <a:ea typeface="Inter"/>
                <a:cs typeface="Inter"/>
                <a:sym typeface="Inter"/>
              </a:rPr>
              <a:t>03 · METHODOLOGY &amp; DESIGN</a:t>
            </a:r>
            <a:endParaRPr b="1" sz="900">
              <a:solidFill>
                <a:srgbClr val="E87722"/>
              </a:solidFill>
              <a:latin typeface="Inter"/>
              <a:ea typeface="Inter"/>
              <a:cs typeface="Inter"/>
              <a:sym typeface="Inter"/>
            </a:endParaRPr>
          </a:p>
        </p:txBody>
      </p:sp>
      <p:sp>
        <p:nvSpPr>
          <p:cNvPr id="214" name="Google Shape;214;p11"/>
          <p:cNvSpPr/>
          <p:nvPr/>
        </p:nvSpPr>
        <p:spPr>
          <a:xfrm>
            <a:off x="384098" y="422470"/>
            <a:ext cx="63900" cy="502800"/>
          </a:xfrm>
          <a:prstGeom prst="rect">
            <a:avLst/>
          </a:prstGeom>
          <a:solidFill>
            <a:srgbClr val="E87722"/>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1"/>
          <p:cNvSpPr/>
          <p:nvPr/>
        </p:nvSpPr>
        <p:spPr>
          <a:xfrm>
            <a:off x="548690" y="42247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1B2A4A"/>
                </a:solidFill>
                <a:latin typeface="Georgia"/>
                <a:ea typeface="Georgia"/>
                <a:cs typeface="Georgia"/>
                <a:sym typeface="Georgia"/>
              </a:rPr>
              <a:t>Use Case — Platform Actors &amp; Workflows</a:t>
            </a:r>
            <a:endParaRPr b="1" sz="2800">
              <a:solidFill>
                <a:srgbClr val="1B2A4A"/>
              </a:solidFill>
              <a:latin typeface="Georgia"/>
              <a:ea typeface="Georgia"/>
              <a:cs typeface="Georgia"/>
              <a:sym typeface="Georgia"/>
            </a:endParaRPr>
          </a:p>
        </p:txBody>
      </p:sp>
      <p:sp>
        <p:nvSpPr>
          <p:cNvPr id="216" name="Google Shape;216;p11"/>
          <p:cNvSpPr/>
          <p:nvPr/>
        </p:nvSpPr>
        <p:spPr>
          <a:xfrm>
            <a:off x="7772400" y="4846320"/>
            <a:ext cx="1097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800"/>
              <a:buFont typeface="Calibri"/>
              <a:buNone/>
            </a:pPr>
            <a:r>
              <a:rPr b="0" i="0" lang="en-US" sz="800" u="none" cap="none" strike="noStrike">
                <a:solidFill>
                  <a:srgbClr val="6B7280"/>
                </a:solidFill>
                <a:latin typeface="Calibri"/>
                <a:ea typeface="Calibri"/>
                <a:cs typeface="Calibri"/>
                <a:sym typeface="Calibri"/>
              </a:rPr>
              <a:t>10 / 21</a:t>
            </a:r>
            <a:endParaRPr b="0" i="0" sz="800" u="none" cap="none" strike="noStrike">
              <a:solidFill>
                <a:schemeClr val="dk1"/>
              </a:solidFill>
              <a:latin typeface="Calibri"/>
              <a:ea typeface="Calibri"/>
              <a:cs typeface="Calibri"/>
              <a:sym typeface="Calibri"/>
            </a:endParaRPr>
          </a:p>
        </p:txBody>
      </p:sp>
      <p:pic>
        <p:nvPicPr>
          <p:cNvPr id="217" name="Google Shape;217;p11"/>
          <p:cNvPicPr preferRelativeResize="0"/>
          <p:nvPr/>
        </p:nvPicPr>
        <p:blipFill rotWithShape="1">
          <a:blip r:embed="rId4">
            <a:alphaModFix/>
          </a:blip>
          <a:srcRect b="0" l="0" r="0" t="0"/>
          <a:stretch/>
        </p:blipFill>
        <p:spPr>
          <a:xfrm>
            <a:off x="381050" y="1195900"/>
            <a:ext cx="4953000" cy="3000300"/>
          </a:xfrm>
          <a:prstGeom prst="rect">
            <a:avLst/>
          </a:prstGeom>
          <a:noFill/>
          <a:ln>
            <a:noFill/>
          </a:ln>
        </p:spPr>
      </p:pic>
      <p:sp>
        <p:nvSpPr>
          <p:cNvPr id="218" name="Google Shape;218;p11"/>
          <p:cNvSpPr/>
          <p:nvPr/>
        </p:nvSpPr>
        <p:spPr>
          <a:xfrm>
            <a:off x="5524550" y="1195900"/>
            <a:ext cx="3238500" cy="1905000"/>
          </a:xfrm>
          <a:prstGeom prst="roundRect">
            <a:avLst>
              <a:gd fmla="val 4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 name="Google Shape;219;p11"/>
          <p:cNvSpPr/>
          <p:nvPr/>
        </p:nvSpPr>
        <p:spPr>
          <a:xfrm>
            <a:off x="5715050" y="1338775"/>
            <a:ext cx="28575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1B2A4A"/>
                </a:solidFill>
                <a:latin typeface="Inter"/>
                <a:ea typeface="Inter"/>
                <a:cs typeface="Inter"/>
                <a:sym typeface="Inter"/>
              </a:rPr>
              <a:t>Instructor</a:t>
            </a:r>
            <a:endParaRPr b="1" sz="1400">
              <a:solidFill>
                <a:srgbClr val="1B2A4A"/>
              </a:solidFill>
              <a:latin typeface="Inter"/>
              <a:ea typeface="Inter"/>
              <a:cs typeface="Inter"/>
              <a:sym typeface="Inter"/>
            </a:endParaRPr>
          </a:p>
        </p:txBody>
      </p:sp>
      <p:sp>
        <p:nvSpPr>
          <p:cNvPr id="220" name="Google Shape;220;p11"/>
          <p:cNvSpPr/>
          <p:nvPr/>
        </p:nvSpPr>
        <p:spPr>
          <a:xfrm>
            <a:off x="5715050" y="1624525"/>
            <a:ext cx="2857500" cy="1333500"/>
          </a:xfrm>
          <a:prstGeom prst="rect">
            <a:avLst/>
          </a:prstGeom>
          <a:solidFill>
            <a:srgbClr val="000000">
              <a:alpha val="0"/>
            </a:srgbClr>
          </a:solidFill>
          <a:ln>
            <a:noFill/>
          </a:ln>
        </p:spPr>
        <p:txBody>
          <a:bodyPr anchorCtr="0" anchor="t" bIns="0" lIns="0" spcFirstLastPara="1" rIns="0" wrap="square" tIns="0">
            <a:noAutofit/>
          </a:bodyPr>
          <a:lstStyle/>
          <a:p>
            <a:pPr indent="-295275" lvl="0" marL="457200" rtl="0" algn="l">
              <a:spcBef>
                <a:spcPts val="0"/>
              </a:spcBef>
              <a:spcAft>
                <a:spcPts val="0"/>
              </a:spcAft>
              <a:buClr>
                <a:srgbClr val="4B5563"/>
              </a:buClr>
              <a:buSzPts val="1050"/>
              <a:buFont typeface="Inter"/>
              <a:buChar char="●"/>
            </a:pPr>
            <a:r>
              <a:rPr b="0" lang="en-US" sz="1050">
                <a:solidFill>
                  <a:srgbClr val="4B5563"/>
                </a:solidFill>
                <a:latin typeface="Inter"/>
                <a:ea typeface="Inter"/>
                <a:cs typeface="Inter"/>
                <a:sym typeface="Inter"/>
              </a:rPr>
              <a:t>Authenticate securely</a:t>
            </a:r>
            <a:endParaRPr b="0" sz="1050">
              <a:solidFill>
                <a:srgbClr val="4B5563"/>
              </a:solidFill>
              <a:latin typeface="Inter"/>
              <a:ea typeface="Inter"/>
              <a:cs typeface="Inter"/>
              <a:sym typeface="Inter"/>
            </a:endParaRPr>
          </a:p>
          <a:p>
            <a:pPr indent="-295275" lvl="0" marL="457200" rtl="0" algn="l">
              <a:spcBef>
                <a:spcPts val="300"/>
              </a:spcBef>
              <a:spcAft>
                <a:spcPts val="0"/>
              </a:spcAft>
              <a:buClr>
                <a:srgbClr val="4B5563"/>
              </a:buClr>
              <a:buSzPts val="1050"/>
              <a:buFont typeface="Inter"/>
              <a:buChar char="●"/>
            </a:pPr>
            <a:r>
              <a:rPr b="0" lang="en-US" sz="1050">
                <a:solidFill>
                  <a:srgbClr val="4B5563"/>
                </a:solidFill>
                <a:latin typeface="Inter"/>
                <a:ea typeface="Inter"/>
                <a:cs typeface="Inter"/>
                <a:sym typeface="Inter"/>
              </a:rPr>
              <a:t>Upload or link video</a:t>
            </a:r>
            <a:endParaRPr b="0" sz="1050">
              <a:solidFill>
                <a:srgbClr val="4B5563"/>
              </a:solidFill>
              <a:latin typeface="Inter"/>
              <a:ea typeface="Inter"/>
              <a:cs typeface="Inter"/>
              <a:sym typeface="Inter"/>
            </a:endParaRPr>
          </a:p>
          <a:p>
            <a:pPr indent="-295275" lvl="0" marL="457200" rtl="0" algn="l">
              <a:spcBef>
                <a:spcPts val="300"/>
              </a:spcBef>
              <a:spcAft>
                <a:spcPts val="0"/>
              </a:spcAft>
              <a:buClr>
                <a:srgbClr val="4B5563"/>
              </a:buClr>
              <a:buSzPts val="1050"/>
              <a:buFont typeface="Inter"/>
              <a:buChar char="●"/>
            </a:pPr>
            <a:r>
              <a:rPr lang="en-US" sz="1050">
                <a:solidFill>
                  <a:srgbClr val="4B5563"/>
                </a:solidFill>
                <a:latin typeface="Inter"/>
                <a:ea typeface="Inter"/>
                <a:cs typeface="Inter"/>
                <a:sym typeface="Inter"/>
              </a:rPr>
              <a:t>Edit metadata</a:t>
            </a:r>
            <a:endParaRPr sz="1050">
              <a:solidFill>
                <a:srgbClr val="4B5563"/>
              </a:solidFill>
              <a:latin typeface="Inter"/>
              <a:ea typeface="Inter"/>
              <a:cs typeface="Inter"/>
              <a:sym typeface="Inter"/>
            </a:endParaRPr>
          </a:p>
          <a:p>
            <a:pPr indent="-295275" lvl="0" marL="457200" rtl="0" algn="l">
              <a:spcBef>
                <a:spcPts val="300"/>
              </a:spcBef>
              <a:spcAft>
                <a:spcPts val="0"/>
              </a:spcAft>
              <a:buClr>
                <a:srgbClr val="4B5563"/>
              </a:buClr>
              <a:buSzPts val="1050"/>
              <a:buFont typeface="Inter"/>
              <a:buChar char="●"/>
            </a:pPr>
            <a:r>
              <a:rPr b="0" lang="en-US" sz="1050">
                <a:solidFill>
                  <a:srgbClr val="4B5563"/>
                </a:solidFill>
                <a:latin typeface="Inter"/>
                <a:ea typeface="Inter"/>
                <a:cs typeface="Inter"/>
                <a:sym typeface="Inter"/>
              </a:rPr>
              <a:t>Request AI transcript analysis</a:t>
            </a:r>
            <a:endParaRPr b="0" sz="1050">
              <a:solidFill>
                <a:srgbClr val="4B5563"/>
              </a:solidFill>
              <a:latin typeface="Inter"/>
              <a:ea typeface="Inter"/>
              <a:cs typeface="Inter"/>
              <a:sym typeface="Inter"/>
            </a:endParaRPr>
          </a:p>
          <a:p>
            <a:pPr indent="-295275" lvl="0" marL="457200" rtl="0" algn="l">
              <a:spcBef>
                <a:spcPts val="300"/>
              </a:spcBef>
              <a:spcAft>
                <a:spcPts val="0"/>
              </a:spcAft>
              <a:buClr>
                <a:srgbClr val="4B5563"/>
              </a:buClr>
              <a:buSzPts val="1050"/>
              <a:buFont typeface="Inter"/>
              <a:buChar char="●"/>
            </a:pPr>
            <a:r>
              <a:rPr b="0" lang="en-US" sz="1050">
                <a:solidFill>
                  <a:srgbClr val="4B5563"/>
                </a:solidFill>
                <a:latin typeface="Inter"/>
                <a:ea typeface="Inter"/>
                <a:cs typeface="Inter"/>
                <a:sym typeface="Inter"/>
              </a:rPr>
              <a:t>Review / edit generated interactions</a:t>
            </a:r>
            <a:endParaRPr b="0" sz="1050">
              <a:solidFill>
                <a:srgbClr val="4B5563"/>
              </a:solidFill>
              <a:latin typeface="Inter"/>
              <a:ea typeface="Inter"/>
              <a:cs typeface="Inter"/>
              <a:sym typeface="Inter"/>
            </a:endParaRPr>
          </a:p>
          <a:p>
            <a:pPr indent="-295275" lvl="0" marL="457200" rtl="0" algn="l">
              <a:spcBef>
                <a:spcPts val="300"/>
              </a:spcBef>
              <a:spcAft>
                <a:spcPts val="0"/>
              </a:spcAft>
              <a:buClr>
                <a:srgbClr val="4B5563"/>
              </a:buClr>
              <a:buSzPts val="1050"/>
              <a:buFont typeface="Inter"/>
              <a:buChar char="●"/>
            </a:pPr>
            <a:r>
              <a:rPr b="0" lang="en-US" sz="1050">
                <a:solidFill>
                  <a:srgbClr val="4B5563"/>
                </a:solidFill>
                <a:latin typeface="Inter"/>
                <a:ea typeface="Inter"/>
                <a:cs typeface="Inter"/>
                <a:sym typeface="Inter"/>
              </a:rPr>
              <a:t>Preview content in live H5P player</a:t>
            </a:r>
            <a:endParaRPr b="0" sz="1050">
              <a:solidFill>
                <a:srgbClr val="4B5563"/>
              </a:solidFill>
              <a:latin typeface="Inter"/>
              <a:ea typeface="Inter"/>
              <a:cs typeface="Inter"/>
              <a:sym typeface="Inter"/>
            </a:endParaRPr>
          </a:p>
          <a:p>
            <a:pPr indent="-295275" lvl="0" marL="457200" rtl="0" algn="l">
              <a:spcBef>
                <a:spcPts val="300"/>
              </a:spcBef>
              <a:spcAft>
                <a:spcPts val="0"/>
              </a:spcAft>
              <a:buClr>
                <a:srgbClr val="4B5563"/>
              </a:buClr>
              <a:buSzPts val="1050"/>
              <a:buFont typeface="Inter"/>
              <a:buChar char="●"/>
            </a:pPr>
            <a:r>
              <a:rPr b="0" lang="en-US" sz="1050">
                <a:solidFill>
                  <a:srgbClr val="4B5563"/>
                </a:solidFill>
                <a:latin typeface="Inter"/>
                <a:ea typeface="Inter"/>
                <a:cs typeface="Inter"/>
                <a:sym typeface="Inter"/>
              </a:rPr>
              <a:t>Export .h5p package for LMS upload</a:t>
            </a:r>
            <a:endParaRPr b="0" sz="1050">
              <a:solidFill>
                <a:srgbClr val="4B5563"/>
              </a:solidFill>
              <a:latin typeface="Inter"/>
              <a:ea typeface="Inter"/>
              <a:cs typeface="Inter"/>
              <a:sym typeface="Inter"/>
            </a:endParaRPr>
          </a:p>
        </p:txBody>
      </p:sp>
      <p:sp>
        <p:nvSpPr>
          <p:cNvPr id="221" name="Google Shape;221;p11"/>
          <p:cNvSpPr/>
          <p:nvPr/>
        </p:nvSpPr>
        <p:spPr>
          <a:xfrm>
            <a:off x="5524550" y="3243775"/>
            <a:ext cx="3238500" cy="1285500"/>
          </a:xfrm>
          <a:prstGeom prst="roundRect">
            <a:avLst>
              <a:gd fmla="val 8000" name="adj"/>
            </a:avLst>
          </a:prstGeom>
          <a:solidFill>
            <a:srgbClr val="FEF3E6"/>
          </a:solidFill>
          <a:ln cap="flat" cmpd="sng" w="9525">
            <a:solidFill>
              <a:srgbClr val="FDE6D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11"/>
          <p:cNvSpPr/>
          <p:nvPr/>
        </p:nvSpPr>
        <p:spPr>
          <a:xfrm>
            <a:off x="5715050" y="3339025"/>
            <a:ext cx="28575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E87722"/>
                </a:solidFill>
                <a:latin typeface="Inter"/>
                <a:ea typeface="Inter"/>
                <a:cs typeface="Inter"/>
                <a:sym typeface="Inter"/>
              </a:rPr>
              <a:t>Admin</a:t>
            </a:r>
            <a:endParaRPr b="1" sz="1400">
              <a:solidFill>
                <a:srgbClr val="E87722"/>
              </a:solidFill>
              <a:latin typeface="Inter"/>
              <a:ea typeface="Inter"/>
              <a:cs typeface="Inter"/>
              <a:sym typeface="Inter"/>
            </a:endParaRPr>
          </a:p>
        </p:txBody>
      </p:sp>
      <p:sp>
        <p:nvSpPr>
          <p:cNvPr id="223" name="Google Shape;223;p11"/>
          <p:cNvSpPr/>
          <p:nvPr/>
        </p:nvSpPr>
        <p:spPr>
          <a:xfrm>
            <a:off x="5715050" y="3624775"/>
            <a:ext cx="2857500" cy="669000"/>
          </a:xfrm>
          <a:prstGeom prst="rect">
            <a:avLst/>
          </a:prstGeom>
          <a:solidFill>
            <a:srgbClr val="000000">
              <a:alpha val="0"/>
            </a:srgbClr>
          </a:solidFill>
          <a:ln>
            <a:noFill/>
          </a:ln>
        </p:spPr>
        <p:txBody>
          <a:bodyPr anchorCtr="0" anchor="t" bIns="0" lIns="0" spcFirstLastPara="1" rIns="0" wrap="square" tIns="0">
            <a:noAutofit/>
          </a:bodyPr>
          <a:lstStyle/>
          <a:p>
            <a:pPr indent="-295275" lvl="0" marL="457200" rtl="0" algn="l">
              <a:spcBef>
                <a:spcPts val="0"/>
              </a:spcBef>
              <a:spcAft>
                <a:spcPts val="0"/>
              </a:spcAft>
              <a:buClr>
                <a:srgbClr val="1B2A4A"/>
              </a:buClr>
              <a:buSzPts val="1050"/>
              <a:buFont typeface="Inter"/>
              <a:buChar char="●"/>
            </a:pPr>
            <a:r>
              <a:rPr b="0" lang="en-US" sz="1050">
                <a:solidFill>
                  <a:srgbClr val="1B2A4A"/>
                </a:solidFill>
                <a:latin typeface="Inter"/>
                <a:ea typeface="Inter"/>
                <a:cs typeface="Inter"/>
                <a:sym typeface="Inter"/>
              </a:rPr>
              <a:t>Manage users</a:t>
            </a:r>
            <a:endParaRPr sz="1050">
              <a:solidFill>
                <a:srgbClr val="1B2A4A"/>
              </a:solidFill>
              <a:latin typeface="Inter"/>
              <a:ea typeface="Inter"/>
              <a:cs typeface="Inter"/>
              <a:sym typeface="Inter"/>
            </a:endParaRPr>
          </a:p>
          <a:p>
            <a:pPr indent="-295275" lvl="0" marL="457200" rtl="0" algn="l">
              <a:spcBef>
                <a:spcPts val="0"/>
              </a:spcBef>
              <a:spcAft>
                <a:spcPts val="0"/>
              </a:spcAft>
              <a:buClr>
                <a:srgbClr val="1B2A4A"/>
              </a:buClr>
              <a:buSzPts val="1050"/>
              <a:buFont typeface="Inter"/>
              <a:buChar char="●"/>
            </a:pPr>
            <a:r>
              <a:rPr b="0" lang="en-US" sz="1050">
                <a:solidFill>
                  <a:srgbClr val="1B2A4A"/>
                </a:solidFill>
                <a:latin typeface="Inter"/>
                <a:ea typeface="Inter"/>
                <a:cs typeface="Inter"/>
                <a:sym typeface="Inter"/>
              </a:rPr>
              <a:t>Monitor AI usage</a:t>
            </a:r>
            <a:endParaRPr sz="1050">
              <a:solidFill>
                <a:srgbClr val="1B2A4A"/>
              </a:solidFill>
              <a:latin typeface="Inter"/>
              <a:ea typeface="Inter"/>
              <a:cs typeface="Inter"/>
              <a:sym typeface="Inter"/>
            </a:endParaRPr>
          </a:p>
          <a:p>
            <a:pPr indent="-295275" lvl="0" marL="457200" rtl="0" algn="l">
              <a:spcBef>
                <a:spcPts val="0"/>
              </a:spcBef>
              <a:spcAft>
                <a:spcPts val="0"/>
              </a:spcAft>
              <a:buClr>
                <a:srgbClr val="1B2A4A"/>
              </a:buClr>
              <a:buSzPts val="1050"/>
              <a:buFont typeface="Inter"/>
              <a:buChar char="●"/>
            </a:pPr>
            <a:r>
              <a:rPr b="0" lang="en-US" sz="1050">
                <a:solidFill>
                  <a:srgbClr val="1B2A4A"/>
                </a:solidFill>
                <a:latin typeface="Inter"/>
                <a:ea typeface="Inter"/>
                <a:cs typeface="Inter"/>
                <a:sym typeface="Inter"/>
              </a:rPr>
              <a:t>Configure API keys</a:t>
            </a:r>
            <a:endParaRPr sz="1050">
              <a:solidFill>
                <a:srgbClr val="1B2A4A"/>
              </a:solidFill>
              <a:latin typeface="Inter"/>
              <a:ea typeface="Inter"/>
              <a:cs typeface="Inter"/>
              <a:sym typeface="Inter"/>
            </a:endParaRPr>
          </a:p>
          <a:p>
            <a:pPr indent="-295275" lvl="0" marL="457200" rtl="0" algn="l">
              <a:spcBef>
                <a:spcPts val="0"/>
              </a:spcBef>
              <a:spcAft>
                <a:spcPts val="0"/>
              </a:spcAft>
              <a:buClr>
                <a:srgbClr val="1B2A4A"/>
              </a:buClr>
              <a:buSzPts val="1050"/>
              <a:buFont typeface="Inter"/>
              <a:buChar char="●"/>
            </a:pPr>
            <a:r>
              <a:rPr b="0" lang="en-US" sz="1050">
                <a:solidFill>
                  <a:srgbClr val="1B2A4A"/>
                </a:solidFill>
                <a:latin typeface="Inter"/>
                <a:ea typeface="Inter"/>
                <a:cs typeface="Inter"/>
                <a:sym typeface="Inter"/>
              </a:rPr>
              <a:t>Review audit logs</a:t>
            </a:r>
            <a:endParaRPr b="0" sz="1050">
              <a:solidFill>
                <a:srgbClr val="1B2A4A"/>
              </a:solidFill>
              <a:latin typeface="Inter"/>
              <a:ea typeface="Inter"/>
              <a:cs typeface="Inter"/>
              <a:sym typeface="Inter"/>
            </a:endParaRPr>
          </a:p>
          <a:p>
            <a:pPr indent="-295275" lvl="0" marL="457200" rtl="0" algn="l">
              <a:spcBef>
                <a:spcPts val="0"/>
              </a:spcBef>
              <a:spcAft>
                <a:spcPts val="0"/>
              </a:spcAft>
              <a:buClr>
                <a:srgbClr val="1B2A4A"/>
              </a:buClr>
              <a:buSzPts val="1050"/>
              <a:buFont typeface="Inter"/>
              <a:buChar char="●"/>
            </a:pPr>
            <a:r>
              <a:rPr lang="en-US" sz="1050">
                <a:solidFill>
                  <a:srgbClr val="1B2A4A"/>
                </a:solidFill>
                <a:latin typeface="Inter"/>
                <a:ea typeface="Inter"/>
                <a:cs typeface="Inter"/>
                <a:sym typeface="Inter"/>
              </a:rPr>
              <a:t>Manage system settings</a:t>
            </a:r>
            <a:endParaRPr sz="1050">
              <a:solidFill>
                <a:srgbClr val="1B2A4A"/>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2" name="Shape 242"/>
        <p:cNvGrpSpPr/>
        <p:nvPr/>
      </p:nvGrpSpPr>
      <p:grpSpPr>
        <a:xfrm>
          <a:off x="0" y="0"/>
          <a:ext cx="0" cy="0"/>
          <a:chOff x="0" y="0"/>
          <a:chExt cx="0" cy="0"/>
        </a:xfrm>
      </p:grpSpPr>
      <p:sp>
        <p:nvSpPr>
          <p:cNvPr id="243" name="Google Shape;243;p13"/>
          <p:cNvSpPr/>
          <p:nvPr/>
        </p:nvSpPr>
        <p:spPr>
          <a:xfrm>
            <a:off x="548640" y="20116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900">
                <a:solidFill>
                  <a:srgbClr val="E87722"/>
                </a:solidFill>
                <a:latin typeface="Inter"/>
                <a:ea typeface="Inter"/>
                <a:cs typeface="Inter"/>
                <a:sym typeface="Inter"/>
              </a:rPr>
              <a:t>04 · IMPLEMENTATION</a:t>
            </a:r>
            <a:endParaRPr b="1" i="0" sz="900">
              <a:solidFill>
                <a:srgbClr val="E87722"/>
              </a:solidFill>
              <a:latin typeface="Inter"/>
              <a:ea typeface="Inter"/>
              <a:cs typeface="Inter"/>
              <a:sym typeface="Inter"/>
            </a:endParaRPr>
          </a:p>
        </p:txBody>
      </p:sp>
      <p:sp>
        <p:nvSpPr>
          <p:cNvPr id="244" name="Google Shape;244;p13"/>
          <p:cNvSpPr/>
          <p:nvPr/>
        </p:nvSpPr>
        <p:spPr>
          <a:xfrm>
            <a:off x="384048" y="274320"/>
            <a:ext cx="63900" cy="502800"/>
          </a:xfrm>
          <a:prstGeom prst="rect">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13"/>
          <p:cNvSpPr/>
          <p:nvPr/>
        </p:nvSpPr>
        <p:spPr>
          <a:xfrm>
            <a:off x="548640" y="27432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2800">
                <a:solidFill>
                  <a:srgbClr val="1B2A4A"/>
                </a:solidFill>
                <a:latin typeface="Georgia"/>
                <a:ea typeface="Georgia"/>
                <a:cs typeface="Georgia"/>
                <a:sym typeface="Georgia"/>
              </a:rPr>
              <a:t>Video Upload Pipeline</a:t>
            </a:r>
            <a:endParaRPr b="1" i="0" sz="2800">
              <a:solidFill>
                <a:srgbClr val="1B2A4A"/>
              </a:solidFill>
              <a:latin typeface="Georgia"/>
              <a:ea typeface="Georgia"/>
              <a:cs typeface="Georgia"/>
              <a:sym typeface="Georgia"/>
            </a:endParaRPr>
          </a:p>
        </p:txBody>
      </p:sp>
      <p:sp>
        <p:nvSpPr>
          <p:cNvPr id="246" name="Google Shape;246;p13"/>
          <p:cNvSpPr/>
          <p:nvPr/>
        </p:nvSpPr>
        <p:spPr>
          <a:xfrm>
            <a:off x="7772400" y="4846320"/>
            <a:ext cx="1097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800"/>
              <a:buFont typeface="Calibri"/>
              <a:buNone/>
            </a:pPr>
            <a:r>
              <a:rPr b="0" i="0" lang="en-US" sz="800" u="none" cap="none" strike="noStrike">
                <a:solidFill>
                  <a:srgbClr val="6B7280"/>
                </a:solidFill>
                <a:latin typeface="Calibri"/>
                <a:ea typeface="Calibri"/>
                <a:cs typeface="Calibri"/>
                <a:sym typeface="Calibri"/>
              </a:rPr>
              <a:t>11 / 21</a:t>
            </a:r>
            <a:endParaRPr b="0" i="0" sz="800" u="none" cap="none" strike="noStrike">
              <a:solidFill>
                <a:schemeClr val="dk1"/>
              </a:solidFill>
              <a:latin typeface="Calibri"/>
              <a:ea typeface="Calibri"/>
              <a:cs typeface="Calibri"/>
              <a:sym typeface="Calibri"/>
            </a:endParaRPr>
          </a:p>
        </p:txBody>
      </p:sp>
      <p:sp>
        <p:nvSpPr>
          <p:cNvPr id="247" name="Google Shape;247;p13"/>
          <p:cNvSpPr/>
          <p:nvPr/>
        </p:nvSpPr>
        <p:spPr>
          <a:xfrm>
            <a:off x="5397500" y="952500"/>
            <a:ext cx="35253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400">
                <a:solidFill>
                  <a:srgbClr val="1B2A4A"/>
                </a:solidFill>
                <a:latin typeface="Inter"/>
                <a:ea typeface="Inter"/>
                <a:cs typeface="Inter"/>
                <a:sym typeface="Inter"/>
              </a:rPr>
              <a:t>Direct Upload Processing Flow</a:t>
            </a:r>
            <a:endParaRPr b="1" i="0" sz="1400">
              <a:solidFill>
                <a:srgbClr val="1B2A4A"/>
              </a:solidFill>
              <a:latin typeface="Inter"/>
              <a:ea typeface="Inter"/>
              <a:cs typeface="Inter"/>
              <a:sym typeface="Inter"/>
            </a:endParaRPr>
          </a:p>
        </p:txBody>
      </p:sp>
      <p:grpSp>
        <p:nvGrpSpPr>
          <p:cNvPr id="248" name="Google Shape;248;p13"/>
          <p:cNvGrpSpPr/>
          <p:nvPr/>
        </p:nvGrpSpPr>
        <p:grpSpPr>
          <a:xfrm>
            <a:off x="5421376" y="1333500"/>
            <a:ext cx="3405765" cy="590550"/>
            <a:chOff x="4791075" y="1333500"/>
            <a:chExt cx="4019550" cy="590550"/>
          </a:xfrm>
        </p:grpSpPr>
        <p:sp>
          <p:nvSpPr>
            <p:cNvPr id="249" name="Google Shape;249;p13"/>
            <p:cNvSpPr/>
            <p:nvPr/>
          </p:nvSpPr>
          <p:spPr>
            <a:xfrm>
              <a:off x="4791075" y="1333500"/>
              <a:ext cx="285900" cy="285900"/>
            </a:xfrm>
            <a:prstGeom prst="ellipse">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13"/>
            <p:cNvSpPr txBox="1"/>
            <p:nvPr/>
          </p:nvSpPr>
          <p:spPr>
            <a:xfrm>
              <a:off x="4791075" y="133350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FFFFFF"/>
                  </a:solidFill>
                  <a:latin typeface="Georgia"/>
                  <a:ea typeface="Georgia"/>
                  <a:cs typeface="Georgia"/>
                  <a:sym typeface="Georgia"/>
                </a:rPr>
                <a:t>1</a:t>
              </a:r>
              <a:endParaRPr b="1" sz="1100">
                <a:solidFill>
                  <a:srgbClr val="FFFFFF"/>
                </a:solidFill>
                <a:latin typeface="Georgia"/>
                <a:ea typeface="Georgia"/>
                <a:cs typeface="Georgia"/>
                <a:sym typeface="Georgia"/>
              </a:endParaRPr>
            </a:p>
          </p:txBody>
        </p:sp>
        <p:sp>
          <p:nvSpPr>
            <p:cNvPr id="251" name="Google Shape;251;p13"/>
            <p:cNvSpPr txBox="1"/>
            <p:nvPr/>
          </p:nvSpPr>
          <p:spPr>
            <a:xfrm>
              <a:off x="5191125" y="1333500"/>
              <a:ext cx="3619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B2A4A"/>
                  </a:solidFill>
                  <a:latin typeface="Inter"/>
                  <a:ea typeface="Inter"/>
                  <a:cs typeface="Inter"/>
                  <a:sym typeface="Inter"/>
                </a:rPr>
                <a:t>POST /api/videos/upload</a:t>
              </a:r>
              <a:endParaRPr b="1" sz="1100">
                <a:solidFill>
                  <a:srgbClr val="1B2A4A"/>
                </a:solidFill>
                <a:latin typeface="Inter"/>
                <a:ea typeface="Inter"/>
                <a:cs typeface="Inter"/>
                <a:sym typeface="Inter"/>
              </a:endParaRPr>
            </a:p>
            <a:p>
              <a:pPr indent="0" lvl="0" marL="0" rtl="0" algn="l">
                <a:spcBef>
                  <a:spcPts val="0"/>
                </a:spcBef>
                <a:spcAft>
                  <a:spcPts val="0"/>
                </a:spcAft>
                <a:buNone/>
              </a:pPr>
              <a:r>
                <a:rPr lang="en-US" sz="950">
                  <a:solidFill>
                    <a:srgbClr val="6B7280"/>
                  </a:solidFill>
                  <a:latin typeface="Inter"/>
                  <a:ea typeface="Inter"/>
                  <a:cs typeface="Inter"/>
                  <a:sym typeface="Inter"/>
                </a:rPr>
                <a:t>Multipart form-data — video file + title metadata</a:t>
              </a:r>
              <a:endParaRPr sz="950">
                <a:solidFill>
                  <a:srgbClr val="6B7280"/>
                </a:solidFill>
                <a:latin typeface="Inter"/>
                <a:ea typeface="Inter"/>
                <a:cs typeface="Inter"/>
                <a:sym typeface="Inter"/>
              </a:endParaRPr>
            </a:p>
          </p:txBody>
        </p:sp>
        <p:pic>
          <p:nvPicPr>
            <p:cNvPr id="252" name="Google Shape;252;p13"/>
            <p:cNvPicPr preferRelativeResize="0"/>
            <p:nvPr/>
          </p:nvPicPr>
          <p:blipFill rotWithShape="1">
            <a:blip r:embed="rId4">
              <a:alphaModFix/>
            </a:blip>
            <a:srcRect b="0" l="0" r="0" t="0"/>
            <a:stretch/>
          </p:blipFill>
          <p:spPr>
            <a:xfrm>
              <a:off x="4924425" y="1619250"/>
              <a:ext cx="19200" cy="304800"/>
            </a:xfrm>
            <a:prstGeom prst="rect">
              <a:avLst/>
            </a:prstGeom>
            <a:noFill/>
            <a:ln>
              <a:noFill/>
            </a:ln>
          </p:spPr>
        </p:pic>
      </p:grpSp>
      <p:grpSp>
        <p:nvGrpSpPr>
          <p:cNvPr id="253" name="Google Shape;253;p13"/>
          <p:cNvGrpSpPr/>
          <p:nvPr/>
        </p:nvGrpSpPr>
        <p:grpSpPr>
          <a:xfrm>
            <a:off x="5421376" y="1952625"/>
            <a:ext cx="3405765" cy="590550"/>
            <a:chOff x="4791075" y="1952625"/>
            <a:chExt cx="4019550" cy="590550"/>
          </a:xfrm>
        </p:grpSpPr>
        <p:sp>
          <p:nvSpPr>
            <p:cNvPr id="254" name="Google Shape;254;p13"/>
            <p:cNvSpPr/>
            <p:nvPr/>
          </p:nvSpPr>
          <p:spPr>
            <a:xfrm>
              <a:off x="4791075" y="1952625"/>
              <a:ext cx="285900" cy="285900"/>
            </a:xfrm>
            <a:prstGeom prst="ellipse">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13"/>
            <p:cNvSpPr txBox="1"/>
            <p:nvPr/>
          </p:nvSpPr>
          <p:spPr>
            <a:xfrm>
              <a:off x="4791075" y="1952625"/>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FFFFFF"/>
                  </a:solidFill>
                  <a:latin typeface="Georgia"/>
                  <a:ea typeface="Georgia"/>
                  <a:cs typeface="Georgia"/>
                  <a:sym typeface="Georgia"/>
                </a:rPr>
                <a:t>2</a:t>
              </a:r>
              <a:endParaRPr b="1" sz="1100">
                <a:solidFill>
                  <a:srgbClr val="FFFFFF"/>
                </a:solidFill>
                <a:latin typeface="Georgia"/>
                <a:ea typeface="Georgia"/>
                <a:cs typeface="Georgia"/>
                <a:sym typeface="Georgia"/>
              </a:endParaRPr>
            </a:p>
          </p:txBody>
        </p:sp>
        <p:sp>
          <p:nvSpPr>
            <p:cNvPr id="256" name="Google Shape;256;p13"/>
            <p:cNvSpPr txBox="1"/>
            <p:nvPr/>
          </p:nvSpPr>
          <p:spPr>
            <a:xfrm>
              <a:off x="5191125" y="1952625"/>
              <a:ext cx="3619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B2A4A"/>
                  </a:solidFill>
                  <a:latin typeface="Inter"/>
                  <a:ea typeface="Inter"/>
                  <a:cs typeface="Inter"/>
                  <a:sym typeface="Inter"/>
                </a:rPr>
                <a:t>Multer → MIME Validation</a:t>
              </a:r>
              <a:endParaRPr b="1" sz="1100">
                <a:solidFill>
                  <a:srgbClr val="1B2A4A"/>
                </a:solidFill>
                <a:latin typeface="Inter"/>
                <a:ea typeface="Inter"/>
                <a:cs typeface="Inter"/>
                <a:sym typeface="Inter"/>
              </a:endParaRPr>
            </a:p>
            <a:p>
              <a:pPr indent="0" lvl="0" marL="0" rtl="0" algn="l">
                <a:spcBef>
                  <a:spcPts val="0"/>
                </a:spcBef>
                <a:spcAft>
                  <a:spcPts val="0"/>
                </a:spcAft>
                <a:buNone/>
              </a:pPr>
              <a:r>
                <a:rPr lang="en-US" sz="950">
                  <a:solidFill>
                    <a:srgbClr val="6B7280"/>
                  </a:solidFill>
                  <a:latin typeface="Inter"/>
                  <a:ea typeface="Inter"/>
                  <a:cs typeface="Inter"/>
                  <a:sym typeface="Inter"/>
                </a:rPr>
                <a:t>Allowlist: mp4 · webm · mov · quicktime | max 5 GB</a:t>
              </a:r>
              <a:endParaRPr sz="950">
                <a:solidFill>
                  <a:srgbClr val="6B7280"/>
                </a:solidFill>
                <a:latin typeface="Inter"/>
                <a:ea typeface="Inter"/>
                <a:cs typeface="Inter"/>
                <a:sym typeface="Inter"/>
              </a:endParaRPr>
            </a:p>
          </p:txBody>
        </p:sp>
        <p:pic>
          <p:nvPicPr>
            <p:cNvPr id="257" name="Google Shape;257;p13"/>
            <p:cNvPicPr preferRelativeResize="0"/>
            <p:nvPr/>
          </p:nvPicPr>
          <p:blipFill rotWithShape="1">
            <a:blip r:embed="rId4">
              <a:alphaModFix/>
            </a:blip>
            <a:srcRect b="0" l="0" r="0" t="0"/>
            <a:stretch/>
          </p:blipFill>
          <p:spPr>
            <a:xfrm>
              <a:off x="4924425" y="2238375"/>
              <a:ext cx="19200" cy="304800"/>
            </a:xfrm>
            <a:prstGeom prst="rect">
              <a:avLst/>
            </a:prstGeom>
            <a:noFill/>
            <a:ln>
              <a:noFill/>
            </a:ln>
          </p:spPr>
        </p:pic>
      </p:grpSp>
      <p:grpSp>
        <p:nvGrpSpPr>
          <p:cNvPr id="258" name="Google Shape;258;p13"/>
          <p:cNvGrpSpPr/>
          <p:nvPr/>
        </p:nvGrpSpPr>
        <p:grpSpPr>
          <a:xfrm>
            <a:off x="5421376" y="2571750"/>
            <a:ext cx="3405765" cy="590550"/>
            <a:chOff x="4791075" y="2571750"/>
            <a:chExt cx="4019550" cy="590550"/>
          </a:xfrm>
        </p:grpSpPr>
        <p:sp>
          <p:nvSpPr>
            <p:cNvPr id="259" name="Google Shape;259;p13"/>
            <p:cNvSpPr/>
            <p:nvPr/>
          </p:nvSpPr>
          <p:spPr>
            <a:xfrm>
              <a:off x="4791075" y="2571750"/>
              <a:ext cx="285900" cy="285900"/>
            </a:xfrm>
            <a:prstGeom prst="ellipse">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13"/>
            <p:cNvSpPr txBox="1"/>
            <p:nvPr/>
          </p:nvSpPr>
          <p:spPr>
            <a:xfrm>
              <a:off x="4791075" y="257175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FFFFFF"/>
                  </a:solidFill>
                  <a:latin typeface="Georgia"/>
                  <a:ea typeface="Georgia"/>
                  <a:cs typeface="Georgia"/>
                  <a:sym typeface="Georgia"/>
                </a:rPr>
                <a:t>3</a:t>
              </a:r>
              <a:endParaRPr b="1" sz="1100">
                <a:solidFill>
                  <a:srgbClr val="FFFFFF"/>
                </a:solidFill>
                <a:latin typeface="Georgia"/>
                <a:ea typeface="Georgia"/>
                <a:cs typeface="Georgia"/>
                <a:sym typeface="Georgia"/>
              </a:endParaRPr>
            </a:p>
          </p:txBody>
        </p:sp>
        <p:sp>
          <p:nvSpPr>
            <p:cNvPr id="261" name="Google Shape;261;p13"/>
            <p:cNvSpPr txBox="1"/>
            <p:nvPr/>
          </p:nvSpPr>
          <p:spPr>
            <a:xfrm>
              <a:off x="5191125" y="2571750"/>
              <a:ext cx="3619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B2A4A"/>
                  </a:solidFill>
                  <a:latin typeface="Inter"/>
                  <a:ea typeface="Inter"/>
                  <a:cs typeface="Inter"/>
                  <a:sym typeface="Inter"/>
                </a:rPr>
                <a:t>FFmpeg — Thumbnail + Metadata</a:t>
              </a:r>
              <a:endParaRPr b="1" sz="1100">
                <a:solidFill>
                  <a:srgbClr val="1B2A4A"/>
                </a:solidFill>
                <a:latin typeface="Inter"/>
                <a:ea typeface="Inter"/>
                <a:cs typeface="Inter"/>
                <a:sym typeface="Inter"/>
              </a:endParaRPr>
            </a:p>
            <a:p>
              <a:pPr indent="0" lvl="0" marL="0" rtl="0" algn="l">
                <a:spcBef>
                  <a:spcPts val="0"/>
                </a:spcBef>
                <a:spcAft>
                  <a:spcPts val="0"/>
                </a:spcAft>
                <a:buNone/>
              </a:pPr>
              <a:r>
                <a:rPr lang="en-US" sz="950">
                  <a:solidFill>
                    <a:srgbClr val="6B7280"/>
                  </a:solidFill>
                  <a:latin typeface="Inter"/>
                  <a:ea typeface="Inter"/>
                  <a:cs typeface="Inter"/>
                  <a:sym typeface="Inter"/>
                </a:rPr>
                <a:t>Spawned as child process; extracts duration, resolution</a:t>
              </a:r>
              <a:endParaRPr sz="950">
                <a:solidFill>
                  <a:srgbClr val="6B7280"/>
                </a:solidFill>
                <a:latin typeface="Inter"/>
                <a:ea typeface="Inter"/>
                <a:cs typeface="Inter"/>
                <a:sym typeface="Inter"/>
              </a:endParaRPr>
            </a:p>
          </p:txBody>
        </p:sp>
        <p:pic>
          <p:nvPicPr>
            <p:cNvPr id="262" name="Google Shape;262;p13"/>
            <p:cNvPicPr preferRelativeResize="0"/>
            <p:nvPr/>
          </p:nvPicPr>
          <p:blipFill rotWithShape="1">
            <a:blip r:embed="rId4">
              <a:alphaModFix/>
            </a:blip>
            <a:srcRect b="0" l="0" r="0" t="0"/>
            <a:stretch/>
          </p:blipFill>
          <p:spPr>
            <a:xfrm>
              <a:off x="4924425" y="2857500"/>
              <a:ext cx="19200" cy="304800"/>
            </a:xfrm>
            <a:prstGeom prst="rect">
              <a:avLst/>
            </a:prstGeom>
            <a:noFill/>
            <a:ln>
              <a:noFill/>
            </a:ln>
          </p:spPr>
        </p:pic>
      </p:grpSp>
      <p:grpSp>
        <p:nvGrpSpPr>
          <p:cNvPr id="263" name="Google Shape;263;p13"/>
          <p:cNvGrpSpPr/>
          <p:nvPr/>
        </p:nvGrpSpPr>
        <p:grpSpPr>
          <a:xfrm>
            <a:off x="5421376" y="3190875"/>
            <a:ext cx="3405765" cy="590550"/>
            <a:chOff x="4791075" y="3190875"/>
            <a:chExt cx="4019550" cy="590550"/>
          </a:xfrm>
        </p:grpSpPr>
        <p:sp>
          <p:nvSpPr>
            <p:cNvPr id="264" name="Google Shape;264;p13"/>
            <p:cNvSpPr/>
            <p:nvPr/>
          </p:nvSpPr>
          <p:spPr>
            <a:xfrm>
              <a:off x="4791075" y="3190875"/>
              <a:ext cx="285900" cy="285900"/>
            </a:xfrm>
            <a:prstGeom prst="ellipse">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5" name="Google Shape;265;p13"/>
            <p:cNvSpPr txBox="1"/>
            <p:nvPr/>
          </p:nvSpPr>
          <p:spPr>
            <a:xfrm>
              <a:off x="4791075" y="3190875"/>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FFFFFF"/>
                  </a:solidFill>
                  <a:latin typeface="Georgia"/>
                  <a:ea typeface="Georgia"/>
                  <a:cs typeface="Georgia"/>
                  <a:sym typeface="Georgia"/>
                </a:rPr>
                <a:t>4</a:t>
              </a:r>
              <a:endParaRPr b="1" sz="1100">
                <a:solidFill>
                  <a:srgbClr val="FFFFFF"/>
                </a:solidFill>
                <a:latin typeface="Georgia"/>
                <a:ea typeface="Georgia"/>
                <a:cs typeface="Georgia"/>
                <a:sym typeface="Georgia"/>
              </a:endParaRPr>
            </a:p>
          </p:txBody>
        </p:sp>
        <p:sp>
          <p:nvSpPr>
            <p:cNvPr id="266" name="Google Shape;266;p13"/>
            <p:cNvSpPr txBox="1"/>
            <p:nvPr/>
          </p:nvSpPr>
          <p:spPr>
            <a:xfrm>
              <a:off x="5191125" y="3190875"/>
              <a:ext cx="3619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B2A4A"/>
                  </a:solidFill>
                  <a:latin typeface="Inter"/>
                  <a:ea typeface="Inter"/>
                  <a:cs typeface="Inter"/>
                  <a:sym typeface="Inter"/>
                </a:rPr>
                <a:t>SQLite INSERT (Videos table)</a:t>
              </a:r>
              <a:endParaRPr b="1" sz="1100">
                <a:solidFill>
                  <a:srgbClr val="1B2A4A"/>
                </a:solidFill>
                <a:latin typeface="Inter"/>
                <a:ea typeface="Inter"/>
                <a:cs typeface="Inter"/>
                <a:sym typeface="Inter"/>
              </a:endParaRPr>
            </a:p>
            <a:p>
              <a:pPr indent="0" lvl="0" marL="0" rtl="0" algn="l">
                <a:spcBef>
                  <a:spcPts val="0"/>
                </a:spcBef>
                <a:spcAft>
                  <a:spcPts val="0"/>
                </a:spcAft>
                <a:buNone/>
              </a:pPr>
              <a:r>
                <a:rPr lang="en-US" sz="950">
                  <a:solidFill>
                    <a:srgbClr val="6B7280"/>
                  </a:solidFill>
                  <a:latin typeface="Inter"/>
                  <a:ea typeface="Inter"/>
                  <a:cs typeface="Inter"/>
                  <a:sym typeface="Inter"/>
                </a:rPr>
                <a:t>filePath · duration · mimeType · ownerUserId</a:t>
              </a:r>
              <a:endParaRPr sz="950">
                <a:solidFill>
                  <a:srgbClr val="6B7280"/>
                </a:solidFill>
                <a:latin typeface="Inter"/>
                <a:ea typeface="Inter"/>
                <a:cs typeface="Inter"/>
                <a:sym typeface="Inter"/>
              </a:endParaRPr>
            </a:p>
          </p:txBody>
        </p:sp>
        <p:pic>
          <p:nvPicPr>
            <p:cNvPr id="267" name="Google Shape;267;p13"/>
            <p:cNvPicPr preferRelativeResize="0"/>
            <p:nvPr/>
          </p:nvPicPr>
          <p:blipFill rotWithShape="1">
            <a:blip r:embed="rId4">
              <a:alphaModFix/>
            </a:blip>
            <a:srcRect b="0" l="0" r="0" t="0"/>
            <a:stretch/>
          </p:blipFill>
          <p:spPr>
            <a:xfrm>
              <a:off x="4924425" y="3476625"/>
              <a:ext cx="19200" cy="304800"/>
            </a:xfrm>
            <a:prstGeom prst="rect">
              <a:avLst/>
            </a:prstGeom>
            <a:noFill/>
            <a:ln>
              <a:noFill/>
            </a:ln>
          </p:spPr>
        </p:pic>
      </p:grpSp>
      <p:grpSp>
        <p:nvGrpSpPr>
          <p:cNvPr id="268" name="Google Shape;268;p13"/>
          <p:cNvGrpSpPr/>
          <p:nvPr/>
        </p:nvGrpSpPr>
        <p:grpSpPr>
          <a:xfrm>
            <a:off x="5421376" y="3810000"/>
            <a:ext cx="3405765" cy="381000"/>
            <a:chOff x="4791075" y="3810000"/>
            <a:chExt cx="4019550" cy="381000"/>
          </a:xfrm>
        </p:grpSpPr>
        <p:sp>
          <p:nvSpPr>
            <p:cNvPr id="269" name="Google Shape;269;p13"/>
            <p:cNvSpPr/>
            <p:nvPr/>
          </p:nvSpPr>
          <p:spPr>
            <a:xfrm>
              <a:off x="4791075" y="3810000"/>
              <a:ext cx="285900" cy="285900"/>
            </a:xfrm>
            <a:prstGeom prst="ellipse">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 name="Google Shape;270;p13"/>
            <p:cNvSpPr txBox="1"/>
            <p:nvPr/>
          </p:nvSpPr>
          <p:spPr>
            <a:xfrm>
              <a:off x="4791075" y="381000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FFFFFF"/>
                  </a:solidFill>
                  <a:latin typeface="Georgia"/>
                  <a:ea typeface="Georgia"/>
                  <a:cs typeface="Georgia"/>
                  <a:sym typeface="Georgia"/>
                </a:rPr>
                <a:t>5</a:t>
              </a:r>
              <a:endParaRPr b="1" sz="1100">
                <a:solidFill>
                  <a:srgbClr val="FFFFFF"/>
                </a:solidFill>
                <a:latin typeface="Georgia"/>
                <a:ea typeface="Georgia"/>
                <a:cs typeface="Georgia"/>
                <a:sym typeface="Georgia"/>
              </a:endParaRPr>
            </a:p>
          </p:txBody>
        </p:sp>
        <p:sp>
          <p:nvSpPr>
            <p:cNvPr id="271" name="Google Shape;271;p13"/>
            <p:cNvSpPr txBox="1"/>
            <p:nvPr/>
          </p:nvSpPr>
          <p:spPr>
            <a:xfrm>
              <a:off x="5191125" y="3810000"/>
              <a:ext cx="3619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B2A4A"/>
                  </a:solidFill>
                  <a:latin typeface="Inter"/>
                  <a:ea typeface="Inter"/>
                  <a:cs typeface="Inter"/>
                  <a:sym typeface="Inter"/>
                </a:rPr>
                <a:t>HTTP Range Streaming</a:t>
              </a:r>
              <a:endParaRPr b="1" sz="1100">
                <a:solidFill>
                  <a:srgbClr val="1B2A4A"/>
                </a:solidFill>
                <a:latin typeface="Inter"/>
                <a:ea typeface="Inter"/>
                <a:cs typeface="Inter"/>
                <a:sym typeface="Inter"/>
              </a:endParaRPr>
            </a:p>
            <a:p>
              <a:pPr indent="0" lvl="0" marL="0" rtl="0" algn="l">
                <a:spcBef>
                  <a:spcPts val="0"/>
                </a:spcBef>
                <a:spcAft>
                  <a:spcPts val="0"/>
                </a:spcAft>
                <a:buNone/>
              </a:pPr>
              <a:r>
                <a:rPr lang="en-US" sz="950">
                  <a:solidFill>
                    <a:srgbClr val="6B7280"/>
                  </a:solidFill>
                  <a:latin typeface="Inter"/>
                  <a:ea typeface="Inter"/>
                  <a:cs typeface="Inter"/>
                  <a:sym typeface="Inter"/>
                </a:rPr>
                <a:t>Ownership-checked requests serve video to player</a:t>
              </a:r>
              <a:endParaRPr sz="950">
                <a:solidFill>
                  <a:srgbClr val="6B7280"/>
                </a:solidFill>
                <a:latin typeface="Inter"/>
                <a:ea typeface="Inter"/>
                <a:cs typeface="Inter"/>
                <a:sym typeface="Inter"/>
              </a:endParaRPr>
            </a:p>
          </p:txBody>
        </p:sp>
      </p:grpSp>
      <p:sp>
        <p:nvSpPr>
          <p:cNvPr id="272" name="Google Shape;272;p13"/>
          <p:cNvSpPr/>
          <p:nvPr/>
        </p:nvSpPr>
        <p:spPr>
          <a:xfrm>
            <a:off x="111338" y="3667050"/>
            <a:ext cx="5166300" cy="666900"/>
          </a:xfrm>
          <a:prstGeom prst="rect">
            <a:avLst/>
          </a:prstGeom>
          <a:solidFill>
            <a:srgbClr val="FEF3E6"/>
          </a:solidFill>
          <a:ln cap="flat" cmpd="sng" w="9525">
            <a:solidFill>
              <a:srgbClr val="FDE6D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 name="Google Shape;273;p13"/>
          <p:cNvSpPr/>
          <p:nvPr/>
        </p:nvSpPr>
        <p:spPr>
          <a:xfrm>
            <a:off x="357356" y="3667050"/>
            <a:ext cx="46746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050">
                <a:solidFill>
                  <a:srgbClr val="E87722"/>
                </a:solidFill>
                <a:latin typeface="Inter"/>
                <a:ea typeface="Inter"/>
                <a:cs typeface="Inter"/>
                <a:sym typeface="Inter"/>
              </a:rPr>
              <a:t>YouTube import path:</a:t>
            </a:r>
            <a:r>
              <a:rPr b="0" i="0" lang="en-US" sz="1050">
                <a:solidFill>
                  <a:srgbClr val="E87722"/>
                </a:solidFill>
                <a:latin typeface="Inter"/>
                <a:ea typeface="Inter"/>
                <a:cs typeface="Inter"/>
                <a:sym typeface="Inter"/>
              </a:rPr>
              <a:t xml:space="preserve"> URL → yt-dlp metadata extraction → stored as external reference (no FFmpeg processing required)</a:t>
            </a:r>
            <a:endParaRPr b="0" i="0" sz="1050">
              <a:solidFill>
                <a:srgbClr val="E87722"/>
              </a:solidFill>
              <a:latin typeface="Inter"/>
              <a:ea typeface="Inter"/>
              <a:cs typeface="Inter"/>
              <a:sym typeface="Inter"/>
            </a:endParaRPr>
          </a:p>
        </p:txBody>
      </p:sp>
      <p:pic>
        <p:nvPicPr>
          <p:cNvPr id="274" name="Google Shape;274;p13" title="screencapture-localhost-3002-app-editor-2026-05-13-11_47_45.png"/>
          <p:cNvPicPr preferRelativeResize="0"/>
          <p:nvPr/>
        </p:nvPicPr>
        <p:blipFill>
          <a:blip r:embed="rId5">
            <a:alphaModFix/>
          </a:blip>
          <a:stretch>
            <a:fillRect/>
          </a:stretch>
        </p:blipFill>
        <p:spPr>
          <a:xfrm>
            <a:off x="55750" y="864812"/>
            <a:ext cx="5277499" cy="28289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9" name="Shape 279"/>
        <p:cNvGrpSpPr/>
        <p:nvPr/>
      </p:nvGrpSpPr>
      <p:grpSpPr>
        <a:xfrm>
          <a:off x="0" y="0"/>
          <a:ext cx="0" cy="0"/>
          <a:chOff x="0" y="0"/>
          <a:chExt cx="0" cy="0"/>
        </a:xfrm>
      </p:grpSpPr>
      <p:sp>
        <p:nvSpPr>
          <p:cNvPr id="280" name="Google Shape;280;p14"/>
          <p:cNvSpPr/>
          <p:nvPr/>
        </p:nvSpPr>
        <p:spPr>
          <a:xfrm>
            <a:off x="548640" y="328168"/>
            <a:ext cx="8321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722"/>
              </a:buClr>
              <a:buSzPts val="900"/>
              <a:buFont typeface="Calibri"/>
              <a:buNone/>
            </a:pPr>
            <a:r>
              <a:rPr b="1" i="0" lang="en-US" sz="900" u="none" cap="none" strike="noStrike">
                <a:solidFill>
                  <a:srgbClr val="E87722"/>
                </a:solidFill>
                <a:latin typeface="Calibri"/>
                <a:ea typeface="Calibri"/>
                <a:cs typeface="Calibri"/>
                <a:sym typeface="Calibri"/>
              </a:rPr>
              <a:t>04 · IMPLEMENTATION</a:t>
            </a:r>
            <a:endParaRPr b="0" i="0" sz="900" u="none" cap="none" strike="noStrike">
              <a:solidFill>
                <a:schemeClr val="dk1"/>
              </a:solidFill>
              <a:latin typeface="Calibri"/>
              <a:ea typeface="Calibri"/>
              <a:cs typeface="Calibri"/>
              <a:sym typeface="Calibri"/>
            </a:endParaRPr>
          </a:p>
        </p:txBody>
      </p:sp>
      <p:sp>
        <p:nvSpPr>
          <p:cNvPr id="281" name="Google Shape;281;p14"/>
          <p:cNvSpPr/>
          <p:nvPr/>
        </p:nvSpPr>
        <p:spPr>
          <a:xfrm>
            <a:off x="384048" y="401320"/>
            <a:ext cx="63900" cy="502800"/>
          </a:xfrm>
          <a:prstGeom prst="rect">
            <a:avLst/>
          </a:prstGeom>
          <a:solidFill>
            <a:srgbClr val="E87722"/>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4"/>
          <p:cNvSpPr/>
          <p:nvPr/>
        </p:nvSpPr>
        <p:spPr>
          <a:xfrm>
            <a:off x="548640" y="401320"/>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2400"/>
              <a:buFont typeface="Georgia"/>
              <a:buNone/>
            </a:pPr>
            <a:r>
              <a:rPr b="1" i="0" lang="en-US" sz="2400" u="none" cap="none" strike="noStrike">
                <a:solidFill>
                  <a:srgbClr val="1B2A4A"/>
                </a:solidFill>
                <a:latin typeface="Georgia"/>
                <a:ea typeface="Georgia"/>
                <a:cs typeface="Georgia"/>
                <a:sym typeface="Georgia"/>
              </a:rPr>
              <a:t>AI-Assisted Question Generation Pipeline</a:t>
            </a:r>
            <a:endParaRPr b="0" i="0" sz="2400" u="none" cap="none" strike="noStrike">
              <a:solidFill>
                <a:schemeClr val="dk1"/>
              </a:solidFill>
              <a:latin typeface="Calibri"/>
              <a:ea typeface="Calibri"/>
              <a:cs typeface="Calibri"/>
              <a:sym typeface="Calibri"/>
            </a:endParaRPr>
          </a:p>
        </p:txBody>
      </p:sp>
      <p:sp>
        <p:nvSpPr>
          <p:cNvPr id="283" name="Google Shape;283;p14"/>
          <p:cNvSpPr/>
          <p:nvPr/>
        </p:nvSpPr>
        <p:spPr>
          <a:xfrm>
            <a:off x="7772400" y="4846320"/>
            <a:ext cx="1097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800"/>
              <a:buFont typeface="Calibri"/>
              <a:buNone/>
            </a:pPr>
            <a:r>
              <a:rPr b="0" i="0" lang="en-US" sz="800" u="none" cap="none" strike="noStrike">
                <a:solidFill>
                  <a:srgbClr val="6B7280"/>
                </a:solidFill>
                <a:latin typeface="Calibri"/>
                <a:ea typeface="Calibri"/>
                <a:cs typeface="Calibri"/>
                <a:sym typeface="Calibri"/>
              </a:rPr>
              <a:t>12 / 21</a:t>
            </a:r>
            <a:endParaRPr b="0" i="0" sz="800" u="none" cap="none" strike="noStrike">
              <a:solidFill>
                <a:schemeClr val="dk1"/>
              </a:solidFill>
              <a:latin typeface="Calibri"/>
              <a:ea typeface="Calibri"/>
              <a:cs typeface="Calibri"/>
              <a:sym typeface="Calibri"/>
            </a:endParaRPr>
          </a:p>
        </p:txBody>
      </p:sp>
      <p:sp>
        <p:nvSpPr>
          <p:cNvPr id="284" name="Google Shape;284;p14"/>
          <p:cNvSpPr txBox="1"/>
          <p:nvPr/>
        </p:nvSpPr>
        <p:spPr>
          <a:xfrm>
            <a:off x="3333750" y="1000125"/>
            <a:ext cx="54294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1B2A4A"/>
                </a:solidFill>
                <a:latin typeface="Inter"/>
                <a:ea typeface="Inter"/>
                <a:cs typeface="Inter"/>
                <a:sym typeface="Inter"/>
              </a:rPr>
              <a:t>Provider Fallback Chain</a:t>
            </a:r>
            <a:endParaRPr b="1" sz="1400">
              <a:solidFill>
                <a:srgbClr val="1B2A4A"/>
              </a:solidFill>
              <a:latin typeface="Inter"/>
              <a:ea typeface="Inter"/>
              <a:cs typeface="Inter"/>
              <a:sym typeface="Inter"/>
            </a:endParaRPr>
          </a:p>
        </p:txBody>
      </p:sp>
      <p:grpSp>
        <p:nvGrpSpPr>
          <p:cNvPr id="285" name="Google Shape;285;p14"/>
          <p:cNvGrpSpPr/>
          <p:nvPr/>
        </p:nvGrpSpPr>
        <p:grpSpPr>
          <a:xfrm>
            <a:off x="3333750" y="1381125"/>
            <a:ext cx="5429400" cy="619200"/>
            <a:chOff x="3333750" y="1381125"/>
            <a:chExt cx="5429400" cy="619200"/>
          </a:xfrm>
        </p:grpSpPr>
        <p:sp>
          <p:nvSpPr>
            <p:cNvPr id="286" name="Google Shape;286;p14"/>
            <p:cNvSpPr/>
            <p:nvPr/>
          </p:nvSpPr>
          <p:spPr>
            <a:xfrm>
              <a:off x="3333750" y="1381125"/>
              <a:ext cx="5429400" cy="619200"/>
            </a:xfrm>
            <a:prstGeom prst="roundRect">
              <a:avLst>
                <a:gd fmla="val 12307" name="adj"/>
              </a:avLst>
            </a:prstGeom>
            <a:solidFill>
              <a:srgbClr val="F0FDFA"/>
            </a:solidFill>
            <a:ln cap="flat" cmpd="sng" w="9525">
              <a:solidFill>
                <a:srgbClr val="0D94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14"/>
            <p:cNvSpPr txBox="1"/>
            <p:nvPr/>
          </p:nvSpPr>
          <p:spPr>
            <a:xfrm>
              <a:off x="3476625" y="1381125"/>
              <a:ext cx="51435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B2A4A"/>
                  </a:solidFill>
                  <a:latin typeface="Inter"/>
                  <a:ea typeface="Inter"/>
                  <a:cs typeface="Inter"/>
                  <a:sym typeface="Inter"/>
                </a:rPr>
                <a:t xml:space="preserve">Groq (LLaMA 3) </a:t>
              </a:r>
              <a:r>
                <a:rPr b="1" lang="en-US" sz="800">
                  <a:solidFill>
                    <a:srgbClr val="0D9488"/>
                  </a:solidFill>
                  <a:latin typeface="Inter"/>
                  <a:ea typeface="Inter"/>
                  <a:cs typeface="Inter"/>
                  <a:sym typeface="Inter"/>
                </a:rPr>
                <a:t>PRIMARY</a:t>
              </a:r>
              <a:endParaRPr b="1" sz="1100">
                <a:solidFill>
                  <a:srgbClr val="1B2A4A"/>
                </a:solidFill>
                <a:latin typeface="Inter"/>
                <a:ea typeface="Inter"/>
                <a:cs typeface="Inter"/>
                <a:sym typeface="Inter"/>
              </a:endParaRPr>
            </a:p>
            <a:p>
              <a:pPr indent="0" lvl="0" marL="0" rtl="0" algn="l">
                <a:spcBef>
                  <a:spcPts val="300"/>
                </a:spcBef>
                <a:spcAft>
                  <a:spcPts val="0"/>
                </a:spcAft>
                <a:buNone/>
              </a:pPr>
              <a:r>
                <a:rPr b="0" lang="en-US" sz="950">
                  <a:solidFill>
                    <a:srgbClr val="6B7280"/>
                  </a:solidFill>
                  <a:latin typeface="Inter"/>
                  <a:ea typeface="Inter"/>
                  <a:cs typeface="Inter"/>
                  <a:sym typeface="Inter"/>
                </a:rPr>
                <a:t>Fastest · free-tier cloud inference · default provider</a:t>
              </a:r>
              <a:endParaRPr b="0" sz="950">
                <a:solidFill>
                  <a:srgbClr val="6B7280"/>
                </a:solidFill>
                <a:latin typeface="Inter"/>
                <a:ea typeface="Inter"/>
                <a:cs typeface="Inter"/>
                <a:sym typeface="Inter"/>
              </a:endParaRPr>
            </a:p>
          </p:txBody>
        </p:sp>
      </p:grpSp>
      <p:grpSp>
        <p:nvGrpSpPr>
          <p:cNvPr id="288" name="Google Shape;288;p14"/>
          <p:cNvGrpSpPr/>
          <p:nvPr/>
        </p:nvGrpSpPr>
        <p:grpSpPr>
          <a:xfrm>
            <a:off x="3333750" y="2095500"/>
            <a:ext cx="5429400" cy="619200"/>
            <a:chOff x="3333750" y="2095500"/>
            <a:chExt cx="5429400" cy="619200"/>
          </a:xfrm>
        </p:grpSpPr>
        <p:sp>
          <p:nvSpPr>
            <p:cNvPr id="289" name="Google Shape;289;p14"/>
            <p:cNvSpPr/>
            <p:nvPr/>
          </p:nvSpPr>
          <p:spPr>
            <a:xfrm>
              <a:off x="3333750" y="2095500"/>
              <a:ext cx="5429400" cy="619200"/>
            </a:xfrm>
            <a:prstGeom prst="roundRect">
              <a:avLst>
                <a:gd fmla="val 12307" name="adj"/>
              </a:avLst>
            </a:prstGeom>
            <a:solidFill>
              <a:srgbClr val="EFF6FF"/>
            </a:solidFill>
            <a:ln cap="flat" cmpd="sng" w="9525">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0" name="Google Shape;290;p14"/>
            <p:cNvSpPr txBox="1"/>
            <p:nvPr/>
          </p:nvSpPr>
          <p:spPr>
            <a:xfrm>
              <a:off x="3476625" y="2095500"/>
              <a:ext cx="51435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B2A4A"/>
                  </a:solidFill>
                  <a:latin typeface="Inter"/>
                  <a:ea typeface="Inter"/>
                  <a:cs typeface="Inter"/>
                  <a:sym typeface="Inter"/>
                </a:rPr>
                <a:t xml:space="preserve">Ollama (local) </a:t>
              </a:r>
              <a:r>
                <a:rPr b="1" lang="en-US" sz="800">
                  <a:solidFill>
                    <a:srgbClr val="2563EB"/>
                  </a:solidFill>
                  <a:latin typeface="Inter"/>
                  <a:ea typeface="Inter"/>
                  <a:cs typeface="Inter"/>
                  <a:sym typeface="Inter"/>
                </a:rPr>
                <a:t>FALLBACK 1</a:t>
              </a:r>
              <a:endParaRPr b="1" sz="1100">
                <a:solidFill>
                  <a:srgbClr val="1B2A4A"/>
                </a:solidFill>
                <a:latin typeface="Inter"/>
                <a:ea typeface="Inter"/>
                <a:cs typeface="Inter"/>
                <a:sym typeface="Inter"/>
              </a:endParaRPr>
            </a:p>
            <a:p>
              <a:pPr indent="0" lvl="0" marL="0" rtl="0" algn="l">
                <a:spcBef>
                  <a:spcPts val="300"/>
                </a:spcBef>
                <a:spcAft>
                  <a:spcPts val="0"/>
                </a:spcAft>
                <a:buNone/>
              </a:pPr>
              <a:r>
                <a:rPr b="0" lang="en-US" sz="950">
                  <a:solidFill>
                    <a:srgbClr val="6B7280"/>
                  </a:solidFill>
                  <a:latin typeface="Inter"/>
                  <a:ea typeface="Inter"/>
                  <a:cs typeface="Inter"/>
                  <a:sym typeface="Inter"/>
                </a:rPr>
                <a:t>Fully offline · private data · no network dependency</a:t>
              </a:r>
              <a:endParaRPr b="0" sz="950">
                <a:solidFill>
                  <a:srgbClr val="6B7280"/>
                </a:solidFill>
                <a:latin typeface="Inter"/>
                <a:ea typeface="Inter"/>
                <a:cs typeface="Inter"/>
                <a:sym typeface="Inter"/>
              </a:endParaRPr>
            </a:p>
          </p:txBody>
        </p:sp>
      </p:grpSp>
      <p:grpSp>
        <p:nvGrpSpPr>
          <p:cNvPr id="291" name="Google Shape;291;p14"/>
          <p:cNvGrpSpPr/>
          <p:nvPr/>
        </p:nvGrpSpPr>
        <p:grpSpPr>
          <a:xfrm>
            <a:off x="3333750" y="2809875"/>
            <a:ext cx="5429400" cy="619200"/>
            <a:chOff x="3333750" y="2809875"/>
            <a:chExt cx="5429400" cy="619200"/>
          </a:xfrm>
        </p:grpSpPr>
        <p:sp>
          <p:nvSpPr>
            <p:cNvPr id="292" name="Google Shape;292;p14"/>
            <p:cNvSpPr/>
            <p:nvPr/>
          </p:nvSpPr>
          <p:spPr>
            <a:xfrm>
              <a:off x="3333750" y="2809875"/>
              <a:ext cx="5429400" cy="619200"/>
            </a:xfrm>
            <a:prstGeom prst="roundRect">
              <a:avLst>
                <a:gd fmla="val 12307" name="adj"/>
              </a:avLst>
            </a:prstGeom>
            <a:solidFill>
              <a:srgbClr val="F5F3FF"/>
            </a:solidFill>
            <a:ln cap="flat" cmpd="sng" w="9525">
              <a:solidFill>
                <a:srgbClr val="7C3AE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3" name="Google Shape;293;p14"/>
            <p:cNvSpPr txBox="1"/>
            <p:nvPr/>
          </p:nvSpPr>
          <p:spPr>
            <a:xfrm>
              <a:off x="3476625" y="2809875"/>
              <a:ext cx="51435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B2A4A"/>
                  </a:solidFill>
                  <a:latin typeface="Inter"/>
                  <a:ea typeface="Inter"/>
                  <a:cs typeface="Inter"/>
                  <a:sym typeface="Inter"/>
                </a:rPr>
                <a:t xml:space="preserve">Anthropic Claude </a:t>
              </a:r>
              <a:r>
                <a:rPr b="1" lang="en-US" sz="800">
                  <a:solidFill>
                    <a:srgbClr val="7C3AED"/>
                  </a:solidFill>
                  <a:latin typeface="Inter"/>
                  <a:ea typeface="Inter"/>
                  <a:cs typeface="Inter"/>
                  <a:sym typeface="Inter"/>
                </a:rPr>
                <a:t>FALLBACK 2</a:t>
              </a:r>
              <a:endParaRPr b="1" sz="1100">
                <a:solidFill>
                  <a:srgbClr val="1B2A4A"/>
                </a:solidFill>
                <a:latin typeface="Inter"/>
                <a:ea typeface="Inter"/>
                <a:cs typeface="Inter"/>
                <a:sym typeface="Inter"/>
              </a:endParaRPr>
            </a:p>
            <a:p>
              <a:pPr indent="0" lvl="0" marL="0" rtl="0" algn="l">
                <a:spcBef>
                  <a:spcPts val="300"/>
                </a:spcBef>
                <a:spcAft>
                  <a:spcPts val="0"/>
                </a:spcAft>
                <a:buNone/>
              </a:pPr>
              <a:r>
                <a:rPr b="0" lang="en-US" sz="950">
                  <a:solidFill>
                    <a:srgbClr val="6B7280"/>
                  </a:solidFill>
                  <a:latin typeface="Inter"/>
                  <a:ea typeface="Inter"/>
                  <a:cs typeface="Inter"/>
                  <a:sym typeface="Inter"/>
                </a:rPr>
                <a:t>Highest quality · paid API · last-resort fallback</a:t>
              </a:r>
              <a:endParaRPr b="0" sz="950">
                <a:solidFill>
                  <a:srgbClr val="6B7280"/>
                </a:solidFill>
                <a:latin typeface="Inter"/>
                <a:ea typeface="Inter"/>
                <a:cs typeface="Inter"/>
                <a:sym typeface="Inter"/>
              </a:endParaRPr>
            </a:p>
          </p:txBody>
        </p:sp>
      </p:grpSp>
      <p:grpSp>
        <p:nvGrpSpPr>
          <p:cNvPr id="294" name="Google Shape;294;p14"/>
          <p:cNvGrpSpPr/>
          <p:nvPr/>
        </p:nvGrpSpPr>
        <p:grpSpPr>
          <a:xfrm>
            <a:off x="3333750" y="3619500"/>
            <a:ext cx="5429400" cy="1143150"/>
            <a:chOff x="3333750" y="3619500"/>
            <a:chExt cx="5429400" cy="1143150"/>
          </a:xfrm>
        </p:grpSpPr>
        <p:sp>
          <p:nvSpPr>
            <p:cNvPr id="295" name="Google Shape;295;p14"/>
            <p:cNvSpPr txBox="1"/>
            <p:nvPr/>
          </p:nvSpPr>
          <p:spPr>
            <a:xfrm>
              <a:off x="3333750" y="3619500"/>
              <a:ext cx="54294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1B2A4A"/>
                  </a:solidFill>
                  <a:latin typeface="Inter"/>
                  <a:ea typeface="Inter"/>
                  <a:cs typeface="Inter"/>
                  <a:sym typeface="Inter"/>
                </a:rPr>
                <a:t>Key Engineering Decisions</a:t>
              </a:r>
              <a:endParaRPr b="1" sz="1200">
                <a:solidFill>
                  <a:srgbClr val="1B2A4A"/>
                </a:solidFill>
                <a:latin typeface="Inter"/>
                <a:ea typeface="Inter"/>
                <a:cs typeface="Inter"/>
                <a:sym typeface="Inter"/>
              </a:endParaRPr>
            </a:p>
          </p:txBody>
        </p:sp>
        <p:sp>
          <p:nvSpPr>
            <p:cNvPr id="296" name="Google Shape;296;p14"/>
            <p:cNvSpPr txBox="1"/>
            <p:nvPr/>
          </p:nvSpPr>
          <p:spPr>
            <a:xfrm>
              <a:off x="3333750" y="3905250"/>
              <a:ext cx="54294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00">
                  <a:solidFill>
                    <a:srgbClr val="E87722"/>
                  </a:solidFill>
                  <a:latin typeface="Inter"/>
                  <a:ea typeface="Inter"/>
                  <a:cs typeface="Inter"/>
                  <a:sym typeface="Inter"/>
                </a:rPr>
                <a:t>SSE streaming:</a:t>
              </a:r>
              <a:r>
                <a:rPr lang="en-US" sz="900">
                  <a:solidFill>
                    <a:srgbClr val="374151"/>
                  </a:solidFill>
                  <a:latin typeface="Inter"/>
                  <a:ea typeface="Inter"/>
                  <a:cs typeface="Inter"/>
                  <a:sym typeface="Inter"/>
                </a:rPr>
                <a:t xml:space="preserve"> tokens arrive in real-time; eliminates blank-screen anxiety</a:t>
              </a:r>
              <a:endParaRPr sz="900">
                <a:solidFill>
                  <a:srgbClr val="374151"/>
                </a:solidFill>
                <a:latin typeface="Inter"/>
                <a:ea typeface="Inter"/>
                <a:cs typeface="Inter"/>
                <a:sym typeface="Inter"/>
              </a:endParaRPr>
            </a:p>
            <a:p>
              <a:pPr indent="0" lvl="0" marL="0" rtl="0" algn="l">
                <a:spcBef>
                  <a:spcPts val="450"/>
                </a:spcBef>
                <a:spcAft>
                  <a:spcPts val="0"/>
                </a:spcAft>
                <a:buNone/>
              </a:pPr>
              <a:r>
                <a:rPr b="1" lang="en-US" sz="900">
                  <a:solidFill>
                    <a:srgbClr val="E87722"/>
                  </a:solidFill>
                  <a:latin typeface="Inter"/>
                  <a:ea typeface="Inter"/>
                  <a:cs typeface="Inter"/>
                  <a:sym typeface="Inter"/>
                </a:rPr>
                <a:t>Zod validation:</a:t>
              </a:r>
              <a:r>
                <a:rPr lang="en-US" sz="900">
                  <a:solidFill>
                    <a:srgbClr val="374151"/>
                  </a:solidFill>
                  <a:latin typeface="Inter"/>
                  <a:ea typeface="Inter"/>
                  <a:cs typeface="Inter"/>
                  <a:sym typeface="Inter"/>
                </a:rPr>
                <a:t xml:space="preserve"> raw LLM JSON is parsed against strict schemas before UI</a:t>
              </a:r>
              <a:endParaRPr sz="900">
                <a:solidFill>
                  <a:srgbClr val="374151"/>
                </a:solidFill>
                <a:latin typeface="Inter"/>
                <a:ea typeface="Inter"/>
                <a:cs typeface="Inter"/>
                <a:sym typeface="Inter"/>
              </a:endParaRPr>
            </a:p>
            <a:p>
              <a:pPr indent="0" lvl="0" marL="0" rtl="0" algn="l">
                <a:spcBef>
                  <a:spcPts val="450"/>
                </a:spcBef>
                <a:spcAft>
                  <a:spcPts val="0"/>
                </a:spcAft>
                <a:buNone/>
              </a:pPr>
              <a:r>
                <a:rPr b="1" lang="en-US" sz="900">
                  <a:solidFill>
                    <a:srgbClr val="E87722"/>
                  </a:solidFill>
                  <a:latin typeface="Inter"/>
                  <a:ea typeface="Inter"/>
                  <a:cs typeface="Inter"/>
                  <a:sym typeface="Inter"/>
                </a:rPr>
                <a:t>Bloom's taxonomy:</a:t>
              </a:r>
              <a:r>
                <a:rPr lang="en-US" sz="900">
                  <a:solidFill>
                    <a:srgbClr val="374151"/>
                  </a:solidFill>
                  <a:latin typeface="Inter"/>
                  <a:ea typeface="Inter"/>
                  <a:cs typeface="Inter"/>
                  <a:sym typeface="Inter"/>
                </a:rPr>
                <a:t xml:space="preserve"> prompt engineering classifies questions by cognitive level</a:t>
              </a:r>
              <a:endParaRPr sz="900">
                <a:solidFill>
                  <a:srgbClr val="374151"/>
                </a:solidFill>
                <a:latin typeface="Inter"/>
                <a:ea typeface="Inter"/>
                <a:cs typeface="Inter"/>
                <a:sym typeface="Inter"/>
              </a:endParaRPr>
            </a:p>
          </p:txBody>
        </p:sp>
      </p:grpSp>
      <p:pic>
        <p:nvPicPr>
          <p:cNvPr descr="/sessions/nifty-eager-shannon/mnt/outputs/pptx-build/imgs/AI_Pipeline.jpeg" id="297" name="Google Shape;297;p14"/>
          <p:cNvPicPr preferRelativeResize="0"/>
          <p:nvPr/>
        </p:nvPicPr>
        <p:blipFill rotWithShape="1">
          <a:blip r:embed="rId3">
            <a:alphaModFix/>
          </a:blip>
          <a:srcRect b="0" l="0" r="0" t="0"/>
          <a:stretch/>
        </p:blipFill>
        <p:spPr>
          <a:xfrm>
            <a:off x="785725" y="904125"/>
            <a:ext cx="1934200" cy="3703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2" name="Shape 302"/>
        <p:cNvGrpSpPr/>
        <p:nvPr/>
      </p:nvGrpSpPr>
      <p:grpSpPr>
        <a:xfrm>
          <a:off x="0" y="0"/>
          <a:ext cx="0" cy="0"/>
          <a:chOff x="0" y="0"/>
          <a:chExt cx="0" cy="0"/>
        </a:xfrm>
      </p:grpSpPr>
      <p:sp>
        <p:nvSpPr>
          <p:cNvPr id="303" name="Google Shape;303;p15"/>
          <p:cNvSpPr/>
          <p:nvPr/>
        </p:nvSpPr>
        <p:spPr>
          <a:xfrm>
            <a:off x="548640" y="20116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E87722"/>
                </a:solidFill>
                <a:latin typeface="Inter"/>
                <a:ea typeface="Inter"/>
                <a:cs typeface="Inter"/>
                <a:sym typeface="Inter"/>
              </a:rPr>
              <a:t>04 · IMPLEMENTATION</a:t>
            </a:r>
            <a:endParaRPr b="1" sz="900">
              <a:solidFill>
                <a:srgbClr val="E87722"/>
              </a:solidFill>
              <a:latin typeface="Inter"/>
              <a:ea typeface="Inter"/>
              <a:cs typeface="Inter"/>
              <a:sym typeface="Inter"/>
            </a:endParaRPr>
          </a:p>
        </p:txBody>
      </p:sp>
      <p:sp>
        <p:nvSpPr>
          <p:cNvPr id="304" name="Google Shape;304;p15"/>
          <p:cNvSpPr/>
          <p:nvPr/>
        </p:nvSpPr>
        <p:spPr>
          <a:xfrm>
            <a:off x="384048" y="274320"/>
            <a:ext cx="63900" cy="502800"/>
          </a:xfrm>
          <a:prstGeom prst="rect">
            <a:avLst/>
          </a:prstGeom>
          <a:solidFill>
            <a:srgbClr val="E87722"/>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5"/>
          <p:cNvSpPr/>
          <p:nvPr/>
        </p:nvSpPr>
        <p:spPr>
          <a:xfrm>
            <a:off x="548640" y="27432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1B2A4A"/>
                </a:solidFill>
                <a:latin typeface="Georgia"/>
                <a:ea typeface="Georgia"/>
                <a:cs typeface="Georgia"/>
                <a:sym typeface="Georgia"/>
              </a:rPr>
              <a:t>H5P Interactive Video Editor</a:t>
            </a:r>
            <a:endParaRPr b="1" sz="2800">
              <a:solidFill>
                <a:srgbClr val="1B2A4A"/>
              </a:solidFill>
              <a:latin typeface="Georgia"/>
              <a:ea typeface="Georgia"/>
              <a:cs typeface="Georgia"/>
              <a:sym typeface="Georgia"/>
            </a:endParaRPr>
          </a:p>
        </p:txBody>
      </p:sp>
      <p:sp>
        <p:nvSpPr>
          <p:cNvPr id="306" name="Google Shape;306;p15"/>
          <p:cNvSpPr/>
          <p:nvPr/>
        </p:nvSpPr>
        <p:spPr>
          <a:xfrm>
            <a:off x="7772400" y="4846320"/>
            <a:ext cx="1097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800"/>
              <a:buFont typeface="Calibri"/>
              <a:buNone/>
            </a:pPr>
            <a:r>
              <a:rPr b="0" i="0" lang="en-US" sz="800" u="none" cap="none" strike="noStrike">
                <a:solidFill>
                  <a:srgbClr val="6B7280"/>
                </a:solidFill>
                <a:latin typeface="Calibri"/>
                <a:ea typeface="Calibri"/>
                <a:cs typeface="Calibri"/>
                <a:sym typeface="Calibri"/>
              </a:rPr>
              <a:t>13 / 21</a:t>
            </a:r>
            <a:endParaRPr b="0" i="0" sz="800" u="none" cap="none" strike="noStrike">
              <a:solidFill>
                <a:schemeClr val="dk1"/>
              </a:solidFill>
              <a:latin typeface="Calibri"/>
              <a:ea typeface="Calibri"/>
              <a:cs typeface="Calibri"/>
              <a:sym typeface="Calibri"/>
            </a:endParaRPr>
          </a:p>
        </p:txBody>
      </p:sp>
      <p:sp>
        <p:nvSpPr>
          <p:cNvPr id="307" name="Google Shape;307;p15"/>
          <p:cNvSpPr/>
          <p:nvPr/>
        </p:nvSpPr>
        <p:spPr>
          <a:xfrm>
            <a:off x="381000" y="3857625"/>
            <a:ext cx="4762500" cy="571500"/>
          </a:xfrm>
          <a:prstGeom prst="rect">
            <a:avLst/>
          </a:prstGeom>
          <a:solidFill>
            <a:srgbClr val="000000">
              <a:alpha val="0"/>
            </a:srgbClr>
          </a:solidFill>
          <a:ln>
            <a:noFill/>
          </a:ln>
        </p:spPr>
        <p:txBody>
          <a:bodyPr anchorCtr="0" anchor="ctr" bIns="142875" lIns="142875" spcFirstLastPara="1" rIns="142875" wrap="square" tIns="142875">
            <a:noAutofit/>
          </a:bodyPr>
          <a:lstStyle/>
          <a:p>
            <a:pPr indent="0" lvl="0" marL="0" rtl="0" algn="l">
              <a:spcBef>
                <a:spcPts val="0"/>
              </a:spcBef>
              <a:spcAft>
                <a:spcPts val="0"/>
              </a:spcAft>
              <a:buNone/>
            </a:pPr>
            <a:r>
              <a:rPr b="0" i="1" lang="en-US" sz="935">
                <a:solidFill>
                  <a:srgbClr val="374151"/>
                </a:solidFill>
                <a:highlight>
                  <a:srgbClr val="FEF3E6"/>
                </a:highlight>
                <a:latin typeface="Inter"/>
                <a:ea typeface="Inter"/>
                <a:cs typeface="Inter"/>
                <a:sym typeface="Inter"/>
              </a:rPr>
              <a:t xml:space="preserve">Single-page editor: </a:t>
            </a:r>
            <a:r>
              <a:rPr b="1" i="1" lang="en-US" sz="935">
                <a:solidFill>
                  <a:srgbClr val="E87722"/>
                </a:solidFill>
                <a:highlight>
                  <a:srgbClr val="FEF3E6"/>
                </a:highlight>
                <a:latin typeface="Inter"/>
                <a:ea typeface="Inter"/>
                <a:cs typeface="Inter"/>
                <a:sym typeface="Inter"/>
              </a:rPr>
              <a:t>video player · AI panel · question timeline</a:t>
            </a:r>
            <a:r>
              <a:rPr b="0" i="1" lang="en-US" sz="935">
                <a:solidFill>
                  <a:srgbClr val="374151"/>
                </a:solidFill>
                <a:highlight>
                  <a:srgbClr val="FEF3E6"/>
                </a:highlight>
                <a:latin typeface="Inter"/>
                <a:ea typeface="Inter"/>
                <a:cs typeface="Inter"/>
                <a:sym typeface="Inter"/>
              </a:rPr>
              <a:t xml:space="preserve"> — all co-located, no screen switching</a:t>
            </a:r>
            <a:endParaRPr b="0" i="1" sz="935">
              <a:solidFill>
                <a:srgbClr val="374151"/>
              </a:solidFill>
              <a:highlight>
                <a:srgbClr val="FEF3E6"/>
              </a:highlight>
              <a:latin typeface="Inter"/>
              <a:ea typeface="Inter"/>
              <a:cs typeface="Inter"/>
              <a:sym typeface="Inter"/>
            </a:endParaRPr>
          </a:p>
        </p:txBody>
      </p:sp>
      <p:sp>
        <p:nvSpPr>
          <p:cNvPr id="308" name="Google Shape;308;p15"/>
          <p:cNvSpPr/>
          <p:nvPr/>
        </p:nvSpPr>
        <p:spPr>
          <a:xfrm>
            <a:off x="5334000" y="1095375"/>
            <a:ext cx="3429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1B2A4A"/>
                </a:solidFill>
                <a:latin typeface="Inter"/>
                <a:ea typeface="Inter"/>
                <a:cs typeface="Inter"/>
                <a:sym typeface="Inter"/>
              </a:rPr>
              <a:t>Design Principles Applied</a:t>
            </a:r>
            <a:endParaRPr b="1" sz="1400">
              <a:solidFill>
                <a:srgbClr val="1B2A4A"/>
              </a:solidFill>
              <a:latin typeface="Inter"/>
              <a:ea typeface="Inter"/>
              <a:cs typeface="Inter"/>
              <a:sym typeface="Inter"/>
            </a:endParaRPr>
          </a:p>
        </p:txBody>
      </p:sp>
      <p:grpSp>
        <p:nvGrpSpPr>
          <p:cNvPr id="309" name="Google Shape;309;p15"/>
          <p:cNvGrpSpPr/>
          <p:nvPr/>
        </p:nvGrpSpPr>
        <p:grpSpPr>
          <a:xfrm>
            <a:off x="5334000" y="1476375"/>
            <a:ext cx="3429000" cy="714300"/>
            <a:chOff x="5334000" y="1476375"/>
            <a:chExt cx="3429000" cy="714300"/>
          </a:xfrm>
        </p:grpSpPr>
        <p:sp>
          <p:nvSpPr>
            <p:cNvPr id="310" name="Google Shape;310;p15"/>
            <p:cNvSpPr/>
            <p:nvPr/>
          </p:nvSpPr>
          <p:spPr>
            <a:xfrm>
              <a:off x="5334000" y="1476375"/>
              <a:ext cx="3429000" cy="714300"/>
            </a:xfrm>
            <a:prstGeom prst="roundRect">
              <a:avLst>
                <a:gd fmla="val 10666"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15"/>
            <p:cNvSpPr/>
            <p:nvPr/>
          </p:nvSpPr>
          <p:spPr>
            <a:xfrm>
              <a:off x="5334000" y="1476375"/>
              <a:ext cx="47700" cy="714300"/>
            </a:xfrm>
            <a:prstGeom prst="rect">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15"/>
            <p:cNvSpPr txBox="1"/>
            <p:nvPr/>
          </p:nvSpPr>
          <p:spPr>
            <a:xfrm>
              <a:off x="5476875" y="1476375"/>
              <a:ext cx="31908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E87722"/>
                  </a:solidFill>
                  <a:latin typeface="Inter"/>
                  <a:ea typeface="Inter"/>
                  <a:cs typeface="Inter"/>
                  <a:sym typeface="Inter"/>
                </a:rPr>
                <a:t>Co-location (Chandler &amp; Sweller)</a:t>
              </a:r>
              <a:endParaRPr b="1" sz="1100">
                <a:solidFill>
                  <a:srgbClr val="E87722"/>
                </a:solidFill>
                <a:latin typeface="Inter"/>
                <a:ea typeface="Inter"/>
                <a:cs typeface="Inter"/>
                <a:sym typeface="Inter"/>
              </a:endParaRPr>
            </a:p>
            <a:p>
              <a:pPr indent="0" lvl="0" marL="0" rtl="0" algn="l">
                <a:spcBef>
                  <a:spcPts val="300"/>
                </a:spcBef>
                <a:spcAft>
                  <a:spcPts val="0"/>
                </a:spcAft>
                <a:buNone/>
              </a:pPr>
              <a:r>
                <a:rPr b="0" lang="en-US" sz="950">
                  <a:solidFill>
                    <a:srgbClr val="6B7280"/>
                  </a:solidFill>
                  <a:latin typeface="Inter"/>
                  <a:ea typeface="Inter"/>
                  <a:cs typeface="Inter"/>
                  <a:sym typeface="Inter"/>
                </a:rPr>
                <a:t>One viewport eliminates split-attention effect for video, transcript, and AI suggestions.</a:t>
              </a:r>
              <a:endParaRPr b="0" sz="950">
                <a:solidFill>
                  <a:srgbClr val="6B7280"/>
                </a:solidFill>
                <a:latin typeface="Inter"/>
                <a:ea typeface="Inter"/>
                <a:cs typeface="Inter"/>
                <a:sym typeface="Inter"/>
              </a:endParaRPr>
            </a:p>
          </p:txBody>
        </p:sp>
      </p:grpSp>
      <p:grpSp>
        <p:nvGrpSpPr>
          <p:cNvPr id="313" name="Google Shape;313;p15"/>
          <p:cNvGrpSpPr/>
          <p:nvPr/>
        </p:nvGrpSpPr>
        <p:grpSpPr>
          <a:xfrm>
            <a:off x="5334000" y="2286000"/>
            <a:ext cx="3429000" cy="714300"/>
            <a:chOff x="5334000" y="2286000"/>
            <a:chExt cx="3429000" cy="714300"/>
          </a:xfrm>
        </p:grpSpPr>
        <p:sp>
          <p:nvSpPr>
            <p:cNvPr id="314" name="Google Shape;314;p15"/>
            <p:cNvSpPr/>
            <p:nvPr/>
          </p:nvSpPr>
          <p:spPr>
            <a:xfrm>
              <a:off x="5334000" y="2286000"/>
              <a:ext cx="3429000" cy="714300"/>
            </a:xfrm>
            <a:prstGeom prst="roundRect">
              <a:avLst>
                <a:gd fmla="val 10666"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15"/>
            <p:cNvSpPr/>
            <p:nvPr/>
          </p:nvSpPr>
          <p:spPr>
            <a:xfrm>
              <a:off x="5334000" y="2286000"/>
              <a:ext cx="47700" cy="714300"/>
            </a:xfrm>
            <a:prstGeom prst="rect">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6" name="Google Shape;316;p15"/>
            <p:cNvSpPr txBox="1"/>
            <p:nvPr/>
          </p:nvSpPr>
          <p:spPr>
            <a:xfrm>
              <a:off x="5476875" y="2286000"/>
              <a:ext cx="31908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E87722"/>
                  </a:solidFill>
                  <a:latin typeface="Inter"/>
                  <a:ea typeface="Inter"/>
                  <a:cs typeface="Inter"/>
                  <a:sym typeface="Inter"/>
                </a:rPr>
                <a:t>47 → 6 interactions</a:t>
              </a:r>
              <a:endParaRPr b="1" sz="1100">
                <a:solidFill>
                  <a:srgbClr val="E87722"/>
                </a:solidFill>
                <a:latin typeface="Inter"/>
                <a:ea typeface="Inter"/>
                <a:cs typeface="Inter"/>
                <a:sym typeface="Inter"/>
              </a:endParaRPr>
            </a:p>
            <a:p>
              <a:pPr indent="0" lvl="0" marL="0" rtl="0" algn="l">
                <a:spcBef>
                  <a:spcPts val="300"/>
                </a:spcBef>
                <a:spcAft>
                  <a:spcPts val="0"/>
                </a:spcAft>
                <a:buNone/>
              </a:pPr>
              <a:r>
                <a:rPr b="0" lang="en-US" sz="950">
                  <a:solidFill>
                    <a:srgbClr val="6B7280"/>
                  </a:solidFill>
                  <a:latin typeface="Inter"/>
                  <a:ea typeface="Inter"/>
                  <a:cs typeface="Inter"/>
                  <a:sym typeface="Inter"/>
                </a:rPr>
                <a:t>Significant reduction via removal of page reloads and plugin navigation steps.</a:t>
              </a:r>
              <a:endParaRPr b="0" sz="950">
                <a:solidFill>
                  <a:srgbClr val="6B7280"/>
                </a:solidFill>
                <a:latin typeface="Inter"/>
                <a:ea typeface="Inter"/>
                <a:cs typeface="Inter"/>
                <a:sym typeface="Inter"/>
              </a:endParaRPr>
            </a:p>
          </p:txBody>
        </p:sp>
      </p:grpSp>
      <p:grpSp>
        <p:nvGrpSpPr>
          <p:cNvPr id="317" name="Google Shape;317;p15"/>
          <p:cNvGrpSpPr/>
          <p:nvPr/>
        </p:nvGrpSpPr>
        <p:grpSpPr>
          <a:xfrm>
            <a:off x="5334000" y="3095625"/>
            <a:ext cx="3429000" cy="714300"/>
            <a:chOff x="5334000" y="3095625"/>
            <a:chExt cx="3429000" cy="714300"/>
          </a:xfrm>
        </p:grpSpPr>
        <p:sp>
          <p:nvSpPr>
            <p:cNvPr id="318" name="Google Shape;318;p15"/>
            <p:cNvSpPr/>
            <p:nvPr/>
          </p:nvSpPr>
          <p:spPr>
            <a:xfrm>
              <a:off x="5334000" y="3095625"/>
              <a:ext cx="3429000" cy="714300"/>
            </a:xfrm>
            <a:prstGeom prst="roundRect">
              <a:avLst>
                <a:gd fmla="val 10666"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15"/>
            <p:cNvSpPr/>
            <p:nvPr/>
          </p:nvSpPr>
          <p:spPr>
            <a:xfrm>
              <a:off x="5334000" y="3095625"/>
              <a:ext cx="47700" cy="714300"/>
            </a:xfrm>
            <a:prstGeom prst="rect">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15"/>
            <p:cNvSpPr txBox="1"/>
            <p:nvPr/>
          </p:nvSpPr>
          <p:spPr>
            <a:xfrm>
              <a:off x="5476875" y="3095625"/>
              <a:ext cx="31908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E87722"/>
                  </a:solidFill>
                  <a:latin typeface="Inter"/>
                  <a:ea typeface="Inter"/>
                  <a:cs typeface="Inter"/>
                  <a:sym typeface="Inter"/>
                </a:rPr>
                <a:t>Timestamp-based placement</a:t>
              </a:r>
              <a:endParaRPr b="1" sz="1100">
                <a:solidFill>
                  <a:srgbClr val="E87722"/>
                </a:solidFill>
                <a:latin typeface="Inter"/>
                <a:ea typeface="Inter"/>
                <a:cs typeface="Inter"/>
                <a:sym typeface="Inter"/>
              </a:endParaRPr>
            </a:p>
            <a:p>
              <a:pPr indent="0" lvl="0" marL="0" rtl="0" algn="l">
                <a:spcBef>
                  <a:spcPts val="300"/>
                </a:spcBef>
                <a:spcAft>
                  <a:spcPts val="0"/>
                </a:spcAft>
                <a:buNone/>
              </a:pPr>
              <a:r>
                <a:rPr b="0" lang="en-US" sz="950">
                  <a:solidFill>
                    <a:srgbClr val="6B7280"/>
                  </a:solidFill>
                  <a:latin typeface="Inter"/>
                  <a:ea typeface="Inter"/>
                  <a:cs typeface="Inter"/>
                  <a:sym typeface="Inter"/>
                </a:rPr>
                <a:t>Questions are anchored precisely to the playback second on the video scrubber.</a:t>
              </a:r>
              <a:endParaRPr b="0" sz="950">
                <a:solidFill>
                  <a:srgbClr val="6B7280"/>
                </a:solidFill>
                <a:latin typeface="Inter"/>
                <a:ea typeface="Inter"/>
                <a:cs typeface="Inter"/>
                <a:sym typeface="Inter"/>
              </a:endParaRPr>
            </a:p>
          </p:txBody>
        </p:sp>
      </p:grpSp>
      <p:grpSp>
        <p:nvGrpSpPr>
          <p:cNvPr id="321" name="Google Shape;321;p15"/>
          <p:cNvGrpSpPr/>
          <p:nvPr/>
        </p:nvGrpSpPr>
        <p:grpSpPr>
          <a:xfrm>
            <a:off x="5334000" y="3905250"/>
            <a:ext cx="3429000" cy="714300"/>
            <a:chOff x="5334000" y="3905250"/>
            <a:chExt cx="3429000" cy="714300"/>
          </a:xfrm>
        </p:grpSpPr>
        <p:sp>
          <p:nvSpPr>
            <p:cNvPr id="322" name="Google Shape;322;p15"/>
            <p:cNvSpPr/>
            <p:nvPr/>
          </p:nvSpPr>
          <p:spPr>
            <a:xfrm>
              <a:off x="5334000" y="3905250"/>
              <a:ext cx="3429000" cy="714300"/>
            </a:xfrm>
            <a:prstGeom prst="roundRect">
              <a:avLst>
                <a:gd fmla="val 10666"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3" name="Google Shape;323;p15"/>
            <p:cNvSpPr/>
            <p:nvPr/>
          </p:nvSpPr>
          <p:spPr>
            <a:xfrm>
              <a:off x="5334000" y="3905250"/>
              <a:ext cx="47700" cy="714300"/>
            </a:xfrm>
            <a:prstGeom prst="rect">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4" name="Google Shape;324;p15"/>
            <p:cNvSpPr txBox="1"/>
            <p:nvPr/>
          </p:nvSpPr>
          <p:spPr>
            <a:xfrm>
              <a:off x="5476875" y="3905250"/>
              <a:ext cx="31908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E87722"/>
                  </a:solidFill>
                  <a:latin typeface="Inter"/>
                  <a:ea typeface="Inter"/>
                  <a:cs typeface="Inter"/>
                  <a:sym typeface="Inter"/>
                </a:rPr>
                <a:t>Real-time H5P preview</a:t>
              </a:r>
              <a:endParaRPr b="1" sz="1100">
                <a:solidFill>
                  <a:srgbClr val="E87722"/>
                </a:solidFill>
                <a:latin typeface="Inter"/>
                <a:ea typeface="Inter"/>
                <a:cs typeface="Inter"/>
                <a:sym typeface="Inter"/>
              </a:endParaRPr>
            </a:p>
            <a:p>
              <a:pPr indent="0" lvl="0" marL="0" rtl="0" algn="l">
                <a:spcBef>
                  <a:spcPts val="300"/>
                </a:spcBef>
                <a:spcAft>
                  <a:spcPts val="0"/>
                </a:spcAft>
                <a:buNone/>
              </a:pPr>
              <a:r>
                <a:rPr b="0" lang="en-US" sz="950">
                  <a:solidFill>
                    <a:srgbClr val="6B7280"/>
                  </a:solidFill>
                  <a:latin typeface="Inter"/>
                  <a:ea typeface="Inter"/>
                  <a:cs typeface="Inter"/>
                  <a:sym typeface="Inter"/>
                </a:rPr>
                <a:t>Pixel-accurate rendering via Lumieducation H5P library; no export cycle.</a:t>
              </a:r>
              <a:endParaRPr b="0" sz="950">
                <a:solidFill>
                  <a:srgbClr val="6B7280"/>
                </a:solidFill>
                <a:latin typeface="Inter"/>
                <a:ea typeface="Inter"/>
                <a:cs typeface="Inter"/>
                <a:sym typeface="Inter"/>
              </a:endParaRPr>
            </a:p>
          </p:txBody>
        </p:sp>
      </p:grpSp>
      <p:pic>
        <p:nvPicPr>
          <p:cNvPr id="325" name="Google Shape;325;p15" title="screencapture-localhost-3002-app-editor-19877c17-4f74-4eee-85a6-6154e807ce10-2026-05-13-11_43_19.png"/>
          <p:cNvPicPr preferRelativeResize="0"/>
          <p:nvPr/>
        </p:nvPicPr>
        <p:blipFill>
          <a:blip r:embed="rId3">
            <a:alphaModFix/>
          </a:blip>
          <a:stretch>
            <a:fillRect/>
          </a:stretch>
        </p:blipFill>
        <p:spPr>
          <a:xfrm>
            <a:off x="114300" y="1209670"/>
            <a:ext cx="5029200" cy="2724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0" name="Shape 330"/>
        <p:cNvGrpSpPr/>
        <p:nvPr/>
      </p:nvGrpSpPr>
      <p:grpSpPr>
        <a:xfrm>
          <a:off x="0" y="0"/>
          <a:ext cx="0" cy="0"/>
          <a:chOff x="0" y="0"/>
          <a:chExt cx="0" cy="0"/>
        </a:xfrm>
      </p:grpSpPr>
      <p:sp>
        <p:nvSpPr>
          <p:cNvPr id="331" name="Google Shape;331;p16"/>
          <p:cNvSpPr/>
          <p:nvPr/>
        </p:nvSpPr>
        <p:spPr>
          <a:xfrm>
            <a:off x="548640" y="20116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E87722"/>
                </a:solidFill>
                <a:latin typeface="Inter"/>
                <a:ea typeface="Inter"/>
                <a:cs typeface="Inter"/>
                <a:sym typeface="Inter"/>
              </a:rPr>
              <a:t>04 · IMPLEMENTATION</a:t>
            </a:r>
            <a:endParaRPr b="1" sz="900">
              <a:solidFill>
                <a:srgbClr val="E87722"/>
              </a:solidFill>
              <a:latin typeface="Inter"/>
              <a:ea typeface="Inter"/>
              <a:cs typeface="Inter"/>
              <a:sym typeface="Inter"/>
            </a:endParaRPr>
          </a:p>
        </p:txBody>
      </p:sp>
      <p:sp>
        <p:nvSpPr>
          <p:cNvPr id="332" name="Google Shape;332;p16"/>
          <p:cNvSpPr/>
          <p:nvPr/>
        </p:nvSpPr>
        <p:spPr>
          <a:xfrm>
            <a:off x="384048" y="274320"/>
            <a:ext cx="63900" cy="502800"/>
          </a:xfrm>
          <a:prstGeom prst="rect">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16"/>
          <p:cNvSpPr/>
          <p:nvPr/>
        </p:nvSpPr>
        <p:spPr>
          <a:xfrm>
            <a:off x="548640" y="27432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1B2A4A"/>
                </a:solidFill>
                <a:latin typeface="Georgia"/>
                <a:ea typeface="Georgia"/>
                <a:cs typeface="Georgia"/>
                <a:sym typeface="Georgia"/>
              </a:rPr>
              <a:t>Supported H5P Content Types</a:t>
            </a:r>
            <a:endParaRPr b="1" sz="2800">
              <a:solidFill>
                <a:srgbClr val="1B2A4A"/>
              </a:solidFill>
              <a:latin typeface="Georgia"/>
              <a:ea typeface="Georgia"/>
              <a:cs typeface="Georgia"/>
              <a:sym typeface="Georgia"/>
            </a:endParaRPr>
          </a:p>
        </p:txBody>
      </p:sp>
      <p:sp>
        <p:nvSpPr>
          <p:cNvPr id="334" name="Google Shape;334;p16"/>
          <p:cNvSpPr/>
          <p:nvPr/>
        </p:nvSpPr>
        <p:spPr>
          <a:xfrm>
            <a:off x="7772400" y="4846320"/>
            <a:ext cx="1097400" cy="18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rPr b="0" lang="en-US" sz="800">
                <a:solidFill>
                  <a:srgbClr val="6B7280"/>
                </a:solidFill>
                <a:latin typeface="Calibri"/>
                <a:ea typeface="Calibri"/>
                <a:cs typeface="Calibri"/>
                <a:sym typeface="Calibri"/>
              </a:rPr>
              <a:t>14 / 21</a:t>
            </a:r>
            <a:endParaRPr b="0" sz="800">
              <a:solidFill>
                <a:srgbClr val="6B7280"/>
              </a:solidFill>
              <a:latin typeface="Calibri"/>
              <a:ea typeface="Calibri"/>
              <a:cs typeface="Calibri"/>
              <a:sym typeface="Calibri"/>
            </a:endParaRPr>
          </a:p>
        </p:txBody>
      </p:sp>
      <p:pic>
        <p:nvPicPr>
          <p:cNvPr id="335" name="Google Shape;335;p16" title="questions type.png"/>
          <p:cNvPicPr preferRelativeResize="0"/>
          <p:nvPr/>
        </p:nvPicPr>
        <p:blipFill rotWithShape="1">
          <a:blip r:embed="rId4">
            <a:alphaModFix/>
          </a:blip>
          <a:srcRect b="7766" l="0" r="0" t="0"/>
          <a:stretch/>
        </p:blipFill>
        <p:spPr>
          <a:xfrm>
            <a:off x="6329825" y="428625"/>
            <a:ext cx="2539975" cy="4286249"/>
          </a:xfrm>
          <a:prstGeom prst="rect">
            <a:avLst/>
          </a:prstGeom>
          <a:noFill/>
          <a:ln>
            <a:noFill/>
          </a:ln>
        </p:spPr>
      </p:pic>
      <p:pic>
        <p:nvPicPr>
          <p:cNvPr id="336" name="Google Shape;336;p16"/>
          <p:cNvPicPr preferRelativeResize="0"/>
          <p:nvPr/>
        </p:nvPicPr>
        <p:blipFill>
          <a:blip r:embed="rId5">
            <a:alphaModFix/>
          </a:blip>
          <a:stretch>
            <a:fillRect/>
          </a:stretch>
        </p:blipFill>
        <p:spPr>
          <a:xfrm>
            <a:off x="304800" y="940100"/>
            <a:ext cx="6025025" cy="2065399"/>
          </a:xfrm>
          <a:prstGeom prst="rect">
            <a:avLst/>
          </a:prstGeom>
          <a:noFill/>
          <a:ln>
            <a:noFill/>
          </a:ln>
        </p:spPr>
      </p:pic>
      <p:pic>
        <p:nvPicPr>
          <p:cNvPr id="337" name="Google Shape;337;p16"/>
          <p:cNvPicPr preferRelativeResize="0"/>
          <p:nvPr/>
        </p:nvPicPr>
        <p:blipFill>
          <a:blip r:embed="rId6">
            <a:alphaModFix/>
          </a:blip>
          <a:stretch>
            <a:fillRect/>
          </a:stretch>
        </p:blipFill>
        <p:spPr>
          <a:xfrm>
            <a:off x="304802" y="3005501"/>
            <a:ext cx="3005589" cy="1655474"/>
          </a:xfrm>
          <a:prstGeom prst="rect">
            <a:avLst/>
          </a:prstGeom>
          <a:noFill/>
          <a:ln>
            <a:noFill/>
          </a:ln>
        </p:spPr>
      </p:pic>
      <p:pic>
        <p:nvPicPr>
          <p:cNvPr id="338" name="Google Shape;338;p16"/>
          <p:cNvPicPr preferRelativeResize="0"/>
          <p:nvPr/>
        </p:nvPicPr>
        <p:blipFill>
          <a:blip r:embed="rId7">
            <a:alphaModFix/>
          </a:blip>
          <a:stretch>
            <a:fillRect/>
          </a:stretch>
        </p:blipFill>
        <p:spPr>
          <a:xfrm>
            <a:off x="3504901" y="3005499"/>
            <a:ext cx="2824921" cy="16554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3" name="Shape 343"/>
        <p:cNvGrpSpPr/>
        <p:nvPr/>
      </p:nvGrpSpPr>
      <p:grpSpPr>
        <a:xfrm>
          <a:off x="0" y="0"/>
          <a:ext cx="0" cy="0"/>
          <a:chOff x="0" y="0"/>
          <a:chExt cx="0" cy="0"/>
        </a:xfrm>
      </p:grpSpPr>
      <p:sp>
        <p:nvSpPr>
          <p:cNvPr id="344" name="Google Shape;344;p17"/>
          <p:cNvSpPr/>
          <p:nvPr/>
        </p:nvSpPr>
        <p:spPr>
          <a:xfrm>
            <a:off x="548640" y="20116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E87722"/>
                </a:solidFill>
                <a:latin typeface="Inter"/>
                <a:ea typeface="Inter"/>
                <a:cs typeface="Inter"/>
                <a:sym typeface="Inter"/>
              </a:rPr>
              <a:t>05 · EVALUATION</a:t>
            </a:r>
            <a:endParaRPr b="1" sz="900">
              <a:solidFill>
                <a:srgbClr val="E87722"/>
              </a:solidFill>
              <a:latin typeface="Inter"/>
              <a:ea typeface="Inter"/>
              <a:cs typeface="Inter"/>
              <a:sym typeface="Inter"/>
            </a:endParaRPr>
          </a:p>
        </p:txBody>
      </p:sp>
      <p:sp>
        <p:nvSpPr>
          <p:cNvPr id="345" name="Google Shape;345;p17"/>
          <p:cNvSpPr/>
          <p:nvPr/>
        </p:nvSpPr>
        <p:spPr>
          <a:xfrm>
            <a:off x="384048" y="274320"/>
            <a:ext cx="63900" cy="502800"/>
          </a:xfrm>
          <a:prstGeom prst="rect">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6" name="Google Shape;346;p17"/>
          <p:cNvSpPr/>
          <p:nvPr/>
        </p:nvSpPr>
        <p:spPr>
          <a:xfrm>
            <a:off x="548640" y="27432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1B2A4A"/>
                </a:solidFill>
                <a:latin typeface="Georgia"/>
                <a:ea typeface="Georgia"/>
                <a:cs typeface="Georgia"/>
                <a:sym typeface="Georgia"/>
              </a:rPr>
              <a:t>Evaluation Methodology</a:t>
            </a:r>
            <a:endParaRPr b="1" sz="2800">
              <a:solidFill>
                <a:srgbClr val="1B2A4A"/>
              </a:solidFill>
              <a:latin typeface="Georgia"/>
              <a:ea typeface="Georgia"/>
              <a:cs typeface="Georgia"/>
              <a:sym typeface="Georgia"/>
            </a:endParaRPr>
          </a:p>
        </p:txBody>
      </p:sp>
      <p:sp>
        <p:nvSpPr>
          <p:cNvPr id="347" name="Google Shape;347;p17"/>
          <p:cNvSpPr/>
          <p:nvPr/>
        </p:nvSpPr>
        <p:spPr>
          <a:xfrm>
            <a:off x="7772400" y="4846320"/>
            <a:ext cx="1097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800"/>
              <a:buFont typeface="Calibri"/>
              <a:buNone/>
            </a:pPr>
            <a:r>
              <a:rPr b="0" i="0" lang="en-US" sz="800" u="none" cap="none" strike="noStrike">
                <a:solidFill>
                  <a:srgbClr val="6B7280"/>
                </a:solidFill>
                <a:latin typeface="Calibri"/>
                <a:ea typeface="Calibri"/>
                <a:cs typeface="Calibri"/>
                <a:sym typeface="Calibri"/>
              </a:rPr>
              <a:t>15 / 21</a:t>
            </a:r>
            <a:endParaRPr b="0" i="0" sz="800" u="none" cap="none" strike="noStrike">
              <a:solidFill>
                <a:schemeClr val="dk1"/>
              </a:solidFill>
              <a:latin typeface="Calibri"/>
              <a:ea typeface="Calibri"/>
              <a:cs typeface="Calibri"/>
              <a:sym typeface="Calibri"/>
            </a:endParaRPr>
          </a:p>
        </p:txBody>
      </p:sp>
      <p:grpSp>
        <p:nvGrpSpPr>
          <p:cNvPr id="348" name="Google Shape;348;p17"/>
          <p:cNvGrpSpPr/>
          <p:nvPr/>
        </p:nvGrpSpPr>
        <p:grpSpPr>
          <a:xfrm>
            <a:off x="422950" y="811475"/>
            <a:ext cx="4191000" cy="3495675"/>
            <a:chOff x="381000" y="1000125"/>
            <a:chExt cx="4191000" cy="3495675"/>
          </a:xfrm>
        </p:grpSpPr>
        <p:sp>
          <p:nvSpPr>
            <p:cNvPr id="349" name="Google Shape;349;p17"/>
            <p:cNvSpPr/>
            <p:nvPr/>
          </p:nvSpPr>
          <p:spPr>
            <a:xfrm>
              <a:off x="381000" y="1000125"/>
              <a:ext cx="4191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0" name="Google Shape;350;p17"/>
            <p:cNvSpPr txBox="1"/>
            <p:nvPr/>
          </p:nvSpPr>
          <p:spPr>
            <a:xfrm>
              <a:off x="381000" y="1000125"/>
              <a:ext cx="419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1B2A4A"/>
                  </a:solidFill>
                  <a:latin typeface="Inter"/>
                  <a:ea typeface="Inter"/>
                  <a:cs typeface="Inter"/>
                  <a:sym typeface="Inter"/>
                </a:rPr>
                <a:t>Study Design</a:t>
              </a:r>
              <a:endParaRPr b="1" sz="1400">
                <a:solidFill>
                  <a:srgbClr val="1B2A4A"/>
                </a:solidFill>
                <a:latin typeface="Inter"/>
                <a:ea typeface="Inter"/>
                <a:cs typeface="Inter"/>
                <a:sym typeface="Inter"/>
              </a:endParaRPr>
            </a:p>
          </p:txBody>
        </p:sp>
        <p:grpSp>
          <p:nvGrpSpPr>
            <p:cNvPr id="351" name="Google Shape;351;p17"/>
            <p:cNvGrpSpPr/>
            <p:nvPr/>
          </p:nvGrpSpPr>
          <p:grpSpPr>
            <a:xfrm>
              <a:off x="381000" y="1333500"/>
              <a:ext cx="4191000" cy="571500"/>
              <a:chOff x="381000" y="1333500"/>
              <a:chExt cx="4191000" cy="571500"/>
            </a:xfrm>
          </p:grpSpPr>
          <p:sp>
            <p:nvSpPr>
              <p:cNvPr id="352" name="Google Shape;352;p17"/>
              <p:cNvSpPr/>
              <p:nvPr/>
            </p:nvSpPr>
            <p:spPr>
              <a:xfrm>
                <a:off x="381000" y="1333500"/>
                <a:ext cx="4191000" cy="571500"/>
              </a:xfrm>
              <a:prstGeom prst="roundRect">
                <a:avLst>
                  <a:gd fmla="val 13333"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3" name="Google Shape;353;p17"/>
              <p:cNvSpPr/>
              <p:nvPr/>
            </p:nvSpPr>
            <p:spPr>
              <a:xfrm>
                <a:off x="381000" y="1333500"/>
                <a:ext cx="38100" cy="571500"/>
              </a:xfrm>
              <a:prstGeom prst="rect">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17"/>
              <p:cNvSpPr txBox="1"/>
              <p:nvPr/>
            </p:nvSpPr>
            <p:spPr>
              <a:xfrm>
                <a:off x="523875" y="1333500"/>
                <a:ext cx="952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E87722"/>
                    </a:solidFill>
                    <a:latin typeface="Inter"/>
                    <a:ea typeface="Inter"/>
                    <a:cs typeface="Inter"/>
                    <a:sym typeface="Inter"/>
                  </a:rPr>
                  <a:t>Paradigm:</a:t>
                </a:r>
                <a:endParaRPr b="1" sz="1000">
                  <a:solidFill>
                    <a:srgbClr val="E87722"/>
                  </a:solidFill>
                  <a:latin typeface="Inter"/>
                  <a:ea typeface="Inter"/>
                  <a:cs typeface="Inter"/>
                  <a:sym typeface="Inter"/>
                </a:endParaRPr>
              </a:p>
            </p:txBody>
          </p:sp>
          <p:sp>
            <p:nvSpPr>
              <p:cNvPr id="355" name="Google Shape;355;p17"/>
              <p:cNvSpPr txBox="1"/>
              <p:nvPr/>
            </p:nvSpPr>
            <p:spPr>
              <a:xfrm>
                <a:off x="1524000" y="1333500"/>
                <a:ext cx="29529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000">
                    <a:solidFill>
                      <a:srgbClr val="374151"/>
                    </a:solidFill>
                    <a:latin typeface="Inter"/>
                    <a:ea typeface="Inter"/>
                    <a:cs typeface="Inter"/>
                    <a:sym typeface="Inter"/>
                  </a:rPr>
                  <a:t>Comparative usability study — Design Science research</a:t>
                </a:r>
                <a:endParaRPr b="0" sz="1000">
                  <a:solidFill>
                    <a:srgbClr val="374151"/>
                  </a:solidFill>
                  <a:latin typeface="Inter"/>
                  <a:ea typeface="Inter"/>
                  <a:cs typeface="Inter"/>
                  <a:sym typeface="Inter"/>
                </a:endParaRPr>
              </a:p>
            </p:txBody>
          </p:sp>
        </p:grpSp>
        <p:grpSp>
          <p:nvGrpSpPr>
            <p:cNvPr id="356" name="Google Shape;356;p17"/>
            <p:cNvGrpSpPr/>
            <p:nvPr/>
          </p:nvGrpSpPr>
          <p:grpSpPr>
            <a:xfrm>
              <a:off x="381000" y="1981200"/>
              <a:ext cx="4191000" cy="571500"/>
              <a:chOff x="381000" y="1981200"/>
              <a:chExt cx="4191000" cy="571500"/>
            </a:xfrm>
          </p:grpSpPr>
          <p:sp>
            <p:nvSpPr>
              <p:cNvPr id="357" name="Google Shape;357;p17"/>
              <p:cNvSpPr/>
              <p:nvPr/>
            </p:nvSpPr>
            <p:spPr>
              <a:xfrm>
                <a:off x="381000" y="1981200"/>
                <a:ext cx="4191000" cy="571500"/>
              </a:xfrm>
              <a:prstGeom prst="roundRect">
                <a:avLst>
                  <a:gd fmla="val 13333"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 name="Google Shape;358;p17"/>
              <p:cNvSpPr/>
              <p:nvPr/>
            </p:nvSpPr>
            <p:spPr>
              <a:xfrm>
                <a:off x="381000" y="1981200"/>
                <a:ext cx="38100" cy="571500"/>
              </a:xfrm>
              <a:prstGeom prst="rect">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9" name="Google Shape;359;p17"/>
              <p:cNvSpPr txBox="1"/>
              <p:nvPr/>
            </p:nvSpPr>
            <p:spPr>
              <a:xfrm>
                <a:off x="523875" y="1981200"/>
                <a:ext cx="952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E87722"/>
                    </a:solidFill>
                    <a:latin typeface="Inter"/>
                    <a:ea typeface="Inter"/>
                    <a:cs typeface="Inter"/>
                    <a:sym typeface="Inter"/>
                  </a:rPr>
                  <a:t>Participants:</a:t>
                </a:r>
                <a:endParaRPr b="1" sz="1000">
                  <a:solidFill>
                    <a:srgbClr val="E87722"/>
                  </a:solidFill>
                  <a:latin typeface="Inter"/>
                  <a:ea typeface="Inter"/>
                  <a:cs typeface="Inter"/>
                  <a:sym typeface="Inter"/>
                </a:endParaRPr>
              </a:p>
            </p:txBody>
          </p:sp>
          <p:sp>
            <p:nvSpPr>
              <p:cNvPr id="360" name="Google Shape;360;p17"/>
              <p:cNvSpPr txBox="1"/>
              <p:nvPr/>
            </p:nvSpPr>
            <p:spPr>
              <a:xfrm>
                <a:off x="1524000" y="1981200"/>
                <a:ext cx="29529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000">
                    <a:solidFill>
                      <a:srgbClr val="374151"/>
                    </a:solidFill>
                    <a:latin typeface="Inter"/>
                    <a:ea typeface="Inter"/>
                    <a:cs typeface="Inter"/>
                    <a:sym typeface="Inter"/>
                  </a:rPr>
                  <a:t>10 IT students as educator proxies (Nielsen's threshold for usability flaw detection)</a:t>
                </a:r>
                <a:endParaRPr b="0" sz="1000">
                  <a:solidFill>
                    <a:srgbClr val="374151"/>
                  </a:solidFill>
                  <a:latin typeface="Inter"/>
                  <a:ea typeface="Inter"/>
                  <a:cs typeface="Inter"/>
                  <a:sym typeface="Inter"/>
                </a:endParaRPr>
              </a:p>
            </p:txBody>
          </p:sp>
        </p:grpSp>
        <p:grpSp>
          <p:nvGrpSpPr>
            <p:cNvPr id="361" name="Google Shape;361;p17"/>
            <p:cNvGrpSpPr/>
            <p:nvPr/>
          </p:nvGrpSpPr>
          <p:grpSpPr>
            <a:xfrm>
              <a:off x="381000" y="2628900"/>
              <a:ext cx="4191000" cy="571500"/>
              <a:chOff x="381000" y="2628900"/>
              <a:chExt cx="4191000" cy="571500"/>
            </a:xfrm>
          </p:grpSpPr>
          <p:sp>
            <p:nvSpPr>
              <p:cNvPr id="362" name="Google Shape;362;p17"/>
              <p:cNvSpPr/>
              <p:nvPr/>
            </p:nvSpPr>
            <p:spPr>
              <a:xfrm>
                <a:off x="381000" y="2628900"/>
                <a:ext cx="4191000" cy="571500"/>
              </a:xfrm>
              <a:prstGeom prst="roundRect">
                <a:avLst>
                  <a:gd fmla="val 13333"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3" name="Google Shape;363;p17"/>
              <p:cNvSpPr/>
              <p:nvPr/>
            </p:nvSpPr>
            <p:spPr>
              <a:xfrm>
                <a:off x="381000" y="2628900"/>
                <a:ext cx="38100" cy="571500"/>
              </a:xfrm>
              <a:prstGeom prst="rect">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4" name="Google Shape;364;p17"/>
              <p:cNvSpPr txBox="1"/>
              <p:nvPr/>
            </p:nvSpPr>
            <p:spPr>
              <a:xfrm>
                <a:off x="523875" y="2628900"/>
                <a:ext cx="952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E87722"/>
                    </a:solidFill>
                    <a:latin typeface="Inter"/>
                    <a:ea typeface="Inter"/>
                    <a:cs typeface="Inter"/>
                    <a:sym typeface="Inter"/>
                  </a:rPr>
                  <a:t>Approach:</a:t>
                </a:r>
                <a:endParaRPr b="1" sz="1000">
                  <a:solidFill>
                    <a:srgbClr val="E87722"/>
                  </a:solidFill>
                  <a:latin typeface="Inter"/>
                  <a:ea typeface="Inter"/>
                  <a:cs typeface="Inter"/>
                  <a:sym typeface="Inter"/>
                </a:endParaRPr>
              </a:p>
            </p:txBody>
          </p:sp>
          <p:sp>
            <p:nvSpPr>
              <p:cNvPr id="365" name="Google Shape;365;p17"/>
              <p:cNvSpPr txBox="1"/>
              <p:nvPr/>
            </p:nvSpPr>
            <p:spPr>
              <a:xfrm>
                <a:off x="1524000" y="2628900"/>
                <a:ext cx="29529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000">
                    <a:solidFill>
                      <a:srgbClr val="374151"/>
                    </a:solidFill>
                    <a:latin typeface="Inter"/>
                    <a:ea typeface="Inter"/>
                    <a:cs typeface="Inter"/>
                    <a:sym typeface="Inter"/>
                  </a:rPr>
                  <a:t>Within-subjects — same 5 tasks on both systems, randomised order</a:t>
                </a:r>
                <a:endParaRPr b="0" sz="1000">
                  <a:solidFill>
                    <a:srgbClr val="374151"/>
                  </a:solidFill>
                  <a:latin typeface="Inter"/>
                  <a:ea typeface="Inter"/>
                  <a:cs typeface="Inter"/>
                  <a:sym typeface="Inter"/>
                </a:endParaRPr>
              </a:p>
            </p:txBody>
          </p:sp>
        </p:grpSp>
        <p:grpSp>
          <p:nvGrpSpPr>
            <p:cNvPr id="366" name="Google Shape;366;p17"/>
            <p:cNvGrpSpPr/>
            <p:nvPr/>
          </p:nvGrpSpPr>
          <p:grpSpPr>
            <a:xfrm>
              <a:off x="381000" y="3276600"/>
              <a:ext cx="4191000" cy="571500"/>
              <a:chOff x="381000" y="3276600"/>
              <a:chExt cx="4191000" cy="571500"/>
            </a:xfrm>
          </p:grpSpPr>
          <p:sp>
            <p:nvSpPr>
              <p:cNvPr id="367" name="Google Shape;367;p17"/>
              <p:cNvSpPr/>
              <p:nvPr/>
            </p:nvSpPr>
            <p:spPr>
              <a:xfrm>
                <a:off x="381000" y="3276600"/>
                <a:ext cx="4191000" cy="571500"/>
              </a:xfrm>
              <a:prstGeom prst="roundRect">
                <a:avLst>
                  <a:gd fmla="val 13333"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8" name="Google Shape;368;p17"/>
              <p:cNvSpPr/>
              <p:nvPr/>
            </p:nvSpPr>
            <p:spPr>
              <a:xfrm>
                <a:off x="381000" y="3276600"/>
                <a:ext cx="38100" cy="571500"/>
              </a:xfrm>
              <a:prstGeom prst="rect">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17"/>
              <p:cNvSpPr txBox="1"/>
              <p:nvPr/>
            </p:nvSpPr>
            <p:spPr>
              <a:xfrm>
                <a:off x="523875" y="3276600"/>
                <a:ext cx="952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E87722"/>
                    </a:solidFill>
                    <a:latin typeface="Inter"/>
                    <a:ea typeface="Inter"/>
                    <a:cs typeface="Inter"/>
                    <a:sym typeface="Inter"/>
                  </a:rPr>
                  <a:t>Baseline:</a:t>
                </a:r>
                <a:endParaRPr b="1" sz="1000">
                  <a:solidFill>
                    <a:srgbClr val="E87722"/>
                  </a:solidFill>
                  <a:latin typeface="Inter"/>
                  <a:ea typeface="Inter"/>
                  <a:cs typeface="Inter"/>
                  <a:sym typeface="Inter"/>
                </a:endParaRPr>
              </a:p>
            </p:txBody>
          </p:sp>
          <p:sp>
            <p:nvSpPr>
              <p:cNvPr id="370" name="Google Shape;370;p17"/>
              <p:cNvSpPr txBox="1"/>
              <p:nvPr/>
            </p:nvSpPr>
            <p:spPr>
              <a:xfrm>
                <a:off x="1524000" y="3276600"/>
                <a:ext cx="29529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000">
                    <a:solidFill>
                      <a:srgbClr val="374151"/>
                    </a:solidFill>
                    <a:latin typeface="Inter"/>
                    <a:ea typeface="Inter"/>
                    <a:cs typeface="Inter"/>
                    <a:sym typeface="Inter"/>
                  </a:rPr>
                  <a:t>WordPress H5P plugin — standard deployment, unmodified</a:t>
                </a:r>
                <a:endParaRPr b="0" sz="1000">
                  <a:solidFill>
                    <a:srgbClr val="374151"/>
                  </a:solidFill>
                  <a:latin typeface="Inter"/>
                  <a:ea typeface="Inter"/>
                  <a:cs typeface="Inter"/>
                  <a:sym typeface="Inter"/>
                </a:endParaRPr>
              </a:p>
            </p:txBody>
          </p:sp>
        </p:grpSp>
        <p:grpSp>
          <p:nvGrpSpPr>
            <p:cNvPr id="371" name="Google Shape;371;p17"/>
            <p:cNvGrpSpPr/>
            <p:nvPr/>
          </p:nvGrpSpPr>
          <p:grpSpPr>
            <a:xfrm>
              <a:off x="381000" y="3924300"/>
              <a:ext cx="4191000" cy="571500"/>
              <a:chOff x="381000" y="3924300"/>
              <a:chExt cx="4191000" cy="571500"/>
            </a:xfrm>
          </p:grpSpPr>
          <p:sp>
            <p:nvSpPr>
              <p:cNvPr id="372" name="Google Shape;372;p17"/>
              <p:cNvSpPr/>
              <p:nvPr/>
            </p:nvSpPr>
            <p:spPr>
              <a:xfrm>
                <a:off x="381000" y="3924300"/>
                <a:ext cx="4191000" cy="571500"/>
              </a:xfrm>
              <a:prstGeom prst="roundRect">
                <a:avLst>
                  <a:gd fmla="val 13333"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3" name="Google Shape;373;p17"/>
              <p:cNvSpPr/>
              <p:nvPr/>
            </p:nvSpPr>
            <p:spPr>
              <a:xfrm>
                <a:off x="381000" y="3924300"/>
                <a:ext cx="38100" cy="571500"/>
              </a:xfrm>
              <a:prstGeom prst="rect">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4" name="Google Shape;374;p17"/>
              <p:cNvSpPr txBox="1"/>
              <p:nvPr/>
            </p:nvSpPr>
            <p:spPr>
              <a:xfrm>
                <a:off x="523875" y="3924300"/>
                <a:ext cx="952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E87722"/>
                    </a:solidFill>
                    <a:latin typeface="Inter"/>
                    <a:ea typeface="Inter"/>
                    <a:cs typeface="Inter"/>
                    <a:sym typeface="Inter"/>
                  </a:rPr>
                  <a:t>Test System:</a:t>
                </a:r>
                <a:endParaRPr b="1" sz="1000">
                  <a:solidFill>
                    <a:srgbClr val="E87722"/>
                  </a:solidFill>
                  <a:latin typeface="Inter"/>
                  <a:ea typeface="Inter"/>
                  <a:cs typeface="Inter"/>
                  <a:sym typeface="Inter"/>
                </a:endParaRPr>
              </a:p>
            </p:txBody>
          </p:sp>
          <p:sp>
            <p:nvSpPr>
              <p:cNvPr id="375" name="Google Shape;375;p17"/>
              <p:cNvSpPr txBox="1"/>
              <p:nvPr/>
            </p:nvSpPr>
            <p:spPr>
              <a:xfrm>
                <a:off x="1524000" y="3924300"/>
                <a:ext cx="29529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000">
                    <a:solidFill>
                      <a:srgbClr val="374151"/>
                    </a:solidFill>
                    <a:latin typeface="Inter"/>
                    <a:ea typeface="Inter"/>
                    <a:cs typeface="Inter"/>
                    <a:sym typeface="Inter"/>
                  </a:rPr>
                  <a:t>AI-ActivEdu — release candidate build</a:t>
                </a:r>
                <a:endParaRPr b="0" sz="1000">
                  <a:solidFill>
                    <a:srgbClr val="374151"/>
                  </a:solidFill>
                  <a:latin typeface="Inter"/>
                  <a:ea typeface="Inter"/>
                  <a:cs typeface="Inter"/>
                  <a:sym typeface="Inter"/>
                </a:endParaRPr>
              </a:p>
            </p:txBody>
          </p:sp>
        </p:grpSp>
      </p:grpSp>
      <p:grpSp>
        <p:nvGrpSpPr>
          <p:cNvPr id="376" name="Google Shape;376;p17"/>
          <p:cNvGrpSpPr/>
          <p:nvPr/>
        </p:nvGrpSpPr>
        <p:grpSpPr>
          <a:xfrm>
            <a:off x="4804450" y="811475"/>
            <a:ext cx="4191000" cy="3495675"/>
            <a:chOff x="4762500" y="1000125"/>
            <a:chExt cx="4191000" cy="3495675"/>
          </a:xfrm>
        </p:grpSpPr>
        <p:sp>
          <p:nvSpPr>
            <p:cNvPr id="377" name="Google Shape;377;p17"/>
            <p:cNvSpPr/>
            <p:nvPr/>
          </p:nvSpPr>
          <p:spPr>
            <a:xfrm>
              <a:off x="4762500" y="1000125"/>
              <a:ext cx="4191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17"/>
            <p:cNvSpPr txBox="1"/>
            <p:nvPr/>
          </p:nvSpPr>
          <p:spPr>
            <a:xfrm>
              <a:off x="4762500" y="1000125"/>
              <a:ext cx="419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1B2A4A"/>
                  </a:solidFill>
                  <a:latin typeface="Inter"/>
                  <a:ea typeface="Inter"/>
                  <a:cs typeface="Inter"/>
                  <a:sym typeface="Inter"/>
                </a:rPr>
                <a:t>Metrics &amp; Instruments</a:t>
              </a:r>
              <a:endParaRPr b="1" sz="1400">
                <a:solidFill>
                  <a:srgbClr val="1B2A4A"/>
                </a:solidFill>
                <a:latin typeface="Inter"/>
                <a:ea typeface="Inter"/>
                <a:cs typeface="Inter"/>
                <a:sym typeface="Inter"/>
              </a:endParaRPr>
            </a:p>
          </p:txBody>
        </p:sp>
        <p:grpSp>
          <p:nvGrpSpPr>
            <p:cNvPr id="379" name="Google Shape;379;p17"/>
            <p:cNvGrpSpPr/>
            <p:nvPr/>
          </p:nvGrpSpPr>
          <p:grpSpPr>
            <a:xfrm>
              <a:off x="4762500" y="1333500"/>
              <a:ext cx="4000500" cy="571500"/>
              <a:chOff x="4762500" y="1333500"/>
              <a:chExt cx="4000500" cy="571500"/>
            </a:xfrm>
          </p:grpSpPr>
          <p:sp>
            <p:nvSpPr>
              <p:cNvPr id="380" name="Google Shape;380;p17"/>
              <p:cNvSpPr/>
              <p:nvPr/>
            </p:nvSpPr>
            <p:spPr>
              <a:xfrm>
                <a:off x="4762500" y="1333500"/>
                <a:ext cx="4000500" cy="571500"/>
              </a:xfrm>
              <a:prstGeom prst="roundRect">
                <a:avLst>
                  <a:gd fmla="val 13333"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1" name="Google Shape;381;p17"/>
              <p:cNvSpPr txBox="1"/>
              <p:nvPr/>
            </p:nvSpPr>
            <p:spPr>
              <a:xfrm>
                <a:off x="4905375" y="1333500"/>
                <a:ext cx="37149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B2A4A"/>
                    </a:solidFill>
                    <a:latin typeface="Inter"/>
                    <a:ea typeface="Inter"/>
                    <a:cs typeface="Inter"/>
                    <a:sym typeface="Inter"/>
                  </a:rPr>
                  <a:t>Task Completion Rate</a:t>
                </a:r>
                <a:endParaRPr b="1" sz="1100">
                  <a:solidFill>
                    <a:srgbClr val="1B2A4A"/>
                  </a:solidFill>
                  <a:latin typeface="Inter"/>
                  <a:ea typeface="Inter"/>
                  <a:cs typeface="Inter"/>
                  <a:sym typeface="Inter"/>
                </a:endParaRPr>
              </a:p>
              <a:p>
                <a:pPr indent="0" lvl="0" marL="0" rtl="0" algn="l">
                  <a:spcBef>
                    <a:spcPts val="150"/>
                  </a:spcBef>
                  <a:spcAft>
                    <a:spcPts val="0"/>
                  </a:spcAft>
                  <a:buNone/>
                </a:pPr>
                <a:r>
                  <a:rPr b="0" lang="en-US" sz="950">
                    <a:solidFill>
                      <a:srgbClr val="6B7280"/>
                    </a:solidFill>
                    <a:latin typeface="Inter"/>
                    <a:ea typeface="Inter"/>
                    <a:cs typeface="Inter"/>
                    <a:sym typeface="Inter"/>
                  </a:rPr>
                  <a:t>Observed pass/fail per task</a:t>
                </a:r>
                <a:endParaRPr b="0" sz="950">
                  <a:solidFill>
                    <a:srgbClr val="6B7280"/>
                  </a:solidFill>
                  <a:latin typeface="Inter"/>
                  <a:ea typeface="Inter"/>
                  <a:cs typeface="Inter"/>
                  <a:sym typeface="Inter"/>
                </a:endParaRPr>
              </a:p>
            </p:txBody>
          </p:sp>
        </p:grpSp>
        <p:grpSp>
          <p:nvGrpSpPr>
            <p:cNvPr id="382" name="Google Shape;382;p17"/>
            <p:cNvGrpSpPr/>
            <p:nvPr/>
          </p:nvGrpSpPr>
          <p:grpSpPr>
            <a:xfrm>
              <a:off x="4762500" y="1981200"/>
              <a:ext cx="4000500" cy="571500"/>
              <a:chOff x="4762500" y="1981200"/>
              <a:chExt cx="4000500" cy="571500"/>
            </a:xfrm>
          </p:grpSpPr>
          <p:sp>
            <p:nvSpPr>
              <p:cNvPr id="383" name="Google Shape;383;p17"/>
              <p:cNvSpPr/>
              <p:nvPr/>
            </p:nvSpPr>
            <p:spPr>
              <a:xfrm>
                <a:off x="4762500" y="1981200"/>
                <a:ext cx="4000500" cy="571500"/>
              </a:xfrm>
              <a:prstGeom prst="roundRect">
                <a:avLst>
                  <a:gd fmla="val 13333"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17"/>
              <p:cNvSpPr txBox="1"/>
              <p:nvPr/>
            </p:nvSpPr>
            <p:spPr>
              <a:xfrm>
                <a:off x="4905375" y="1981200"/>
                <a:ext cx="37149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B2A4A"/>
                    </a:solidFill>
                    <a:latin typeface="Inter"/>
                    <a:ea typeface="Inter"/>
                    <a:cs typeface="Inter"/>
                    <a:sym typeface="Inter"/>
                  </a:rPr>
                  <a:t>Time on Task</a:t>
                </a:r>
                <a:endParaRPr b="1" sz="1100">
                  <a:solidFill>
                    <a:srgbClr val="1B2A4A"/>
                  </a:solidFill>
                  <a:latin typeface="Inter"/>
                  <a:ea typeface="Inter"/>
                  <a:cs typeface="Inter"/>
                  <a:sym typeface="Inter"/>
                </a:endParaRPr>
              </a:p>
              <a:p>
                <a:pPr indent="0" lvl="0" marL="0" rtl="0" algn="l">
                  <a:spcBef>
                    <a:spcPts val="150"/>
                  </a:spcBef>
                  <a:spcAft>
                    <a:spcPts val="0"/>
                  </a:spcAft>
                  <a:buNone/>
                </a:pPr>
                <a:r>
                  <a:rPr b="0" lang="en-US" sz="950">
                    <a:solidFill>
                      <a:srgbClr val="6B7280"/>
                    </a:solidFill>
                    <a:latin typeface="Inter"/>
                    <a:ea typeface="Inter"/>
                    <a:cs typeface="Inter"/>
                    <a:sym typeface="Inter"/>
                  </a:rPr>
                  <a:t>Stopwatch — start to first success</a:t>
                </a:r>
                <a:endParaRPr b="0" sz="950">
                  <a:solidFill>
                    <a:srgbClr val="6B7280"/>
                  </a:solidFill>
                  <a:latin typeface="Inter"/>
                  <a:ea typeface="Inter"/>
                  <a:cs typeface="Inter"/>
                  <a:sym typeface="Inter"/>
                </a:endParaRPr>
              </a:p>
            </p:txBody>
          </p:sp>
        </p:grpSp>
        <p:grpSp>
          <p:nvGrpSpPr>
            <p:cNvPr id="385" name="Google Shape;385;p17"/>
            <p:cNvGrpSpPr/>
            <p:nvPr/>
          </p:nvGrpSpPr>
          <p:grpSpPr>
            <a:xfrm>
              <a:off x="4762500" y="2628900"/>
              <a:ext cx="4000500" cy="571500"/>
              <a:chOff x="4762500" y="2628900"/>
              <a:chExt cx="4000500" cy="571500"/>
            </a:xfrm>
          </p:grpSpPr>
          <p:sp>
            <p:nvSpPr>
              <p:cNvPr id="386" name="Google Shape;386;p17"/>
              <p:cNvSpPr/>
              <p:nvPr/>
            </p:nvSpPr>
            <p:spPr>
              <a:xfrm>
                <a:off x="4762500" y="2628900"/>
                <a:ext cx="4000500" cy="571500"/>
              </a:xfrm>
              <a:prstGeom prst="roundRect">
                <a:avLst>
                  <a:gd fmla="val 13333"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7" name="Google Shape;387;p17"/>
              <p:cNvSpPr txBox="1"/>
              <p:nvPr/>
            </p:nvSpPr>
            <p:spPr>
              <a:xfrm>
                <a:off x="4905375" y="2628900"/>
                <a:ext cx="37149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B2A4A"/>
                    </a:solidFill>
                    <a:latin typeface="Inter"/>
                    <a:ea typeface="Inter"/>
                    <a:cs typeface="Inter"/>
                    <a:sym typeface="Inter"/>
                  </a:rPr>
                  <a:t>Error Frequency</a:t>
                </a:r>
                <a:endParaRPr b="1" sz="1100">
                  <a:solidFill>
                    <a:srgbClr val="1B2A4A"/>
                  </a:solidFill>
                  <a:latin typeface="Inter"/>
                  <a:ea typeface="Inter"/>
                  <a:cs typeface="Inter"/>
                  <a:sym typeface="Inter"/>
                </a:endParaRPr>
              </a:p>
              <a:p>
                <a:pPr indent="0" lvl="0" marL="0" rtl="0" algn="l">
                  <a:spcBef>
                    <a:spcPts val="150"/>
                  </a:spcBef>
                  <a:spcAft>
                    <a:spcPts val="0"/>
                  </a:spcAft>
                  <a:buNone/>
                </a:pPr>
                <a:r>
                  <a:rPr b="0" lang="en-US" sz="950">
                    <a:solidFill>
                      <a:srgbClr val="6B7280"/>
                    </a:solidFill>
                    <a:latin typeface="Inter"/>
                    <a:ea typeface="Inter"/>
                    <a:cs typeface="Inter"/>
                    <a:sym typeface="Inter"/>
                  </a:rPr>
                  <a:t>Observed misclicks and help requests</a:t>
                </a:r>
                <a:endParaRPr b="0" sz="950">
                  <a:solidFill>
                    <a:srgbClr val="6B7280"/>
                  </a:solidFill>
                  <a:latin typeface="Inter"/>
                  <a:ea typeface="Inter"/>
                  <a:cs typeface="Inter"/>
                  <a:sym typeface="Inter"/>
                </a:endParaRPr>
              </a:p>
            </p:txBody>
          </p:sp>
        </p:grpSp>
        <p:grpSp>
          <p:nvGrpSpPr>
            <p:cNvPr id="388" name="Google Shape;388;p17"/>
            <p:cNvGrpSpPr/>
            <p:nvPr/>
          </p:nvGrpSpPr>
          <p:grpSpPr>
            <a:xfrm>
              <a:off x="4762500" y="3276600"/>
              <a:ext cx="4000500" cy="571500"/>
              <a:chOff x="4762500" y="3276600"/>
              <a:chExt cx="4000500" cy="571500"/>
            </a:xfrm>
          </p:grpSpPr>
          <p:sp>
            <p:nvSpPr>
              <p:cNvPr id="389" name="Google Shape;389;p17"/>
              <p:cNvSpPr/>
              <p:nvPr/>
            </p:nvSpPr>
            <p:spPr>
              <a:xfrm>
                <a:off x="4762500" y="3276600"/>
                <a:ext cx="4000500" cy="571500"/>
              </a:xfrm>
              <a:prstGeom prst="roundRect">
                <a:avLst>
                  <a:gd fmla="val 13333"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0" name="Google Shape;390;p17"/>
              <p:cNvSpPr txBox="1"/>
              <p:nvPr/>
            </p:nvSpPr>
            <p:spPr>
              <a:xfrm>
                <a:off x="4905375" y="3276600"/>
                <a:ext cx="37149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B2A4A"/>
                    </a:solidFill>
                    <a:latin typeface="Inter"/>
                    <a:ea typeface="Inter"/>
                    <a:cs typeface="Inter"/>
                    <a:sym typeface="Inter"/>
                  </a:rPr>
                  <a:t>SUS Score</a:t>
                </a:r>
                <a:endParaRPr b="1" sz="1100">
                  <a:solidFill>
                    <a:srgbClr val="1B2A4A"/>
                  </a:solidFill>
                  <a:latin typeface="Inter"/>
                  <a:ea typeface="Inter"/>
                  <a:cs typeface="Inter"/>
                  <a:sym typeface="Inter"/>
                </a:endParaRPr>
              </a:p>
              <a:p>
                <a:pPr indent="0" lvl="0" marL="0" rtl="0" algn="l">
                  <a:spcBef>
                    <a:spcPts val="150"/>
                  </a:spcBef>
                  <a:spcAft>
                    <a:spcPts val="0"/>
                  </a:spcAft>
                  <a:buNone/>
                </a:pPr>
                <a:r>
                  <a:rPr b="0" lang="en-US" sz="950">
                    <a:solidFill>
                      <a:srgbClr val="6B7280"/>
                    </a:solidFill>
                    <a:latin typeface="Inter"/>
                    <a:ea typeface="Inter"/>
                    <a:cs typeface="Inter"/>
                    <a:sym typeface="Inter"/>
                  </a:rPr>
                  <a:t>10-item System Usability Scale (Brooke, 1996)</a:t>
                </a:r>
                <a:endParaRPr b="0" sz="950">
                  <a:solidFill>
                    <a:srgbClr val="6B7280"/>
                  </a:solidFill>
                  <a:latin typeface="Inter"/>
                  <a:ea typeface="Inter"/>
                  <a:cs typeface="Inter"/>
                  <a:sym typeface="Inter"/>
                </a:endParaRPr>
              </a:p>
            </p:txBody>
          </p:sp>
        </p:grpSp>
        <p:grpSp>
          <p:nvGrpSpPr>
            <p:cNvPr id="391" name="Google Shape;391;p17"/>
            <p:cNvGrpSpPr/>
            <p:nvPr/>
          </p:nvGrpSpPr>
          <p:grpSpPr>
            <a:xfrm>
              <a:off x="4762500" y="3924300"/>
              <a:ext cx="4000500" cy="571500"/>
              <a:chOff x="4762500" y="3924300"/>
              <a:chExt cx="4000500" cy="571500"/>
            </a:xfrm>
          </p:grpSpPr>
          <p:sp>
            <p:nvSpPr>
              <p:cNvPr id="392" name="Google Shape;392;p17"/>
              <p:cNvSpPr/>
              <p:nvPr/>
            </p:nvSpPr>
            <p:spPr>
              <a:xfrm>
                <a:off x="4762500" y="3924300"/>
                <a:ext cx="4000500" cy="571500"/>
              </a:xfrm>
              <a:prstGeom prst="roundRect">
                <a:avLst>
                  <a:gd fmla="val 13333"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p17"/>
              <p:cNvSpPr txBox="1"/>
              <p:nvPr/>
            </p:nvSpPr>
            <p:spPr>
              <a:xfrm>
                <a:off x="4905375" y="3924300"/>
                <a:ext cx="37149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B2A4A"/>
                    </a:solidFill>
                    <a:latin typeface="Inter"/>
                    <a:ea typeface="Inter"/>
                    <a:cs typeface="Inter"/>
                    <a:sym typeface="Inter"/>
                  </a:rPr>
                  <a:t>Qualitative Feedback</a:t>
                </a:r>
                <a:endParaRPr b="1" sz="1100">
                  <a:solidFill>
                    <a:srgbClr val="1B2A4A"/>
                  </a:solidFill>
                  <a:latin typeface="Inter"/>
                  <a:ea typeface="Inter"/>
                  <a:cs typeface="Inter"/>
                  <a:sym typeface="Inter"/>
                </a:endParaRPr>
              </a:p>
              <a:p>
                <a:pPr indent="0" lvl="0" marL="0" rtl="0" algn="l">
                  <a:spcBef>
                    <a:spcPts val="150"/>
                  </a:spcBef>
                  <a:spcAft>
                    <a:spcPts val="0"/>
                  </a:spcAft>
                  <a:buNone/>
                </a:pPr>
                <a:r>
                  <a:rPr b="0" lang="en-US" sz="950">
                    <a:solidFill>
                      <a:srgbClr val="6B7280"/>
                    </a:solidFill>
                    <a:latin typeface="Inter"/>
                    <a:ea typeface="Inter"/>
                    <a:cs typeface="Inter"/>
                    <a:sym typeface="Inter"/>
                  </a:rPr>
                  <a:t>Post-task semi-structured interview</a:t>
                </a:r>
                <a:endParaRPr b="0" sz="950">
                  <a:solidFill>
                    <a:srgbClr val="6B7280"/>
                  </a:solidFill>
                  <a:latin typeface="Inter"/>
                  <a:ea typeface="Inter"/>
                  <a:cs typeface="Inter"/>
                  <a:sym typeface="Inter"/>
                </a:endParaRPr>
              </a:p>
            </p:txBody>
          </p:sp>
        </p:grpSp>
      </p:grpSp>
      <p:grpSp>
        <p:nvGrpSpPr>
          <p:cNvPr id="394" name="Google Shape;394;p17"/>
          <p:cNvGrpSpPr/>
          <p:nvPr/>
        </p:nvGrpSpPr>
        <p:grpSpPr>
          <a:xfrm>
            <a:off x="422950" y="4430975"/>
            <a:ext cx="8382000" cy="381000"/>
            <a:chOff x="381000" y="4619625"/>
            <a:chExt cx="8382000" cy="381000"/>
          </a:xfrm>
        </p:grpSpPr>
        <p:sp>
          <p:nvSpPr>
            <p:cNvPr id="395" name="Google Shape;395;p17"/>
            <p:cNvSpPr/>
            <p:nvPr/>
          </p:nvSpPr>
          <p:spPr>
            <a:xfrm>
              <a:off x="381000" y="4619625"/>
              <a:ext cx="8382000" cy="381000"/>
            </a:xfrm>
            <a:prstGeom prst="roundRect">
              <a:avLst>
                <a:gd fmla="val 10000" name="adj"/>
              </a:avLst>
            </a:prstGeom>
            <a:solidFill>
              <a:srgbClr val="FEF3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6" name="Google Shape;396;p17"/>
            <p:cNvSpPr txBox="1"/>
            <p:nvPr/>
          </p:nvSpPr>
          <p:spPr>
            <a:xfrm>
              <a:off x="476250" y="4619625"/>
              <a:ext cx="8191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50">
                  <a:solidFill>
                    <a:srgbClr val="E87722"/>
                  </a:solidFill>
                  <a:latin typeface="Inter"/>
                  <a:ea typeface="Inter"/>
                  <a:cs typeface="Inter"/>
                  <a:sym typeface="Inter"/>
                </a:rPr>
                <a:t>5 Tasks:</a:t>
              </a:r>
              <a:r>
                <a:rPr b="0" lang="en-US" sz="950">
                  <a:solidFill>
                    <a:srgbClr val="E87722"/>
                  </a:solidFill>
                  <a:latin typeface="Inter"/>
                  <a:ea typeface="Inter"/>
                  <a:cs typeface="Inter"/>
                  <a:sym typeface="Inter"/>
                </a:rPr>
                <a:t xml:space="preserve"> Login </a:t>
              </a:r>
              <a:r>
                <a:rPr b="0" lang="en-US" sz="950">
                  <a:solidFill>
                    <a:srgbClr val="E87722"/>
                  </a:solidFill>
                  <a:latin typeface="Material Icons"/>
                  <a:ea typeface="Material Icons"/>
                  <a:cs typeface="Material Icons"/>
                  <a:sym typeface="Material Icons"/>
                </a:rPr>
                <a:t>arrow_forward</a:t>
              </a:r>
              <a:r>
                <a:rPr b="0" lang="en-US" sz="950">
                  <a:solidFill>
                    <a:srgbClr val="E87722"/>
                  </a:solidFill>
                  <a:latin typeface="Inter"/>
                  <a:ea typeface="Inter"/>
                  <a:cs typeface="Inter"/>
                  <a:sym typeface="Inter"/>
                </a:rPr>
                <a:t xml:space="preserve"> Upload video </a:t>
              </a:r>
              <a:r>
                <a:rPr b="0" lang="en-US" sz="950">
                  <a:solidFill>
                    <a:srgbClr val="E87722"/>
                  </a:solidFill>
                  <a:latin typeface="Material Icons"/>
                  <a:ea typeface="Material Icons"/>
                  <a:cs typeface="Material Icons"/>
                  <a:sym typeface="Material Icons"/>
                </a:rPr>
                <a:t>arrow_forward</a:t>
              </a:r>
              <a:r>
                <a:rPr b="0" lang="en-US" sz="950">
                  <a:solidFill>
                    <a:srgbClr val="E87722"/>
                  </a:solidFill>
                  <a:latin typeface="Inter"/>
                  <a:ea typeface="Inter"/>
                  <a:cs typeface="Inter"/>
                  <a:sym typeface="Inter"/>
                </a:rPr>
                <a:t xml:space="preserve"> Trigger AI generation &amp; review </a:t>
              </a:r>
              <a:r>
                <a:rPr b="0" lang="en-US" sz="950">
                  <a:solidFill>
                    <a:srgbClr val="E87722"/>
                  </a:solidFill>
                  <a:latin typeface="Material Icons"/>
                  <a:ea typeface="Material Icons"/>
                  <a:cs typeface="Material Icons"/>
                  <a:sym typeface="Material Icons"/>
                </a:rPr>
                <a:t>arrow_forward</a:t>
              </a:r>
              <a:r>
                <a:rPr b="0" lang="en-US" sz="950">
                  <a:solidFill>
                    <a:srgbClr val="E87722"/>
                  </a:solidFill>
                  <a:latin typeface="Inter"/>
                  <a:ea typeface="Inter"/>
                  <a:cs typeface="Inter"/>
                  <a:sym typeface="Inter"/>
                </a:rPr>
                <a:t xml:space="preserve"> Embed 2 questions </a:t>
              </a:r>
              <a:r>
                <a:rPr b="0" lang="en-US" sz="950">
                  <a:solidFill>
                    <a:srgbClr val="E87722"/>
                  </a:solidFill>
                  <a:latin typeface="Material Icons"/>
                  <a:ea typeface="Material Icons"/>
                  <a:cs typeface="Material Icons"/>
                  <a:sym typeface="Material Icons"/>
                </a:rPr>
                <a:t>arrow_forward</a:t>
              </a:r>
              <a:r>
                <a:rPr b="0" lang="en-US" sz="950">
                  <a:solidFill>
                    <a:srgbClr val="E87722"/>
                  </a:solidFill>
                  <a:latin typeface="Inter"/>
                  <a:ea typeface="Inter"/>
                  <a:cs typeface="Inter"/>
                  <a:sym typeface="Inter"/>
                </a:rPr>
                <a:t xml:space="preserve"> Export H5P</a:t>
              </a:r>
              <a:endParaRPr b="0" sz="950">
                <a:solidFill>
                  <a:srgbClr val="E87722"/>
                </a:solidFill>
                <a:latin typeface="Inter"/>
                <a:ea typeface="Inter"/>
                <a:cs typeface="Inter"/>
                <a:sym typeface="Inte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1" name="Shape 401"/>
        <p:cNvGrpSpPr/>
        <p:nvPr/>
      </p:nvGrpSpPr>
      <p:grpSpPr>
        <a:xfrm>
          <a:off x="0" y="0"/>
          <a:ext cx="0" cy="0"/>
          <a:chOff x="0" y="0"/>
          <a:chExt cx="0" cy="0"/>
        </a:xfrm>
      </p:grpSpPr>
      <p:sp>
        <p:nvSpPr>
          <p:cNvPr id="402" name="Google Shape;402;p18"/>
          <p:cNvSpPr/>
          <p:nvPr/>
        </p:nvSpPr>
        <p:spPr>
          <a:xfrm>
            <a:off x="548640" y="29641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E87722"/>
                </a:solidFill>
                <a:latin typeface="Inter"/>
                <a:ea typeface="Inter"/>
                <a:cs typeface="Inter"/>
                <a:sym typeface="Inter"/>
              </a:rPr>
              <a:t>05 · EVALUATION</a:t>
            </a:r>
            <a:endParaRPr b="1" sz="900">
              <a:solidFill>
                <a:srgbClr val="E87722"/>
              </a:solidFill>
              <a:latin typeface="Inter"/>
              <a:ea typeface="Inter"/>
              <a:cs typeface="Inter"/>
              <a:sym typeface="Inter"/>
            </a:endParaRPr>
          </a:p>
        </p:txBody>
      </p:sp>
      <p:sp>
        <p:nvSpPr>
          <p:cNvPr id="403" name="Google Shape;403;p18"/>
          <p:cNvSpPr/>
          <p:nvPr/>
        </p:nvSpPr>
        <p:spPr>
          <a:xfrm>
            <a:off x="384048" y="369570"/>
            <a:ext cx="63900" cy="502800"/>
          </a:xfrm>
          <a:prstGeom prst="rect">
            <a:avLst/>
          </a:prstGeom>
          <a:solidFill>
            <a:srgbClr val="E87722"/>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8"/>
          <p:cNvSpPr/>
          <p:nvPr/>
        </p:nvSpPr>
        <p:spPr>
          <a:xfrm>
            <a:off x="548640" y="36957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1B2A4A"/>
                </a:solidFill>
                <a:latin typeface="Georgia"/>
                <a:ea typeface="Georgia"/>
                <a:cs typeface="Georgia"/>
                <a:sym typeface="Georgia"/>
              </a:rPr>
              <a:t>Quantitative Results</a:t>
            </a:r>
            <a:endParaRPr b="1" sz="3200">
              <a:solidFill>
                <a:srgbClr val="1B2A4A"/>
              </a:solidFill>
              <a:latin typeface="Georgia"/>
              <a:ea typeface="Georgia"/>
              <a:cs typeface="Georgia"/>
              <a:sym typeface="Georgia"/>
            </a:endParaRPr>
          </a:p>
        </p:txBody>
      </p:sp>
      <p:sp>
        <p:nvSpPr>
          <p:cNvPr id="405" name="Google Shape;405;p18"/>
          <p:cNvSpPr/>
          <p:nvPr/>
        </p:nvSpPr>
        <p:spPr>
          <a:xfrm>
            <a:off x="7772400" y="4846320"/>
            <a:ext cx="1097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800"/>
              <a:buFont typeface="Calibri"/>
              <a:buNone/>
            </a:pPr>
            <a:r>
              <a:rPr b="0" i="0" lang="en-US" sz="800" u="none" cap="none" strike="noStrike">
                <a:solidFill>
                  <a:srgbClr val="6B7280"/>
                </a:solidFill>
                <a:latin typeface="Calibri"/>
                <a:ea typeface="Calibri"/>
                <a:cs typeface="Calibri"/>
                <a:sym typeface="Calibri"/>
              </a:rPr>
              <a:t>16 / 21</a:t>
            </a:r>
            <a:endParaRPr b="0" i="0" sz="800" u="none" cap="none" strike="noStrike">
              <a:solidFill>
                <a:schemeClr val="dk1"/>
              </a:solidFill>
              <a:latin typeface="Calibri"/>
              <a:ea typeface="Calibri"/>
              <a:cs typeface="Calibri"/>
              <a:sym typeface="Calibri"/>
            </a:endParaRPr>
          </a:p>
        </p:txBody>
      </p:sp>
      <p:grpSp>
        <p:nvGrpSpPr>
          <p:cNvPr id="406" name="Google Shape;406;p18"/>
          <p:cNvGrpSpPr/>
          <p:nvPr/>
        </p:nvGrpSpPr>
        <p:grpSpPr>
          <a:xfrm>
            <a:off x="381000" y="1047750"/>
            <a:ext cx="8477175" cy="1428900"/>
            <a:chOff x="381000" y="1047750"/>
            <a:chExt cx="8477175" cy="1428900"/>
          </a:xfrm>
        </p:grpSpPr>
        <p:sp>
          <p:nvSpPr>
            <p:cNvPr id="407" name="Google Shape;407;p18"/>
            <p:cNvSpPr/>
            <p:nvPr/>
          </p:nvSpPr>
          <p:spPr>
            <a:xfrm>
              <a:off x="381000" y="1047750"/>
              <a:ext cx="2047800" cy="1428900"/>
            </a:xfrm>
            <a:prstGeom prst="roundRect">
              <a:avLst>
                <a:gd fmla="val 8000"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8" name="Google Shape;408;p18"/>
            <p:cNvSpPr/>
            <p:nvPr/>
          </p:nvSpPr>
          <p:spPr>
            <a:xfrm>
              <a:off x="2524125" y="1047750"/>
              <a:ext cx="2047800" cy="1428900"/>
            </a:xfrm>
            <a:prstGeom prst="roundRect">
              <a:avLst>
                <a:gd fmla="val 8000"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9" name="Google Shape;409;p18"/>
            <p:cNvSpPr/>
            <p:nvPr/>
          </p:nvSpPr>
          <p:spPr>
            <a:xfrm>
              <a:off x="4667250" y="1047750"/>
              <a:ext cx="2047800" cy="1428900"/>
            </a:xfrm>
            <a:prstGeom prst="roundRect">
              <a:avLst>
                <a:gd fmla="val 8000"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0" name="Google Shape;410;p18"/>
            <p:cNvSpPr/>
            <p:nvPr/>
          </p:nvSpPr>
          <p:spPr>
            <a:xfrm>
              <a:off x="6810375" y="1047750"/>
              <a:ext cx="2047800" cy="1428900"/>
            </a:xfrm>
            <a:prstGeom prst="roundRect">
              <a:avLst>
                <a:gd fmla="val 8000"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11" name="Google Shape;411;p18"/>
          <p:cNvSpPr/>
          <p:nvPr/>
        </p:nvSpPr>
        <p:spPr>
          <a:xfrm>
            <a:off x="381000" y="1190625"/>
            <a:ext cx="20478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600">
                <a:solidFill>
                  <a:srgbClr val="E87722"/>
                </a:solidFill>
                <a:latin typeface="Georgia"/>
                <a:ea typeface="Georgia"/>
                <a:cs typeface="Georgia"/>
                <a:sym typeface="Georgia"/>
              </a:rPr>
              <a:t>95%</a:t>
            </a:r>
            <a:endParaRPr b="1" sz="3600">
              <a:solidFill>
                <a:srgbClr val="E87722"/>
              </a:solidFill>
              <a:latin typeface="Georgia"/>
              <a:ea typeface="Georgia"/>
              <a:cs typeface="Georgia"/>
              <a:sym typeface="Georgia"/>
            </a:endParaRPr>
          </a:p>
        </p:txBody>
      </p:sp>
      <p:sp>
        <p:nvSpPr>
          <p:cNvPr id="412" name="Google Shape;412;p18"/>
          <p:cNvSpPr/>
          <p:nvPr/>
        </p:nvSpPr>
        <p:spPr>
          <a:xfrm>
            <a:off x="381000" y="1762125"/>
            <a:ext cx="20478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300">
                <a:solidFill>
                  <a:srgbClr val="1B2A4A"/>
                </a:solidFill>
                <a:latin typeface="Inter"/>
                <a:ea typeface="Inter"/>
                <a:cs typeface="Inter"/>
                <a:sym typeface="Inter"/>
              </a:rPr>
              <a:t>Task Completion</a:t>
            </a:r>
            <a:endParaRPr b="1" sz="1300">
              <a:solidFill>
                <a:srgbClr val="1B2A4A"/>
              </a:solidFill>
              <a:latin typeface="Inter"/>
              <a:ea typeface="Inter"/>
              <a:cs typeface="Inter"/>
              <a:sym typeface="Inter"/>
            </a:endParaRPr>
          </a:p>
        </p:txBody>
      </p:sp>
      <p:sp>
        <p:nvSpPr>
          <p:cNvPr id="413" name="Google Shape;413;p18"/>
          <p:cNvSpPr/>
          <p:nvPr/>
        </p:nvSpPr>
        <p:spPr>
          <a:xfrm>
            <a:off x="381000" y="2047875"/>
            <a:ext cx="2047800" cy="238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100">
                <a:solidFill>
                  <a:srgbClr val="059669"/>
                </a:solidFill>
                <a:latin typeface="Inter SemiBold"/>
                <a:ea typeface="Inter SemiBold"/>
                <a:cs typeface="Inter SemiBold"/>
                <a:sym typeface="Inter SemiBold"/>
              </a:rPr>
              <a:t>+65pp vs Baseline</a:t>
            </a:r>
            <a:endParaRPr b="0" sz="1100">
              <a:solidFill>
                <a:srgbClr val="059669"/>
              </a:solidFill>
              <a:latin typeface="Inter SemiBold"/>
              <a:ea typeface="Inter SemiBold"/>
              <a:cs typeface="Inter SemiBold"/>
              <a:sym typeface="Inter SemiBold"/>
            </a:endParaRPr>
          </a:p>
        </p:txBody>
      </p:sp>
      <p:sp>
        <p:nvSpPr>
          <p:cNvPr id="414" name="Google Shape;414;p18"/>
          <p:cNvSpPr/>
          <p:nvPr/>
        </p:nvSpPr>
        <p:spPr>
          <a:xfrm>
            <a:off x="2524125" y="1190625"/>
            <a:ext cx="20478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200">
                <a:solidFill>
                  <a:srgbClr val="E87722"/>
                </a:solidFill>
                <a:latin typeface="Georgia"/>
                <a:ea typeface="Georgia"/>
                <a:cs typeface="Georgia"/>
                <a:sym typeface="Georgia"/>
              </a:rPr>
              <a:t>3.2 min</a:t>
            </a:r>
            <a:endParaRPr b="1" sz="3200">
              <a:solidFill>
                <a:srgbClr val="E87722"/>
              </a:solidFill>
              <a:latin typeface="Georgia"/>
              <a:ea typeface="Georgia"/>
              <a:cs typeface="Georgia"/>
              <a:sym typeface="Georgia"/>
            </a:endParaRPr>
          </a:p>
        </p:txBody>
      </p:sp>
      <p:sp>
        <p:nvSpPr>
          <p:cNvPr id="415" name="Google Shape;415;p18"/>
          <p:cNvSpPr/>
          <p:nvPr/>
        </p:nvSpPr>
        <p:spPr>
          <a:xfrm>
            <a:off x="2524125" y="1762125"/>
            <a:ext cx="20478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300">
                <a:solidFill>
                  <a:srgbClr val="1B2A4A"/>
                </a:solidFill>
                <a:latin typeface="Inter"/>
                <a:ea typeface="Inter"/>
                <a:cs typeface="Inter"/>
                <a:sym typeface="Inter"/>
              </a:rPr>
              <a:t>Median Task Time</a:t>
            </a:r>
            <a:endParaRPr b="1" sz="1300">
              <a:solidFill>
                <a:srgbClr val="1B2A4A"/>
              </a:solidFill>
              <a:latin typeface="Inter"/>
              <a:ea typeface="Inter"/>
              <a:cs typeface="Inter"/>
              <a:sym typeface="Inter"/>
            </a:endParaRPr>
          </a:p>
        </p:txBody>
      </p:sp>
      <p:sp>
        <p:nvSpPr>
          <p:cNvPr id="416" name="Google Shape;416;p18"/>
          <p:cNvSpPr/>
          <p:nvPr/>
        </p:nvSpPr>
        <p:spPr>
          <a:xfrm>
            <a:off x="2524125" y="2047875"/>
            <a:ext cx="2047800" cy="238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100">
                <a:solidFill>
                  <a:srgbClr val="059669"/>
                </a:solidFill>
                <a:latin typeface="Inter SemiBold"/>
                <a:ea typeface="Inter SemiBold"/>
                <a:cs typeface="Inter SemiBold"/>
                <a:sym typeface="Inter SemiBold"/>
              </a:rPr>
              <a:t>−93% vs Baseline</a:t>
            </a:r>
            <a:endParaRPr b="0" sz="1100">
              <a:solidFill>
                <a:srgbClr val="059669"/>
              </a:solidFill>
              <a:latin typeface="Inter SemiBold"/>
              <a:ea typeface="Inter SemiBold"/>
              <a:cs typeface="Inter SemiBold"/>
              <a:sym typeface="Inter SemiBold"/>
            </a:endParaRPr>
          </a:p>
        </p:txBody>
      </p:sp>
      <p:sp>
        <p:nvSpPr>
          <p:cNvPr id="417" name="Google Shape;417;p18"/>
          <p:cNvSpPr/>
          <p:nvPr/>
        </p:nvSpPr>
        <p:spPr>
          <a:xfrm>
            <a:off x="4667250" y="1190625"/>
            <a:ext cx="20478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600">
                <a:solidFill>
                  <a:srgbClr val="E87722"/>
                </a:solidFill>
                <a:latin typeface="Georgia"/>
                <a:ea typeface="Georgia"/>
                <a:cs typeface="Georgia"/>
                <a:sym typeface="Georgia"/>
              </a:rPr>
              <a:t>82.5</a:t>
            </a:r>
            <a:endParaRPr b="1" sz="3600">
              <a:solidFill>
                <a:srgbClr val="E87722"/>
              </a:solidFill>
              <a:latin typeface="Georgia"/>
              <a:ea typeface="Georgia"/>
              <a:cs typeface="Georgia"/>
              <a:sym typeface="Georgia"/>
            </a:endParaRPr>
          </a:p>
        </p:txBody>
      </p:sp>
      <p:sp>
        <p:nvSpPr>
          <p:cNvPr id="418" name="Google Shape;418;p18"/>
          <p:cNvSpPr/>
          <p:nvPr/>
        </p:nvSpPr>
        <p:spPr>
          <a:xfrm>
            <a:off x="4667250" y="1762125"/>
            <a:ext cx="20478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300">
                <a:solidFill>
                  <a:srgbClr val="1B2A4A"/>
                </a:solidFill>
                <a:latin typeface="Inter"/>
                <a:ea typeface="Inter"/>
                <a:cs typeface="Inter"/>
                <a:sym typeface="Inter"/>
              </a:rPr>
              <a:t>Mean SUS Score</a:t>
            </a:r>
            <a:endParaRPr b="1" sz="1300">
              <a:solidFill>
                <a:srgbClr val="1B2A4A"/>
              </a:solidFill>
              <a:latin typeface="Inter"/>
              <a:ea typeface="Inter"/>
              <a:cs typeface="Inter"/>
              <a:sym typeface="Inter"/>
            </a:endParaRPr>
          </a:p>
        </p:txBody>
      </p:sp>
      <p:sp>
        <p:nvSpPr>
          <p:cNvPr id="419" name="Google Shape;419;p18"/>
          <p:cNvSpPr/>
          <p:nvPr/>
        </p:nvSpPr>
        <p:spPr>
          <a:xfrm>
            <a:off x="4667250" y="2047875"/>
            <a:ext cx="2047800" cy="238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100">
                <a:solidFill>
                  <a:srgbClr val="059669"/>
                </a:solidFill>
                <a:latin typeface="Inter SemiBold"/>
                <a:ea typeface="Inter SemiBold"/>
                <a:cs typeface="Inter SemiBold"/>
                <a:sym typeface="Inter SemiBold"/>
              </a:rPr>
              <a:t>+44.5 pts vs Baseline</a:t>
            </a:r>
            <a:endParaRPr b="0" sz="1100">
              <a:solidFill>
                <a:srgbClr val="059669"/>
              </a:solidFill>
              <a:latin typeface="Inter SemiBold"/>
              <a:ea typeface="Inter SemiBold"/>
              <a:cs typeface="Inter SemiBold"/>
              <a:sym typeface="Inter SemiBold"/>
            </a:endParaRPr>
          </a:p>
        </p:txBody>
      </p:sp>
      <p:sp>
        <p:nvSpPr>
          <p:cNvPr id="420" name="Google Shape;420;p18"/>
          <p:cNvSpPr/>
          <p:nvPr/>
        </p:nvSpPr>
        <p:spPr>
          <a:xfrm>
            <a:off x="6810375" y="1190625"/>
            <a:ext cx="20478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600">
                <a:solidFill>
                  <a:srgbClr val="E87722"/>
                </a:solidFill>
                <a:latin typeface="Georgia"/>
                <a:ea typeface="Georgia"/>
                <a:cs typeface="Georgia"/>
                <a:sym typeface="Georgia"/>
              </a:rPr>
              <a:t>0.9</a:t>
            </a:r>
            <a:endParaRPr b="1" sz="3600">
              <a:solidFill>
                <a:srgbClr val="E87722"/>
              </a:solidFill>
              <a:latin typeface="Georgia"/>
              <a:ea typeface="Georgia"/>
              <a:cs typeface="Georgia"/>
              <a:sym typeface="Georgia"/>
            </a:endParaRPr>
          </a:p>
        </p:txBody>
      </p:sp>
      <p:sp>
        <p:nvSpPr>
          <p:cNvPr id="421" name="Google Shape;421;p18"/>
          <p:cNvSpPr/>
          <p:nvPr/>
        </p:nvSpPr>
        <p:spPr>
          <a:xfrm>
            <a:off x="6810375" y="1762125"/>
            <a:ext cx="20478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300">
                <a:solidFill>
                  <a:srgbClr val="1B2A4A"/>
                </a:solidFill>
                <a:latin typeface="Inter"/>
                <a:ea typeface="Inter"/>
                <a:cs typeface="Inter"/>
                <a:sym typeface="Inter"/>
              </a:rPr>
              <a:t>Mean Error Count</a:t>
            </a:r>
            <a:endParaRPr b="1" sz="1300">
              <a:solidFill>
                <a:srgbClr val="1B2A4A"/>
              </a:solidFill>
              <a:latin typeface="Inter"/>
              <a:ea typeface="Inter"/>
              <a:cs typeface="Inter"/>
              <a:sym typeface="Inter"/>
            </a:endParaRPr>
          </a:p>
        </p:txBody>
      </p:sp>
      <p:sp>
        <p:nvSpPr>
          <p:cNvPr id="422" name="Google Shape;422;p18"/>
          <p:cNvSpPr/>
          <p:nvPr/>
        </p:nvSpPr>
        <p:spPr>
          <a:xfrm>
            <a:off x="6810375" y="2047875"/>
            <a:ext cx="2047800" cy="238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100">
                <a:solidFill>
                  <a:srgbClr val="059669"/>
                </a:solidFill>
                <a:latin typeface="Inter SemiBold"/>
                <a:ea typeface="Inter SemiBold"/>
                <a:cs typeface="Inter SemiBold"/>
                <a:sym typeface="Inter SemiBold"/>
              </a:rPr>
              <a:t>−89% vs Baseline</a:t>
            </a:r>
            <a:endParaRPr b="0" sz="1100">
              <a:solidFill>
                <a:srgbClr val="059669"/>
              </a:solidFill>
              <a:latin typeface="Inter SemiBold"/>
              <a:ea typeface="Inter SemiBold"/>
              <a:cs typeface="Inter SemiBold"/>
              <a:sym typeface="Inter SemiBold"/>
            </a:endParaRPr>
          </a:p>
        </p:txBody>
      </p:sp>
      <p:sp>
        <p:nvSpPr>
          <p:cNvPr id="423" name="Google Shape;423;p18"/>
          <p:cNvSpPr/>
          <p:nvPr/>
        </p:nvSpPr>
        <p:spPr>
          <a:xfrm>
            <a:off x="2524125" y="2667000"/>
            <a:ext cx="6334200" cy="2000100"/>
          </a:xfrm>
          <a:prstGeom prst="roundRect">
            <a:avLst>
              <a:gd fmla="val 5714" name="adj"/>
            </a:avLst>
          </a:prstGeom>
          <a:solidFill>
            <a:srgbClr val="1B2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4" name="Google Shape;424;p18"/>
          <p:cNvSpPr/>
          <p:nvPr/>
        </p:nvSpPr>
        <p:spPr>
          <a:xfrm>
            <a:off x="2976563" y="2952750"/>
            <a:ext cx="5429100" cy="1428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240">
                <a:solidFill>
                  <a:srgbClr val="FFFFFF"/>
                </a:solidFill>
                <a:latin typeface="Inter"/>
                <a:ea typeface="Inter"/>
                <a:cs typeface="Inter"/>
                <a:sym typeface="Inter"/>
              </a:rPr>
              <a:t>Conclusion</a:t>
            </a:r>
            <a:endParaRPr b="1" sz="1240">
              <a:solidFill>
                <a:srgbClr val="FFFFFF"/>
              </a:solidFill>
              <a:latin typeface="Inter"/>
              <a:ea typeface="Inter"/>
              <a:cs typeface="Inter"/>
              <a:sym typeface="Inter"/>
            </a:endParaRPr>
          </a:p>
          <a:p>
            <a:pPr indent="0" lvl="0" marL="0" rtl="0" algn="l">
              <a:spcBef>
                <a:spcPts val="1125"/>
              </a:spcBef>
              <a:spcAft>
                <a:spcPts val="0"/>
              </a:spcAft>
              <a:buNone/>
            </a:pPr>
            <a:r>
              <a:rPr b="0" lang="en-US" sz="1240">
                <a:solidFill>
                  <a:srgbClr val="FFFFFF"/>
                </a:solidFill>
                <a:latin typeface="Inter"/>
                <a:ea typeface="Inter"/>
                <a:cs typeface="Inter"/>
                <a:sym typeface="Inter"/>
              </a:rPr>
              <a:t>Every metric improved significantly across all evaluation criteria.</a:t>
            </a:r>
            <a:endParaRPr b="0" sz="1240">
              <a:solidFill>
                <a:srgbClr val="FFFFFF"/>
              </a:solidFill>
              <a:latin typeface="Inter"/>
              <a:ea typeface="Inter"/>
              <a:cs typeface="Inter"/>
              <a:sym typeface="Inter"/>
            </a:endParaRPr>
          </a:p>
          <a:p>
            <a:pPr indent="0" lvl="0" marL="0" rtl="0" algn="l">
              <a:spcBef>
                <a:spcPts val="750"/>
              </a:spcBef>
              <a:spcAft>
                <a:spcPts val="0"/>
              </a:spcAft>
              <a:buNone/>
            </a:pPr>
            <a:r>
              <a:rPr b="0" lang="en-US" sz="1240">
                <a:solidFill>
                  <a:srgbClr val="FFFFFF"/>
                </a:solidFill>
                <a:latin typeface="Inter"/>
                <a:ea typeface="Inter"/>
                <a:cs typeface="Inter"/>
                <a:sym typeface="Inter"/>
              </a:rPr>
              <a:t>The comparative chart demonstrates that the performance gap holds consistently across all five tasks.</a:t>
            </a:r>
            <a:endParaRPr b="0" sz="1240">
              <a:solidFill>
                <a:srgbClr val="FFFFFF"/>
              </a:solidFill>
              <a:latin typeface="Inter"/>
              <a:ea typeface="Inter"/>
              <a:cs typeface="Inter"/>
              <a:sym typeface="Inter"/>
            </a:endParaRPr>
          </a:p>
        </p:txBody>
      </p:sp>
      <p:pic>
        <p:nvPicPr>
          <p:cNvPr id="425" name="Google Shape;425;p18"/>
          <p:cNvPicPr preferRelativeResize="0"/>
          <p:nvPr/>
        </p:nvPicPr>
        <p:blipFill rotWithShape="1">
          <a:blip r:embed="rId4">
            <a:alphaModFix/>
          </a:blip>
          <a:srcRect b="199" l="0" r="0" t="199"/>
          <a:stretch/>
        </p:blipFill>
        <p:spPr>
          <a:xfrm>
            <a:off x="381000" y="2571825"/>
            <a:ext cx="2047800" cy="21909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0" name="Shape 430"/>
        <p:cNvGrpSpPr/>
        <p:nvPr/>
      </p:nvGrpSpPr>
      <p:grpSpPr>
        <a:xfrm>
          <a:off x="0" y="0"/>
          <a:ext cx="0" cy="0"/>
          <a:chOff x="0" y="0"/>
          <a:chExt cx="0" cy="0"/>
        </a:xfrm>
      </p:grpSpPr>
      <p:sp>
        <p:nvSpPr>
          <p:cNvPr id="431" name="Google Shape;431;p19"/>
          <p:cNvSpPr/>
          <p:nvPr/>
        </p:nvSpPr>
        <p:spPr>
          <a:xfrm>
            <a:off x="548640" y="254085"/>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E87722"/>
                </a:solidFill>
                <a:latin typeface="Georgia"/>
                <a:ea typeface="Georgia"/>
                <a:cs typeface="Georgia"/>
                <a:sym typeface="Georgia"/>
              </a:rPr>
              <a:t>05 · EVALUATION</a:t>
            </a:r>
            <a:endParaRPr b="1" sz="900">
              <a:solidFill>
                <a:srgbClr val="E87722"/>
              </a:solidFill>
              <a:latin typeface="Georgia"/>
              <a:ea typeface="Georgia"/>
              <a:cs typeface="Georgia"/>
              <a:sym typeface="Georgia"/>
            </a:endParaRPr>
          </a:p>
        </p:txBody>
      </p:sp>
      <p:sp>
        <p:nvSpPr>
          <p:cNvPr id="432" name="Google Shape;432;p19"/>
          <p:cNvSpPr/>
          <p:nvPr/>
        </p:nvSpPr>
        <p:spPr>
          <a:xfrm>
            <a:off x="384048" y="327237"/>
            <a:ext cx="63900" cy="502800"/>
          </a:xfrm>
          <a:prstGeom prst="rect">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3" name="Google Shape;433;p19"/>
          <p:cNvSpPr/>
          <p:nvPr/>
        </p:nvSpPr>
        <p:spPr>
          <a:xfrm>
            <a:off x="548640" y="327237"/>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1B2A4A"/>
                </a:solidFill>
                <a:latin typeface="Georgia"/>
                <a:ea typeface="Georgia"/>
                <a:cs typeface="Georgia"/>
                <a:sym typeface="Georgia"/>
              </a:rPr>
              <a:t>Discussion — Research Questions Answered</a:t>
            </a:r>
            <a:endParaRPr b="1" sz="2400">
              <a:solidFill>
                <a:srgbClr val="1B2A4A"/>
              </a:solidFill>
              <a:latin typeface="Georgia"/>
              <a:ea typeface="Georgia"/>
              <a:cs typeface="Georgia"/>
              <a:sym typeface="Georgia"/>
            </a:endParaRPr>
          </a:p>
        </p:txBody>
      </p:sp>
      <p:sp>
        <p:nvSpPr>
          <p:cNvPr id="434" name="Google Shape;434;p19"/>
          <p:cNvSpPr/>
          <p:nvPr/>
        </p:nvSpPr>
        <p:spPr>
          <a:xfrm>
            <a:off x="7772400" y="4846320"/>
            <a:ext cx="1097400" cy="18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rPr b="0" lang="en-US" sz="800">
                <a:solidFill>
                  <a:srgbClr val="6B7280"/>
                </a:solidFill>
                <a:latin typeface="Calibri"/>
                <a:ea typeface="Calibri"/>
                <a:cs typeface="Calibri"/>
                <a:sym typeface="Calibri"/>
              </a:rPr>
              <a:t>17 / 21</a:t>
            </a:r>
            <a:endParaRPr b="0" sz="800">
              <a:solidFill>
                <a:srgbClr val="6B7280"/>
              </a:solidFill>
              <a:latin typeface="Calibri"/>
              <a:ea typeface="Calibri"/>
              <a:cs typeface="Calibri"/>
              <a:sym typeface="Calibri"/>
            </a:endParaRPr>
          </a:p>
        </p:txBody>
      </p:sp>
      <p:grpSp>
        <p:nvGrpSpPr>
          <p:cNvPr id="435" name="Google Shape;435;p19"/>
          <p:cNvGrpSpPr/>
          <p:nvPr/>
        </p:nvGrpSpPr>
        <p:grpSpPr>
          <a:xfrm>
            <a:off x="381000" y="952500"/>
            <a:ext cx="8382000" cy="809700"/>
            <a:chOff x="381000" y="952500"/>
            <a:chExt cx="8382000" cy="809700"/>
          </a:xfrm>
        </p:grpSpPr>
        <p:sp>
          <p:nvSpPr>
            <p:cNvPr id="436" name="Google Shape;436;p19"/>
            <p:cNvSpPr/>
            <p:nvPr/>
          </p:nvSpPr>
          <p:spPr>
            <a:xfrm>
              <a:off x="381000" y="952500"/>
              <a:ext cx="8382000" cy="809700"/>
            </a:xfrm>
            <a:prstGeom prst="roundRect">
              <a:avLst>
                <a:gd fmla="val 11764"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7" name="Google Shape;437;p19"/>
            <p:cNvSpPr/>
            <p:nvPr/>
          </p:nvSpPr>
          <p:spPr>
            <a:xfrm>
              <a:off x="381000" y="952500"/>
              <a:ext cx="571500" cy="809700"/>
            </a:xfrm>
            <a:prstGeom prst="roundRect">
              <a:avLst>
                <a:gd fmla="val 16666" name="adj"/>
              </a:avLst>
            </a:prstGeom>
            <a:solidFill>
              <a:srgbClr val="1B2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38" name="Google Shape;438;p19"/>
            <p:cNvPicPr preferRelativeResize="0"/>
            <p:nvPr/>
          </p:nvPicPr>
          <p:blipFill rotWithShape="1">
            <a:blip r:embed="rId4">
              <a:alphaModFix/>
            </a:blip>
            <a:srcRect b="0" l="0" r="0" t="0"/>
            <a:stretch/>
          </p:blipFill>
          <p:spPr>
            <a:xfrm>
              <a:off x="947738" y="952500"/>
              <a:ext cx="9600" cy="809700"/>
            </a:xfrm>
            <a:prstGeom prst="rect">
              <a:avLst/>
            </a:prstGeom>
            <a:noFill/>
            <a:ln>
              <a:noFill/>
            </a:ln>
          </p:spPr>
        </p:pic>
        <p:sp>
          <p:nvSpPr>
            <p:cNvPr id="439" name="Google Shape;439;p19"/>
            <p:cNvSpPr txBox="1"/>
            <p:nvPr/>
          </p:nvSpPr>
          <p:spPr>
            <a:xfrm>
              <a:off x="381000" y="952500"/>
              <a:ext cx="571500" cy="8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
                  <a:solidFill>
                    <a:srgbClr val="E87722"/>
                  </a:solidFill>
                  <a:latin typeface="Georgia"/>
                  <a:ea typeface="Georgia"/>
                  <a:cs typeface="Georgia"/>
                  <a:sym typeface="Georgia"/>
                </a:rPr>
                <a:t>RQ1</a:t>
              </a:r>
              <a:endParaRPr b="1" sz="1200">
                <a:solidFill>
                  <a:srgbClr val="E87722"/>
                </a:solidFill>
                <a:latin typeface="Georgia"/>
                <a:ea typeface="Georgia"/>
                <a:cs typeface="Georgia"/>
                <a:sym typeface="Georgia"/>
              </a:endParaRPr>
            </a:p>
          </p:txBody>
        </p:sp>
        <p:sp>
          <p:nvSpPr>
            <p:cNvPr id="440" name="Google Shape;440;p19"/>
            <p:cNvSpPr txBox="1"/>
            <p:nvPr/>
          </p:nvSpPr>
          <p:spPr>
            <a:xfrm>
              <a:off x="1095375" y="1000125"/>
              <a:ext cx="75249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B2A4A"/>
                  </a:solidFill>
                  <a:latin typeface="Georgia"/>
                  <a:ea typeface="Georgia"/>
                  <a:cs typeface="Georgia"/>
                  <a:sym typeface="Georgia"/>
                </a:rPr>
                <a:t>What are the specific usability barriers in current H5P workflows?</a:t>
              </a:r>
              <a:endParaRPr b="1" sz="1100">
                <a:solidFill>
                  <a:srgbClr val="1B2A4A"/>
                </a:solidFill>
                <a:latin typeface="Georgia"/>
                <a:ea typeface="Georgia"/>
                <a:cs typeface="Georgia"/>
                <a:sym typeface="Georgia"/>
              </a:endParaRPr>
            </a:p>
          </p:txBody>
        </p:sp>
        <p:sp>
          <p:nvSpPr>
            <p:cNvPr id="441" name="Google Shape;441;p19"/>
            <p:cNvSpPr txBox="1"/>
            <p:nvPr/>
          </p:nvSpPr>
          <p:spPr>
            <a:xfrm>
              <a:off x="1095375" y="1285875"/>
              <a:ext cx="75249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50">
                  <a:solidFill>
                    <a:srgbClr val="374151"/>
                  </a:solidFill>
                  <a:latin typeface="Calibri"/>
                  <a:ea typeface="Calibri"/>
                  <a:cs typeface="Calibri"/>
                  <a:sym typeface="Calibri"/>
                </a:rPr>
                <a:t>Conclusively identified: multi-screen navigation fragmentation, CMS cognitive burden (shortcodes, WordPress posts), absence of WYSIWYG preview, and zero AI scaffolding. All four were systematically eliminated.</a:t>
              </a:r>
              <a:endParaRPr b="0" sz="1050">
                <a:solidFill>
                  <a:srgbClr val="374151"/>
                </a:solidFill>
                <a:latin typeface="Calibri"/>
                <a:ea typeface="Calibri"/>
                <a:cs typeface="Calibri"/>
                <a:sym typeface="Calibri"/>
              </a:endParaRPr>
            </a:p>
          </p:txBody>
        </p:sp>
      </p:grpSp>
      <p:grpSp>
        <p:nvGrpSpPr>
          <p:cNvPr id="442" name="Google Shape;442;p19"/>
          <p:cNvGrpSpPr/>
          <p:nvPr/>
        </p:nvGrpSpPr>
        <p:grpSpPr>
          <a:xfrm>
            <a:off x="381000" y="1905000"/>
            <a:ext cx="8382000" cy="809700"/>
            <a:chOff x="381000" y="1905000"/>
            <a:chExt cx="8382000" cy="809700"/>
          </a:xfrm>
        </p:grpSpPr>
        <p:sp>
          <p:nvSpPr>
            <p:cNvPr id="443" name="Google Shape;443;p19"/>
            <p:cNvSpPr/>
            <p:nvPr/>
          </p:nvSpPr>
          <p:spPr>
            <a:xfrm>
              <a:off x="381000" y="1905000"/>
              <a:ext cx="8382000" cy="809700"/>
            </a:xfrm>
            <a:prstGeom prst="roundRect">
              <a:avLst>
                <a:gd fmla="val 11764"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4" name="Google Shape;444;p19"/>
            <p:cNvSpPr/>
            <p:nvPr/>
          </p:nvSpPr>
          <p:spPr>
            <a:xfrm>
              <a:off x="381000" y="1905000"/>
              <a:ext cx="571500" cy="809700"/>
            </a:xfrm>
            <a:prstGeom prst="roundRect">
              <a:avLst>
                <a:gd fmla="val 16666" name="adj"/>
              </a:avLst>
            </a:prstGeom>
            <a:solidFill>
              <a:srgbClr val="1B2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45" name="Google Shape;445;p19"/>
            <p:cNvPicPr preferRelativeResize="0"/>
            <p:nvPr/>
          </p:nvPicPr>
          <p:blipFill rotWithShape="1">
            <a:blip r:embed="rId4">
              <a:alphaModFix/>
            </a:blip>
            <a:srcRect b="0" l="0" r="0" t="0"/>
            <a:stretch/>
          </p:blipFill>
          <p:spPr>
            <a:xfrm>
              <a:off x="947738" y="1905000"/>
              <a:ext cx="9600" cy="809700"/>
            </a:xfrm>
            <a:prstGeom prst="rect">
              <a:avLst/>
            </a:prstGeom>
            <a:noFill/>
            <a:ln>
              <a:noFill/>
            </a:ln>
          </p:spPr>
        </p:pic>
        <p:sp>
          <p:nvSpPr>
            <p:cNvPr id="446" name="Google Shape;446;p19"/>
            <p:cNvSpPr txBox="1"/>
            <p:nvPr/>
          </p:nvSpPr>
          <p:spPr>
            <a:xfrm>
              <a:off x="381000" y="1905000"/>
              <a:ext cx="571500" cy="8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
                  <a:solidFill>
                    <a:srgbClr val="E87722"/>
                  </a:solidFill>
                  <a:latin typeface="Georgia"/>
                  <a:ea typeface="Georgia"/>
                  <a:cs typeface="Georgia"/>
                  <a:sym typeface="Georgia"/>
                </a:rPr>
                <a:t>RQ2</a:t>
              </a:r>
              <a:endParaRPr b="1" sz="1200">
                <a:solidFill>
                  <a:srgbClr val="E87722"/>
                </a:solidFill>
                <a:latin typeface="Georgia"/>
                <a:ea typeface="Georgia"/>
                <a:cs typeface="Georgia"/>
                <a:sym typeface="Georgia"/>
              </a:endParaRPr>
            </a:p>
          </p:txBody>
        </p:sp>
        <p:sp>
          <p:nvSpPr>
            <p:cNvPr id="447" name="Google Shape;447;p19"/>
            <p:cNvSpPr txBox="1"/>
            <p:nvPr/>
          </p:nvSpPr>
          <p:spPr>
            <a:xfrm>
              <a:off x="1095375" y="1952625"/>
              <a:ext cx="75249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B2A4A"/>
                  </a:solidFill>
                  <a:latin typeface="Georgia"/>
                  <a:ea typeface="Georgia"/>
                  <a:cs typeface="Georgia"/>
                  <a:sym typeface="Georgia"/>
                </a:rPr>
                <a:t>How can UCD reduce extraneous cognitive load in interactive authoring?</a:t>
              </a:r>
              <a:endParaRPr b="1" sz="1100">
                <a:solidFill>
                  <a:srgbClr val="1B2A4A"/>
                </a:solidFill>
                <a:latin typeface="Georgia"/>
                <a:ea typeface="Georgia"/>
                <a:cs typeface="Georgia"/>
                <a:sym typeface="Georgia"/>
              </a:endParaRPr>
            </a:p>
          </p:txBody>
        </p:sp>
        <p:sp>
          <p:nvSpPr>
            <p:cNvPr id="448" name="Google Shape;448;p19"/>
            <p:cNvSpPr txBox="1"/>
            <p:nvPr/>
          </p:nvSpPr>
          <p:spPr>
            <a:xfrm>
              <a:off x="1095375" y="2238375"/>
              <a:ext cx="75249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50">
                  <a:solidFill>
                    <a:srgbClr val="374151"/>
                  </a:solidFill>
                  <a:latin typeface="Calibri"/>
                  <a:ea typeface="Calibri"/>
                  <a:cs typeface="Calibri"/>
                  <a:sym typeface="Calibri"/>
                </a:rPr>
                <a:t>By aggressively co-locating the video player, timestamp tool, question editor, and AI panel on one viewport, the split-attention effect was eliminated. UI interactions fell from 47 to 8.</a:t>
              </a:r>
              <a:endParaRPr b="0" sz="1050">
                <a:solidFill>
                  <a:srgbClr val="374151"/>
                </a:solidFill>
                <a:latin typeface="Calibri"/>
                <a:ea typeface="Calibri"/>
                <a:cs typeface="Calibri"/>
                <a:sym typeface="Calibri"/>
              </a:endParaRPr>
            </a:p>
          </p:txBody>
        </p:sp>
      </p:grpSp>
      <p:grpSp>
        <p:nvGrpSpPr>
          <p:cNvPr id="449" name="Google Shape;449;p19"/>
          <p:cNvGrpSpPr/>
          <p:nvPr/>
        </p:nvGrpSpPr>
        <p:grpSpPr>
          <a:xfrm>
            <a:off x="381000" y="2857500"/>
            <a:ext cx="8382000" cy="809700"/>
            <a:chOff x="381000" y="2857500"/>
            <a:chExt cx="8382000" cy="809700"/>
          </a:xfrm>
        </p:grpSpPr>
        <p:sp>
          <p:nvSpPr>
            <p:cNvPr id="450" name="Google Shape;450;p19"/>
            <p:cNvSpPr/>
            <p:nvPr/>
          </p:nvSpPr>
          <p:spPr>
            <a:xfrm>
              <a:off x="381000" y="2857500"/>
              <a:ext cx="8382000" cy="809700"/>
            </a:xfrm>
            <a:prstGeom prst="roundRect">
              <a:avLst>
                <a:gd fmla="val 11764"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1" name="Google Shape;451;p19"/>
            <p:cNvSpPr/>
            <p:nvPr/>
          </p:nvSpPr>
          <p:spPr>
            <a:xfrm>
              <a:off x="381000" y="2857500"/>
              <a:ext cx="571500" cy="809700"/>
            </a:xfrm>
            <a:prstGeom prst="roundRect">
              <a:avLst>
                <a:gd fmla="val 16666" name="adj"/>
              </a:avLst>
            </a:prstGeom>
            <a:solidFill>
              <a:srgbClr val="1B2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52" name="Google Shape;452;p19"/>
            <p:cNvPicPr preferRelativeResize="0"/>
            <p:nvPr/>
          </p:nvPicPr>
          <p:blipFill rotWithShape="1">
            <a:blip r:embed="rId4">
              <a:alphaModFix/>
            </a:blip>
            <a:srcRect b="0" l="0" r="0" t="0"/>
            <a:stretch/>
          </p:blipFill>
          <p:spPr>
            <a:xfrm>
              <a:off x="947738" y="2857500"/>
              <a:ext cx="9600" cy="809700"/>
            </a:xfrm>
            <a:prstGeom prst="rect">
              <a:avLst/>
            </a:prstGeom>
            <a:noFill/>
            <a:ln>
              <a:noFill/>
            </a:ln>
          </p:spPr>
        </p:pic>
        <p:sp>
          <p:nvSpPr>
            <p:cNvPr id="453" name="Google Shape;453;p19"/>
            <p:cNvSpPr txBox="1"/>
            <p:nvPr/>
          </p:nvSpPr>
          <p:spPr>
            <a:xfrm>
              <a:off x="381000" y="2857500"/>
              <a:ext cx="571500" cy="8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
                  <a:solidFill>
                    <a:srgbClr val="E87722"/>
                  </a:solidFill>
                  <a:latin typeface="Georgia"/>
                  <a:ea typeface="Georgia"/>
                  <a:cs typeface="Georgia"/>
                  <a:sym typeface="Georgia"/>
                </a:rPr>
                <a:t>RQ3</a:t>
              </a:r>
              <a:endParaRPr b="1" sz="1200">
                <a:solidFill>
                  <a:srgbClr val="E87722"/>
                </a:solidFill>
                <a:latin typeface="Georgia"/>
                <a:ea typeface="Georgia"/>
                <a:cs typeface="Georgia"/>
                <a:sym typeface="Georgia"/>
              </a:endParaRPr>
            </a:p>
          </p:txBody>
        </p:sp>
        <p:sp>
          <p:nvSpPr>
            <p:cNvPr id="454" name="Google Shape;454;p19"/>
            <p:cNvSpPr txBox="1"/>
            <p:nvPr/>
          </p:nvSpPr>
          <p:spPr>
            <a:xfrm>
              <a:off x="1095375" y="2905125"/>
              <a:ext cx="75249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B2A4A"/>
                  </a:solidFill>
                  <a:latin typeface="Georgia"/>
                  <a:ea typeface="Georgia"/>
                  <a:cs typeface="Georgia"/>
                  <a:sym typeface="Georgia"/>
                </a:rPr>
                <a:t>What architecture best supports AI-assisted H5P authoring?</a:t>
              </a:r>
              <a:endParaRPr b="1" sz="1100">
                <a:solidFill>
                  <a:srgbClr val="1B2A4A"/>
                </a:solidFill>
                <a:latin typeface="Georgia"/>
                <a:ea typeface="Georgia"/>
                <a:cs typeface="Georgia"/>
                <a:sym typeface="Georgia"/>
              </a:endParaRPr>
            </a:p>
          </p:txBody>
        </p:sp>
        <p:sp>
          <p:nvSpPr>
            <p:cNvPr id="455" name="Google Shape;455;p19"/>
            <p:cNvSpPr txBox="1"/>
            <p:nvPr/>
          </p:nvSpPr>
          <p:spPr>
            <a:xfrm>
              <a:off x="1095375" y="3190875"/>
              <a:ext cx="75249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50">
                  <a:solidFill>
                    <a:srgbClr val="374151"/>
                  </a:solidFill>
                  <a:latin typeface="Calibri"/>
                  <a:ea typeface="Calibri"/>
                  <a:cs typeface="Calibri"/>
                  <a:sym typeface="Calibri"/>
                </a:rPr>
                <a:t>A resilient dual-provider LLM chain (Groq → Ollama → Claude) with Zod-based structured output validation and SSE streaming. Headless Lumieducation H5P library decouples from WordPress entirely.</a:t>
              </a:r>
              <a:endParaRPr b="0" sz="1050">
                <a:solidFill>
                  <a:srgbClr val="374151"/>
                </a:solidFill>
                <a:latin typeface="Calibri"/>
                <a:ea typeface="Calibri"/>
                <a:cs typeface="Calibri"/>
                <a:sym typeface="Calibri"/>
              </a:endParaRPr>
            </a:p>
          </p:txBody>
        </p:sp>
      </p:grpSp>
      <p:grpSp>
        <p:nvGrpSpPr>
          <p:cNvPr id="456" name="Google Shape;456;p19"/>
          <p:cNvGrpSpPr/>
          <p:nvPr/>
        </p:nvGrpSpPr>
        <p:grpSpPr>
          <a:xfrm>
            <a:off x="381000" y="3810000"/>
            <a:ext cx="8382000" cy="809775"/>
            <a:chOff x="381000" y="3810000"/>
            <a:chExt cx="8382000" cy="809775"/>
          </a:xfrm>
        </p:grpSpPr>
        <p:sp>
          <p:nvSpPr>
            <p:cNvPr id="457" name="Google Shape;457;p19"/>
            <p:cNvSpPr/>
            <p:nvPr/>
          </p:nvSpPr>
          <p:spPr>
            <a:xfrm>
              <a:off x="381000" y="3810000"/>
              <a:ext cx="8382000" cy="809700"/>
            </a:xfrm>
            <a:prstGeom prst="roundRect">
              <a:avLst>
                <a:gd fmla="val 11764"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8" name="Google Shape;458;p19"/>
            <p:cNvSpPr/>
            <p:nvPr/>
          </p:nvSpPr>
          <p:spPr>
            <a:xfrm>
              <a:off x="381000" y="3810000"/>
              <a:ext cx="571500" cy="809700"/>
            </a:xfrm>
            <a:prstGeom prst="roundRect">
              <a:avLst>
                <a:gd fmla="val 16666" name="adj"/>
              </a:avLst>
            </a:prstGeom>
            <a:solidFill>
              <a:srgbClr val="1B2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59" name="Google Shape;459;p19"/>
            <p:cNvPicPr preferRelativeResize="0"/>
            <p:nvPr/>
          </p:nvPicPr>
          <p:blipFill rotWithShape="1">
            <a:blip r:embed="rId4">
              <a:alphaModFix/>
            </a:blip>
            <a:srcRect b="0" l="0" r="0" t="0"/>
            <a:stretch/>
          </p:blipFill>
          <p:spPr>
            <a:xfrm>
              <a:off x="947738" y="3810000"/>
              <a:ext cx="9600" cy="809700"/>
            </a:xfrm>
            <a:prstGeom prst="rect">
              <a:avLst/>
            </a:prstGeom>
            <a:noFill/>
            <a:ln>
              <a:noFill/>
            </a:ln>
          </p:spPr>
        </p:pic>
        <p:sp>
          <p:nvSpPr>
            <p:cNvPr id="460" name="Google Shape;460;p19"/>
            <p:cNvSpPr txBox="1"/>
            <p:nvPr/>
          </p:nvSpPr>
          <p:spPr>
            <a:xfrm>
              <a:off x="381000" y="3810000"/>
              <a:ext cx="571500" cy="80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
                  <a:solidFill>
                    <a:srgbClr val="E87722"/>
                  </a:solidFill>
                  <a:latin typeface="Georgia"/>
                  <a:ea typeface="Georgia"/>
                  <a:cs typeface="Georgia"/>
                  <a:sym typeface="Georgia"/>
                </a:rPr>
                <a:t>RQ4</a:t>
              </a:r>
              <a:endParaRPr b="1" sz="1200">
                <a:solidFill>
                  <a:srgbClr val="E87722"/>
                </a:solidFill>
                <a:latin typeface="Georgia"/>
                <a:ea typeface="Georgia"/>
                <a:cs typeface="Georgia"/>
                <a:sym typeface="Georgia"/>
              </a:endParaRPr>
            </a:p>
          </p:txBody>
        </p:sp>
        <p:sp>
          <p:nvSpPr>
            <p:cNvPr id="461" name="Google Shape;461;p19"/>
            <p:cNvSpPr txBox="1"/>
            <p:nvPr/>
          </p:nvSpPr>
          <p:spPr>
            <a:xfrm>
              <a:off x="1095375" y="3857625"/>
              <a:ext cx="75249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B2A4A"/>
                  </a:solidFill>
                  <a:latin typeface="Georgia"/>
                  <a:ea typeface="Georgia"/>
                  <a:cs typeface="Georgia"/>
                  <a:sym typeface="Georgia"/>
                </a:rPr>
                <a:t>To what extent does the platform outperform the WordPress baseline?</a:t>
              </a:r>
              <a:endParaRPr b="1" sz="1100">
                <a:solidFill>
                  <a:srgbClr val="1B2A4A"/>
                </a:solidFill>
                <a:latin typeface="Georgia"/>
                <a:ea typeface="Georgia"/>
                <a:cs typeface="Georgia"/>
                <a:sym typeface="Georgia"/>
              </a:endParaRPr>
            </a:p>
          </p:txBody>
        </p:sp>
        <p:sp>
          <p:nvSpPr>
            <p:cNvPr id="462" name="Google Shape;462;p19"/>
            <p:cNvSpPr txBox="1"/>
            <p:nvPr/>
          </p:nvSpPr>
          <p:spPr>
            <a:xfrm>
              <a:off x="1095375" y="4143375"/>
              <a:ext cx="75249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50">
                  <a:solidFill>
                    <a:srgbClr val="374151"/>
                  </a:solidFill>
                  <a:latin typeface="Calibri"/>
                  <a:ea typeface="Calibri"/>
                  <a:cs typeface="Calibri"/>
                  <a:sym typeface="Calibri"/>
                </a:rPr>
                <a:t>+65pp task completion · −93% time · −89% errors · +44.5 SUS points (Poor → Excellent). Every metric improved across every task — exceeding all non-functional requirements set at the outset.</a:t>
              </a:r>
              <a:endParaRPr b="0" sz="1050">
                <a:solidFill>
                  <a:srgbClr val="374151"/>
                </a:solidFill>
                <a:latin typeface="Calibri"/>
                <a:ea typeface="Calibri"/>
                <a:cs typeface="Calibri"/>
                <a:sym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467" name="Shape 467"/>
        <p:cNvGrpSpPr/>
        <p:nvPr/>
      </p:nvGrpSpPr>
      <p:grpSpPr>
        <a:xfrm>
          <a:off x="0" y="0"/>
          <a:ext cx="0" cy="0"/>
          <a:chOff x="0" y="0"/>
          <a:chExt cx="0" cy="0"/>
        </a:xfrm>
      </p:grpSpPr>
      <p:sp>
        <p:nvSpPr>
          <p:cNvPr id="468" name="Google Shape;468;p20"/>
          <p:cNvSpPr/>
          <p:nvPr/>
        </p:nvSpPr>
        <p:spPr>
          <a:xfrm>
            <a:off x="548640" y="20116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E87722"/>
                </a:solidFill>
                <a:latin typeface="Calibri"/>
                <a:ea typeface="Calibri"/>
                <a:cs typeface="Calibri"/>
                <a:sym typeface="Calibri"/>
              </a:rPr>
              <a:t>06 · CONCLUSION</a:t>
            </a:r>
            <a:endParaRPr b="1" sz="900">
              <a:solidFill>
                <a:srgbClr val="E87722"/>
              </a:solidFill>
              <a:latin typeface="Calibri"/>
              <a:ea typeface="Calibri"/>
              <a:cs typeface="Calibri"/>
              <a:sym typeface="Calibri"/>
            </a:endParaRPr>
          </a:p>
        </p:txBody>
      </p:sp>
      <p:sp>
        <p:nvSpPr>
          <p:cNvPr id="469" name="Google Shape;469;p20"/>
          <p:cNvSpPr/>
          <p:nvPr/>
        </p:nvSpPr>
        <p:spPr>
          <a:xfrm>
            <a:off x="384048" y="274320"/>
            <a:ext cx="63900" cy="502800"/>
          </a:xfrm>
          <a:prstGeom prst="rect">
            <a:avLst/>
          </a:prstGeom>
          <a:solidFill>
            <a:srgbClr val="E87722"/>
          </a:solidFill>
          <a:ln cap="flat" cmpd="sng">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0" name="Google Shape;470;p20"/>
          <p:cNvSpPr/>
          <p:nvPr/>
        </p:nvSpPr>
        <p:spPr>
          <a:xfrm>
            <a:off x="548640" y="27432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1B2A4A"/>
                </a:solidFill>
                <a:latin typeface="Georgia"/>
                <a:ea typeface="Georgia"/>
                <a:cs typeface="Georgia"/>
                <a:sym typeface="Georgia"/>
              </a:rPr>
              <a:t>Research Contributions</a:t>
            </a:r>
            <a:endParaRPr b="1" sz="2800">
              <a:solidFill>
                <a:srgbClr val="1B2A4A"/>
              </a:solidFill>
              <a:latin typeface="Georgia"/>
              <a:ea typeface="Georgia"/>
              <a:cs typeface="Georgia"/>
              <a:sym typeface="Georgia"/>
            </a:endParaRPr>
          </a:p>
        </p:txBody>
      </p:sp>
      <p:sp>
        <p:nvSpPr>
          <p:cNvPr id="471" name="Google Shape;471;p20"/>
          <p:cNvSpPr/>
          <p:nvPr/>
        </p:nvSpPr>
        <p:spPr>
          <a:xfrm>
            <a:off x="7772400" y="4846320"/>
            <a:ext cx="1097400" cy="18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rPr b="0" lang="en-US" sz="800">
                <a:solidFill>
                  <a:srgbClr val="6B7280"/>
                </a:solidFill>
                <a:latin typeface="Calibri"/>
                <a:ea typeface="Calibri"/>
                <a:cs typeface="Calibri"/>
                <a:sym typeface="Calibri"/>
              </a:rPr>
              <a:t>18 / 21</a:t>
            </a:r>
            <a:endParaRPr b="0" sz="800">
              <a:solidFill>
                <a:srgbClr val="6B7280"/>
              </a:solidFill>
              <a:latin typeface="Calibri"/>
              <a:ea typeface="Calibri"/>
              <a:cs typeface="Calibri"/>
              <a:sym typeface="Calibri"/>
            </a:endParaRPr>
          </a:p>
        </p:txBody>
      </p:sp>
      <p:sp>
        <p:nvSpPr>
          <p:cNvPr id="472" name="Google Shape;472;p20"/>
          <p:cNvSpPr/>
          <p:nvPr/>
        </p:nvSpPr>
        <p:spPr>
          <a:xfrm>
            <a:off x="411480" y="857250"/>
            <a:ext cx="83211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1300">
                <a:solidFill>
                  <a:srgbClr val="374151"/>
                </a:solidFill>
                <a:latin typeface="Calibri"/>
                <a:ea typeface="Calibri"/>
                <a:cs typeface="Calibri"/>
                <a:sym typeface="Calibri"/>
              </a:rPr>
              <a:t>This thesis makes five distinct contributions to software engineering and educational technology:</a:t>
            </a:r>
            <a:endParaRPr b="0" sz="1300">
              <a:solidFill>
                <a:srgbClr val="374151"/>
              </a:solidFill>
              <a:latin typeface="Calibri"/>
              <a:ea typeface="Calibri"/>
              <a:cs typeface="Calibri"/>
              <a:sym typeface="Calibri"/>
            </a:endParaRPr>
          </a:p>
        </p:txBody>
      </p:sp>
      <p:sp>
        <p:nvSpPr>
          <p:cNvPr id="473" name="Google Shape;473;p20"/>
          <p:cNvSpPr/>
          <p:nvPr/>
        </p:nvSpPr>
        <p:spPr>
          <a:xfrm>
            <a:off x="381000" y="1238250"/>
            <a:ext cx="571500" cy="666900"/>
          </a:xfrm>
          <a:prstGeom prst="rect">
            <a:avLst/>
          </a:prstGeom>
          <a:solidFill>
            <a:srgbClr val="1B2A4A"/>
          </a:solidFill>
          <a:ln cap="flat" cmpd="sng">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4" name="Google Shape;474;p20"/>
          <p:cNvSpPr/>
          <p:nvPr/>
        </p:nvSpPr>
        <p:spPr>
          <a:xfrm>
            <a:off x="381000" y="1238250"/>
            <a:ext cx="5715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E87722"/>
                </a:solidFill>
                <a:latin typeface="Georgia"/>
                <a:ea typeface="Georgia"/>
                <a:cs typeface="Georgia"/>
                <a:sym typeface="Georgia"/>
              </a:rPr>
              <a:t>01</a:t>
            </a:r>
            <a:endParaRPr b="1" sz="1400">
              <a:solidFill>
                <a:srgbClr val="E87722"/>
              </a:solidFill>
              <a:latin typeface="Georgia"/>
              <a:ea typeface="Georgia"/>
              <a:cs typeface="Georgia"/>
              <a:sym typeface="Georgia"/>
            </a:endParaRPr>
          </a:p>
        </p:txBody>
      </p:sp>
      <p:sp>
        <p:nvSpPr>
          <p:cNvPr id="475" name="Google Shape;475;p20"/>
          <p:cNvSpPr/>
          <p:nvPr/>
        </p:nvSpPr>
        <p:spPr>
          <a:xfrm>
            <a:off x="1095375" y="1238250"/>
            <a:ext cx="762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1B2A4A"/>
                </a:solidFill>
                <a:latin typeface="Calibri"/>
                <a:ea typeface="Calibri"/>
                <a:cs typeface="Calibri"/>
                <a:sym typeface="Calibri"/>
              </a:rPr>
              <a:t>Production-Ready Authoring Platform</a:t>
            </a:r>
            <a:endParaRPr b="1" sz="1300">
              <a:solidFill>
                <a:srgbClr val="1B2A4A"/>
              </a:solidFill>
              <a:latin typeface="Calibri"/>
              <a:ea typeface="Calibri"/>
              <a:cs typeface="Calibri"/>
              <a:sym typeface="Calibri"/>
            </a:endParaRPr>
          </a:p>
        </p:txBody>
      </p:sp>
      <p:sp>
        <p:nvSpPr>
          <p:cNvPr id="476" name="Google Shape;476;p20"/>
          <p:cNvSpPr/>
          <p:nvPr/>
        </p:nvSpPr>
        <p:spPr>
          <a:xfrm>
            <a:off x="1095375" y="1524000"/>
            <a:ext cx="76200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4B5563"/>
                </a:solidFill>
                <a:latin typeface="Calibri"/>
                <a:ea typeface="Calibri"/>
                <a:cs typeface="Calibri"/>
                <a:sym typeface="Calibri"/>
              </a:rPr>
              <a:t>A complete, open-source, CMS-free H5P authoring environment engineered specifically for institutional deployment at VNU-HCM.</a:t>
            </a:r>
            <a:endParaRPr b="0" sz="1100">
              <a:solidFill>
                <a:srgbClr val="4B5563"/>
              </a:solidFill>
              <a:latin typeface="Calibri"/>
              <a:ea typeface="Calibri"/>
              <a:cs typeface="Calibri"/>
              <a:sym typeface="Calibri"/>
            </a:endParaRPr>
          </a:p>
        </p:txBody>
      </p:sp>
      <p:sp>
        <p:nvSpPr>
          <p:cNvPr id="477" name="Google Shape;477;p20"/>
          <p:cNvSpPr/>
          <p:nvPr/>
        </p:nvSpPr>
        <p:spPr>
          <a:xfrm>
            <a:off x="381000" y="1952625"/>
            <a:ext cx="571500" cy="666900"/>
          </a:xfrm>
          <a:prstGeom prst="rect">
            <a:avLst/>
          </a:prstGeom>
          <a:solidFill>
            <a:srgbClr val="1B2A4A"/>
          </a:solidFill>
          <a:ln cap="flat" cmpd="sng">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8" name="Google Shape;478;p20"/>
          <p:cNvSpPr/>
          <p:nvPr/>
        </p:nvSpPr>
        <p:spPr>
          <a:xfrm>
            <a:off x="381000" y="1952625"/>
            <a:ext cx="5715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E87722"/>
                </a:solidFill>
                <a:latin typeface="Georgia"/>
                <a:ea typeface="Georgia"/>
                <a:cs typeface="Georgia"/>
                <a:sym typeface="Georgia"/>
              </a:rPr>
              <a:t>02</a:t>
            </a:r>
            <a:endParaRPr b="1" sz="1400">
              <a:solidFill>
                <a:srgbClr val="E87722"/>
              </a:solidFill>
              <a:latin typeface="Georgia"/>
              <a:ea typeface="Georgia"/>
              <a:cs typeface="Georgia"/>
              <a:sym typeface="Georgia"/>
            </a:endParaRPr>
          </a:p>
        </p:txBody>
      </p:sp>
      <p:sp>
        <p:nvSpPr>
          <p:cNvPr id="479" name="Google Shape;479;p20"/>
          <p:cNvSpPr/>
          <p:nvPr/>
        </p:nvSpPr>
        <p:spPr>
          <a:xfrm>
            <a:off x="1095375" y="1952625"/>
            <a:ext cx="762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1B2A4A"/>
                </a:solidFill>
                <a:latin typeface="Calibri"/>
                <a:ea typeface="Calibri"/>
                <a:cs typeface="Calibri"/>
                <a:sym typeface="Calibri"/>
              </a:rPr>
              <a:t>Novel AI-to-H5P Generation Pipeline</a:t>
            </a:r>
            <a:endParaRPr b="1" sz="1300">
              <a:solidFill>
                <a:srgbClr val="1B2A4A"/>
              </a:solidFill>
              <a:latin typeface="Calibri"/>
              <a:ea typeface="Calibri"/>
              <a:cs typeface="Calibri"/>
              <a:sym typeface="Calibri"/>
            </a:endParaRPr>
          </a:p>
        </p:txBody>
      </p:sp>
      <p:sp>
        <p:nvSpPr>
          <p:cNvPr id="480" name="Google Shape;480;p20"/>
          <p:cNvSpPr/>
          <p:nvPr/>
        </p:nvSpPr>
        <p:spPr>
          <a:xfrm>
            <a:off x="1095375" y="2238375"/>
            <a:ext cx="76200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4B5563"/>
                </a:solidFill>
                <a:latin typeface="Calibri"/>
                <a:ea typeface="Calibri"/>
                <a:cs typeface="Calibri"/>
                <a:sym typeface="Calibri"/>
              </a:rPr>
              <a:t>The first documented, fully functional integration of a production-grade LLM pipeline directly generating schema-compliant H5P content types classified by Bloom's taxonomy.</a:t>
            </a:r>
            <a:endParaRPr b="0" sz="1100">
              <a:solidFill>
                <a:srgbClr val="4B5563"/>
              </a:solidFill>
              <a:latin typeface="Calibri"/>
              <a:ea typeface="Calibri"/>
              <a:cs typeface="Calibri"/>
              <a:sym typeface="Calibri"/>
            </a:endParaRPr>
          </a:p>
        </p:txBody>
      </p:sp>
      <p:sp>
        <p:nvSpPr>
          <p:cNvPr id="481" name="Google Shape;481;p20"/>
          <p:cNvSpPr/>
          <p:nvPr/>
        </p:nvSpPr>
        <p:spPr>
          <a:xfrm>
            <a:off x="381000" y="2667000"/>
            <a:ext cx="571500" cy="666900"/>
          </a:xfrm>
          <a:prstGeom prst="rect">
            <a:avLst/>
          </a:prstGeom>
          <a:solidFill>
            <a:srgbClr val="1B2A4A"/>
          </a:solidFill>
          <a:ln cap="flat" cmpd="sng">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2" name="Google Shape;482;p20"/>
          <p:cNvSpPr/>
          <p:nvPr/>
        </p:nvSpPr>
        <p:spPr>
          <a:xfrm>
            <a:off x="381000" y="2667000"/>
            <a:ext cx="5715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E87722"/>
                </a:solidFill>
                <a:latin typeface="Georgia"/>
                <a:ea typeface="Georgia"/>
                <a:cs typeface="Georgia"/>
                <a:sym typeface="Georgia"/>
              </a:rPr>
              <a:t>03</a:t>
            </a:r>
            <a:endParaRPr b="1" sz="1400">
              <a:solidFill>
                <a:srgbClr val="E87722"/>
              </a:solidFill>
              <a:latin typeface="Georgia"/>
              <a:ea typeface="Georgia"/>
              <a:cs typeface="Georgia"/>
              <a:sym typeface="Georgia"/>
            </a:endParaRPr>
          </a:p>
        </p:txBody>
      </p:sp>
      <p:sp>
        <p:nvSpPr>
          <p:cNvPr id="483" name="Google Shape;483;p20"/>
          <p:cNvSpPr/>
          <p:nvPr/>
        </p:nvSpPr>
        <p:spPr>
          <a:xfrm>
            <a:off x="1095375" y="2667000"/>
            <a:ext cx="762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1B2A4A"/>
                </a:solidFill>
                <a:latin typeface="Calibri"/>
                <a:ea typeface="Calibri"/>
                <a:cs typeface="Calibri"/>
                <a:sym typeface="Calibri"/>
              </a:rPr>
              <a:t>Structured Output Prompt Engineering</a:t>
            </a:r>
            <a:endParaRPr b="1" sz="1300">
              <a:solidFill>
                <a:srgbClr val="1B2A4A"/>
              </a:solidFill>
              <a:latin typeface="Calibri"/>
              <a:ea typeface="Calibri"/>
              <a:cs typeface="Calibri"/>
              <a:sym typeface="Calibri"/>
            </a:endParaRPr>
          </a:p>
        </p:txBody>
      </p:sp>
      <p:sp>
        <p:nvSpPr>
          <p:cNvPr id="484" name="Google Shape;484;p20"/>
          <p:cNvSpPr/>
          <p:nvPr/>
        </p:nvSpPr>
        <p:spPr>
          <a:xfrm>
            <a:off x="1095375" y="2952750"/>
            <a:ext cx="76200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4B5563"/>
                </a:solidFill>
                <a:latin typeface="Calibri"/>
                <a:ea typeface="Calibri"/>
                <a:cs typeface="Calibri"/>
                <a:sym typeface="Calibri"/>
              </a:rPr>
              <a:t>Reusable prompt matrices and Zod validation strategies that force LLMs to generate deeply nested, structurally valid instructional JSON — solving a known hallucination problem.</a:t>
            </a:r>
            <a:endParaRPr b="0" sz="1100">
              <a:solidFill>
                <a:srgbClr val="4B5563"/>
              </a:solidFill>
              <a:latin typeface="Calibri"/>
              <a:ea typeface="Calibri"/>
              <a:cs typeface="Calibri"/>
              <a:sym typeface="Calibri"/>
            </a:endParaRPr>
          </a:p>
        </p:txBody>
      </p:sp>
      <p:sp>
        <p:nvSpPr>
          <p:cNvPr id="485" name="Google Shape;485;p20"/>
          <p:cNvSpPr/>
          <p:nvPr/>
        </p:nvSpPr>
        <p:spPr>
          <a:xfrm>
            <a:off x="381000" y="3381375"/>
            <a:ext cx="571500" cy="666900"/>
          </a:xfrm>
          <a:prstGeom prst="rect">
            <a:avLst/>
          </a:prstGeom>
          <a:solidFill>
            <a:srgbClr val="1B2A4A"/>
          </a:solidFill>
          <a:ln cap="flat" cmpd="sng">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6" name="Google Shape;486;p20"/>
          <p:cNvSpPr/>
          <p:nvPr/>
        </p:nvSpPr>
        <p:spPr>
          <a:xfrm>
            <a:off x="381000" y="3381375"/>
            <a:ext cx="5715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E87722"/>
                </a:solidFill>
                <a:latin typeface="Georgia"/>
                <a:ea typeface="Georgia"/>
                <a:cs typeface="Georgia"/>
                <a:sym typeface="Georgia"/>
              </a:rPr>
              <a:t>04</a:t>
            </a:r>
            <a:endParaRPr b="1" sz="1400">
              <a:solidFill>
                <a:srgbClr val="E87722"/>
              </a:solidFill>
              <a:latin typeface="Georgia"/>
              <a:ea typeface="Georgia"/>
              <a:cs typeface="Georgia"/>
              <a:sym typeface="Georgia"/>
            </a:endParaRPr>
          </a:p>
        </p:txBody>
      </p:sp>
      <p:sp>
        <p:nvSpPr>
          <p:cNvPr id="487" name="Google Shape;487;p20"/>
          <p:cNvSpPr/>
          <p:nvPr/>
        </p:nvSpPr>
        <p:spPr>
          <a:xfrm>
            <a:off x="1095375" y="3381375"/>
            <a:ext cx="762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1B2A4A"/>
                </a:solidFill>
                <a:latin typeface="Calibri"/>
                <a:ea typeface="Calibri"/>
                <a:cs typeface="Calibri"/>
                <a:sym typeface="Calibri"/>
              </a:rPr>
              <a:t>Empirical Evidence for UCD in EdTech</a:t>
            </a:r>
            <a:endParaRPr b="1" sz="1300">
              <a:solidFill>
                <a:srgbClr val="1B2A4A"/>
              </a:solidFill>
              <a:latin typeface="Calibri"/>
              <a:ea typeface="Calibri"/>
              <a:cs typeface="Calibri"/>
              <a:sym typeface="Calibri"/>
            </a:endParaRPr>
          </a:p>
        </p:txBody>
      </p:sp>
      <p:sp>
        <p:nvSpPr>
          <p:cNvPr id="488" name="Google Shape;488;p20"/>
          <p:cNvSpPr/>
          <p:nvPr/>
        </p:nvSpPr>
        <p:spPr>
          <a:xfrm>
            <a:off x="1095375" y="3667125"/>
            <a:ext cx="76200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4B5563"/>
                </a:solidFill>
                <a:latin typeface="Calibri"/>
                <a:ea typeface="Calibri"/>
                <a:cs typeface="Calibri"/>
                <a:sym typeface="Calibri"/>
              </a:rPr>
              <a:t>Stark quantitative proof that a purpose-built, user-centred interface dramatically outperforms a general-purpose CMS workflow for specific educational authoring tasks.</a:t>
            </a:r>
            <a:endParaRPr b="0" sz="1100">
              <a:solidFill>
                <a:srgbClr val="4B5563"/>
              </a:solidFill>
              <a:latin typeface="Calibri"/>
              <a:ea typeface="Calibri"/>
              <a:cs typeface="Calibri"/>
              <a:sym typeface="Calibri"/>
            </a:endParaRPr>
          </a:p>
        </p:txBody>
      </p:sp>
      <p:sp>
        <p:nvSpPr>
          <p:cNvPr id="489" name="Google Shape;489;p20"/>
          <p:cNvSpPr/>
          <p:nvPr/>
        </p:nvSpPr>
        <p:spPr>
          <a:xfrm>
            <a:off x="381000" y="4095750"/>
            <a:ext cx="571500" cy="666900"/>
          </a:xfrm>
          <a:prstGeom prst="rect">
            <a:avLst/>
          </a:prstGeom>
          <a:solidFill>
            <a:srgbClr val="1B2A4A"/>
          </a:solidFill>
          <a:ln cap="flat" cmpd="sng">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0" name="Google Shape;490;p20"/>
          <p:cNvSpPr/>
          <p:nvPr/>
        </p:nvSpPr>
        <p:spPr>
          <a:xfrm>
            <a:off x="381000" y="4095750"/>
            <a:ext cx="5715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E87722"/>
                </a:solidFill>
                <a:latin typeface="Georgia"/>
                <a:ea typeface="Georgia"/>
                <a:cs typeface="Georgia"/>
                <a:sym typeface="Georgia"/>
              </a:rPr>
              <a:t>05</a:t>
            </a:r>
            <a:endParaRPr b="1" sz="1400">
              <a:solidFill>
                <a:srgbClr val="E87722"/>
              </a:solidFill>
              <a:latin typeface="Georgia"/>
              <a:ea typeface="Georgia"/>
              <a:cs typeface="Georgia"/>
              <a:sym typeface="Georgia"/>
            </a:endParaRPr>
          </a:p>
        </p:txBody>
      </p:sp>
      <p:sp>
        <p:nvSpPr>
          <p:cNvPr id="491" name="Google Shape;491;p20"/>
          <p:cNvSpPr/>
          <p:nvPr/>
        </p:nvSpPr>
        <p:spPr>
          <a:xfrm>
            <a:off x="1095375" y="4095750"/>
            <a:ext cx="762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1B2A4A"/>
                </a:solidFill>
                <a:latin typeface="Calibri"/>
                <a:ea typeface="Calibri"/>
                <a:cs typeface="Calibri"/>
                <a:sym typeface="Calibri"/>
              </a:rPr>
              <a:t>Strategic Alignment with Digital Policy</a:t>
            </a:r>
            <a:endParaRPr b="1" sz="1300">
              <a:solidFill>
                <a:srgbClr val="1B2A4A"/>
              </a:solidFill>
              <a:latin typeface="Calibri"/>
              <a:ea typeface="Calibri"/>
              <a:cs typeface="Calibri"/>
              <a:sym typeface="Calibri"/>
            </a:endParaRPr>
          </a:p>
        </p:txBody>
      </p:sp>
      <p:sp>
        <p:nvSpPr>
          <p:cNvPr id="492" name="Google Shape;492;p20"/>
          <p:cNvSpPr/>
          <p:nvPr/>
        </p:nvSpPr>
        <p:spPr>
          <a:xfrm>
            <a:off x="1095375" y="4381500"/>
            <a:ext cx="76200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4B5563"/>
                </a:solidFill>
                <a:latin typeface="Calibri"/>
                <a:ea typeface="Calibri"/>
                <a:cs typeface="Calibri"/>
                <a:sym typeface="Calibri"/>
              </a:rPr>
              <a:t>A locally deployable, open-source tool that supports VNU-HCM's National Education Strategy 2021-2030 without commercial licensing costs.</a:t>
            </a:r>
            <a:endParaRPr b="0" sz="1100">
              <a:solidFill>
                <a:srgbClr val="4B5563"/>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97" name="Shape 497"/>
        <p:cNvGrpSpPr/>
        <p:nvPr/>
      </p:nvGrpSpPr>
      <p:grpSpPr>
        <a:xfrm>
          <a:off x="0" y="0"/>
          <a:ext cx="0" cy="0"/>
          <a:chOff x="0" y="0"/>
          <a:chExt cx="0" cy="0"/>
        </a:xfrm>
      </p:grpSpPr>
      <p:sp>
        <p:nvSpPr>
          <p:cNvPr id="498" name="Google Shape;498;p21"/>
          <p:cNvSpPr/>
          <p:nvPr/>
        </p:nvSpPr>
        <p:spPr>
          <a:xfrm>
            <a:off x="542890" y="709056"/>
            <a:ext cx="83211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722"/>
              </a:buClr>
              <a:buSzPts val="900"/>
              <a:buFont typeface="Calibri"/>
              <a:buNone/>
            </a:pPr>
            <a:r>
              <a:rPr b="1" i="0" lang="en-US" sz="900" u="none" cap="none" strike="noStrike">
                <a:solidFill>
                  <a:srgbClr val="E87722"/>
                </a:solidFill>
                <a:latin typeface="Calibri"/>
                <a:ea typeface="Calibri"/>
                <a:cs typeface="Calibri"/>
                <a:sym typeface="Calibri"/>
              </a:rPr>
              <a:t>06 · CONCLUSION</a:t>
            </a:r>
            <a:endParaRPr b="0" i="0" sz="900" u="none" cap="none" strike="noStrike">
              <a:solidFill>
                <a:schemeClr val="dk1"/>
              </a:solidFill>
              <a:latin typeface="Calibri"/>
              <a:ea typeface="Calibri"/>
              <a:cs typeface="Calibri"/>
              <a:sym typeface="Calibri"/>
            </a:endParaRPr>
          </a:p>
        </p:txBody>
      </p:sp>
      <p:sp>
        <p:nvSpPr>
          <p:cNvPr id="499" name="Google Shape;499;p21"/>
          <p:cNvSpPr/>
          <p:nvPr/>
        </p:nvSpPr>
        <p:spPr>
          <a:xfrm>
            <a:off x="280000" y="1479438"/>
            <a:ext cx="4343400" cy="2955000"/>
          </a:xfrm>
          <a:prstGeom prst="roundRect">
            <a:avLst>
              <a:gd fmla="val 3037" name="adj"/>
            </a:avLst>
          </a:prstGeom>
          <a:solidFill>
            <a:srgbClr val="F8F9FA"/>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0" name="Google Shape;500;p21"/>
          <p:cNvSpPr/>
          <p:nvPr/>
        </p:nvSpPr>
        <p:spPr>
          <a:xfrm>
            <a:off x="378298" y="782208"/>
            <a:ext cx="63900" cy="502800"/>
          </a:xfrm>
          <a:prstGeom prst="rect">
            <a:avLst/>
          </a:prstGeom>
          <a:solidFill>
            <a:srgbClr val="E87722"/>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1"/>
          <p:cNvSpPr/>
          <p:nvPr/>
        </p:nvSpPr>
        <p:spPr>
          <a:xfrm>
            <a:off x="4832950" y="1479438"/>
            <a:ext cx="4019700" cy="2955000"/>
          </a:xfrm>
          <a:prstGeom prst="roundRect">
            <a:avLst>
              <a:gd fmla="val 3037"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2" name="Google Shape;502;p21"/>
          <p:cNvSpPr/>
          <p:nvPr/>
        </p:nvSpPr>
        <p:spPr>
          <a:xfrm>
            <a:off x="542890" y="782208"/>
            <a:ext cx="8321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2400"/>
              <a:buFont typeface="Georgia"/>
              <a:buNone/>
            </a:pPr>
            <a:r>
              <a:rPr b="1" i="0" lang="en-US" sz="2400" u="none" cap="none" strike="noStrike">
                <a:solidFill>
                  <a:srgbClr val="1B2A4A"/>
                </a:solidFill>
                <a:latin typeface="Georgia"/>
                <a:ea typeface="Georgia"/>
                <a:cs typeface="Georgia"/>
                <a:sym typeface="Georgia"/>
              </a:rPr>
              <a:t>Limitations &amp; Future Work</a:t>
            </a:r>
            <a:endParaRPr b="0" i="0" sz="2400" u="none" cap="none" strike="noStrike">
              <a:solidFill>
                <a:schemeClr val="dk1"/>
              </a:solidFill>
              <a:latin typeface="Calibri"/>
              <a:ea typeface="Calibri"/>
              <a:cs typeface="Calibri"/>
              <a:sym typeface="Calibri"/>
            </a:endParaRPr>
          </a:p>
        </p:txBody>
      </p:sp>
      <p:grpSp>
        <p:nvGrpSpPr>
          <p:cNvPr id="503" name="Google Shape;503;p21"/>
          <p:cNvGrpSpPr/>
          <p:nvPr/>
        </p:nvGrpSpPr>
        <p:grpSpPr>
          <a:xfrm>
            <a:off x="470500" y="1603263"/>
            <a:ext cx="3962400" cy="342900"/>
            <a:chOff x="476250" y="1095375"/>
            <a:chExt cx="3962400" cy="342900"/>
          </a:xfrm>
        </p:grpSpPr>
        <p:sp>
          <p:nvSpPr>
            <p:cNvPr id="504" name="Google Shape;504;p21"/>
            <p:cNvSpPr/>
            <p:nvPr/>
          </p:nvSpPr>
          <p:spPr>
            <a:xfrm>
              <a:off x="476250" y="1095375"/>
              <a:ext cx="3962400" cy="342900"/>
            </a:xfrm>
            <a:prstGeom prst="roundRect">
              <a:avLst>
                <a:gd fmla="val 16666" name="adj"/>
              </a:avLst>
            </a:prstGeom>
            <a:solidFill>
              <a:srgbClr val="1B2A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5" name="Google Shape;505;p21"/>
            <p:cNvSpPr txBox="1"/>
            <p:nvPr/>
          </p:nvSpPr>
          <p:spPr>
            <a:xfrm>
              <a:off x="476250" y="1095375"/>
              <a:ext cx="3962400" cy="342900"/>
            </a:xfrm>
            <a:prstGeom prst="rect">
              <a:avLst/>
            </a:prstGeom>
            <a:noFill/>
            <a:ln>
              <a:noFill/>
            </a:ln>
          </p:spPr>
          <p:txBody>
            <a:bodyPr anchorCtr="0" anchor="ctr" bIns="0" lIns="142875" spcFirstLastPara="1" rIns="0" wrap="square" tIns="0">
              <a:noAutofit/>
            </a:bodyPr>
            <a:lstStyle/>
            <a:p>
              <a:pPr indent="0" lvl="0" marL="0" rtl="0" algn="l">
                <a:spcBef>
                  <a:spcPts val="0"/>
                </a:spcBef>
                <a:spcAft>
                  <a:spcPts val="0"/>
                </a:spcAft>
                <a:buNone/>
              </a:pPr>
              <a:r>
                <a:rPr b="1" lang="en-US" sz="1300">
                  <a:solidFill>
                    <a:srgbClr val="FFFFFF"/>
                  </a:solidFill>
                  <a:latin typeface="Calibri"/>
                  <a:ea typeface="Calibri"/>
                  <a:cs typeface="Calibri"/>
                  <a:sym typeface="Calibri"/>
                </a:rPr>
                <a:t>Current Limitations</a:t>
              </a:r>
              <a:endParaRPr b="1" sz="1300">
                <a:solidFill>
                  <a:srgbClr val="FFFFFF"/>
                </a:solidFill>
                <a:latin typeface="Calibri"/>
                <a:ea typeface="Calibri"/>
                <a:cs typeface="Calibri"/>
                <a:sym typeface="Calibri"/>
              </a:endParaRPr>
            </a:p>
          </p:txBody>
        </p:sp>
      </p:grpSp>
      <p:sp>
        <p:nvSpPr>
          <p:cNvPr id="506" name="Google Shape;506;p21"/>
          <p:cNvSpPr/>
          <p:nvPr/>
        </p:nvSpPr>
        <p:spPr>
          <a:xfrm>
            <a:off x="7772400" y="4846320"/>
            <a:ext cx="10974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800"/>
              <a:buFont typeface="Calibri"/>
              <a:buNone/>
            </a:pPr>
            <a:r>
              <a:rPr b="0" i="0" lang="en-US" sz="800" u="none" cap="none" strike="noStrike">
                <a:solidFill>
                  <a:srgbClr val="6B7280"/>
                </a:solidFill>
                <a:latin typeface="Calibri"/>
                <a:ea typeface="Calibri"/>
                <a:cs typeface="Calibri"/>
                <a:sym typeface="Calibri"/>
              </a:rPr>
              <a:t>19 / 21</a:t>
            </a:r>
            <a:endParaRPr b="0" i="0" sz="800" u="none" cap="none" strike="noStrike">
              <a:solidFill>
                <a:schemeClr val="dk1"/>
              </a:solidFill>
              <a:latin typeface="Calibri"/>
              <a:ea typeface="Calibri"/>
              <a:cs typeface="Calibri"/>
              <a:sym typeface="Calibri"/>
            </a:endParaRPr>
          </a:p>
        </p:txBody>
      </p:sp>
      <p:grpSp>
        <p:nvGrpSpPr>
          <p:cNvPr id="507" name="Google Shape;507;p21"/>
          <p:cNvGrpSpPr/>
          <p:nvPr/>
        </p:nvGrpSpPr>
        <p:grpSpPr>
          <a:xfrm>
            <a:off x="5023450" y="1603263"/>
            <a:ext cx="3638700" cy="342900"/>
            <a:chOff x="5029200" y="1095375"/>
            <a:chExt cx="3638700" cy="342900"/>
          </a:xfrm>
        </p:grpSpPr>
        <p:sp>
          <p:nvSpPr>
            <p:cNvPr id="508" name="Google Shape;508;p21"/>
            <p:cNvSpPr/>
            <p:nvPr/>
          </p:nvSpPr>
          <p:spPr>
            <a:xfrm>
              <a:off x="5029200" y="1095375"/>
              <a:ext cx="3638700" cy="342900"/>
            </a:xfrm>
            <a:prstGeom prst="roundRect">
              <a:avLst>
                <a:gd fmla="val 16666" name="adj"/>
              </a:avLst>
            </a:prstGeom>
            <a:solidFill>
              <a:srgbClr val="E8772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9" name="Google Shape;509;p21"/>
            <p:cNvSpPr txBox="1"/>
            <p:nvPr/>
          </p:nvSpPr>
          <p:spPr>
            <a:xfrm>
              <a:off x="5029200" y="1095375"/>
              <a:ext cx="3638700" cy="342900"/>
            </a:xfrm>
            <a:prstGeom prst="rect">
              <a:avLst/>
            </a:prstGeom>
            <a:noFill/>
            <a:ln>
              <a:noFill/>
            </a:ln>
          </p:spPr>
          <p:txBody>
            <a:bodyPr anchorCtr="0" anchor="ctr" bIns="0" lIns="142875" spcFirstLastPara="1" rIns="0" wrap="square" tIns="0">
              <a:noAutofit/>
            </a:bodyPr>
            <a:lstStyle/>
            <a:p>
              <a:pPr indent="0" lvl="0" marL="0" rtl="0" algn="l">
                <a:spcBef>
                  <a:spcPts val="0"/>
                </a:spcBef>
                <a:spcAft>
                  <a:spcPts val="0"/>
                </a:spcAft>
                <a:buNone/>
              </a:pPr>
              <a:r>
                <a:rPr b="1" lang="en-US" sz="1300">
                  <a:solidFill>
                    <a:srgbClr val="FFFFFF"/>
                  </a:solidFill>
                  <a:latin typeface="Calibri"/>
                  <a:ea typeface="Calibri"/>
                  <a:cs typeface="Calibri"/>
                  <a:sym typeface="Calibri"/>
                </a:rPr>
                <a:t>Priority Future Directions</a:t>
              </a:r>
              <a:endParaRPr b="1" sz="1300">
                <a:solidFill>
                  <a:srgbClr val="FFFFFF"/>
                </a:solidFill>
                <a:latin typeface="Calibri"/>
                <a:ea typeface="Calibri"/>
                <a:cs typeface="Calibri"/>
                <a:sym typeface="Calibri"/>
              </a:endParaRPr>
            </a:p>
          </p:txBody>
        </p:sp>
      </p:grpSp>
      <p:sp>
        <p:nvSpPr>
          <p:cNvPr id="510" name="Google Shape;510;p21"/>
          <p:cNvSpPr/>
          <p:nvPr/>
        </p:nvSpPr>
        <p:spPr>
          <a:xfrm>
            <a:off x="470500" y="2031888"/>
            <a:ext cx="39624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1B2A4A"/>
                </a:solidFill>
                <a:latin typeface="Calibri"/>
                <a:ea typeface="Calibri"/>
                <a:cs typeface="Calibri"/>
                <a:sym typeface="Calibri"/>
              </a:rPr>
              <a:t>Sample size</a:t>
            </a:r>
            <a:endParaRPr b="1" sz="1100">
              <a:solidFill>
                <a:srgbClr val="1B2A4A"/>
              </a:solidFill>
              <a:latin typeface="Calibri"/>
              <a:ea typeface="Calibri"/>
              <a:cs typeface="Calibri"/>
              <a:sym typeface="Calibri"/>
            </a:endParaRPr>
          </a:p>
          <a:p>
            <a:pPr indent="0" lvl="0" marL="0" rtl="0" algn="l">
              <a:spcBef>
                <a:spcPts val="300"/>
              </a:spcBef>
              <a:spcAft>
                <a:spcPts val="0"/>
              </a:spcAft>
              <a:buNone/>
            </a:pPr>
            <a:r>
              <a:rPr b="0" lang="en-US" sz="1000">
                <a:solidFill>
                  <a:srgbClr val="6B7280"/>
                </a:solidFill>
                <a:latin typeface="Calibri"/>
                <a:ea typeface="Calibri"/>
                <a:cs typeface="Calibri"/>
                <a:sym typeface="Calibri"/>
              </a:rPr>
              <a:t>10 participants satisfies Nielsen's heuristic threshold but lacks power for parametric hypothesis testing. Real faculty may exhibit different error-recovery patterns.</a:t>
            </a:r>
            <a:endParaRPr b="0" sz="1000">
              <a:solidFill>
                <a:srgbClr val="6B7280"/>
              </a:solidFill>
              <a:latin typeface="Calibri"/>
              <a:ea typeface="Calibri"/>
              <a:cs typeface="Calibri"/>
              <a:sym typeface="Calibri"/>
            </a:endParaRPr>
          </a:p>
        </p:txBody>
      </p:sp>
      <p:sp>
        <p:nvSpPr>
          <p:cNvPr id="511" name="Google Shape;511;p21"/>
          <p:cNvSpPr/>
          <p:nvPr/>
        </p:nvSpPr>
        <p:spPr>
          <a:xfrm>
            <a:off x="470500" y="2841513"/>
            <a:ext cx="39624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1B2A4A"/>
                </a:solidFill>
                <a:latin typeface="Calibri"/>
                <a:ea typeface="Calibri"/>
                <a:cs typeface="Calibri"/>
                <a:sym typeface="Calibri"/>
              </a:rPr>
              <a:t>Proxy participants</a:t>
            </a:r>
            <a:endParaRPr b="1" sz="1100">
              <a:solidFill>
                <a:srgbClr val="1B2A4A"/>
              </a:solidFill>
              <a:latin typeface="Calibri"/>
              <a:ea typeface="Calibri"/>
              <a:cs typeface="Calibri"/>
              <a:sym typeface="Calibri"/>
            </a:endParaRPr>
          </a:p>
          <a:p>
            <a:pPr indent="0" lvl="0" marL="0" rtl="0" algn="l">
              <a:spcBef>
                <a:spcPts val="300"/>
              </a:spcBef>
              <a:spcAft>
                <a:spcPts val="0"/>
              </a:spcAft>
              <a:buNone/>
            </a:pPr>
            <a:r>
              <a:rPr b="0" lang="en-US" sz="1000">
                <a:solidFill>
                  <a:srgbClr val="6B7280"/>
                </a:solidFill>
                <a:latin typeface="Calibri"/>
                <a:ea typeface="Calibri"/>
                <a:cs typeface="Calibri"/>
                <a:sym typeface="Calibri"/>
              </a:rPr>
              <a:t>IT students acted as educator proxies. Non-technical humanities faculty — the most underserved group — were not directly evaluated.</a:t>
            </a:r>
            <a:endParaRPr b="0" sz="1000">
              <a:solidFill>
                <a:srgbClr val="6B7280"/>
              </a:solidFill>
              <a:latin typeface="Calibri"/>
              <a:ea typeface="Calibri"/>
              <a:cs typeface="Calibri"/>
              <a:sym typeface="Calibri"/>
            </a:endParaRPr>
          </a:p>
        </p:txBody>
      </p:sp>
      <p:sp>
        <p:nvSpPr>
          <p:cNvPr id="512" name="Google Shape;512;p21"/>
          <p:cNvSpPr/>
          <p:nvPr/>
        </p:nvSpPr>
        <p:spPr>
          <a:xfrm>
            <a:off x="470500" y="3540763"/>
            <a:ext cx="39624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1B2A4A"/>
                </a:solidFill>
                <a:latin typeface="Calibri"/>
                <a:ea typeface="Calibri"/>
                <a:cs typeface="Calibri"/>
                <a:sym typeface="Calibri"/>
              </a:rPr>
              <a:t>No longitudinal data</a:t>
            </a:r>
            <a:endParaRPr b="1" sz="1100">
              <a:solidFill>
                <a:srgbClr val="1B2A4A"/>
              </a:solidFill>
              <a:latin typeface="Calibri"/>
              <a:ea typeface="Calibri"/>
              <a:cs typeface="Calibri"/>
              <a:sym typeface="Calibri"/>
            </a:endParaRPr>
          </a:p>
          <a:p>
            <a:pPr indent="0" lvl="0" marL="0" rtl="0" algn="l">
              <a:spcBef>
                <a:spcPts val="300"/>
              </a:spcBef>
              <a:spcAft>
                <a:spcPts val="0"/>
              </a:spcAft>
              <a:buNone/>
            </a:pPr>
            <a:r>
              <a:rPr b="0" lang="en-US" sz="1000">
                <a:solidFill>
                  <a:srgbClr val="6B7280"/>
                </a:solidFill>
                <a:latin typeface="Calibri"/>
                <a:ea typeface="Calibri"/>
                <a:cs typeface="Calibri"/>
                <a:sym typeface="Calibri"/>
              </a:rPr>
              <a:t>Short-term usability study only. Long-term adoption rates and impact on actual student learning outcomes are outside this thesis's scope.</a:t>
            </a:r>
            <a:endParaRPr b="0" sz="1000">
              <a:solidFill>
                <a:srgbClr val="6B7280"/>
              </a:solidFill>
              <a:latin typeface="Calibri"/>
              <a:ea typeface="Calibri"/>
              <a:cs typeface="Calibri"/>
              <a:sym typeface="Calibri"/>
            </a:endParaRPr>
          </a:p>
        </p:txBody>
      </p:sp>
      <p:sp>
        <p:nvSpPr>
          <p:cNvPr id="513" name="Google Shape;513;p21"/>
          <p:cNvSpPr/>
          <p:nvPr/>
        </p:nvSpPr>
        <p:spPr>
          <a:xfrm>
            <a:off x="5023450" y="2031888"/>
            <a:ext cx="36387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E87722"/>
                </a:solidFill>
                <a:latin typeface="Calibri"/>
                <a:ea typeface="Calibri"/>
                <a:cs typeface="Calibri"/>
                <a:sym typeface="Calibri"/>
              </a:rPr>
              <a:t>Longitudinal Faculty Study</a:t>
            </a:r>
            <a:endParaRPr b="1" sz="1100">
              <a:solidFill>
                <a:srgbClr val="E87722"/>
              </a:solidFill>
              <a:latin typeface="Calibri"/>
              <a:ea typeface="Calibri"/>
              <a:cs typeface="Calibri"/>
              <a:sym typeface="Calibri"/>
            </a:endParaRPr>
          </a:p>
          <a:p>
            <a:pPr indent="0" lvl="0" marL="0" rtl="0" algn="l">
              <a:spcBef>
                <a:spcPts val="300"/>
              </a:spcBef>
              <a:spcAft>
                <a:spcPts val="0"/>
              </a:spcAft>
              <a:buNone/>
            </a:pPr>
            <a:r>
              <a:rPr b="0" lang="en-US" sz="1000">
                <a:solidFill>
                  <a:srgbClr val="374151"/>
                </a:solidFill>
                <a:latin typeface="Calibri"/>
                <a:ea typeface="Calibri"/>
                <a:cs typeface="Calibri"/>
                <a:sym typeface="Calibri"/>
              </a:rPr>
              <a:t>Semester-long study with real VNU-HCM faculty across disciplines — measuring organic adoption and content production volume.</a:t>
            </a:r>
            <a:endParaRPr b="0" sz="1000">
              <a:solidFill>
                <a:srgbClr val="374151"/>
              </a:solidFill>
              <a:latin typeface="Calibri"/>
              <a:ea typeface="Calibri"/>
              <a:cs typeface="Calibri"/>
              <a:sym typeface="Calibri"/>
            </a:endParaRPr>
          </a:p>
        </p:txBody>
      </p:sp>
      <p:sp>
        <p:nvSpPr>
          <p:cNvPr id="514" name="Google Shape;514;p21"/>
          <p:cNvSpPr/>
          <p:nvPr/>
        </p:nvSpPr>
        <p:spPr>
          <a:xfrm>
            <a:off x="5023450" y="2822463"/>
            <a:ext cx="36387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E87722"/>
                </a:solidFill>
                <a:latin typeface="Calibri"/>
                <a:ea typeface="Calibri"/>
                <a:cs typeface="Calibri"/>
                <a:sym typeface="Calibri"/>
              </a:rPr>
              <a:t>xAPI / LRS Integration</a:t>
            </a:r>
            <a:endParaRPr b="1" sz="1100">
              <a:solidFill>
                <a:srgbClr val="E87722"/>
              </a:solidFill>
              <a:latin typeface="Calibri"/>
              <a:ea typeface="Calibri"/>
              <a:cs typeface="Calibri"/>
              <a:sym typeface="Calibri"/>
            </a:endParaRPr>
          </a:p>
          <a:p>
            <a:pPr indent="0" lvl="0" marL="0" rtl="0" algn="l">
              <a:spcBef>
                <a:spcPts val="300"/>
              </a:spcBef>
              <a:spcAft>
                <a:spcPts val="0"/>
              </a:spcAft>
              <a:buNone/>
            </a:pPr>
            <a:r>
              <a:rPr b="0" lang="en-US" sz="1000">
                <a:solidFill>
                  <a:srgbClr val="374151"/>
                </a:solidFill>
                <a:latin typeface="Calibri"/>
                <a:ea typeface="Calibri"/>
                <a:cs typeface="Calibri"/>
                <a:sym typeface="Calibri"/>
              </a:rPr>
              <a:t>Full Experience API tracking layer to report learner interaction data to an institutional LRS — enabling evidence-based course improvement.</a:t>
            </a:r>
            <a:endParaRPr b="0" sz="1000">
              <a:solidFill>
                <a:srgbClr val="374151"/>
              </a:solidFill>
              <a:latin typeface="Calibri"/>
              <a:ea typeface="Calibri"/>
              <a:cs typeface="Calibri"/>
              <a:sym typeface="Calibri"/>
            </a:endParaRPr>
          </a:p>
        </p:txBody>
      </p:sp>
      <p:sp>
        <p:nvSpPr>
          <p:cNvPr id="515" name="Google Shape;515;p21"/>
          <p:cNvSpPr/>
          <p:nvPr/>
        </p:nvSpPr>
        <p:spPr>
          <a:xfrm>
            <a:off x="5023450" y="3540763"/>
            <a:ext cx="36387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E87722"/>
                </a:solidFill>
                <a:latin typeface="Calibri"/>
                <a:ea typeface="Calibri"/>
                <a:cs typeface="Calibri"/>
                <a:sym typeface="Calibri"/>
              </a:rPr>
              <a:t>Async Worker Queue (BullMQ + Redis)</a:t>
            </a:r>
            <a:endParaRPr b="1" sz="1100">
              <a:solidFill>
                <a:srgbClr val="E87722"/>
              </a:solidFill>
              <a:latin typeface="Calibri"/>
              <a:ea typeface="Calibri"/>
              <a:cs typeface="Calibri"/>
              <a:sym typeface="Calibri"/>
            </a:endParaRPr>
          </a:p>
          <a:p>
            <a:pPr indent="0" lvl="0" marL="0" rtl="0" algn="l">
              <a:spcBef>
                <a:spcPts val="300"/>
              </a:spcBef>
              <a:spcAft>
                <a:spcPts val="0"/>
              </a:spcAft>
              <a:buNone/>
            </a:pPr>
            <a:r>
              <a:rPr b="0" lang="en-US" sz="1000">
                <a:solidFill>
                  <a:srgbClr val="374151"/>
                </a:solidFill>
                <a:latin typeface="Calibri"/>
                <a:ea typeface="Calibri"/>
                <a:cs typeface="Calibri"/>
                <a:sym typeface="Calibri"/>
              </a:rPr>
              <a:t>Decouple heavy FFmpeg and Whisper processing from the API thread to eliminate 400ms latency spikes under institutional load.</a:t>
            </a:r>
            <a:endParaRPr b="0" sz="1000">
              <a:solidFill>
                <a:srgbClr val="37415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20" name="Shape 520"/>
        <p:cNvGrpSpPr/>
        <p:nvPr/>
      </p:nvGrpSpPr>
      <p:grpSpPr>
        <a:xfrm>
          <a:off x="0" y="0"/>
          <a:ext cx="0" cy="0"/>
          <a:chOff x="0" y="0"/>
          <a:chExt cx="0" cy="0"/>
        </a:xfrm>
      </p:grpSpPr>
      <p:sp>
        <p:nvSpPr>
          <p:cNvPr id="521" name="Google Shape;521;p22"/>
          <p:cNvSpPr/>
          <p:nvPr/>
        </p:nvSpPr>
        <p:spPr>
          <a:xfrm>
            <a:off x="0" y="0"/>
            <a:ext cx="9144000" cy="73152"/>
          </a:xfrm>
          <a:prstGeom prst="rect">
            <a:avLst/>
          </a:prstGeom>
          <a:solidFill>
            <a:srgbClr val="E87722"/>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2"/>
          <p:cNvSpPr/>
          <p:nvPr/>
        </p:nvSpPr>
        <p:spPr>
          <a:xfrm>
            <a:off x="6477000" y="3437475"/>
            <a:ext cx="4114800" cy="4114800"/>
          </a:xfrm>
          <a:prstGeom prst="ellipse">
            <a:avLst/>
          </a:prstGeom>
          <a:solidFill>
            <a:srgbClr val="E87722">
              <a:alpha val="7058"/>
            </a:srgbClr>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2"/>
          <p:cNvSpPr/>
          <p:nvPr/>
        </p:nvSpPr>
        <p:spPr>
          <a:xfrm>
            <a:off x="594360" y="64008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722"/>
              </a:buClr>
              <a:buSzPts val="1100"/>
              <a:buFont typeface="Calibri"/>
              <a:buNone/>
            </a:pPr>
            <a:r>
              <a:rPr b="1" i="0" lang="en-US" sz="1100" u="none" cap="none" strike="noStrike">
                <a:solidFill>
                  <a:srgbClr val="E87722"/>
                </a:solidFill>
                <a:latin typeface="Calibri"/>
                <a:ea typeface="Calibri"/>
                <a:cs typeface="Calibri"/>
                <a:sym typeface="Calibri"/>
              </a:rPr>
              <a:t>CONCLUSION</a:t>
            </a:r>
            <a:endParaRPr b="0" i="0" sz="1100" u="none" cap="none" strike="noStrike">
              <a:solidFill>
                <a:schemeClr val="dk1"/>
              </a:solidFill>
              <a:latin typeface="Calibri"/>
              <a:ea typeface="Calibri"/>
              <a:cs typeface="Calibri"/>
              <a:sym typeface="Calibri"/>
            </a:endParaRPr>
          </a:p>
        </p:txBody>
      </p:sp>
      <p:sp>
        <p:nvSpPr>
          <p:cNvPr id="524" name="Google Shape;524;p22"/>
          <p:cNvSpPr/>
          <p:nvPr/>
        </p:nvSpPr>
        <p:spPr>
          <a:xfrm>
            <a:off x="594360" y="1024128"/>
            <a:ext cx="795528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Georgia"/>
              <a:buNone/>
            </a:pPr>
            <a:r>
              <a:rPr b="0" i="0" lang="en-US" sz="1900" u="none" cap="none" strike="noStrike">
                <a:solidFill>
                  <a:srgbClr val="FFFFFF"/>
                </a:solidFill>
                <a:latin typeface="Georgia"/>
                <a:ea typeface="Georgia"/>
                <a:cs typeface="Georgia"/>
                <a:sym typeface="Georgia"/>
              </a:rPr>
              <a:t>This thesis demonstrates that a purpose-built, user-centred platform — combining a clean React SPA, a headless H5P engine, and a resilient multi-provider AI pipeline — can transform interactive video authoring from a 45-minute ordeal into a 3-minute workflow.</a:t>
            </a:r>
            <a:endParaRPr b="0" i="0" sz="1900" u="none" cap="none" strike="noStrike">
              <a:solidFill>
                <a:schemeClr val="dk1"/>
              </a:solidFill>
              <a:latin typeface="Calibri"/>
              <a:ea typeface="Calibri"/>
              <a:cs typeface="Calibri"/>
              <a:sym typeface="Calibri"/>
            </a:endParaRPr>
          </a:p>
        </p:txBody>
      </p:sp>
      <p:cxnSp>
        <p:nvCxnSpPr>
          <p:cNvPr id="525" name="Google Shape;525;p22"/>
          <p:cNvCxnSpPr/>
          <p:nvPr/>
        </p:nvCxnSpPr>
        <p:spPr>
          <a:xfrm>
            <a:off x="594360" y="2395728"/>
            <a:ext cx="3200400" cy="0"/>
          </a:xfrm>
          <a:prstGeom prst="straightConnector1">
            <a:avLst/>
          </a:prstGeom>
          <a:noFill/>
          <a:ln cap="flat" cmpd="sng" w="19050">
            <a:solidFill>
              <a:srgbClr val="E87722"/>
            </a:solidFill>
            <a:prstDash val="solid"/>
            <a:round/>
            <a:headEnd len="sm" w="sm" type="none"/>
            <a:tailEnd len="sm" w="sm" type="none"/>
          </a:ln>
        </p:spPr>
      </p:cxnSp>
      <p:sp>
        <p:nvSpPr>
          <p:cNvPr id="526" name="Google Shape;526;p22"/>
          <p:cNvSpPr/>
          <p:nvPr/>
        </p:nvSpPr>
        <p:spPr>
          <a:xfrm>
            <a:off x="594360" y="2578608"/>
            <a:ext cx="795528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E4F0"/>
              </a:buClr>
              <a:buSzPts val="1450"/>
              <a:buFont typeface="Calibri"/>
              <a:buNone/>
            </a:pPr>
            <a:r>
              <a:rPr b="0" i="0" lang="en-US" sz="1450" u="none" cap="none" strike="noStrike">
                <a:solidFill>
                  <a:srgbClr val="D4E4F0"/>
                </a:solidFill>
                <a:latin typeface="Calibri"/>
                <a:ea typeface="Calibri"/>
                <a:cs typeface="Calibri"/>
                <a:sym typeface="Calibri"/>
              </a:rPr>
              <a:t>The platform achieves 95% task completion, 82.5 SUS score, and a 93% reduction in creation time — moving H5P authoring from 'Poor' to 'Excellent' on Brooke's usability scale. It opens interactive video creation to the full diversity of the VNU-HCM faculty, not just the technically proficient few.</a:t>
            </a:r>
            <a:endParaRPr b="0" i="0" sz="1450" u="none" cap="none" strike="noStrike">
              <a:solidFill>
                <a:schemeClr val="dk1"/>
              </a:solidFill>
              <a:latin typeface="Calibri"/>
              <a:ea typeface="Calibri"/>
              <a:cs typeface="Calibri"/>
              <a:sym typeface="Calibri"/>
            </a:endParaRPr>
          </a:p>
        </p:txBody>
      </p:sp>
      <p:sp>
        <p:nvSpPr>
          <p:cNvPr id="527" name="Google Shape;527;p22"/>
          <p:cNvSpPr/>
          <p:nvPr/>
        </p:nvSpPr>
        <p:spPr>
          <a:xfrm>
            <a:off x="594360" y="3858768"/>
            <a:ext cx="79552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722"/>
              </a:buClr>
              <a:buSzPts val="1400"/>
              <a:buFont typeface="Calibri"/>
              <a:buNone/>
            </a:pPr>
            <a:r>
              <a:rPr b="0" i="1" lang="en-US" sz="1400" u="none" cap="none" strike="noStrike">
                <a:solidFill>
                  <a:srgbClr val="E87722"/>
                </a:solidFill>
                <a:latin typeface="Calibri"/>
                <a:ea typeface="Calibri"/>
                <a:cs typeface="Calibri"/>
                <a:sym typeface="Calibri"/>
              </a:rPr>
              <a:t>The bottleneck was never educator willingness. It was the tool.</a:t>
            </a:r>
            <a:endParaRPr b="0" i="0" sz="1400" u="none" cap="none" strike="noStrike">
              <a:solidFill>
                <a:schemeClr val="dk1"/>
              </a:solidFill>
              <a:latin typeface="Calibri"/>
              <a:ea typeface="Calibri"/>
              <a:cs typeface="Calibri"/>
              <a:sym typeface="Calibri"/>
            </a:endParaRPr>
          </a:p>
        </p:txBody>
      </p:sp>
      <p:sp>
        <p:nvSpPr>
          <p:cNvPr id="528" name="Google Shape;528;p22"/>
          <p:cNvSpPr/>
          <p:nvPr/>
        </p:nvSpPr>
        <p:spPr>
          <a:xfrm>
            <a:off x="0" y="4892040"/>
            <a:ext cx="9144000" cy="251460"/>
          </a:xfrm>
          <a:prstGeom prst="rect">
            <a:avLst/>
          </a:prstGeom>
          <a:solidFill>
            <a:srgbClr val="111D33"/>
          </a:solidFill>
          <a:ln cap="flat" cmpd="sng" w="12700">
            <a:solidFill>
              <a:srgbClr val="111D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64" name="Shape 564"/>
        <p:cNvGrpSpPr/>
        <p:nvPr/>
      </p:nvGrpSpPr>
      <p:grpSpPr>
        <a:xfrm>
          <a:off x="0" y="0"/>
          <a:ext cx="0" cy="0"/>
          <a:chOff x="0" y="0"/>
          <a:chExt cx="0" cy="0"/>
        </a:xfrm>
      </p:grpSpPr>
      <p:sp>
        <p:nvSpPr>
          <p:cNvPr id="565" name="Google Shape;565;p25"/>
          <p:cNvSpPr/>
          <p:nvPr/>
        </p:nvSpPr>
        <p:spPr>
          <a:xfrm>
            <a:off x="0" y="0"/>
            <a:ext cx="9144000" cy="73152"/>
          </a:xfrm>
          <a:prstGeom prst="rect">
            <a:avLst/>
          </a:prstGeom>
          <a:solidFill>
            <a:srgbClr val="E87722"/>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5"/>
          <p:cNvSpPr/>
          <p:nvPr/>
        </p:nvSpPr>
        <p:spPr>
          <a:xfrm>
            <a:off x="-1276350" y="2137825"/>
            <a:ext cx="4572000" cy="4572000"/>
          </a:xfrm>
          <a:prstGeom prst="ellipse">
            <a:avLst/>
          </a:prstGeom>
          <a:solidFill>
            <a:srgbClr val="E87722">
              <a:alpha val="7058"/>
            </a:srgbClr>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5"/>
          <p:cNvSpPr/>
          <p:nvPr/>
        </p:nvSpPr>
        <p:spPr>
          <a:xfrm>
            <a:off x="6783900" y="-2395725"/>
            <a:ext cx="5029200" cy="5029200"/>
          </a:xfrm>
          <a:prstGeom prst="ellipse">
            <a:avLst/>
          </a:prstGeom>
          <a:solidFill>
            <a:srgbClr val="E87722">
              <a:alpha val="7058"/>
            </a:srgbClr>
          </a:solidFill>
          <a:ln cap="flat" cmpd="sng" w="12700">
            <a:solidFill>
              <a:srgbClr val="E877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5"/>
          <p:cNvSpPr/>
          <p:nvPr/>
        </p:nvSpPr>
        <p:spPr>
          <a:xfrm>
            <a:off x="0" y="914400"/>
            <a:ext cx="9144000" cy="1554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0"/>
              <a:buFont typeface="Georgia"/>
              <a:buNone/>
            </a:pPr>
            <a:r>
              <a:rPr b="1" i="0" lang="en-US" sz="7200" u="none" cap="none" strike="noStrike">
                <a:solidFill>
                  <a:srgbClr val="FFFFFF"/>
                </a:solidFill>
                <a:latin typeface="Georgia"/>
                <a:ea typeface="Georgia"/>
                <a:cs typeface="Georgia"/>
                <a:sym typeface="Georgia"/>
              </a:rPr>
              <a:t>Thank You</a:t>
            </a:r>
            <a:endParaRPr b="0" i="0" sz="7200" u="none" cap="none" strike="noStrike">
              <a:solidFill>
                <a:schemeClr val="dk1"/>
              </a:solidFill>
              <a:latin typeface="Calibri"/>
              <a:ea typeface="Calibri"/>
              <a:cs typeface="Calibri"/>
              <a:sym typeface="Calibri"/>
            </a:endParaRPr>
          </a:p>
        </p:txBody>
      </p:sp>
      <p:cxnSp>
        <p:nvCxnSpPr>
          <p:cNvPr id="569" name="Google Shape;569;p25"/>
          <p:cNvCxnSpPr/>
          <p:nvPr/>
        </p:nvCxnSpPr>
        <p:spPr>
          <a:xfrm>
            <a:off x="3200400" y="2633472"/>
            <a:ext cx="2743200" cy="0"/>
          </a:xfrm>
          <a:prstGeom prst="straightConnector1">
            <a:avLst/>
          </a:prstGeom>
          <a:noFill/>
          <a:ln cap="flat" cmpd="sng" w="25400">
            <a:solidFill>
              <a:srgbClr val="E87722"/>
            </a:solidFill>
            <a:prstDash val="solid"/>
            <a:round/>
            <a:headEnd len="sm" w="sm" type="none"/>
            <a:tailEnd len="sm" w="sm" type="none"/>
          </a:ln>
        </p:spPr>
      </p:cxnSp>
      <p:sp>
        <p:nvSpPr>
          <p:cNvPr id="570" name="Google Shape;570;p25"/>
          <p:cNvSpPr/>
          <p:nvPr/>
        </p:nvSpPr>
        <p:spPr>
          <a:xfrm>
            <a:off x="0" y="2788920"/>
            <a:ext cx="91440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722"/>
              </a:buClr>
              <a:buSzPts val="3000"/>
              <a:buFont typeface="Calibri"/>
              <a:buNone/>
            </a:pPr>
            <a:r>
              <a:rPr b="0" i="0" lang="en-US" sz="3000" u="none" cap="none" strike="noStrike">
                <a:solidFill>
                  <a:srgbClr val="E87722"/>
                </a:solidFill>
                <a:latin typeface="Calibri"/>
                <a:ea typeface="Calibri"/>
                <a:cs typeface="Calibri"/>
                <a:sym typeface="Calibri"/>
              </a:rPr>
              <a:t>Questions?</a:t>
            </a:r>
            <a:endParaRPr b="0" i="0" sz="3000" u="none" cap="none" strike="noStrike">
              <a:solidFill>
                <a:schemeClr val="dk1"/>
              </a:solidFill>
              <a:latin typeface="Calibri"/>
              <a:ea typeface="Calibri"/>
              <a:cs typeface="Calibri"/>
              <a:sym typeface="Calibri"/>
            </a:endParaRPr>
          </a:p>
        </p:txBody>
      </p:sp>
      <p:sp>
        <p:nvSpPr>
          <p:cNvPr id="571" name="Google Shape;571;p25"/>
          <p:cNvSpPr/>
          <p:nvPr/>
        </p:nvSpPr>
        <p:spPr>
          <a:xfrm>
            <a:off x="0" y="3931920"/>
            <a:ext cx="914400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9BB5"/>
              </a:buClr>
              <a:buSzPts val="1100"/>
              <a:buFont typeface="Calibri"/>
              <a:buNone/>
            </a:pPr>
            <a:r>
              <a:rPr b="0" i="0" lang="en-US" sz="1100" u="none" cap="none" strike="noStrike">
                <a:solidFill>
                  <a:srgbClr val="7A9BB5"/>
                </a:solidFill>
                <a:latin typeface="Calibri"/>
                <a:ea typeface="Calibri"/>
                <a:cs typeface="Calibri"/>
                <a:sym typeface="Calibri"/>
              </a:rPr>
              <a:t>Nguyen Toan Phuc  |  ITITIU21093  |  toanphuc02@gmail.com</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A9BB5"/>
              </a:buClr>
              <a:buSzPts val="1100"/>
              <a:buFont typeface="Calibri"/>
              <a:buNone/>
            </a:pPr>
            <a:r>
              <a:rPr b="0" i="0" lang="en-US" sz="1100" u="none" cap="none" strike="noStrike">
                <a:solidFill>
                  <a:srgbClr val="7A9BB5"/>
                </a:solidFill>
                <a:latin typeface="Calibri"/>
                <a:ea typeface="Calibri"/>
                <a:cs typeface="Calibri"/>
                <a:sym typeface="Calibri"/>
              </a:rPr>
              <a:t>VNU-HCM · The International University · School of Computer Science and Engineering  |  2026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0" name="Shape 280"/>
        <p:cNvGrpSpPr/>
        <p:nvPr/>
      </p:nvGrpSpPr>
      <p:grpSpPr>
        <a:xfrm>
          <a:off x="0" y="0"/>
          <a:ext cx="0" cy="0"/>
          <a:chOff x="0" y="0"/>
          <a:chExt cx="0" cy="0"/>
        </a:xfrm>
      </p:grpSpPr>
      <p:sp>
        <p:nvSpPr>
          <p:cNvPr id="281" name="SectionLabel"/>
          <p:cNvSpPr/>
          <p:nvPr/>
        </p:nvSpPr>
        <p:spPr>
          <a:xfrm>
            <a:off x="548640" y="201168"/>
            <a:ext cx="83211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E87722"/>
                </a:solidFill>
                <a:latin typeface="Georgia"/>
              </a:rPr>
              <a:t>02 · LITERATURE REVIEW</a:t>
            </a:r>
          </a:p>
        </p:txBody>
      </p:sp>
      <p:sp>
        <p:nvSpPr>
          <p:cNvPr id="282" name="AccentBar"/>
          <p:cNvSpPr/>
          <p:nvPr/>
        </p:nvSpPr>
        <p:spPr>
          <a:xfrm>
            <a:off x="381000" y="400050"/>
            <a:ext cx="57300" cy="381000"/>
          </a:xfrm>
          <a:prstGeom prst="rect">
            <a:avLst/>
          </a:prstGeom>
          <a:solidFill>
            <a:srgbClr val="E87722"/>
          </a:solidFill>
          <a:ln>
            <a:noFill/>
          </a:ln>
        </p:spPr>
        <p:txBody>
          <a:bodyPr anchorCtr="0" anchor="ctr" bIns="0" lIns="0" spcFirstLastPara="1" rIns="0" wrap="square" tIns="0">
            <a:noAutofit/>
          </a:bodyPr>
          <a:lstStyle/>
          <a:p>
            <a:r>
              <a:t/>
            </a:r>
          </a:p>
        </p:txBody>
      </p:sp>
      <p:sp>
        <p:nvSpPr>
          <p:cNvPr id="283" name="SlideTitle"/>
          <p:cNvSpPr/>
          <p:nvPr/>
        </p:nvSpPr>
        <p:spPr>
          <a:xfrm>
            <a:off x="548640" y="342900"/>
            <a:ext cx="8321100" cy="50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720">
                <a:solidFill>
                  <a:srgbClr val="1B2A4A"/>
                </a:solidFill>
                <a:latin typeface="Georgia"/>
              </a:rPr>
              <a:t>H5P Deep Dive — Format, Rendering &amp; Export</a:t>
            </a:r>
          </a:p>
        </p:txBody>
      </p:sp>
      <p:sp>
        <p:nvSpPr>
          <p:cNvPr id="284" name="PageNum"/>
          <p:cNvSpPr/>
          <p:nvPr/>
        </p:nvSpPr>
        <p:spPr>
          <a:xfrm>
            <a:off x="7772400" y="4846320"/>
            <a:ext cx="1097400" cy="18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rPr b="0" lang="en-US" sz="1000">
                <a:solidFill>
                  <a:srgbClr val="888888"/>
                </a:solidFill>
                <a:latin typeface="Georgia"/>
              </a:rPr>
              <a:t>8 / 21</a:t>
            </a:r>
          </a:p>
        </p:txBody>
      </p:sp>
      <p:sp>
        <p:nvSpPr>
          <p:cNvPr id="285" name="LeftColBg"/>
          <p:cNvSpPr/>
          <p:nvPr/>
        </p:nvSpPr>
        <p:spPr>
          <a:xfrm>
            <a:off x="381000" y="950000"/>
            <a:ext cx="4150000" cy="3800000"/>
          </a:xfrm>
          <a:prstGeom prst="rect">
            <a:avLst/>
          </a:prstGeom>
          <a:solidFill>
            <a:srgbClr val="F0F4F8"/>
          </a:solidFill>
          <a:ln w="19050">
            <a:solidFill>
              <a:srgbClr val="D0D8E4"/>
            </a:solidFill>
          </a:ln>
        </p:spPr>
        <p:txBody>
          <a:bodyPr anchorCtr="0" anchor="t" bIns="114300" lIns="228600" spcFirstLastPara="1" rIns="114300" wrap="square" tIns="114300">
            <a:noAutofit/>
          </a:bodyPr>
          <a:lstStyle/>
          <a:p>
            <a:pPr indent="0" lvl="0" marL="0" rtl="0" algn="l">
              <a:spcBef>
                <a:spcPts val="0"/>
              </a:spcBef>
              <a:spcAft>
                <a:spcPts val="200"/>
              </a:spcAft>
              <a:buNone/>
            </a:pPr>
            <a:r>
              <a:rPr b="1" lang="en-US" sz="1300">
                <a:solidFill>
                  <a:srgbClr val="1B2A4A"/>
                </a:solidFill>
                <a:latin typeface="Georgia"/>
              </a:rPr>
              <a:t>THE .h5p PACKAGE</a:t>
            </a:r>
          </a:p>
          <a:p>
            <a:pPr indent="0" lvl="0" marL="0" rtl="0" algn="l">
              <a:spcBef>
                <a:spcPts val="0"/>
              </a:spcBef>
              <a:spcAft>
                <a:spcPts val="0"/>
              </a:spcAft>
              <a:buNone/>
            </a:pPr>
            <a:r>
              <a:rPr b="0" lang="en-US" sz="1050" i="1">
                <a:solidFill>
                  <a:srgbClr val="444444"/>
                </a:solidFill>
                <a:latin typeface="Calibri"/>
              </a:rPr>
              <a:t>A .h5p file is a renamed ZIP archive:</a:t>
            </a:r>
          </a:p>
          <a:p>
            <a:pPr>
              <a:spcBef>
                <a:spcPts val="200"/>
              </a:spcBef>
              <a:buNone/>
            </a:pPr>
            <a:endParaRPr/>
          </a:p>
          <a:p>
            <a:pPr indent="0" lvl="0" marL="0" rtl="0" algn="l">
              <a:spcBef>
                <a:spcPts val="0"/>
              </a:spcBef>
              <a:spcAft>
                <a:spcPts val="0"/>
              </a:spcAft>
              <a:buNone/>
            </a:pPr>
            <a:r>
              <a:rPr b="1" lang="en-US" sz="1100">
                <a:solidFill>
                  <a:srgbClr val="E87722"/>
                </a:solidFill>
                <a:latin typeface="Consolas"/>
              </a:rPr>
              <a:t>content.zip</a:t>
            </a:r>
            <a:r>
              <a:rPr b="0" lang="en-US" sz="1100">
                <a:solidFill>
                  <a:srgbClr val="555555"/>
                </a:solidFill>
                <a:latin typeface="Consolas"/>
              </a:rPr>
              <a:t xml:space="preserve"> (renamed .h5p)</a:t>
            </a:r>
          </a:p>
          <a:p>
            <a:pPr indent="0" lvl="0" marL="0" rtl="0" algn="l">
              <a:spcBef>
                <a:spcPts val="0"/>
              </a:spcBef>
              <a:spcAft>
                <a:spcPts val="0"/>
              </a:spcAft>
              <a:buNone/>
            </a:pPr>
            <a:r>
              <a:rPr b="0" lang="en-US" sz="1100">
                <a:solidFill>
                  <a:srgbClr val="1B6A8C"/>
                </a:solidFill>
                <a:latin typeface="Consolas"/>
              </a:rPr>
              <a:t>├─ h5p.json</a:t>
            </a:r>
          </a:p>
          <a:p>
            <a:pPr indent="0" lvl="0" marL="0" rtl="0" algn="l">
              <a:spcBef>
                <a:spcPts val="0"/>
              </a:spcBef>
              <a:spcAft>
                <a:spcPts val="0"/>
              </a:spcAft>
              <a:buNone/>
            </a:pPr>
            <a:r>
              <a:rPr b="0" lang="en-US" sz="1000">
                <a:solidFill>
                  <a:srgbClr val="666666"/>
                </a:solidFill>
                <a:latin typeface="Calibri"/>
              </a:rPr>
              <a:t xml:space="preserve">   Libraries list + content metadata</a:t>
            </a:r>
          </a:p>
          <a:p>
            <a:pPr indent="0" lvl="0" marL="0" rtl="0" algn="l">
              <a:spcBef>
                <a:spcPts val="0"/>
              </a:spcBef>
              <a:spcAft>
                <a:spcPts val="0"/>
              </a:spcAft>
              <a:buNone/>
            </a:pPr>
            <a:r>
              <a:rPr b="0" lang="en-US" sz="1100">
                <a:solidFill>
                  <a:srgbClr val="1B6A8C"/>
                </a:solidFill>
                <a:latin typeface="Consolas"/>
              </a:rPr>
              <a:t>├─ content/</a:t>
            </a:r>
          </a:p>
          <a:p>
            <a:pPr indent="0" lvl="0" marL="0" rtl="0" algn="l">
              <a:spcBef>
                <a:spcPts val="0"/>
              </a:spcBef>
              <a:spcAft>
                <a:spcPts val="0"/>
              </a:spcAft>
              <a:buNone/>
            </a:pPr>
            <a:r>
              <a:rPr b="0" lang="en-US" sz="1000">
                <a:solidFill>
                  <a:srgbClr val="666666"/>
                </a:solidFill>
                <a:latin typeface="Calibri"/>
              </a:rPr>
              <a:t xml:space="preserve">   content.json (params), video + assets</a:t>
            </a:r>
          </a:p>
          <a:p>
            <a:pPr indent="0" lvl="0" marL="0" rtl="0" algn="l">
              <a:spcBef>
                <a:spcPts val="0"/>
              </a:spcBef>
              <a:spcAft>
                <a:spcPts val="0"/>
              </a:spcAft>
              <a:buNone/>
            </a:pPr>
            <a:r>
              <a:rPr b="0" lang="en-US" sz="1100">
                <a:solidFill>
                  <a:srgbClr val="1B6A8C"/>
                </a:solidFill>
                <a:latin typeface="Consolas"/>
              </a:rPr>
              <a:t>├─ H5P.InteractiveVideo-1.24/</a:t>
            </a:r>
          </a:p>
          <a:p>
            <a:pPr indent="0" lvl="0" marL="0" rtl="0" algn="l">
              <a:spcBef>
                <a:spcPts val="0"/>
              </a:spcBef>
              <a:spcAft>
                <a:spcPts val="0"/>
              </a:spcAft>
              <a:buNone/>
            </a:pPr>
            <a:r>
              <a:rPr b="0" lang="en-US" sz="1000">
                <a:solidFill>
                  <a:srgbClr val="666666"/>
                </a:solidFill>
                <a:latin typeface="Calibri"/>
              </a:rPr>
              <a:t xml:space="preserve">   library.json, scripts/, styles/</a:t>
            </a:r>
          </a:p>
          <a:p>
            <a:pPr indent="0" lvl="0" marL="0" rtl="0" algn="l">
              <a:spcBef>
                <a:spcPts val="0"/>
              </a:spcBef>
              <a:spcAft>
                <a:spcPts val="0"/>
              </a:spcAft>
              <a:buNone/>
            </a:pPr>
            <a:r>
              <a:rPr b="0" lang="en-US" sz="1100">
                <a:solidFill>
                  <a:srgbClr val="1B6A8C"/>
                </a:solidFill>
                <a:latin typeface="Consolas"/>
              </a:rPr>
              <a:t>├─ H5P.MultiChoice-1.16/</a:t>
            </a:r>
          </a:p>
          <a:p>
            <a:pPr indent="0" lvl="0" marL="0" rtl="0" algn="l">
              <a:spcBef>
                <a:spcPts val="0"/>
              </a:spcBef>
              <a:spcAft>
                <a:spcPts val="0"/>
              </a:spcAft>
              <a:buNone/>
            </a:pPr>
            <a:r>
              <a:rPr b="0" lang="en-US" sz="1100">
                <a:solidFill>
                  <a:srgbClr val="1B6A8C"/>
                </a:solidFill>
                <a:latin typeface="Consolas"/>
              </a:rPr>
              <a:t>└─ H5P.TrueFalse-1.6/ ...</a:t>
            </a:r>
          </a:p>
          <a:p>
            <a:pPr>
              <a:spcBef>
                <a:spcPts val="200"/>
              </a:spcBef>
              <a:buNone/>
            </a:pPr>
            <a:endParaRPr/>
          </a:p>
          <a:p>
            <a:pPr indent="0" lvl="0" marL="0" rtl="0" algn="l">
              <a:spcBef>
                <a:spcPts val="0"/>
              </a:spcBef>
              <a:spcAft>
                <a:spcPts val="0"/>
              </a:spcAft>
              <a:buNone/>
            </a:pPr>
            <a:r>
              <a:rPr b="0" lang="en-US" sz="1000" i="1">
                <a:solidFill>
                  <a:srgbClr val="555555"/>
                </a:solidFill>
                <a:latin typeface="Calibri"/>
              </a:rPr>
              <a:t>Each library bundles its own JS, CSS, and semantics.json schema. The package is fully self-contained — no internet needed to render it.</a:t>
            </a:r>
          </a:p>
        </p:txBody>
      </p:sp>
      <p:sp>
        <p:nvSpPr>
          <p:cNvPr id="286" name="RightColBg"/>
          <p:cNvSpPr/>
          <p:nvPr/>
        </p:nvSpPr>
        <p:spPr>
          <a:xfrm>
            <a:off x="4700000" y="950000"/>
            <a:ext cx="4250000" cy="3800000"/>
          </a:xfrm>
          <a:prstGeom prst="rect">
            <a:avLst/>
          </a:prstGeom>
          <a:solidFill>
            <a:srgbClr val="F0F4F8"/>
          </a:solidFill>
          <a:ln w="19050">
            <a:solidFill>
              <a:srgbClr val="D0D8E4"/>
            </a:solidFill>
          </a:ln>
        </p:spPr>
        <p:txBody>
          <a:bodyPr anchorCtr="0" anchor="t" bIns="114300" lIns="228600" spcFirstLastPara="1" rIns="114300" wrap="square" tIns="114300">
            <a:noAutofit/>
          </a:bodyPr>
          <a:lstStyle/>
          <a:p>
            <a:pPr indent="0" lvl="0" marL="0" rtl="0" algn="l">
              <a:spcBef>
                <a:spcPts val="0"/>
              </a:spcBef>
              <a:spcAft>
                <a:spcPts val="200"/>
              </a:spcAft>
              <a:buNone/>
            </a:pPr>
            <a:r>
              <a:rPr b="1" lang="en-US" sz="1300">
                <a:solidFill>
                  <a:srgbClr val="1B2A4A"/>
                </a:solidFill>
                <a:latin typeface="Georgia"/>
              </a:rPr>
              <a:t>HOW A WEBSITE RENDERS &amp; EXPORTS IT</a:t>
            </a:r>
          </a:p>
          <a:p>
            <a:pPr indent="0" lvl="0" marL="0" rtl="0" algn="l">
              <a:spcBef>
                <a:spcPts val="100"/>
              </a:spcBef>
              <a:spcAft>
                <a:spcPts val="0"/>
              </a:spcAft>
              <a:buNone/>
            </a:pPr>
            <a:r>
              <a:rPr b="1" lang="en-US" sz="1050">
                <a:solidFill>
                  <a:srgbClr val="E87722"/>
                </a:solidFill>
                <a:latin typeface="Calibri"/>
              </a:rPr>
              <a:t>1. UPLOAD</a:t>
            </a:r>
            <a:r>
              <a:rPr b="0" lang="en-US" sz="1050">
                <a:solidFill>
                  <a:srgbClr val="333333"/>
                </a:solidFill>
                <a:latin typeface="Calibri"/>
              </a:rPr>
              <a:t xml:space="preserve">  Client uploads .h5p → server receives ZIP stream</a:t>
            </a:r>
          </a:p>
          <a:p>
            <a:pPr indent="0" lvl="0" marL="0" rtl="0" algn="l">
              <a:spcBef>
                <a:spcPts val="100"/>
              </a:spcBef>
              <a:spcAft>
                <a:spcPts val="0"/>
              </a:spcAft>
              <a:buNone/>
            </a:pPr>
            <a:r>
              <a:rPr b="1" lang="en-US" sz="1050">
                <a:solidFill>
                  <a:srgbClr val="E87722"/>
                </a:solidFill>
                <a:latin typeface="Calibri"/>
              </a:rPr>
              <a:t>2. EXTRACT &amp; VALIDATE</a:t>
            </a:r>
            <a:r>
              <a:rPr b="0" lang="en-US" sz="1050">
                <a:solidFill>
                  <a:srgbClr val="333333"/>
                </a:solidFill>
                <a:latin typeface="Calibri"/>
              </a:rPr>
              <a:t xml:space="preserve">  h5p.json is parsed; required library versions are checked against the server’s library registry</a:t>
            </a:r>
          </a:p>
          <a:p>
            <a:pPr indent="0" lvl="0" marL="0" rtl="0" algn="l">
              <a:spcBef>
                <a:spcPts val="100"/>
              </a:spcBef>
              <a:spcAft>
                <a:spcPts val="0"/>
              </a:spcAft>
              <a:buNone/>
            </a:pPr>
            <a:r>
              <a:rPr b="1" lang="en-US" sz="1050">
                <a:solidFill>
                  <a:srgbClr val="E87722"/>
                </a:solidFill>
                <a:latin typeface="Calibri"/>
              </a:rPr>
              <a:t>3. RENDER</a:t>
            </a:r>
            <a:r>
              <a:rPr b="0" lang="en-US" sz="1050">
                <a:solidFill>
                  <a:srgbClr val="333333"/>
                </a:solidFill>
                <a:latin typeface="Calibri"/>
              </a:rPr>
              <a:t xml:space="preserve">  Lumieducation H5P server generates an iframe shell; injects content type JS/CSS; passes content.json as parameters</a:t>
            </a:r>
          </a:p>
          <a:p>
            <a:pPr indent="0" lvl="0" marL="0" rtl="0" algn="l">
              <a:spcBef>
                <a:spcPts val="100"/>
              </a:spcBef>
              <a:spcAft>
                <a:spcPts val="0"/>
              </a:spcAft>
              <a:buNone/>
            </a:pPr>
            <a:r>
              <a:rPr b="1" lang="en-US" sz="1050">
                <a:solidFill>
                  <a:srgbClr val="E87722"/>
                </a:solidFill>
                <a:latin typeface="Calibri"/>
              </a:rPr>
              <a:t>4. EXECUTE IN BROWSER</a:t>
            </a:r>
            <a:r>
              <a:rPr b="0" lang="en-US" sz="1050">
                <a:solidFill>
                  <a:srgbClr val="333333"/>
                </a:solidFill>
                <a:latin typeface="Calibri"/>
              </a:rPr>
              <a:t xml:space="preserve">  H5P.js bootstrapper loads the content type class, reads the JSON params, renders the interactive overlay on the video player</a:t>
            </a:r>
          </a:p>
          <a:p>
            <a:pPr indent="0" lvl="0" marL="0" rtl="0" algn="l">
              <a:spcBef>
                <a:spcPts val="100"/>
              </a:spcBef>
              <a:spcAft>
                <a:spcPts val="0"/>
              </a:spcAft>
              <a:buNone/>
            </a:pPr>
            <a:r>
              <a:rPr b="1" lang="en-US" sz="1050">
                <a:solidFill>
                  <a:srgbClr val="E87722"/>
                </a:solidFill>
                <a:latin typeface="Calibri"/>
              </a:rPr>
              <a:t>5. EXPORT / DOWNLOAD</a:t>
            </a:r>
            <a:r>
              <a:rPr b="0" lang="en-US" sz="1050">
                <a:solidFill>
                  <a:srgbClr val="333333"/>
                </a:solidFill>
                <a:latin typeface="Calibri"/>
              </a:rPr>
              <a:t xml:space="preserve">  Platform re-zips content.json + all library folders → streams the .h5p file to the instructor’s browser → ready to import into Moodle / Canvas / any LTI LMS</a:t>
            </a:r>
          </a:p>
          <a:p>
            <a:pPr>
              <a:spcBef>
                <a:spcPts val="200"/>
              </a:spcBef>
              <a:buNone/>
            </a:pPr>
            <a:endParaRPr/>
          </a:p>
          <a:p>
            <a:pPr indent="0" lvl="0" marL="0" rtl="0" algn="l">
              <a:spcBef>
                <a:spcPts val="0"/>
              </a:spcBef>
              <a:spcAft>
                <a:spcPts val="0"/>
              </a:spcAft>
              <a:buNone/>
            </a:pPr>
            <a:r>
              <a:rPr b="0" lang="en-US" sz="1000" i="1">
                <a:solidFill>
                  <a:srgbClr val="555555"/>
                </a:solidFill>
                <a:latin typeface="Calibri"/>
              </a:rPr>
              <a:t>This project uses @lumieducation/h5p-server (Node.js) — no WordPress or Moodle required to assemble or serve H5P content.</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